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 Scoped to the land around Queenstown Harbor — the asset Capital H6 just acquired. Bob is a GP in H6, so this is squarely his lane: entitle the developable acreage, sell lots, recycle.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Anchor on the fresh acquisition (H6 — Bob's fund). The land bank is additive to the hospitality: monetize the developable acreage the golf doesn't need — develop and sell finished lots.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Shows the homework Bob asked for. Accurate specs: River (par 72, 7,096) + Lakes (par 71, 6,569), Lindsay Ervin, River House &amp; Tavern, cottages. Conservation acreage is real — flag it honestly.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Honest framing: 870+ ac, minus 198 ac conservation (plus wetlands/course), leaves the developable envelope — the first diligence item. The land bank is upside on top of an operating resort.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Sequencing IS the pitch: entitle (soft costs) → sell to builders (they fund infra) → golf/water premium → recycle. Matches Bob's 'let the developer handle the infrastructure.'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Finished-lot basis: the JV funds the horizontal and sells finished lots. 280 lots × $150K = $42.0M gross revenue. Costs and returns are on the pro forma (slide 10). This captures the builder's development margin but takes horizontal execution risk and more capital than selling paper lots. Illustrative until survey / entitlement.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Mirrors the reference competitive-supply slide. Eastern-Shore + Bay-Bridge demand, Chesapeake scarcity, builder appetite, and the fresh $25M basis all support lot sales.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South River is the second H6 asset — but it's a built-out private club (165 ac, 8 lakes, 14 protected areas, 600+ families). Frame honestly: membership + events upside first, land only where diligence supports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Finished-lot development: start light (entitlement), then fund the horizontal (roads/sewer/utilities) and deliver finished lots. Captures the builder's development margin and controls quality/timing — more capital, more value.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Finished-lot development pro forma, consistent with slide 6. $42.0M revenue − $27.5M cost ≈ $14.5M profit. 70% LTC → equity ~$8.25M (land $4M + cash $4.25M); ~2.8x / ~39% levered project IRR (~24% unlevered). After an 8% pref + tiered promote (80/20 → 70/30 → 60/40), LP IRR ~33% / GP IRR ~75% (see the waterfall slide). All illustrative.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Backs the pro forma. Market inputs are sourced: QAC home/lot prices (Land.com, Zillow) support a conservative $150K finished lot; the $60K/lot horizontal (now JV-funded) matches national land-dev benchmarks (HomeGuide). Deal-specific inputs — gross acreage, the developable balance, land basis and density — are flagged 'to confirm' pending survey / easement / zoning.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Shows how the LP IRR is derived. Project equity IRR (70% LTC) ~39%; through an 8% pref + tiered promote (80/20 to a 15% IRR, 70/30 to 20%, 60/40 above), the LP nets ~33% and the GP (JAL) earns ~75% IRR / ~$4.6M carry on a small co-invest. Market structure; all derived in the model (Phase 1 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the exit-liquidity question: the entitled lots have many credible buyers. Nationals (NVR/Ryan, D.R. Horton, Lennar) run land-light and buy finished lots; regionals (Lacrosse, Caruso, Gemcraft) are literally building in Queen Anne's Co. / the Shore. We can run a competitive takedown or bulk sale.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2 = hospitality upside, VIVÂMEE-led, JAL as capital partner. Two cases in the model: hold for income (~8% YoC, ~12% IRR — the floor) or BUILD-TO-CORE — recap/sell at stabilization (~Yr 4) at a 7.5% cap, capturing the development spread from the contributed land + premium NOI → ~28% IRR / ~2.3x. Build-to-core lets JAL earn the development return while VIVÂMEE keeps and operates the resort. Model is source of truth.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Bob's inbound was about capital access. Lead with the live Houston deal ($15M / $19.5M) as proof I close, then the network. Even capital-light, this is why I'm useful.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Nails Bob's exact role: H6 GP / development lead. H6 contributes the developable land; JAL co-invests and runs entitlement + capital + lot sales. VIVÂMEE keeps operating the resort.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Directly answers Bob's comp question. Hybrid: $15K/mo creditable retainer (≈ one day/week) + expenses reimbursed, then placement fees and the promote. Lead with alignment — the retainer is a floor, the carry is the prize.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Bob's email said 'review your resume.' This is it. Capital-markets pedigree (Blackstone), operator/development (Levcor, JAL-JCP), Wharton, ULI leadership.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logistics. The July in-person is real (wife's family on Long Island) — Queenstown is a doable drive from Philly. The callout is the data ask — restate it so Bob knows exactly what to send.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warm. Reference his email ('review your resume'). Lock the July meeting at Queenstown.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hyperlink" Target="https://clubandresortbusiness.com/vivamee-hospitality-acquires-two-maryland-golf-locations-for-25m/" TargetMode="External"/><Relationship Id="rId2" Type="http://schemas.openxmlformats.org/officeDocument/2006/relationships/hyperlink" Target="https://www.eyeonannapolis.net/2026/05/vivamee-hospitality-acquires-golf-club-at-south-river-queenstown-harbor-in-25m-deal/" TargetMode="External"/><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qhgolf.com/golf/" TargetMode="External"/><Relationship Id="rId2" Type="http://schemas.openxmlformats.org/officeDocument/2006/relationships/hyperlink" Target="https://www.golfdigest.com/courses/md/queenstown-harbor-the-river" TargetMode="External"/><Relationship Id="rId3" Type="http://schemas.openxmlformats.org/officeDocument/2006/relationships/hyperlink" Target="https://www.visitmaryland.org/listing/sports/queenstown-harbor-golf-links" TargetMode="External"/><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clubandresortbusiness.com/vivamee-hospitality-acquires-two-maryland-golf-locations-for-25m/" TargetMode="External"/><Relationship Id="rId2" Type="http://schemas.openxmlformats.org/officeDocument/2006/relationships/hyperlink" Target="https://qhgolf.com/who-we-are/" TargetMode="External"/><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hyperlink" Target="https://qhgolf.com/who-we-are/" TargetMode="External"/><Relationship Id="rId2" Type="http://schemas.openxmlformats.org/officeDocument/2006/relationships/hyperlink" Target="https://www.qac.org/398/Chesapeake-Bay-Critical-Area" TargetMode="External"/><Relationship Id="rId3" Type="http://schemas.openxmlformats.org/officeDocument/2006/relationships/hyperlink" Target="https://dnr.maryland.gov/criticalarea/Pages/compliance.aspx" TargetMode="External"/><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www.distance-cities.com/distance-queenstown-md-to-washington-dc" TargetMode="External"/><Relationship Id="rId2" Type="http://schemas.openxmlformats.org/officeDocument/2006/relationships/hyperlink" Target="https://www.qac.org/398/Chesapeake-Bay-Critical-Area" TargetMode="External"/><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www.golfclubsr.com/faq" TargetMode="External"/><Relationship Id="rId2" Type="http://schemas.openxmlformats.org/officeDocument/2006/relationships/hyperlink" Target="https://foretee.com/courses/maryland/edgewater/usa/the-golf-club-at-south-river/6925" TargetMode="External"/><Relationship Id="rId3" Type="http://schemas.openxmlformats.org/officeDocument/2006/relationships/hyperlink" Target="https://clubandresortbusiness.com/vivamee-hospitality-acquires-two-maryland-golf-locations-for-25m/" TargetMode="External"/><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hyperlink" Target="https://www.land.com/Queen-Annes-County-MD/" TargetMode="External"/><Relationship Id="rId2" Type="http://schemas.openxmlformats.org/officeDocument/2006/relationships/hyperlink" Target="https://www.zillow.com/queen-annes-county-md/new-homes/" TargetMode="External"/><Relationship Id="rId3" Type="http://schemas.openxmlformats.org/officeDocument/2006/relationships/hyperlink" Target="https://homeguide.com/costs/cost-to-develop-land" TargetMode="External"/><Relationship Id="rId4" Type="http://schemas.openxmlformats.org/officeDocument/2006/relationships/hyperlink" Target="https://clubandresortbusiness.com/vivamee-hospitality-acquires-two-maryland-golf-locations-for-25m/" TargetMode="External"/><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hyperlink" Target="https://www.laxhomes.com/communities/" TargetMode="External"/><Relationship Id="rId2" Type="http://schemas.openxmlformats.org/officeDocument/2006/relationships/hyperlink" Target="https://www.carusohomes.com/new-homes/md/maryland/floor-plans/" TargetMode="External"/><Relationship Id="rId3" Type="http://schemas.openxmlformats.org/officeDocument/2006/relationships/hyperlink" Target="https://www.gemcrafthomes.com/" TargetMode="External"/><Relationship Id="rId4" Type="http://schemas.openxmlformats.org/officeDocument/2006/relationships/hyperlink" Target="https://www.zillow.com/browse/communities/md/" TargetMode="External"/><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hyperlink" Target="https://www.hvs.com/article/10219-hvs-us-hotel-development-cost-survey-2025" TargetMode="External"/><Relationship Id="rId2" Type="http://schemas.openxmlformats.org/officeDocument/2006/relationships/hyperlink" Target="https://www.mmcginvest.com/post/u-s-hotel-cap-rates-in-2025-trends-drivers-and-segment-analysis" TargetMode="External"/><Relationship Id="rId3" Type="http://schemas.openxmlformats.org/officeDocument/2006/relationships/hyperlink" Target="https://blog.eb3construction.com/construction/food-beverage/restaurant-build-out-estimate/" TargetMode="External"/><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63C"/>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3A243A"/>
          </a:solidFill>
          <a:ln/>
        </p:spPr>
      </p:sp>
      <p:sp>
        <p:nvSpPr>
          <p:cNvPr id="3" name="Text 1"/>
          <p:cNvSpPr/>
          <p:nvPr/>
        </p:nvSpPr>
        <p:spPr>
          <a:xfrm>
            <a:off x="685800" y="548640"/>
            <a:ext cx="5486400" cy="365760"/>
          </a:xfrm>
          <a:prstGeom prst="rect">
            <a:avLst/>
          </a:prstGeom>
          <a:noFill/>
          <a:ln/>
        </p:spPr>
        <p:txBody>
          <a:bodyPr wrap="square" lIns="0" tIns="0" rIns="0" bIns="0" rtlCol="0" anchor="ctr"/>
          <a:lstStyle/>
          <a:p>
            <a:pPr algn="l" indent="0" marL="0">
              <a:buNone/>
            </a:pPr>
            <a:r>
              <a:rPr lang="en-US" sz="1300" b="1" spc="600" kern="0" dirty="0">
                <a:solidFill>
                  <a:srgbClr val="C4B8C4"/>
                </a:solidFill>
                <a:latin typeface="Montserrat" pitchFamily="34" charset="0"/>
                <a:ea typeface="Montserrat" pitchFamily="34" charset="-122"/>
                <a:cs typeface="Montserrat" pitchFamily="34" charset="-120"/>
              </a:rPr>
              <a:t>JAL STRATEGIES</a:t>
            </a:r>
            <a:endParaRPr lang="en-US" sz="1300" dirty="0"/>
          </a:p>
        </p:txBody>
      </p:sp>
      <p:sp>
        <p:nvSpPr>
          <p:cNvPr id="4" name="Text 2"/>
          <p:cNvSpPr/>
          <p:nvPr/>
        </p:nvSpPr>
        <p:spPr>
          <a:xfrm>
            <a:off x="685800" y="914400"/>
            <a:ext cx="8686800" cy="274320"/>
          </a:xfrm>
          <a:prstGeom prst="rect">
            <a:avLst/>
          </a:prstGeom>
          <a:noFill/>
          <a:ln/>
        </p:spPr>
        <p:txBody>
          <a:bodyPr wrap="square" lIns="0" tIns="0" rIns="0" bIns="0" rtlCol="0" anchor="ctr"/>
          <a:lstStyle/>
          <a:p>
            <a:pPr algn="l" indent="0" marL="0">
              <a:buNone/>
            </a:pPr>
            <a:r>
              <a:rPr lang="en-US" sz="1100" dirty="0">
                <a:solidFill>
                  <a:srgbClr val="8C9BB5"/>
                </a:solidFill>
                <a:latin typeface="DM Sans" pitchFamily="34" charset="0"/>
                <a:ea typeface="DM Sans" pitchFamily="34" charset="-122"/>
                <a:cs typeface="DM Sans" pitchFamily="34" charset="-120"/>
              </a:rPr>
              <a:t>Disciplined Real Estate Investing, Development &amp; Capital Formation</a:t>
            </a:r>
            <a:endParaRPr lang="en-US" sz="1100" dirty="0"/>
          </a:p>
        </p:txBody>
      </p:sp>
      <p:sp>
        <p:nvSpPr>
          <p:cNvPr id="5" name="Text 3"/>
          <p:cNvSpPr/>
          <p:nvPr/>
        </p:nvSpPr>
        <p:spPr>
          <a:xfrm>
            <a:off x="658368" y="1993392"/>
            <a:ext cx="11155680" cy="960120"/>
          </a:xfrm>
          <a:prstGeom prst="rect">
            <a:avLst/>
          </a:prstGeom>
          <a:noFill/>
          <a:ln/>
        </p:spPr>
        <p:txBody>
          <a:bodyPr wrap="square" lIns="0" tIns="0" rIns="0" bIns="0" rtlCol="0" anchor="ctr"/>
          <a:lstStyle/>
          <a:p>
            <a:pPr algn="l" indent="0" marL="0">
              <a:buNone/>
            </a:pPr>
            <a:r>
              <a:rPr lang="en-US" sz="6400" b="1" spc="100" kern="0" dirty="0">
                <a:solidFill>
                  <a:srgbClr val="FFFFFF"/>
                </a:solidFill>
                <a:latin typeface="Montserrat" pitchFamily="34" charset="0"/>
                <a:ea typeface="Montserrat" pitchFamily="34" charset="-122"/>
                <a:cs typeface="Montserrat" pitchFamily="34" charset="-120"/>
              </a:rPr>
              <a:t>QUEENSTOWN</a:t>
            </a:r>
            <a:endParaRPr lang="en-US" sz="6400" dirty="0"/>
          </a:p>
        </p:txBody>
      </p:sp>
      <p:sp>
        <p:nvSpPr>
          <p:cNvPr id="6" name="Text 4"/>
          <p:cNvSpPr/>
          <p:nvPr/>
        </p:nvSpPr>
        <p:spPr>
          <a:xfrm>
            <a:off x="658368" y="2852928"/>
            <a:ext cx="11155680" cy="960120"/>
          </a:xfrm>
          <a:prstGeom prst="rect">
            <a:avLst/>
          </a:prstGeom>
          <a:noFill/>
          <a:ln/>
        </p:spPr>
        <p:txBody>
          <a:bodyPr wrap="square" lIns="0" tIns="0" rIns="0" bIns="0" rtlCol="0" anchor="ctr"/>
          <a:lstStyle/>
          <a:p>
            <a:pPr algn="l" indent="0" marL="0">
              <a:buNone/>
            </a:pPr>
            <a:r>
              <a:rPr lang="en-US" sz="6400" b="1" spc="100" kern="0" dirty="0">
                <a:solidFill>
                  <a:srgbClr val="C4B8C4"/>
                </a:solidFill>
                <a:latin typeface="Montserrat" pitchFamily="34" charset="0"/>
                <a:ea typeface="Montserrat" pitchFamily="34" charset="-122"/>
                <a:cs typeface="Montserrat" pitchFamily="34" charset="-120"/>
              </a:rPr>
              <a:t>HARBOR</a:t>
            </a:r>
            <a:endParaRPr lang="en-US" sz="6400" dirty="0"/>
          </a:p>
        </p:txBody>
      </p:sp>
      <p:sp>
        <p:nvSpPr>
          <p:cNvPr id="7" name="Shape 5"/>
          <p:cNvSpPr/>
          <p:nvPr/>
        </p:nvSpPr>
        <p:spPr>
          <a:xfrm>
            <a:off x="713232" y="4041648"/>
            <a:ext cx="3200400" cy="27432"/>
          </a:xfrm>
          <a:prstGeom prst="rect">
            <a:avLst/>
          </a:prstGeom>
          <a:solidFill>
            <a:srgbClr val="8C9BB5"/>
          </a:solidFill>
          <a:ln/>
        </p:spPr>
      </p:sp>
      <p:sp>
        <p:nvSpPr>
          <p:cNvPr id="8" name="Text 6"/>
          <p:cNvSpPr/>
          <p:nvPr/>
        </p:nvSpPr>
        <p:spPr>
          <a:xfrm>
            <a:off x="685800" y="4187952"/>
            <a:ext cx="10972800" cy="411480"/>
          </a:xfrm>
          <a:prstGeom prst="rect">
            <a:avLst/>
          </a:prstGeom>
          <a:noFill/>
          <a:ln/>
        </p:spPr>
        <p:txBody>
          <a:bodyPr wrap="square" lIns="0" tIns="0" rIns="0" bIns="0" rtlCol="0" anchor="ctr"/>
          <a:lstStyle/>
          <a:p>
            <a:pPr algn="l" indent="0" marL="0">
              <a:buNone/>
            </a:pPr>
            <a:r>
              <a:rPr lang="en-US" sz="2200" b="1" dirty="0">
                <a:solidFill>
                  <a:srgbClr val="FFFFFF"/>
                </a:solidFill>
                <a:latin typeface="Montserrat" pitchFamily="34" charset="0"/>
                <a:ea typeface="Montserrat" pitchFamily="34" charset="-122"/>
                <a:cs typeface="Montserrat" pitchFamily="34" charset="-120"/>
              </a:rPr>
              <a:t>Land Development &amp; Lot-Monetization Partnership</a:t>
            </a:r>
            <a:endParaRPr lang="en-US" sz="2200" dirty="0"/>
          </a:p>
        </p:txBody>
      </p:sp>
      <p:sp>
        <p:nvSpPr>
          <p:cNvPr id="9" name="Text 7"/>
          <p:cNvSpPr/>
          <p:nvPr/>
        </p:nvSpPr>
        <p:spPr>
          <a:xfrm>
            <a:off x="685800" y="4681728"/>
            <a:ext cx="10972800" cy="320040"/>
          </a:xfrm>
          <a:prstGeom prst="rect">
            <a:avLst/>
          </a:prstGeom>
          <a:noFill/>
          <a:ln/>
        </p:spPr>
        <p:txBody>
          <a:bodyPr wrap="square" lIns="0" tIns="0" rIns="0" bIns="0" rtlCol="0" anchor="ctr"/>
          <a:lstStyle/>
          <a:p>
            <a:pPr algn="l" indent="0" marL="0">
              <a:buNone/>
            </a:pPr>
            <a:r>
              <a:rPr lang="en-US" sz="1400" dirty="0">
                <a:solidFill>
                  <a:srgbClr val="8C9BB5"/>
                </a:solidFill>
                <a:latin typeface="DM Sans" pitchFamily="34" charset="0"/>
                <a:ea typeface="DM Sans" pitchFamily="34" charset="-122"/>
                <a:cs typeface="DM Sans" pitchFamily="34" charset="-120"/>
              </a:rPr>
              <a:t>Entitling and monetizing the developable land around the River &amp; Lakes courses</a:t>
            </a:r>
            <a:endParaRPr lang="en-US" sz="1400" dirty="0"/>
          </a:p>
        </p:txBody>
      </p:sp>
      <p:sp>
        <p:nvSpPr>
          <p:cNvPr id="10" name="Text 8"/>
          <p:cNvSpPr/>
          <p:nvPr/>
        </p:nvSpPr>
        <p:spPr>
          <a:xfrm>
            <a:off x="685800" y="5047488"/>
            <a:ext cx="10972800" cy="320040"/>
          </a:xfrm>
          <a:prstGeom prst="rect">
            <a:avLst/>
          </a:prstGeom>
          <a:noFill/>
          <a:ln/>
        </p:spPr>
        <p:txBody>
          <a:bodyPr wrap="square" lIns="0" tIns="0" rIns="0" bIns="0" rtlCol="0" anchor="ctr"/>
          <a:lstStyle/>
          <a:p>
            <a:pPr algn="l" indent="0" marL="0">
              <a:buNone/>
            </a:pPr>
            <a:r>
              <a:rPr lang="en-US" sz="1200" dirty="0">
                <a:solidFill>
                  <a:srgbClr val="C4B8C4"/>
                </a:solidFill>
                <a:latin typeface="DM Sans" pitchFamily="34" charset="0"/>
                <a:ea typeface="DM Sans" pitchFamily="34" charset="-122"/>
                <a:cs typeface="DM Sans" pitchFamily="34" charset="-120"/>
              </a:rPr>
              <a:t>Queenstown, Maryland  ·  Eastern Shore  ·  36 holes on the Chesapeake</a:t>
            </a:r>
            <a:endParaRPr lang="en-US" sz="1200" dirty="0"/>
          </a:p>
        </p:txBody>
      </p:sp>
      <p:sp>
        <p:nvSpPr>
          <p:cNvPr id="11" name="Text 9"/>
          <p:cNvSpPr/>
          <p:nvPr/>
        </p:nvSpPr>
        <p:spPr>
          <a:xfrm>
            <a:off x="685800" y="5486400"/>
            <a:ext cx="10607040" cy="548640"/>
          </a:xfrm>
          <a:prstGeom prst="rect">
            <a:avLst/>
          </a:prstGeom>
          <a:noFill/>
          <a:ln/>
        </p:spPr>
        <p:txBody>
          <a:bodyPr wrap="square" lIns="0" tIns="0" rIns="0" bIns="0" rtlCol="0" anchor="t"/>
          <a:lstStyle/>
          <a:p>
            <a:pPr algn="l" indent="0" marL="0">
              <a:lnSpc>
                <a:spcPts val="1200"/>
              </a:lnSpc>
              <a:buNone/>
            </a:pPr>
            <a:r>
              <a:rPr lang="en-US" sz="950" dirty="0">
                <a:solidFill>
                  <a:srgbClr val="8C9BB5"/>
                </a:solidFill>
                <a:latin typeface="DM Sans" pitchFamily="34" charset="0"/>
                <a:ea typeface="DM Sans" pitchFamily="34" charset="-122"/>
                <a:cs typeface="DM Sans" pitchFamily="34" charset="-120"/>
              </a:rPr>
              <a:t>Preliminary discussion document — not a final proposal or commitment. Figures compiled from public sources and independent research; subject to change and confirmation in further conversations.</a:t>
            </a:r>
            <a:endParaRPr lang="en-US" sz="950" dirty="0"/>
          </a:p>
        </p:txBody>
      </p:sp>
      <p:sp>
        <p:nvSpPr>
          <p:cNvPr id="12" name="Shape 10"/>
          <p:cNvSpPr/>
          <p:nvPr/>
        </p:nvSpPr>
        <p:spPr>
          <a:xfrm>
            <a:off x="0" y="6309360"/>
            <a:ext cx="12191695" cy="548640"/>
          </a:xfrm>
          <a:prstGeom prst="rect">
            <a:avLst/>
          </a:prstGeom>
          <a:solidFill>
            <a:srgbClr val="3A243A"/>
          </a:solidFill>
          <a:ln/>
        </p:spPr>
      </p:sp>
      <p:sp>
        <p:nvSpPr>
          <p:cNvPr id="13" name="Text 11"/>
          <p:cNvSpPr/>
          <p:nvPr/>
        </p:nvSpPr>
        <p:spPr>
          <a:xfrm>
            <a:off x="457200" y="6400800"/>
            <a:ext cx="8778240" cy="365760"/>
          </a:xfrm>
          <a:prstGeom prst="rect">
            <a:avLst/>
          </a:prstGeom>
          <a:noFill/>
          <a:ln/>
        </p:spPr>
        <p:txBody>
          <a:bodyPr wrap="square" lIns="0" tIns="0" rIns="0" bIns="0" rtlCol="0" anchor="ctr"/>
          <a:lstStyle/>
          <a:p>
            <a:pPr algn="l" indent="0" marL="0">
              <a:buNone/>
            </a:pPr>
            <a:r>
              <a:rPr lang="en-US" sz="900" b="1" spc="150" kern="0" dirty="0">
                <a:solidFill>
                  <a:srgbClr val="C4B8C4"/>
                </a:solidFill>
                <a:latin typeface="Montserrat" pitchFamily="34" charset="0"/>
                <a:ea typeface="Montserrat" pitchFamily="34" charset="-122"/>
                <a:cs typeface="Montserrat" pitchFamily="34" charset="-120"/>
              </a:rPr>
              <a:t>PREPARED FOR ROBERT A. CONNELL, CFP   |   ACCOUNTABLE EQUITY · CAPITAL H6</a:t>
            </a:r>
            <a:endParaRPr lang="en-US" sz="900" dirty="0"/>
          </a:p>
        </p:txBody>
      </p:sp>
      <p:sp>
        <p:nvSpPr>
          <p:cNvPr id="14" name="Text 12"/>
          <p:cNvSpPr/>
          <p:nvPr/>
        </p:nvSpPr>
        <p:spPr>
          <a:xfrm>
            <a:off x="8869680" y="6400800"/>
            <a:ext cx="2862072" cy="365760"/>
          </a:xfrm>
          <a:prstGeom prst="rect">
            <a:avLst/>
          </a:prstGeom>
          <a:noFill/>
          <a:ln/>
        </p:spPr>
        <p:txBody>
          <a:bodyPr wrap="square" lIns="0" tIns="0" rIns="0" bIns="0" rtlCol="0" anchor="ctr"/>
          <a:lstStyle/>
          <a:p>
            <a:pPr algn="r" indent="0" marL="0">
              <a:buNone/>
            </a:pPr>
            <a:r>
              <a:rPr lang="en-US" sz="900" b="1" spc="120" kern="0" dirty="0">
                <a:solidFill>
                  <a:srgbClr val="C4B8C4"/>
                </a:solidFill>
                <a:latin typeface="Montserrat" pitchFamily="34" charset="0"/>
                <a:ea typeface="Montserrat" pitchFamily="34" charset="-122"/>
                <a:cs typeface="Montserrat" pitchFamily="34" charset="-120"/>
              </a:rPr>
              <a:t>JUNE 2026  ·  DISCUSSION DRAFT</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2 / 20</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THE OPPORTUNITY</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You just bought it. Now monetize the land.</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Bob — Capital H6 just closed Queenstown Harbor. The resort runs itself; the upside is the developable land around the 36 holes — entitle it, sell lots to builders, recycle the proceeds.</a:t>
            </a:r>
            <a:endParaRPr lang="en-US" sz="1300" dirty="0"/>
          </a:p>
        </p:txBody>
      </p:sp>
      <p:sp>
        <p:nvSpPr>
          <p:cNvPr id="11" name="Shape 9"/>
          <p:cNvSpPr/>
          <p:nvPr/>
        </p:nvSpPr>
        <p:spPr>
          <a:xfrm>
            <a:off x="457200" y="1874520"/>
            <a:ext cx="5486400" cy="868680"/>
          </a:xfrm>
          <a:prstGeom prst="rect">
            <a:avLst/>
          </a:prstGeom>
          <a:solidFill>
            <a:srgbClr val="FFFFFF"/>
          </a:solidFill>
          <a:ln w="9525">
            <a:solidFill>
              <a:srgbClr val="E6E1DB"/>
            </a:solidFill>
            <a:prstDash val="solid"/>
          </a:ln>
        </p:spPr>
      </p:sp>
      <p:sp>
        <p:nvSpPr>
          <p:cNvPr id="12" name="Text 10"/>
          <p:cNvSpPr/>
          <p:nvPr/>
        </p:nvSpPr>
        <p:spPr>
          <a:xfrm>
            <a:off x="640080" y="1965960"/>
            <a:ext cx="2011680" cy="685800"/>
          </a:xfrm>
          <a:prstGeom prst="rect">
            <a:avLst/>
          </a:prstGeom>
          <a:noFill/>
          <a:ln/>
        </p:spPr>
        <p:txBody>
          <a:bodyPr wrap="square" lIns="0" tIns="0" rIns="0" bIns="0" rtlCol="0" anchor="ctr"/>
          <a:lstStyle/>
          <a:p>
            <a:pPr algn="l" indent="0" marL="0">
              <a:buNone/>
            </a:pPr>
            <a:r>
              <a:rPr lang="en-US" sz="2700" b="1" dirty="0">
                <a:solidFill>
                  <a:srgbClr val="0B163C"/>
                </a:solidFill>
                <a:latin typeface="Montserrat" pitchFamily="34" charset="0"/>
                <a:ea typeface="Montserrat" pitchFamily="34" charset="-122"/>
                <a:cs typeface="Montserrat" pitchFamily="34" charset="-120"/>
              </a:rPr>
              <a:t>$25M</a:t>
            </a:r>
            <a:endParaRPr lang="en-US" sz="2700" dirty="0"/>
          </a:p>
        </p:txBody>
      </p:sp>
      <p:sp>
        <p:nvSpPr>
          <p:cNvPr id="13" name="Text 11"/>
          <p:cNvSpPr/>
          <p:nvPr/>
        </p:nvSpPr>
        <p:spPr>
          <a:xfrm>
            <a:off x="2651760" y="1984248"/>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Just acquired (May 2026)</a:t>
            </a:r>
            <a:endParaRPr lang="en-US" sz="1200" dirty="0"/>
          </a:p>
        </p:txBody>
      </p:sp>
      <p:sp>
        <p:nvSpPr>
          <p:cNvPr id="14" name="Text 12"/>
          <p:cNvSpPr/>
          <p:nvPr/>
        </p:nvSpPr>
        <p:spPr>
          <a:xfrm>
            <a:off x="2651760" y="2331720"/>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Queenstown + South River, via Capital H6</a:t>
            </a:r>
            <a:endParaRPr lang="en-US" sz="1000" dirty="0"/>
          </a:p>
        </p:txBody>
      </p:sp>
      <p:sp>
        <p:nvSpPr>
          <p:cNvPr id="15" name="Shape 13"/>
          <p:cNvSpPr/>
          <p:nvPr/>
        </p:nvSpPr>
        <p:spPr>
          <a:xfrm>
            <a:off x="457200" y="2852928"/>
            <a:ext cx="5486400" cy="868680"/>
          </a:xfrm>
          <a:prstGeom prst="rect">
            <a:avLst/>
          </a:prstGeom>
          <a:solidFill>
            <a:srgbClr val="FFFFFF"/>
          </a:solidFill>
          <a:ln w="9525">
            <a:solidFill>
              <a:srgbClr val="E6E1DB"/>
            </a:solidFill>
            <a:prstDash val="solid"/>
          </a:ln>
        </p:spPr>
      </p:sp>
      <p:sp>
        <p:nvSpPr>
          <p:cNvPr id="16" name="Text 14"/>
          <p:cNvSpPr/>
          <p:nvPr/>
        </p:nvSpPr>
        <p:spPr>
          <a:xfrm>
            <a:off x="640080" y="2944368"/>
            <a:ext cx="2011680" cy="685800"/>
          </a:xfrm>
          <a:prstGeom prst="rect">
            <a:avLst/>
          </a:prstGeom>
          <a:noFill/>
          <a:ln/>
        </p:spPr>
        <p:txBody>
          <a:bodyPr wrap="square" lIns="0" tIns="0" rIns="0" bIns="0" rtlCol="0" anchor="ctr"/>
          <a:lstStyle/>
          <a:p>
            <a:pPr algn="l" indent="0" marL="0">
              <a:buNone/>
            </a:pPr>
            <a:r>
              <a:rPr lang="en-US" sz="2200" b="1" dirty="0">
                <a:solidFill>
                  <a:srgbClr val="0B163C"/>
                </a:solidFill>
                <a:latin typeface="Montserrat" pitchFamily="34" charset="0"/>
                <a:ea typeface="Montserrat" pitchFamily="34" charset="-122"/>
                <a:cs typeface="Montserrat" pitchFamily="34" charset="-120"/>
              </a:rPr>
              <a:t>36 holes</a:t>
            </a:r>
            <a:endParaRPr lang="en-US" sz="2200" dirty="0"/>
          </a:p>
        </p:txBody>
      </p:sp>
      <p:sp>
        <p:nvSpPr>
          <p:cNvPr id="17" name="Text 15"/>
          <p:cNvSpPr/>
          <p:nvPr/>
        </p:nvSpPr>
        <p:spPr>
          <a:xfrm>
            <a:off x="2651760" y="2962656"/>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River &amp; Lakes courses</a:t>
            </a:r>
            <a:endParaRPr lang="en-US" sz="1200" dirty="0"/>
          </a:p>
        </p:txBody>
      </p:sp>
      <p:sp>
        <p:nvSpPr>
          <p:cNvPr id="18" name="Text 16"/>
          <p:cNvSpPr/>
          <p:nvPr/>
        </p:nvSpPr>
        <p:spPr>
          <a:xfrm>
            <a:off x="2651760" y="3310128"/>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Waterfront resort on the Eastern Shore</a:t>
            </a:r>
            <a:endParaRPr lang="en-US" sz="1000" dirty="0"/>
          </a:p>
        </p:txBody>
      </p:sp>
      <p:sp>
        <p:nvSpPr>
          <p:cNvPr id="19" name="Shape 17"/>
          <p:cNvSpPr/>
          <p:nvPr/>
        </p:nvSpPr>
        <p:spPr>
          <a:xfrm>
            <a:off x="457200" y="3831336"/>
            <a:ext cx="5486400" cy="868680"/>
          </a:xfrm>
          <a:prstGeom prst="rect">
            <a:avLst/>
          </a:prstGeom>
          <a:solidFill>
            <a:srgbClr val="FFFFFF"/>
          </a:solidFill>
          <a:ln w="9525">
            <a:solidFill>
              <a:srgbClr val="E6E1DB"/>
            </a:solidFill>
            <a:prstDash val="solid"/>
          </a:ln>
        </p:spPr>
      </p:sp>
      <p:sp>
        <p:nvSpPr>
          <p:cNvPr id="20" name="Text 18"/>
          <p:cNvSpPr/>
          <p:nvPr/>
        </p:nvSpPr>
        <p:spPr>
          <a:xfrm>
            <a:off x="640080" y="3922776"/>
            <a:ext cx="2011680" cy="685800"/>
          </a:xfrm>
          <a:prstGeom prst="rect">
            <a:avLst/>
          </a:prstGeom>
          <a:noFill/>
          <a:ln/>
        </p:spPr>
        <p:txBody>
          <a:bodyPr wrap="square" lIns="0" tIns="0" rIns="0" bIns="0" rtlCol="0" anchor="ctr"/>
          <a:lstStyle/>
          <a:p>
            <a:pPr algn="l" indent="0" marL="0">
              <a:buNone/>
            </a:pPr>
            <a:r>
              <a:rPr lang="en-US" sz="2200" b="1" dirty="0">
                <a:solidFill>
                  <a:srgbClr val="0B163C"/>
                </a:solidFill>
                <a:latin typeface="Montserrat" pitchFamily="34" charset="0"/>
                <a:ea typeface="Montserrat" pitchFamily="34" charset="-122"/>
                <a:cs typeface="Montserrat" pitchFamily="34" charset="-120"/>
              </a:rPr>
              <a:t>870+ ac</a:t>
            </a:r>
            <a:endParaRPr lang="en-US" sz="2200" dirty="0"/>
          </a:p>
        </p:txBody>
      </p:sp>
      <p:sp>
        <p:nvSpPr>
          <p:cNvPr id="21" name="Text 19"/>
          <p:cNvSpPr/>
          <p:nvPr/>
        </p:nvSpPr>
        <p:spPr>
          <a:xfrm>
            <a:off x="2651760" y="3941064"/>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Across the two properties</a:t>
            </a:r>
            <a:endParaRPr lang="en-US" sz="1200" dirty="0"/>
          </a:p>
        </p:txBody>
      </p:sp>
      <p:sp>
        <p:nvSpPr>
          <p:cNvPr id="22" name="Text 20"/>
          <p:cNvSpPr/>
          <p:nvPr/>
        </p:nvSpPr>
        <p:spPr>
          <a:xfrm>
            <a:off x="2651760" y="4288536"/>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Waterfront + conservation land (to verify)</a:t>
            </a:r>
            <a:endParaRPr lang="en-US" sz="1000" dirty="0"/>
          </a:p>
        </p:txBody>
      </p:sp>
      <p:sp>
        <p:nvSpPr>
          <p:cNvPr id="23" name="Shape 21"/>
          <p:cNvSpPr/>
          <p:nvPr/>
        </p:nvSpPr>
        <p:spPr>
          <a:xfrm>
            <a:off x="457200" y="4809744"/>
            <a:ext cx="5486400" cy="868680"/>
          </a:xfrm>
          <a:prstGeom prst="rect">
            <a:avLst/>
          </a:prstGeom>
          <a:solidFill>
            <a:srgbClr val="FFFFFF"/>
          </a:solidFill>
          <a:ln w="9525">
            <a:solidFill>
              <a:srgbClr val="E6E1DB"/>
            </a:solidFill>
            <a:prstDash val="solid"/>
          </a:ln>
        </p:spPr>
      </p:sp>
      <p:sp>
        <p:nvSpPr>
          <p:cNvPr id="24" name="Text 22"/>
          <p:cNvSpPr/>
          <p:nvPr/>
        </p:nvSpPr>
        <p:spPr>
          <a:xfrm>
            <a:off x="640080" y="4901184"/>
            <a:ext cx="2011680" cy="685800"/>
          </a:xfrm>
          <a:prstGeom prst="rect">
            <a:avLst/>
          </a:prstGeom>
          <a:noFill/>
          <a:ln/>
        </p:spPr>
        <p:txBody>
          <a:bodyPr wrap="square" lIns="0" tIns="0" rIns="0" bIns="0" rtlCol="0" anchor="ctr"/>
          <a:lstStyle/>
          <a:p>
            <a:pPr algn="l" indent="0" marL="0">
              <a:buNone/>
            </a:pPr>
            <a:r>
              <a:rPr lang="en-US" sz="1900" b="1" dirty="0">
                <a:solidFill>
                  <a:srgbClr val="0B163C"/>
                </a:solidFill>
                <a:latin typeface="Montserrat" pitchFamily="34" charset="0"/>
                <a:ea typeface="Montserrat" pitchFamily="34" charset="-122"/>
                <a:cs typeface="Montserrat" pitchFamily="34" charset="-120"/>
              </a:rPr>
              <a:t>Soft costs</a:t>
            </a:r>
            <a:endParaRPr lang="en-US" sz="1900" dirty="0"/>
          </a:p>
        </p:txBody>
      </p:sp>
      <p:sp>
        <p:nvSpPr>
          <p:cNvPr id="25" name="Text 23"/>
          <p:cNvSpPr/>
          <p:nvPr/>
        </p:nvSpPr>
        <p:spPr>
          <a:xfrm>
            <a:off x="2651760" y="4919472"/>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To entitle</a:t>
            </a:r>
            <a:endParaRPr lang="en-US" sz="1200" dirty="0"/>
          </a:p>
        </p:txBody>
      </p:sp>
      <p:sp>
        <p:nvSpPr>
          <p:cNvPr id="26" name="Text 24"/>
          <p:cNvSpPr/>
          <p:nvPr/>
        </p:nvSpPr>
        <p:spPr>
          <a:xfrm>
            <a:off x="2651760" y="5266944"/>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Phase 1 is light; we fund the horizontal next</a:t>
            </a:r>
            <a:endParaRPr lang="en-US" sz="1000" dirty="0"/>
          </a:p>
        </p:txBody>
      </p:sp>
      <p:sp>
        <p:nvSpPr>
          <p:cNvPr id="27" name="Shape 25"/>
          <p:cNvSpPr/>
          <p:nvPr/>
        </p:nvSpPr>
        <p:spPr>
          <a:xfrm>
            <a:off x="6400800" y="1874520"/>
            <a:ext cx="5330952" cy="4114800"/>
          </a:xfrm>
          <a:prstGeom prst="rect">
            <a:avLst/>
          </a:prstGeom>
          <a:solidFill>
            <a:srgbClr val="0B163C"/>
          </a:solidFill>
          <a:ln/>
        </p:spPr>
      </p:sp>
      <p:sp>
        <p:nvSpPr>
          <p:cNvPr id="28" name="Shape 26"/>
          <p:cNvSpPr/>
          <p:nvPr/>
        </p:nvSpPr>
        <p:spPr>
          <a:xfrm>
            <a:off x="6400800" y="1874520"/>
            <a:ext cx="109728" cy="4114800"/>
          </a:xfrm>
          <a:prstGeom prst="rect">
            <a:avLst/>
          </a:prstGeom>
          <a:solidFill>
            <a:srgbClr val="3A243A"/>
          </a:solidFill>
          <a:ln/>
        </p:spPr>
      </p:sp>
      <p:sp>
        <p:nvSpPr>
          <p:cNvPr id="29" name="Text 27"/>
          <p:cNvSpPr/>
          <p:nvPr/>
        </p:nvSpPr>
        <p:spPr>
          <a:xfrm>
            <a:off x="6766560" y="2039112"/>
            <a:ext cx="4782312" cy="274320"/>
          </a:xfrm>
          <a:prstGeom prst="rect">
            <a:avLst/>
          </a:prstGeom>
          <a:noFill/>
          <a:ln/>
        </p:spPr>
        <p:txBody>
          <a:bodyPr wrap="square" lIns="0" tIns="0" rIns="0" bIns="0" rtlCol="0" anchor="ctr"/>
          <a:lstStyle/>
          <a:p>
            <a:pPr algn="l" indent="0" marL="0">
              <a:buNone/>
            </a:pPr>
            <a:r>
              <a:rPr lang="en-US" sz="1000" b="1" spc="400" kern="0" dirty="0">
                <a:solidFill>
                  <a:srgbClr val="C4B8C4"/>
                </a:solidFill>
                <a:latin typeface="Montserrat" pitchFamily="34" charset="0"/>
                <a:ea typeface="Montserrat" pitchFamily="34" charset="-122"/>
                <a:cs typeface="Montserrat" pitchFamily="34" charset="-120"/>
              </a:rPr>
              <a:t>WHY NOW</a:t>
            </a:r>
            <a:endParaRPr lang="en-US" sz="1000" dirty="0"/>
          </a:p>
        </p:txBody>
      </p:sp>
      <p:sp>
        <p:nvSpPr>
          <p:cNvPr id="30" name="Text 28"/>
          <p:cNvSpPr/>
          <p:nvPr/>
        </p:nvSpPr>
        <p:spPr>
          <a:xfrm>
            <a:off x="6766560" y="2386584"/>
            <a:ext cx="4764024" cy="749808"/>
          </a:xfrm>
          <a:prstGeom prst="rect">
            <a:avLst/>
          </a:prstGeom>
          <a:noFill/>
          <a:ln/>
        </p:spPr>
        <p:txBody>
          <a:bodyPr wrap="square" lIns="0" tIns="0" rIns="0" bIns="0" rtlCol="0" anchor="ctr"/>
          <a:lstStyle/>
          <a:p>
            <a:pPr algn="l" indent="0" marL="0">
              <a:lnSpc>
                <a:spcPts val="1800"/>
              </a:lnSpc>
              <a:buNone/>
            </a:pPr>
            <a:r>
              <a:rPr lang="en-US" sz="1450" b="1" dirty="0">
                <a:solidFill>
                  <a:srgbClr val="FFFFFF"/>
                </a:solidFill>
                <a:latin typeface="Montserrat" pitchFamily="34" charset="0"/>
                <a:ea typeface="Montserrat" pitchFamily="34" charset="-122"/>
                <a:cs typeface="Montserrat" pitchFamily="34" charset="-120"/>
              </a:rPr>
              <a:t>You own it free and clear — Capital H6 just closed the purchase.</a:t>
            </a:r>
            <a:endParaRPr lang="en-US" sz="1450" dirty="0"/>
          </a:p>
        </p:txBody>
      </p:sp>
      <p:sp>
        <p:nvSpPr>
          <p:cNvPr id="31" name="Text 29"/>
          <p:cNvSpPr/>
          <p:nvPr/>
        </p:nvSpPr>
        <p:spPr>
          <a:xfrm>
            <a:off x="6766560" y="324612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Fresh, low basis: $25M for two courses across 870+ acres — the land value is the upside.</a:t>
            </a:r>
            <a:endParaRPr lang="en-US" sz="1000" dirty="0"/>
          </a:p>
        </p:txBody>
      </p:sp>
      <p:sp>
        <p:nvSpPr>
          <p:cNvPr id="32" name="Text 30"/>
          <p:cNvSpPr/>
          <p:nvPr/>
        </p:nvSpPr>
        <p:spPr>
          <a:xfrm>
            <a:off x="6766560" y="392049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We develop the lots — roads, sewer and utilities — and sell them finished, capturing the full lot value.</a:t>
            </a:r>
            <a:endParaRPr lang="en-US" sz="1000" dirty="0"/>
          </a:p>
        </p:txBody>
      </p:sp>
      <p:sp>
        <p:nvSpPr>
          <p:cNvPr id="33" name="Text 31"/>
          <p:cNvSpPr/>
          <p:nvPr/>
        </p:nvSpPr>
        <p:spPr>
          <a:xfrm>
            <a:off x="6766560" y="459486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Minutes over the Bay Bridge to Annapolis; ~1 hour to D.C. &amp; Baltimore.</a:t>
            </a:r>
            <a:endParaRPr lang="en-US" sz="1000" dirty="0"/>
          </a:p>
        </p:txBody>
      </p:sp>
      <p:sp>
        <p:nvSpPr>
          <p:cNvPr id="34" name="Text 32"/>
          <p:cNvSpPr/>
          <p:nvPr/>
        </p:nvSpPr>
        <p:spPr>
          <a:xfrm>
            <a:off x="6766560" y="526923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Golf and water frontage on the Chesapeake commands a premium — and sells quickly.</a:t>
            </a:r>
            <a:endParaRPr lang="en-US" sz="1000" dirty="0"/>
          </a:p>
        </p:txBody>
      </p:sp>
      <p:sp>
        <p:nvSpPr>
          <p:cNvPr id="35" name="Text 33"/>
          <p:cNvSpPr/>
          <p:nvPr/>
        </p:nvSpPr>
        <p:spPr>
          <a:xfrm>
            <a:off x="457200" y="6089904"/>
            <a:ext cx="11274552" cy="237744"/>
          </a:xfrm>
          <a:prstGeom prst="rect">
            <a:avLst/>
          </a:prstGeom>
          <a:noFill/>
          <a:ln/>
        </p:spPr>
        <p:txBody>
          <a:bodyPr wrap="square" lIns="0" tIns="0" rIns="0" bIns="0" rtlCol="0" anchor="ctr"/>
          <a:lstStyle/>
          <a:p>
            <a:pPr algn="l" indent="0" marL="0">
              <a:buNone/>
            </a:pPr>
            <a:r>
              <a:rPr lang="en-US" sz="700" b="1" dirty="0">
                <a:solidFill>
                  <a:srgbClr val="6B5A6B"/>
                </a:solidFill>
                <a:latin typeface="DM Sans" pitchFamily="34" charset="0"/>
                <a:ea typeface="DM Sans" pitchFamily="34" charset="-122"/>
                <a:cs typeface="DM Sans" pitchFamily="34" charset="-120"/>
              </a:rPr>
              <a:t>Sources (own research; subject to change &amp; confirmation):  </a:t>
            </a:r>
            <a:pPr algn="l" indent="0" marL="0">
              <a:buNone/>
            </a:pPr>
            <a:r>
              <a:rPr lang="en-US" sz="700" u="sng" dirty="0">
                <a:solidFill>
                  <a:srgbClr val="3A243A"/>
                </a:solidFill>
                <a:latin typeface="DM Sans" pitchFamily="34" charset="0"/>
                <a:ea typeface="DM Sans" pitchFamily="34" charset="-122"/>
                <a:cs typeface="DM Sans" pitchFamily="34" charset="-120"/>
                <a:hlinkClick r:id="rId1" invalidUrl="" action="" tgtFrame="" tooltip="Club + Resort Business" history="1" highlightClick="0" endSnd="0">
                  <a:extLst>
                    <a:ext uri="{A12FA001-AC4F-418D-AE19-62706E023703}">
                      <ahyp:hlinkClr xmlns:ahyp="http://schemas.microsoft.com/office/drawing/2018/hyperlinkcolor" val="tx"/>
                    </a:ext>
                  </a:extLst>
                </a:hlinkClick>
              </a:rPr>
              <a:t>Club + Resort Business</a:t>
            </a:r>
            <a:pPr algn="l" indent="0" marL="0">
              <a:buNone/>
            </a:pPr>
            <a:r>
              <a:rPr lang="en-US" sz="700" dirty="0">
                <a:solidFill>
                  <a:srgbClr val="C4B8C4"/>
                </a:solidFill>
                <a:latin typeface="DM Sans" pitchFamily="34" charset="0"/>
                <a:ea typeface="DM Sans" pitchFamily="34" charset="-122"/>
                <a:cs typeface="DM Sans" pitchFamily="34" charset="-120"/>
              </a:rPr>
              <a:t>    ·    </a:t>
            </a:r>
            <a:pPr algn="l" indent="0" marL="0">
              <a:buNone/>
            </a:pPr>
            <a:r>
              <a:rPr lang="en-US" sz="700" u="sng" dirty="0">
                <a:solidFill>
                  <a:srgbClr val="3A243A"/>
                </a:solidFill>
                <a:latin typeface="DM Sans" pitchFamily="34" charset="0"/>
                <a:ea typeface="DM Sans" pitchFamily="34" charset="-122"/>
                <a:cs typeface="DM Sans" pitchFamily="34" charset="-120"/>
                <a:hlinkClick r:id="rId2" invalidUrl="" action="" tgtFrame="" tooltip="Eye On Annapolis" history="1" highlightClick="0" endSnd="0">
                  <a:extLst>
                    <a:ext uri="{A12FA001-AC4F-418D-AE19-62706E023703}">
                      <ahyp:hlinkClr xmlns:ahyp="http://schemas.microsoft.com/office/drawing/2018/hyperlinkcolor" val="tx"/>
                    </a:ext>
                  </a:extLst>
                </a:hlinkClick>
              </a:rPr>
              <a:t>Eye On Annapolis</a:t>
            </a:r>
            <a:endParaRPr lang="en-US" sz="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3 / 20</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THE ASSET</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Queenstown Harbor, by the numbers.</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A 36-hole waterfront destination on Maryland's Eastern Shore — acquired from The Brick Companies in May 2026, with established golf, an event venue and cottages already in place.</a:t>
            </a:r>
            <a:endParaRPr lang="en-US" sz="1300" dirty="0"/>
          </a:p>
        </p:txBody>
      </p:sp>
      <p:sp>
        <p:nvSpPr>
          <p:cNvPr id="11" name="Shape 9"/>
          <p:cNvSpPr/>
          <p:nvPr/>
        </p:nvSpPr>
        <p:spPr>
          <a:xfrm>
            <a:off x="457200" y="1874520"/>
            <a:ext cx="5486400" cy="868680"/>
          </a:xfrm>
          <a:prstGeom prst="rect">
            <a:avLst/>
          </a:prstGeom>
          <a:solidFill>
            <a:srgbClr val="FFFFFF"/>
          </a:solidFill>
          <a:ln w="9525">
            <a:solidFill>
              <a:srgbClr val="E6E1DB"/>
            </a:solidFill>
            <a:prstDash val="solid"/>
          </a:ln>
        </p:spPr>
      </p:sp>
      <p:sp>
        <p:nvSpPr>
          <p:cNvPr id="12" name="Text 10"/>
          <p:cNvSpPr/>
          <p:nvPr/>
        </p:nvSpPr>
        <p:spPr>
          <a:xfrm>
            <a:off x="640080" y="1965960"/>
            <a:ext cx="2011680" cy="685800"/>
          </a:xfrm>
          <a:prstGeom prst="rect">
            <a:avLst/>
          </a:prstGeom>
          <a:noFill/>
          <a:ln/>
        </p:spPr>
        <p:txBody>
          <a:bodyPr wrap="square" lIns="0" tIns="0" rIns="0" bIns="0" rtlCol="0" anchor="ctr"/>
          <a:lstStyle/>
          <a:p>
            <a:pPr algn="l" indent="0" marL="0">
              <a:buNone/>
            </a:pPr>
            <a:r>
              <a:rPr lang="en-US" sz="2700" b="1" dirty="0">
                <a:solidFill>
                  <a:srgbClr val="0B163C"/>
                </a:solidFill>
                <a:latin typeface="Montserrat" pitchFamily="34" charset="0"/>
                <a:ea typeface="Montserrat" pitchFamily="34" charset="-122"/>
                <a:cs typeface="Montserrat" pitchFamily="34" charset="-120"/>
              </a:rPr>
              <a:t>River</a:t>
            </a:r>
            <a:endParaRPr lang="en-US" sz="2700" dirty="0"/>
          </a:p>
        </p:txBody>
      </p:sp>
      <p:sp>
        <p:nvSpPr>
          <p:cNvPr id="13" name="Text 11"/>
          <p:cNvSpPr/>
          <p:nvPr/>
        </p:nvSpPr>
        <p:spPr>
          <a:xfrm>
            <a:off x="2651760" y="1984248"/>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Course · par 72</a:t>
            </a:r>
            <a:endParaRPr lang="en-US" sz="1200" dirty="0"/>
          </a:p>
        </p:txBody>
      </p:sp>
      <p:sp>
        <p:nvSpPr>
          <p:cNvPr id="14" name="Text 12"/>
          <p:cNvSpPr/>
          <p:nvPr/>
        </p:nvSpPr>
        <p:spPr>
          <a:xfrm>
            <a:off x="2651760" y="2331720"/>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Lindsay Ervin design · 7,096 yds · opened 1991</a:t>
            </a:r>
            <a:endParaRPr lang="en-US" sz="1000" dirty="0"/>
          </a:p>
        </p:txBody>
      </p:sp>
      <p:sp>
        <p:nvSpPr>
          <p:cNvPr id="15" name="Shape 13"/>
          <p:cNvSpPr/>
          <p:nvPr/>
        </p:nvSpPr>
        <p:spPr>
          <a:xfrm>
            <a:off x="457200" y="2852928"/>
            <a:ext cx="5486400" cy="868680"/>
          </a:xfrm>
          <a:prstGeom prst="rect">
            <a:avLst/>
          </a:prstGeom>
          <a:solidFill>
            <a:srgbClr val="FFFFFF"/>
          </a:solidFill>
          <a:ln w="9525">
            <a:solidFill>
              <a:srgbClr val="E6E1DB"/>
            </a:solidFill>
            <a:prstDash val="solid"/>
          </a:ln>
        </p:spPr>
      </p:sp>
      <p:sp>
        <p:nvSpPr>
          <p:cNvPr id="16" name="Text 14"/>
          <p:cNvSpPr/>
          <p:nvPr/>
        </p:nvSpPr>
        <p:spPr>
          <a:xfrm>
            <a:off x="640080" y="2944368"/>
            <a:ext cx="2011680" cy="685800"/>
          </a:xfrm>
          <a:prstGeom prst="rect">
            <a:avLst/>
          </a:prstGeom>
          <a:noFill/>
          <a:ln/>
        </p:spPr>
        <p:txBody>
          <a:bodyPr wrap="square" lIns="0" tIns="0" rIns="0" bIns="0" rtlCol="0" anchor="ctr"/>
          <a:lstStyle/>
          <a:p>
            <a:pPr algn="l" indent="0" marL="0">
              <a:buNone/>
            </a:pPr>
            <a:r>
              <a:rPr lang="en-US" sz="2700" b="1" dirty="0">
                <a:solidFill>
                  <a:srgbClr val="0B163C"/>
                </a:solidFill>
                <a:latin typeface="Montserrat" pitchFamily="34" charset="0"/>
                <a:ea typeface="Montserrat" pitchFamily="34" charset="-122"/>
                <a:cs typeface="Montserrat" pitchFamily="34" charset="-120"/>
              </a:rPr>
              <a:t>Lakes</a:t>
            </a:r>
            <a:endParaRPr lang="en-US" sz="2700" dirty="0"/>
          </a:p>
        </p:txBody>
      </p:sp>
      <p:sp>
        <p:nvSpPr>
          <p:cNvPr id="17" name="Text 15"/>
          <p:cNvSpPr/>
          <p:nvPr/>
        </p:nvSpPr>
        <p:spPr>
          <a:xfrm>
            <a:off x="2651760" y="2962656"/>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Course · par 71</a:t>
            </a:r>
            <a:endParaRPr lang="en-US" sz="1200" dirty="0"/>
          </a:p>
        </p:txBody>
      </p:sp>
      <p:sp>
        <p:nvSpPr>
          <p:cNvPr id="18" name="Text 16"/>
          <p:cNvSpPr/>
          <p:nvPr/>
        </p:nvSpPr>
        <p:spPr>
          <a:xfrm>
            <a:off x="2651760" y="3310128"/>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Lindsay Ervin design · 6,569 yds · opened 1996</a:t>
            </a:r>
            <a:endParaRPr lang="en-US" sz="1000" dirty="0"/>
          </a:p>
        </p:txBody>
      </p:sp>
      <p:sp>
        <p:nvSpPr>
          <p:cNvPr id="19" name="Shape 17"/>
          <p:cNvSpPr/>
          <p:nvPr/>
        </p:nvSpPr>
        <p:spPr>
          <a:xfrm>
            <a:off x="457200" y="3831336"/>
            <a:ext cx="5486400" cy="868680"/>
          </a:xfrm>
          <a:prstGeom prst="rect">
            <a:avLst/>
          </a:prstGeom>
          <a:solidFill>
            <a:srgbClr val="FFFFFF"/>
          </a:solidFill>
          <a:ln w="9525">
            <a:solidFill>
              <a:srgbClr val="E6E1DB"/>
            </a:solidFill>
            <a:prstDash val="solid"/>
          </a:ln>
        </p:spPr>
      </p:sp>
      <p:sp>
        <p:nvSpPr>
          <p:cNvPr id="20" name="Text 18"/>
          <p:cNvSpPr/>
          <p:nvPr/>
        </p:nvSpPr>
        <p:spPr>
          <a:xfrm>
            <a:off x="640080" y="3922776"/>
            <a:ext cx="2011680" cy="685800"/>
          </a:xfrm>
          <a:prstGeom prst="rect">
            <a:avLst/>
          </a:prstGeom>
          <a:noFill/>
          <a:ln/>
        </p:spPr>
        <p:txBody>
          <a:bodyPr wrap="square" lIns="0" tIns="0" rIns="0" bIns="0" rtlCol="0" anchor="ctr"/>
          <a:lstStyle/>
          <a:p>
            <a:pPr algn="l" indent="0" marL="0">
              <a:buNone/>
            </a:pPr>
            <a:r>
              <a:rPr lang="en-US" sz="2700" b="1" dirty="0">
                <a:solidFill>
                  <a:srgbClr val="0B163C"/>
                </a:solidFill>
                <a:latin typeface="Montserrat" pitchFamily="34" charset="0"/>
                <a:ea typeface="Montserrat" pitchFamily="34" charset="-122"/>
                <a:cs typeface="Montserrat" pitchFamily="34" charset="-120"/>
              </a:rPr>
              <a:t>310</a:t>
            </a:r>
            <a:endParaRPr lang="en-US" sz="2700" dirty="0"/>
          </a:p>
        </p:txBody>
      </p:sp>
      <p:sp>
        <p:nvSpPr>
          <p:cNvPr id="21" name="Text 19"/>
          <p:cNvSpPr/>
          <p:nvPr/>
        </p:nvSpPr>
        <p:spPr>
          <a:xfrm>
            <a:off x="2651760" y="3941064"/>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Links Lane, Queenstown MD</a:t>
            </a:r>
            <a:endParaRPr lang="en-US" sz="1200" dirty="0"/>
          </a:p>
        </p:txBody>
      </p:sp>
      <p:sp>
        <p:nvSpPr>
          <p:cNvPr id="22" name="Text 20"/>
          <p:cNvSpPr/>
          <p:nvPr/>
        </p:nvSpPr>
        <p:spPr>
          <a:xfrm>
            <a:off x="2651760" y="4288536"/>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Chester River at the Chesapeake Bay</a:t>
            </a:r>
            <a:endParaRPr lang="en-US" sz="1000" dirty="0"/>
          </a:p>
        </p:txBody>
      </p:sp>
      <p:sp>
        <p:nvSpPr>
          <p:cNvPr id="23" name="Shape 21"/>
          <p:cNvSpPr/>
          <p:nvPr/>
        </p:nvSpPr>
        <p:spPr>
          <a:xfrm>
            <a:off x="457200" y="4809744"/>
            <a:ext cx="5486400" cy="868680"/>
          </a:xfrm>
          <a:prstGeom prst="rect">
            <a:avLst/>
          </a:prstGeom>
          <a:solidFill>
            <a:srgbClr val="FFFFFF"/>
          </a:solidFill>
          <a:ln w="9525">
            <a:solidFill>
              <a:srgbClr val="E6E1DB"/>
            </a:solidFill>
            <a:prstDash val="solid"/>
          </a:ln>
        </p:spPr>
      </p:sp>
      <p:sp>
        <p:nvSpPr>
          <p:cNvPr id="24" name="Text 22"/>
          <p:cNvSpPr/>
          <p:nvPr/>
        </p:nvSpPr>
        <p:spPr>
          <a:xfrm>
            <a:off x="640080" y="4901184"/>
            <a:ext cx="2011680" cy="685800"/>
          </a:xfrm>
          <a:prstGeom prst="rect">
            <a:avLst/>
          </a:prstGeom>
          <a:noFill/>
          <a:ln/>
        </p:spPr>
        <p:txBody>
          <a:bodyPr wrap="square" lIns="0" tIns="0" rIns="0" bIns="0" rtlCol="0" anchor="ctr"/>
          <a:lstStyle/>
          <a:p>
            <a:pPr algn="l" indent="0" marL="0">
              <a:buNone/>
            </a:pPr>
            <a:r>
              <a:rPr lang="en-US" sz="2700" b="1" dirty="0">
                <a:solidFill>
                  <a:srgbClr val="0B163C"/>
                </a:solidFill>
                <a:latin typeface="Montserrat" pitchFamily="34" charset="0"/>
                <a:ea typeface="Montserrat" pitchFamily="34" charset="-122"/>
                <a:cs typeface="Montserrat" pitchFamily="34" charset="-120"/>
              </a:rPr>
              <a:t>$25M</a:t>
            </a:r>
            <a:endParaRPr lang="en-US" sz="2700" dirty="0"/>
          </a:p>
        </p:txBody>
      </p:sp>
      <p:sp>
        <p:nvSpPr>
          <p:cNvPr id="25" name="Text 23"/>
          <p:cNvSpPr/>
          <p:nvPr/>
        </p:nvSpPr>
        <p:spPr>
          <a:xfrm>
            <a:off x="2651760" y="4919472"/>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Acquired with South River</a:t>
            </a:r>
            <a:endParaRPr lang="en-US" sz="1200" dirty="0"/>
          </a:p>
        </p:txBody>
      </p:sp>
      <p:sp>
        <p:nvSpPr>
          <p:cNvPr id="26" name="Text 24"/>
          <p:cNvSpPr/>
          <p:nvPr/>
        </p:nvSpPr>
        <p:spPr>
          <a:xfrm>
            <a:off x="2651760" y="5266944"/>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From The Brick Companies · via Capital H6</a:t>
            </a:r>
            <a:endParaRPr lang="en-US" sz="1000" dirty="0"/>
          </a:p>
        </p:txBody>
      </p:sp>
      <p:sp>
        <p:nvSpPr>
          <p:cNvPr id="27" name="Shape 25"/>
          <p:cNvSpPr/>
          <p:nvPr/>
        </p:nvSpPr>
        <p:spPr>
          <a:xfrm>
            <a:off x="6400800" y="1874520"/>
            <a:ext cx="5330952" cy="4114800"/>
          </a:xfrm>
          <a:prstGeom prst="rect">
            <a:avLst/>
          </a:prstGeom>
          <a:solidFill>
            <a:srgbClr val="0B163C"/>
          </a:solidFill>
          <a:ln/>
        </p:spPr>
      </p:sp>
      <p:sp>
        <p:nvSpPr>
          <p:cNvPr id="28" name="Shape 26"/>
          <p:cNvSpPr/>
          <p:nvPr/>
        </p:nvSpPr>
        <p:spPr>
          <a:xfrm>
            <a:off x="6400800" y="1874520"/>
            <a:ext cx="109728" cy="4114800"/>
          </a:xfrm>
          <a:prstGeom prst="rect">
            <a:avLst/>
          </a:prstGeom>
          <a:solidFill>
            <a:srgbClr val="3A243A"/>
          </a:solidFill>
          <a:ln/>
        </p:spPr>
      </p:sp>
      <p:sp>
        <p:nvSpPr>
          <p:cNvPr id="29" name="Text 27"/>
          <p:cNvSpPr/>
          <p:nvPr/>
        </p:nvSpPr>
        <p:spPr>
          <a:xfrm>
            <a:off x="6766560" y="2039112"/>
            <a:ext cx="4782312" cy="274320"/>
          </a:xfrm>
          <a:prstGeom prst="rect">
            <a:avLst/>
          </a:prstGeom>
          <a:noFill/>
          <a:ln/>
        </p:spPr>
        <p:txBody>
          <a:bodyPr wrap="square" lIns="0" tIns="0" rIns="0" bIns="0" rtlCol="0" anchor="ctr"/>
          <a:lstStyle/>
          <a:p>
            <a:pPr algn="l" indent="0" marL="0">
              <a:buNone/>
            </a:pPr>
            <a:r>
              <a:rPr lang="en-US" sz="1000" b="1" spc="400" kern="0" dirty="0">
                <a:solidFill>
                  <a:srgbClr val="C4B8C4"/>
                </a:solidFill>
                <a:latin typeface="Montserrat" pitchFamily="34" charset="0"/>
                <a:ea typeface="Montserrat" pitchFamily="34" charset="-122"/>
                <a:cs typeface="Montserrat" pitchFamily="34" charset="-120"/>
              </a:rPr>
              <a:t>ALREADY IN PLACE</a:t>
            </a:r>
            <a:endParaRPr lang="en-US" sz="1000" dirty="0"/>
          </a:p>
        </p:txBody>
      </p:sp>
      <p:sp>
        <p:nvSpPr>
          <p:cNvPr id="30" name="Text 28"/>
          <p:cNvSpPr/>
          <p:nvPr/>
        </p:nvSpPr>
        <p:spPr>
          <a:xfrm>
            <a:off x="6766560" y="2386584"/>
            <a:ext cx="4764024" cy="749808"/>
          </a:xfrm>
          <a:prstGeom prst="rect">
            <a:avLst/>
          </a:prstGeom>
          <a:noFill/>
          <a:ln/>
        </p:spPr>
        <p:txBody>
          <a:bodyPr wrap="square" lIns="0" tIns="0" rIns="0" bIns="0" rtlCol="0" anchor="ctr"/>
          <a:lstStyle/>
          <a:p>
            <a:pPr algn="l" indent="0" marL="0">
              <a:lnSpc>
                <a:spcPts val="1800"/>
              </a:lnSpc>
              <a:buNone/>
            </a:pPr>
            <a:r>
              <a:rPr lang="en-US" sz="1450" b="1" dirty="0">
                <a:solidFill>
                  <a:srgbClr val="FFFFFF"/>
                </a:solidFill>
                <a:latin typeface="Montserrat" pitchFamily="34" charset="0"/>
                <a:ea typeface="Montserrat" pitchFamily="34" charset="-122"/>
                <a:cs typeface="Montserrat" pitchFamily="34" charset="-120"/>
              </a:rPr>
              <a:t>An operating resort — not a raw land play.</a:t>
            </a:r>
            <a:endParaRPr lang="en-US" sz="1450" dirty="0"/>
          </a:p>
        </p:txBody>
      </p:sp>
      <p:sp>
        <p:nvSpPr>
          <p:cNvPr id="31" name="Text 29"/>
          <p:cNvSpPr/>
          <p:nvPr/>
        </p:nvSpPr>
        <p:spPr>
          <a:xfrm>
            <a:off x="6766560" y="324612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River House &amp; Tavern — newly renovated wedding, event and corporate venue.</a:t>
            </a:r>
            <a:endParaRPr lang="en-US" sz="1000" dirty="0"/>
          </a:p>
        </p:txBody>
      </p:sp>
      <p:sp>
        <p:nvSpPr>
          <p:cNvPr id="32" name="Text 30"/>
          <p:cNvSpPr/>
          <p:nvPr/>
        </p:nvSpPr>
        <p:spPr>
          <a:xfrm>
            <a:off x="6766560" y="392049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On-site cottages — existing overnight lodging and a hospitality base.</a:t>
            </a:r>
            <a:endParaRPr lang="en-US" sz="1000" dirty="0"/>
          </a:p>
        </p:txBody>
      </p:sp>
      <p:sp>
        <p:nvSpPr>
          <p:cNvPr id="33" name="Text 31"/>
          <p:cNvSpPr/>
          <p:nvPr/>
        </p:nvSpPr>
        <p:spPr>
          <a:xfrm>
            <a:off x="6766560" y="459486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36 holes of championship golf since 1991 — traffic, brand and demand already here.</a:t>
            </a:r>
            <a:endParaRPr lang="en-US" sz="1000" dirty="0"/>
          </a:p>
        </p:txBody>
      </p:sp>
      <p:sp>
        <p:nvSpPr>
          <p:cNvPr id="34" name="Text 32"/>
          <p:cNvSpPr/>
          <p:nvPr/>
        </p:nvSpPr>
        <p:spPr>
          <a:xfrm>
            <a:off x="6766560" y="526923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198 acres under permanent conservation — stewardship credibility, and an envelope to plan around.</a:t>
            </a:r>
            <a:endParaRPr lang="en-US" sz="1000" dirty="0"/>
          </a:p>
        </p:txBody>
      </p:sp>
      <p:sp>
        <p:nvSpPr>
          <p:cNvPr id="35" name="Text 33"/>
          <p:cNvSpPr/>
          <p:nvPr/>
        </p:nvSpPr>
        <p:spPr>
          <a:xfrm>
            <a:off x="457200" y="6089904"/>
            <a:ext cx="11274552" cy="237744"/>
          </a:xfrm>
          <a:prstGeom prst="rect">
            <a:avLst/>
          </a:prstGeom>
          <a:noFill/>
          <a:ln/>
        </p:spPr>
        <p:txBody>
          <a:bodyPr wrap="square" lIns="0" tIns="0" rIns="0" bIns="0" rtlCol="0" anchor="ctr"/>
          <a:lstStyle/>
          <a:p>
            <a:pPr algn="l" indent="0" marL="0">
              <a:buNone/>
            </a:pPr>
            <a:r>
              <a:rPr lang="en-US" sz="700" b="1" dirty="0">
                <a:solidFill>
                  <a:srgbClr val="6B5A6B"/>
                </a:solidFill>
                <a:latin typeface="DM Sans" pitchFamily="34" charset="0"/>
                <a:ea typeface="DM Sans" pitchFamily="34" charset="-122"/>
                <a:cs typeface="DM Sans" pitchFamily="34" charset="-120"/>
              </a:rPr>
              <a:t>Sources (own research; subject to change &amp; confirmation):  </a:t>
            </a:r>
            <a:pPr algn="l" indent="0" marL="0">
              <a:buNone/>
            </a:pPr>
            <a:r>
              <a:rPr lang="en-US" sz="700" u="sng" dirty="0">
                <a:solidFill>
                  <a:srgbClr val="3A243A"/>
                </a:solidFill>
                <a:latin typeface="DM Sans" pitchFamily="34" charset="0"/>
                <a:ea typeface="DM Sans" pitchFamily="34" charset="-122"/>
                <a:cs typeface="DM Sans" pitchFamily="34" charset="-120"/>
                <a:hlinkClick r:id="rId1" invalidUrl="" action="" tgtFrame="" tooltip="qhgolf.com" history="1" highlightClick="0" endSnd="0">
                  <a:extLst>
                    <a:ext uri="{A12FA001-AC4F-418D-AE19-62706E023703}">
                      <ahyp:hlinkClr xmlns:ahyp="http://schemas.microsoft.com/office/drawing/2018/hyperlinkcolor" val="tx"/>
                    </a:ext>
                  </a:extLst>
                </a:hlinkClick>
              </a:rPr>
              <a:t>qhgolf.com</a:t>
            </a:r>
            <a:pPr algn="l" indent="0" marL="0">
              <a:buNone/>
            </a:pPr>
            <a:r>
              <a:rPr lang="en-US" sz="700" dirty="0">
                <a:solidFill>
                  <a:srgbClr val="C4B8C4"/>
                </a:solidFill>
                <a:latin typeface="DM Sans" pitchFamily="34" charset="0"/>
                <a:ea typeface="DM Sans" pitchFamily="34" charset="-122"/>
                <a:cs typeface="DM Sans" pitchFamily="34" charset="-120"/>
              </a:rPr>
              <a:t>    ·    </a:t>
            </a:r>
            <a:pPr algn="l" indent="0" marL="0">
              <a:buNone/>
            </a:pPr>
            <a:r>
              <a:rPr lang="en-US" sz="700" u="sng" dirty="0">
                <a:solidFill>
                  <a:srgbClr val="3A243A"/>
                </a:solidFill>
                <a:latin typeface="DM Sans" pitchFamily="34" charset="0"/>
                <a:ea typeface="DM Sans" pitchFamily="34" charset="-122"/>
                <a:cs typeface="DM Sans" pitchFamily="34" charset="-120"/>
                <a:hlinkClick r:id="rId2" invalidUrl="" action="" tgtFrame="" tooltip="GolfDigest" history="1" highlightClick="0" endSnd="0">
                  <a:extLst>
                    <a:ext uri="{A12FA001-AC4F-418D-AE19-62706E023703}">
                      <ahyp:hlinkClr xmlns:ahyp="http://schemas.microsoft.com/office/drawing/2018/hyperlinkcolor" val="tx"/>
                    </a:ext>
                  </a:extLst>
                </a:hlinkClick>
              </a:rPr>
              <a:t>GolfDigest</a:t>
            </a:r>
            <a:pPr algn="l" indent="0" marL="0">
              <a:buNone/>
            </a:pPr>
            <a:r>
              <a:rPr lang="en-US" sz="700" dirty="0">
                <a:solidFill>
                  <a:srgbClr val="C4B8C4"/>
                </a:solidFill>
                <a:latin typeface="DM Sans" pitchFamily="34" charset="0"/>
                <a:ea typeface="DM Sans" pitchFamily="34" charset="-122"/>
                <a:cs typeface="DM Sans" pitchFamily="34" charset="-120"/>
              </a:rPr>
              <a:t>    ·    </a:t>
            </a:r>
            <a:pPr algn="l" indent="0" marL="0">
              <a:buNone/>
            </a:pPr>
            <a:r>
              <a:rPr lang="en-US" sz="700" u="sng" dirty="0">
                <a:solidFill>
                  <a:srgbClr val="3A243A"/>
                </a:solidFill>
                <a:latin typeface="DM Sans" pitchFamily="34" charset="0"/>
                <a:ea typeface="DM Sans" pitchFamily="34" charset="-122"/>
                <a:cs typeface="DM Sans" pitchFamily="34" charset="-120"/>
                <a:hlinkClick r:id="rId3" invalidUrl="" action="" tgtFrame="" tooltip="VisitMaryland" history="1" highlightClick="0" endSnd="0">
                  <a:extLst>
                    <a:ext uri="{A12FA001-AC4F-418D-AE19-62706E023703}">
                      <ahyp:hlinkClr xmlns:ahyp="http://schemas.microsoft.com/office/drawing/2018/hyperlinkcolor" val="tx"/>
                    </a:ext>
                  </a:extLst>
                </a:hlinkClick>
              </a:rPr>
              <a:t>VisitMaryland</a:t>
            </a:r>
            <a:endParaRPr lang="en-US" sz="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4 / 20</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THE LAND BANK</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The upside is the land around the golf.</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The resort operates; the value-creation is entitling and developing the non-conservation acreage and selling finished lots to homebuilders — capturing the full lot value, additive to the hospitality.</a:t>
            </a:r>
            <a:endParaRPr lang="en-US" sz="1300" dirty="0"/>
          </a:p>
        </p:txBody>
      </p:sp>
      <p:sp>
        <p:nvSpPr>
          <p:cNvPr id="11" name="Shape 9"/>
          <p:cNvSpPr/>
          <p:nvPr/>
        </p:nvSpPr>
        <p:spPr>
          <a:xfrm>
            <a:off x="457200" y="1874520"/>
            <a:ext cx="5486400" cy="868680"/>
          </a:xfrm>
          <a:prstGeom prst="rect">
            <a:avLst/>
          </a:prstGeom>
          <a:solidFill>
            <a:srgbClr val="FFFFFF"/>
          </a:solidFill>
          <a:ln w="9525">
            <a:solidFill>
              <a:srgbClr val="E6E1DB"/>
            </a:solidFill>
            <a:prstDash val="solid"/>
          </a:ln>
        </p:spPr>
      </p:sp>
      <p:sp>
        <p:nvSpPr>
          <p:cNvPr id="12" name="Text 10"/>
          <p:cNvSpPr/>
          <p:nvPr/>
        </p:nvSpPr>
        <p:spPr>
          <a:xfrm>
            <a:off x="640080" y="1965960"/>
            <a:ext cx="2011680" cy="685800"/>
          </a:xfrm>
          <a:prstGeom prst="rect">
            <a:avLst/>
          </a:prstGeom>
          <a:noFill/>
          <a:ln/>
        </p:spPr>
        <p:txBody>
          <a:bodyPr wrap="square" lIns="0" tIns="0" rIns="0" bIns="0" rtlCol="0" anchor="ctr"/>
          <a:lstStyle/>
          <a:p>
            <a:pPr algn="l" indent="0" marL="0">
              <a:buNone/>
            </a:pPr>
            <a:r>
              <a:rPr lang="en-US" sz="2200" b="1" dirty="0">
                <a:solidFill>
                  <a:srgbClr val="0B163C"/>
                </a:solidFill>
                <a:latin typeface="Montserrat" pitchFamily="34" charset="0"/>
                <a:ea typeface="Montserrat" pitchFamily="34" charset="-122"/>
                <a:cs typeface="Montserrat" pitchFamily="34" charset="-120"/>
              </a:rPr>
              <a:t>870+ ac</a:t>
            </a:r>
            <a:endParaRPr lang="en-US" sz="2200" dirty="0"/>
          </a:p>
        </p:txBody>
      </p:sp>
      <p:sp>
        <p:nvSpPr>
          <p:cNvPr id="13" name="Text 11"/>
          <p:cNvSpPr/>
          <p:nvPr/>
        </p:nvSpPr>
        <p:spPr>
          <a:xfrm>
            <a:off x="2651760" y="1984248"/>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Portfolio land</a:t>
            </a:r>
            <a:endParaRPr lang="en-US" sz="1200" dirty="0"/>
          </a:p>
        </p:txBody>
      </p:sp>
      <p:sp>
        <p:nvSpPr>
          <p:cNvPr id="14" name="Text 12"/>
          <p:cNvSpPr/>
          <p:nvPr/>
        </p:nvSpPr>
        <p:spPr>
          <a:xfrm>
            <a:off x="2651760" y="2331720"/>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Across Queenstown + South River</a:t>
            </a:r>
            <a:endParaRPr lang="en-US" sz="1000" dirty="0"/>
          </a:p>
        </p:txBody>
      </p:sp>
      <p:sp>
        <p:nvSpPr>
          <p:cNvPr id="15" name="Shape 13"/>
          <p:cNvSpPr/>
          <p:nvPr/>
        </p:nvSpPr>
        <p:spPr>
          <a:xfrm>
            <a:off x="457200" y="2852928"/>
            <a:ext cx="5486400" cy="868680"/>
          </a:xfrm>
          <a:prstGeom prst="rect">
            <a:avLst/>
          </a:prstGeom>
          <a:solidFill>
            <a:srgbClr val="FFFFFF"/>
          </a:solidFill>
          <a:ln w="9525">
            <a:solidFill>
              <a:srgbClr val="E6E1DB"/>
            </a:solidFill>
            <a:prstDash val="solid"/>
          </a:ln>
        </p:spPr>
      </p:sp>
      <p:sp>
        <p:nvSpPr>
          <p:cNvPr id="16" name="Text 14"/>
          <p:cNvSpPr/>
          <p:nvPr/>
        </p:nvSpPr>
        <p:spPr>
          <a:xfrm>
            <a:off x="640080" y="2944368"/>
            <a:ext cx="2011680" cy="685800"/>
          </a:xfrm>
          <a:prstGeom prst="rect">
            <a:avLst/>
          </a:prstGeom>
          <a:noFill/>
          <a:ln/>
        </p:spPr>
        <p:txBody>
          <a:bodyPr wrap="square" lIns="0" tIns="0" rIns="0" bIns="0" rtlCol="0" anchor="ctr"/>
          <a:lstStyle/>
          <a:p>
            <a:pPr algn="l" indent="0" marL="0">
              <a:buNone/>
            </a:pPr>
            <a:r>
              <a:rPr lang="en-US" sz="2700" b="1" dirty="0">
                <a:solidFill>
                  <a:srgbClr val="0B163C"/>
                </a:solidFill>
                <a:latin typeface="Montserrat" pitchFamily="34" charset="0"/>
                <a:ea typeface="Montserrat" pitchFamily="34" charset="-122"/>
                <a:cs typeface="Montserrat" pitchFamily="34" charset="-120"/>
              </a:rPr>
              <a:t>198 ac</a:t>
            </a:r>
            <a:endParaRPr lang="en-US" sz="2700" dirty="0"/>
          </a:p>
        </p:txBody>
      </p:sp>
      <p:sp>
        <p:nvSpPr>
          <p:cNvPr id="17" name="Text 15"/>
          <p:cNvSpPr/>
          <p:nvPr/>
        </p:nvSpPr>
        <p:spPr>
          <a:xfrm>
            <a:off x="2651760" y="2962656"/>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Under conservation</a:t>
            </a:r>
            <a:endParaRPr lang="en-US" sz="1200" dirty="0"/>
          </a:p>
        </p:txBody>
      </p:sp>
      <p:sp>
        <p:nvSpPr>
          <p:cNvPr id="18" name="Text 16"/>
          <p:cNvSpPr/>
          <p:nvPr/>
        </p:nvSpPr>
        <p:spPr>
          <a:xfrm>
            <a:off x="2651760" y="3310128"/>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Permanent easement at Queenstown — plan around it</a:t>
            </a:r>
            <a:endParaRPr lang="en-US" sz="1000" dirty="0"/>
          </a:p>
        </p:txBody>
      </p:sp>
      <p:sp>
        <p:nvSpPr>
          <p:cNvPr id="19" name="Shape 17"/>
          <p:cNvSpPr/>
          <p:nvPr/>
        </p:nvSpPr>
        <p:spPr>
          <a:xfrm>
            <a:off x="457200" y="3831336"/>
            <a:ext cx="5486400" cy="868680"/>
          </a:xfrm>
          <a:prstGeom prst="rect">
            <a:avLst/>
          </a:prstGeom>
          <a:solidFill>
            <a:srgbClr val="FFFFFF"/>
          </a:solidFill>
          <a:ln w="9525">
            <a:solidFill>
              <a:srgbClr val="E6E1DB"/>
            </a:solidFill>
            <a:prstDash val="solid"/>
          </a:ln>
        </p:spPr>
      </p:sp>
      <p:sp>
        <p:nvSpPr>
          <p:cNvPr id="20" name="Text 18"/>
          <p:cNvSpPr/>
          <p:nvPr/>
        </p:nvSpPr>
        <p:spPr>
          <a:xfrm>
            <a:off x="640080" y="3922776"/>
            <a:ext cx="2011680" cy="685800"/>
          </a:xfrm>
          <a:prstGeom prst="rect">
            <a:avLst/>
          </a:prstGeom>
          <a:noFill/>
          <a:ln/>
        </p:spPr>
        <p:txBody>
          <a:bodyPr wrap="square" lIns="0" tIns="0" rIns="0" bIns="0" rtlCol="0" anchor="ctr"/>
          <a:lstStyle/>
          <a:p>
            <a:pPr algn="l" indent="0" marL="0">
              <a:buNone/>
            </a:pPr>
            <a:r>
              <a:rPr lang="en-US" sz="2200" b="1" dirty="0">
                <a:solidFill>
                  <a:srgbClr val="0B163C"/>
                </a:solidFill>
                <a:latin typeface="Montserrat" pitchFamily="34" charset="0"/>
                <a:ea typeface="Montserrat" pitchFamily="34" charset="-122"/>
                <a:cs typeface="Montserrat" pitchFamily="34" charset="-120"/>
              </a:rPr>
              <a:t>~140 ac</a:t>
            </a:r>
            <a:endParaRPr lang="en-US" sz="2200" dirty="0"/>
          </a:p>
        </p:txBody>
      </p:sp>
      <p:sp>
        <p:nvSpPr>
          <p:cNvPr id="21" name="Text 19"/>
          <p:cNvSpPr/>
          <p:nvPr/>
        </p:nvSpPr>
        <p:spPr>
          <a:xfrm>
            <a:off x="2651760" y="3941064"/>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Developable land</a:t>
            </a:r>
            <a:endParaRPr lang="en-US" sz="1200" dirty="0"/>
          </a:p>
        </p:txBody>
      </p:sp>
      <p:sp>
        <p:nvSpPr>
          <p:cNvPr id="22" name="Text 20"/>
          <p:cNvSpPr/>
          <p:nvPr/>
        </p:nvSpPr>
        <p:spPr>
          <a:xfrm>
            <a:off x="2651760" y="4288536"/>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Net of conservation, wetlands &amp; course (to verify)</a:t>
            </a:r>
            <a:endParaRPr lang="en-US" sz="1000" dirty="0"/>
          </a:p>
        </p:txBody>
      </p:sp>
      <p:sp>
        <p:nvSpPr>
          <p:cNvPr id="23" name="Shape 21"/>
          <p:cNvSpPr/>
          <p:nvPr/>
        </p:nvSpPr>
        <p:spPr>
          <a:xfrm>
            <a:off x="457200" y="4809744"/>
            <a:ext cx="5486400" cy="868680"/>
          </a:xfrm>
          <a:prstGeom prst="rect">
            <a:avLst/>
          </a:prstGeom>
          <a:solidFill>
            <a:srgbClr val="FFFFFF"/>
          </a:solidFill>
          <a:ln w="9525">
            <a:solidFill>
              <a:srgbClr val="E6E1DB"/>
            </a:solidFill>
            <a:prstDash val="solid"/>
          </a:ln>
        </p:spPr>
      </p:sp>
      <p:sp>
        <p:nvSpPr>
          <p:cNvPr id="24" name="Text 22"/>
          <p:cNvSpPr/>
          <p:nvPr/>
        </p:nvSpPr>
        <p:spPr>
          <a:xfrm>
            <a:off x="640080" y="4901184"/>
            <a:ext cx="2011680" cy="685800"/>
          </a:xfrm>
          <a:prstGeom prst="rect">
            <a:avLst/>
          </a:prstGeom>
          <a:noFill/>
          <a:ln/>
        </p:spPr>
        <p:txBody>
          <a:bodyPr wrap="square" lIns="0" tIns="0" rIns="0" bIns="0" rtlCol="0" anchor="ctr"/>
          <a:lstStyle/>
          <a:p>
            <a:pPr algn="l" indent="0" marL="0">
              <a:buNone/>
            </a:pPr>
            <a:r>
              <a:rPr lang="en-US" sz="2700" b="1" dirty="0">
                <a:solidFill>
                  <a:srgbClr val="0B163C"/>
                </a:solidFill>
                <a:latin typeface="Montserrat" pitchFamily="34" charset="0"/>
                <a:ea typeface="Montserrat" pitchFamily="34" charset="-122"/>
                <a:cs typeface="Montserrat" pitchFamily="34" charset="-120"/>
              </a:rPr>
              <a:t>~280</a:t>
            </a:r>
            <a:endParaRPr lang="en-US" sz="2700" dirty="0"/>
          </a:p>
        </p:txBody>
      </p:sp>
      <p:sp>
        <p:nvSpPr>
          <p:cNvPr id="25" name="Text 23"/>
          <p:cNvSpPr/>
          <p:nvPr/>
        </p:nvSpPr>
        <p:spPr>
          <a:xfrm>
            <a:off x="2651760" y="4919472"/>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Entitled lots</a:t>
            </a:r>
            <a:endParaRPr lang="en-US" sz="1200" dirty="0"/>
          </a:p>
        </p:txBody>
      </p:sp>
      <p:sp>
        <p:nvSpPr>
          <p:cNvPr id="26" name="Text 24"/>
          <p:cNvSpPr/>
          <p:nvPr/>
        </p:nvSpPr>
        <p:spPr>
          <a:xfrm>
            <a:off x="2651760" y="5266944"/>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Sold to regional homebuilders</a:t>
            </a:r>
            <a:endParaRPr lang="en-US" sz="1000" dirty="0"/>
          </a:p>
        </p:txBody>
      </p:sp>
      <p:sp>
        <p:nvSpPr>
          <p:cNvPr id="27" name="Shape 25"/>
          <p:cNvSpPr/>
          <p:nvPr/>
        </p:nvSpPr>
        <p:spPr>
          <a:xfrm>
            <a:off x="6400800" y="1874520"/>
            <a:ext cx="5330952" cy="4114800"/>
          </a:xfrm>
          <a:prstGeom prst="rect">
            <a:avLst/>
          </a:prstGeom>
          <a:solidFill>
            <a:srgbClr val="0B163C"/>
          </a:solidFill>
          <a:ln/>
        </p:spPr>
      </p:sp>
      <p:sp>
        <p:nvSpPr>
          <p:cNvPr id="28" name="Shape 26"/>
          <p:cNvSpPr/>
          <p:nvPr/>
        </p:nvSpPr>
        <p:spPr>
          <a:xfrm>
            <a:off x="6400800" y="1874520"/>
            <a:ext cx="109728" cy="4114800"/>
          </a:xfrm>
          <a:prstGeom prst="rect">
            <a:avLst/>
          </a:prstGeom>
          <a:solidFill>
            <a:srgbClr val="3A243A"/>
          </a:solidFill>
          <a:ln/>
        </p:spPr>
      </p:sp>
      <p:sp>
        <p:nvSpPr>
          <p:cNvPr id="29" name="Text 27"/>
          <p:cNvSpPr/>
          <p:nvPr/>
        </p:nvSpPr>
        <p:spPr>
          <a:xfrm>
            <a:off x="6766560" y="2039112"/>
            <a:ext cx="4782312" cy="274320"/>
          </a:xfrm>
          <a:prstGeom prst="rect">
            <a:avLst/>
          </a:prstGeom>
          <a:noFill/>
          <a:ln/>
        </p:spPr>
        <p:txBody>
          <a:bodyPr wrap="square" lIns="0" tIns="0" rIns="0" bIns="0" rtlCol="0" anchor="ctr"/>
          <a:lstStyle/>
          <a:p>
            <a:pPr algn="l" indent="0" marL="0">
              <a:buNone/>
            </a:pPr>
            <a:r>
              <a:rPr lang="en-US" sz="1000" b="1" spc="400" kern="0" dirty="0">
                <a:solidFill>
                  <a:srgbClr val="C4B8C4"/>
                </a:solidFill>
                <a:latin typeface="Montserrat" pitchFamily="34" charset="0"/>
                <a:ea typeface="Montserrat" pitchFamily="34" charset="-122"/>
                <a:cs typeface="Montserrat" pitchFamily="34" charset="-120"/>
              </a:rPr>
              <a:t>THE THESIS</a:t>
            </a:r>
            <a:endParaRPr lang="en-US" sz="1000" dirty="0"/>
          </a:p>
        </p:txBody>
      </p:sp>
      <p:sp>
        <p:nvSpPr>
          <p:cNvPr id="30" name="Text 28"/>
          <p:cNvSpPr/>
          <p:nvPr/>
        </p:nvSpPr>
        <p:spPr>
          <a:xfrm>
            <a:off x="6766560" y="2386584"/>
            <a:ext cx="4764024" cy="749808"/>
          </a:xfrm>
          <a:prstGeom prst="rect">
            <a:avLst/>
          </a:prstGeom>
          <a:noFill/>
          <a:ln/>
        </p:spPr>
        <p:txBody>
          <a:bodyPr wrap="square" lIns="0" tIns="0" rIns="0" bIns="0" rtlCol="0" anchor="ctr"/>
          <a:lstStyle/>
          <a:p>
            <a:pPr algn="l" indent="0" marL="0">
              <a:lnSpc>
                <a:spcPts val="1800"/>
              </a:lnSpc>
              <a:buNone/>
            </a:pPr>
            <a:r>
              <a:rPr lang="en-US" sz="1450" b="1" dirty="0">
                <a:solidFill>
                  <a:srgbClr val="FFFFFF"/>
                </a:solidFill>
                <a:latin typeface="Montserrat" pitchFamily="34" charset="0"/>
                <a:ea typeface="Montserrat" pitchFamily="34" charset="-122"/>
                <a:cs typeface="Montserrat" pitchFamily="34" charset="-120"/>
              </a:rPr>
              <a:t>Monetize the land the golf doesn't need.</a:t>
            </a:r>
            <a:endParaRPr lang="en-US" sz="1450" dirty="0"/>
          </a:p>
        </p:txBody>
      </p:sp>
      <p:sp>
        <p:nvSpPr>
          <p:cNvPr id="31" name="Text 29"/>
          <p:cNvSpPr/>
          <p:nvPr/>
        </p:nvSpPr>
        <p:spPr>
          <a:xfrm>
            <a:off x="6766560" y="324612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Identify developable parcels at the course edges — away from conservation, wetlands and play.</a:t>
            </a:r>
            <a:endParaRPr lang="en-US" sz="1000" dirty="0"/>
          </a:p>
        </p:txBody>
      </p:sp>
      <p:sp>
        <p:nvSpPr>
          <p:cNvPr id="32" name="Text 30"/>
          <p:cNvSpPr/>
          <p:nvPr/>
        </p:nvSpPr>
        <p:spPr>
          <a:xfrm>
            <a:off x="6766560" y="392049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Entitle, then develop finished lots — we fund the roads, sewer and utilities; builders just build.</a:t>
            </a:r>
            <a:endParaRPr lang="en-US" sz="1000" dirty="0"/>
          </a:p>
        </p:txBody>
      </p:sp>
      <p:sp>
        <p:nvSpPr>
          <p:cNvPr id="33" name="Text 31"/>
          <p:cNvSpPr/>
          <p:nvPr/>
        </p:nvSpPr>
        <p:spPr>
          <a:xfrm>
            <a:off x="6766560" y="459486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Golf-frontage and water-view lots command premium pricing and faster absorption.</a:t>
            </a:r>
            <a:endParaRPr lang="en-US" sz="1000" dirty="0"/>
          </a:p>
        </p:txBody>
      </p:sp>
      <p:sp>
        <p:nvSpPr>
          <p:cNvPr id="34" name="Text 32"/>
          <p:cNvSpPr/>
          <p:nvPr/>
        </p:nvSpPr>
        <p:spPr>
          <a:xfrm>
            <a:off x="6766560" y="526923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Recycle proceeds into the broader Capital H6 program — including South River.</a:t>
            </a:r>
            <a:endParaRPr lang="en-US" sz="1000" dirty="0"/>
          </a:p>
        </p:txBody>
      </p:sp>
      <p:sp>
        <p:nvSpPr>
          <p:cNvPr id="35" name="Text 33"/>
          <p:cNvSpPr/>
          <p:nvPr/>
        </p:nvSpPr>
        <p:spPr>
          <a:xfrm>
            <a:off x="457200" y="6089904"/>
            <a:ext cx="11274552" cy="237744"/>
          </a:xfrm>
          <a:prstGeom prst="rect">
            <a:avLst/>
          </a:prstGeom>
          <a:noFill/>
          <a:ln/>
        </p:spPr>
        <p:txBody>
          <a:bodyPr wrap="square" lIns="0" tIns="0" rIns="0" bIns="0" rtlCol="0" anchor="ctr"/>
          <a:lstStyle/>
          <a:p>
            <a:pPr algn="l" indent="0" marL="0">
              <a:buNone/>
            </a:pPr>
            <a:r>
              <a:rPr lang="en-US" sz="700" b="1" dirty="0">
                <a:solidFill>
                  <a:srgbClr val="6B5A6B"/>
                </a:solidFill>
                <a:latin typeface="DM Sans" pitchFamily="34" charset="0"/>
                <a:ea typeface="DM Sans" pitchFamily="34" charset="-122"/>
                <a:cs typeface="DM Sans" pitchFamily="34" charset="-120"/>
              </a:rPr>
              <a:t>Sources (own research; subject to change &amp; confirmation):  </a:t>
            </a:r>
            <a:pPr algn="l" indent="0" marL="0">
              <a:buNone/>
            </a:pPr>
            <a:r>
              <a:rPr lang="en-US" sz="700" u="sng" dirty="0">
                <a:solidFill>
                  <a:srgbClr val="3A243A"/>
                </a:solidFill>
                <a:latin typeface="DM Sans" pitchFamily="34" charset="0"/>
                <a:ea typeface="DM Sans" pitchFamily="34" charset="-122"/>
                <a:cs typeface="DM Sans" pitchFamily="34" charset="-120"/>
                <a:hlinkClick r:id="rId1" invalidUrl="" action="" tgtFrame="" tooltip="Club + Resort Business" history="1" highlightClick="0" endSnd="0">
                  <a:extLst>
                    <a:ext uri="{A12FA001-AC4F-418D-AE19-62706E023703}">
                      <ahyp:hlinkClr xmlns:ahyp="http://schemas.microsoft.com/office/drawing/2018/hyperlinkcolor" val="tx"/>
                    </a:ext>
                  </a:extLst>
                </a:hlinkClick>
              </a:rPr>
              <a:t>Club + Resort Business</a:t>
            </a:r>
            <a:pPr algn="l" indent="0" marL="0">
              <a:buNone/>
            </a:pPr>
            <a:r>
              <a:rPr lang="en-US" sz="700" dirty="0">
                <a:solidFill>
                  <a:srgbClr val="C4B8C4"/>
                </a:solidFill>
                <a:latin typeface="DM Sans" pitchFamily="34" charset="0"/>
                <a:ea typeface="DM Sans" pitchFamily="34" charset="-122"/>
                <a:cs typeface="DM Sans" pitchFamily="34" charset="-120"/>
              </a:rPr>
              <a:t>    ·    </a:t>
            </a:r>
            <a:pPr algn="l" indent="0" marL="0">
              <a:buNone/>
            </a:pPr>
            <a:r>
              <a:rPr lang="en-US" sz="700" u="sng" dirty="0">
                <a:solidFill>
                  <a:srgbClr val="3A243A"/>
                </a:solidFill>
                <a:latin typeface="DM Sans" pitchFamily="34" charset="0"/>
                <a:ea typeface="DM Sans" pitchFamily="34" charset="-122"/>
                <a:cs typeface="DM Sans" pitchFamily="34" charset="-120"/>
                <a:hlinkClick r:id="rId2" invalidUrl="" action="" tgtFrame="" tooltip="qhgolf.com/who-we-are" history="1" highlightClick="0" endSnd="0">
                  <a:extLst>
                    <a:ext uri="{A12FA001-AC4F-418D-AE19-62706E023703}">
                      <ahyp:hlinkClr xmlns:ahyp="http://schemas.microsoft.com/office/drawing/2018/hyperlinkcolor" val="tx"/>
                    </a:ext>
                  </a:extLst>
                </a:hlinkClick>
              </a:rPr>
              <a:t>qhgolf.com/who-we-are</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5 / 20</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THE PLAYBOOK</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Four moves that turn land into cash.</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Phased — entitle first (soft costs), then we fund the horizontal and deliver finished lots, recycling proceeds into the next parcel.</a:t>
            </a:r>
            <a:endParaRPr lang="en-US" sz="1300" dirty="0"/>
          </a:p>
        </p:txBody>
      </p:sp>
      <p:sp>
        <p:nvSpPr>
          <p:cNvPr id="11" name="Shape 9"/>
          <p:cNvSpPr/>
          <p:nvPr/>
        </p:nvSpPr>
        <p:spPr>
          <a:xfrm>
            <a:off x="457200" y="1920240"/>
            <a:ext cx="2688336" cy="3749040"/>
          </a:xfrm>
          <a:prstGeom prst="rect">
            <a:avLst/>
          </a:prstGeom>
          <a:solidFill>
            <a:srgbClr val="0B163C"/>
          </a:solidFill>
          <a:ln/>
        </p:spPr>
      </p:sp>
      <p:sp>
        <p:nvSpPr>
          <p:cNvPr id="12" name="Shape 10"/>
          <p:cNvSpPr/>
          <p:nvPr/>
        </p:nvSpPr>
        <p:spPr>
          <a:xfrm>
            <a:off x="457200" y="1920240"/>
            <a:ext cx="2688336" cy="91440"/>
          </a:xfrm>
          <a:prstGeom prst="rect">
            <a:avLst/>
          </a:prstGeom>
          <a:solidFill>
            <a:srgbClr val="3A243A"/>
          </a:solidFill>
          <a:ln/>
        </p:spPr>
      </p:sp>
      <p:sp>
        <p:nvSpPr>
          <p:cNvPr id="13" name="Text 11"/>
          <p:cNvSpPr/>
          <p:nvPr/>
        </p:nvSpPr>
        <p:spPr>
          <a:xfrm>
            <a:off x="685800" y="2148840"/>
            <a:ext cx="2231136" cy="822960"/>
          </a:xfrm>
          <a:prstGeom prst="rect">
            <a:avLst/>
          </a:prstGeom>
          <a:noFill/>
          <a:ln/>
        </p:spPr>
        <p:txBody>
          <a:bodyPr wrap="square" lIns="0" tIns="0" rIns="0" bIns="0" rtlCol="0" anchor="ctr"/>
          <a:lstStyle/>
          <a:p>
            <a:pPr algn="l" indent="0" marL="0">
              <a:buNone/>
            </a:pPr>
            <a:r>
              <a:rPr lang="en-US" sz="4400" b="1" dirty="0">
                <a:solidFill>
                  <a:srgbClr val="C4B8C4"/>
                </a:solidFill>
                <a:latin typeface="Montserrat" pitchFamily="34" charset="0"/>
                <a:ea typeface="Montserrat" pitchFamily="34" charset="-122"/>
                <a:cs typeface="Montserrat" pitchFamily="34" charset="-120"/>
              </a:rPr>
              <a:t>01</a:t>
            </a:r>
            <a:endParaRPr lang="en-US" sz="4400" dirty="0"/>
          </a:p>
        </p:txBody>
      </p:sp>
      <p:sp>
        <p:nvSpPr>
          <p:cNvPr id="14" name="Text 12"/>
          <p:cNvSpPr/>
          <p:nvPr/>
        </p:nvSpPr>
        <p:spPr>
          <a:xfrm>
            <a:off x="685800" y="3063240"/>
            <a:ext cx="2231136" cy="365760"/>
          </a:xfrm>
          <a:prstGeom prst="rect">
            <a:avLst/>
          </a:prstGeom>
          <a:noFill/>
          <a:ln/>
        </p:spPr>
        <p:txBody>
          <a:bodyPr wrap="square" lIns="0" tIns="0" rIns="0" bIns="0" rtlCol="0" anchor="ctr"/>
          <a:lstStyle/>
          <a:p>
            <a:pPr algn="l" indent="0" marL="0">
              <a:buNone/>
            </a:pPr>
            <a:r>
              <a:rPr lang="en-US" sz="1400" b="1" dirty="0">
                <a:solidFill>
                  <a:srgbClr val="FFFFFF"/>
                </a:solidFill>
                <a:latin typeface="Montserrat" pitchFamily="34" charset="0"/>
                <a:ea typeface="Montserrat" pitchFamily="34" charset="-122"/>
                <a:cs typeface="Montserrat" pitchFamily="34" charset="-120"/>
              </a:rPr>
              <a:t>Entitle</a:t>
            </a:r>
            <a:endParaRPr lang="en-US" sz="1400" dirty="0"/>
          </a:p>
        </p:txBody>
      </p:sp>
      <p:sp>
        <p:nvSpPr>
          <p:cNvPr id="15" name="Text 13"/>
          <p:cNvSpPr/>
          <p:nvPr/>
        </p:nvSpPr>
        <p:spPr>
          <a:xfrm>
            <a:off x="685800" y="3456432"/>
            <a:ext cx="2231136" cy="274320"/>
          </a:xfrm>
          <a:prstGeom prst="rect">
            <a:avLst/>
          </a:prstGeom>
          <a:noFill/>
          <a:ln/>
        </p:spPr>
        <p:txBody>
          <a:bodyPr wrap="square" lIns="0" tIns="0" rIns="0" bIns="0" rtlCol="0" anchor="ctr"/>
          <a:lstStyle/>
          <a:p>
            <a:pPr algn="l" indent="0" marL="0">
              <a:buNone/>
            </a:pPr>
            <a:r>
              <a:rPr lang="en-US" sz="1000" b="1" spc="100" kern="0" dirty="0">
                <a:solidFill>
                  <a:srgbClr val="8C9BB5"/>
                </a:solidFill>
                <a:latin typeface="Montserrat" pitchFamily="34" charset="0"/>
                <a:ea typeface="Montserrat" pitchFamily="34" charset="-122"/>
                <a:cs typeface="Montserrat" pitchFamily="34" charset="-120"/>
              </a:rPr>
              <a:t>Approvals for lots</a:t>
            </a:r>
            <a:endParaRPr lang="en-US" sz="1000" dirty="0"/>
          </a:p>
        </p:txBody>
      </p:sp>
      <p:sp>
        <p:nvSpPr>
          <p:cNvPr id="16" name="Shape 14"/>
          <p:cNvSpPr/>
          <p:nvPr/>
        </p:nvSpPr>
        <p:spPr>
          <a:xfrm>
            <a:off x="685800" y="3822192"/>
            <a:ext cx="2231136" cy="18288"/>
          </a:xfrm>
          <a:prstGeom prst="rect">
            <a:avLst/>
          </a:prstGeom>
          <a:solidFill>
            <a:srgbClr val="3A243A"/>
          </a:solidFill>
          <a:ln/>
        </p:spPr>
      </p:sp>
      <p:sp>
        <p:nvSpPr>
          <p:cNvPr id="17" name="Text 15"/>
          <p:cNvSpPr/>
          <p:nvPr/>
        </p:nvSpPr>
        <p:spPr>
          <a:xfrm>
            <a:off x="685800" y="3950208"/>
            <a:ext cx="2231136" cy="1600200"/>
          </a:xfrm>
          <a:prstGeom prst="rect">
            <a:avLst/>
          </a:prstGeom>
          <a:noFill/>
          <a:ln/>
        </p:spPr>
        <p:txBody>
          <a:bodyPr wrap="square" lIns="0" tIns="0" rIns="0" bIns="0" rtlCol="0" anchor="t"/>
          <a:lstStyle/>
          <a:p>
            <a:pPr algn="l" indent="0" marL="0">
              <a:lnSpc>
                <a:spcPts val="1400"/>
              </a:lnSpc>
              <a:buNone/>
            </a:pPr>
            <a:r>
              <a:rPr lang="en-US" sz="1050" dirty="0">
                <a:solidFill>
                  <a:srgbClr val="F4F2ED"/>
                </a:solidFill>
                <a:latin typeface="DM Sans" pitchFamily="34" charset="0"/>
                <a:ea typeface="DM Sans" pitchFamily="34" charset="-122"/>
                <a:cs typeface="DM Sans" pitchFamily="34" charset="-120"/>
              </a:rPr>
              <a:t>Secure zoning and subdivision approvals for the developable acreage around the fairways.</a:t>
            </a:r>
            <a:endParaRPr lang="en-US" sz="1050" dirty="0"/>
          </a:p>
        </p:txBody>
      </p:sp>
      <p:sp>
        <p:nvSpPr>
          <p:cNvPr id="18" name="Shape 16"/>
          <p:cNvSpPr/>
          <p:nvPr/>
        </p:nvSpPr>
        <p:spPr>
          <a:xfrm>
            <a:off x="3310128" y="1920240"/>
            <a:ext cx="2688336" cy="3749040"/>
          </a:xfrm>
          <a:prstGeom prst="rect">
            <a:avLst/>
          </a:prstGeom>
          <a:solidFill>
            <a:srgbClr val="0B163C"/>
          </a:solidFill>
          <a:ln/>
        </p:spPr>
      </p:sp>
      <p:sp>
        <p:nvSpPr>
          <p:cNvPr id="19" name="Shape 17"/>
          <p:cNvSpPr/>
          <p:nvPr/>
        </p:nvSpPr>
        <p:spPr>
          <a:xfrm>
            <a:off x="3310128" y="1920240"/>
            <a:ext cx="2688336" cy="91440"/>
          </a:xfrm>
          <a:prstGeom prst="rect">
            <a:avLst/>
          </a:prstGeom>
          <a:solidFill>
            <a:srgbClr val="3A243A"/>
          </a:solidFill>
          <a:ln/>
        </p:spPr>
      </p:sp>
      <p:sp>
        <p:nvSpPr>
          <p:cNvPr id="20" name="Text 18"/>
          <p:cNvSpPr/>
          <p:nvPr/>
        </p:nvSpPr>
        <p:spPr>
          <a:xfrm>
            <a:off x="3538728" y="2148840"/>
            <a:ext cx="2231136" cy="822960"/>
          </a:xfrm>
          <a:prstGeom prst="rect">
            <a:avLst/>
          </a:prstGeom>
          <a:noFill/>
          <a:ln/>
        </p:spPr>
        <p:txBody>
          <a:bodyPr wrap="square" lIns="0" tIns="0" rIns="0" bIns="0" rtlCol="0" anchor="ctr"/>
          <a:lstStyle/>
          <a:p>
            <a:pPr algn="l" indent="0" marL="0">
              <a:buNone/>
            </a:pPr>
            <a:r>
              <a:rPr lang="en-US" sz="4400" b="1" dirty="0">
                <a:solidFill>
                  <a:srgbClr val="C4B8C4"/>
                </a:solidFill>
                <a:latin typeface="Montserrat" pitchFamily="34" charset="0"/>
                <a:ea typeface="Montserrat" pitchFamily="34" charset="-122"/>
                <a:cs typeface="Montserrat" pitchFamily="34" charset="-120"/>
              </a:rPr>
              <a:t>02</a:t>
            </a:r>
            <a:endParaRPr lang="en-US" sz="4400" dirty="0"/>
          </a:p>
        </p:txBody>
      </p:sp>
      <p:sp>
        <p:nvSpPr>
          <p:cNvPr id="21" name="Text 19"/>
          <p:cNvSpPr/>
          <p:nvPr/>
        </p:nvSpPr>
        <p:spPr>
          <a:xfrm>
            <a:off x="3538728" y="3063240"/>
            <a:ext cx="2231136" cy="365760"/>
          </a:xfrm>
          <a:prstGeom prst="rect">
            <a:avLst/>
          </a:prstGeom>
          <a:noFill/>
          <a:ln/>
        </p:spPr>
        <p:txBody>
          <a:bodyPr wrap="square" lIns="0" tIns="0" rIns="0" bIns="0" rtlCol="0" anchor="ctr"/>
          <a:lstStyle/>
          <a:p>
            <a:pPr algn="l" indent="0" marL="0">
              <a:buNone/>
            </a:pPr>
            <a:r>
              <a:rPr lang="en-US" sz="1400" b="1" dirty="0">
                <a:solidFill>
                  <a:srgbClr val="FFFFFF"/>
                </a:solidFill>
                <a:latin typeface="Montserrat" pitchFamily="34" charset="0"/>
                <a:ea typeface="Montserrat" pitchFamily="34" charset="-122"/>
                <a:cs typeface="Montserrat" pitchFamily="34" charset="-120"/>
              </a:rPr>
              <a:t>Sell to Builders</a:t>
            </a:r>
            <a:endParaRPr lang="en-US" sz="1400" dirty="0"/>
          </a:p>
        </p:txBody>
      </p:sp>
      <p:sp>
        <p:nvSpPr>
          <p:cNvPr id="22" name="Text 20"/>
          <p:cNvSpPr/>
          <p:nvPr/>
        </p:nvSpPr>
        <p:spPr>
          <a:xfrm>
            <a:off x="3538728" y="3456432"/>
            <a:ext cx="2231136" cy="274320"/>
          </a:xfrm>
          <a:prstGeom prst="rect">
            <a:avLst/>
          </a:prstGeom>
          <a:noFill/>
          <a:ln/>
        </p:spPr>
        <p:txBody>
          <a:bodyPr wrap="square" lIns="0" tIns="0" rIns="0" bIns="0" rtlCol="0" anchor="ctr"/>
          <a:lstStyle/>
          <a:p>
            <a:pPr algn="l" indent="0" marL="0">
              <a:buNone/>
            </a:pPr>
            <a:r>
              <a:rPr lang="en-US" sz="1000" b="1" spc="100" kern="0" dirty="0">
                <a:solidFill>
                  <a:srgbClr val="8C9BB5"/>
                </a:solidFill>
                <a:latin typeface="Montserrat" pitchFamily="34" charset="0"/>
                <a:ea typeface="Montserrat" pitchFamily="34" charset="-122"/>
                <a:cs typeface="Montserrat" pitchFamily="34" charset="-120"/>
              </a:rPr>
              <a:t>Finished lots → homebuilders</a:t>
            </a:r>
            <a:endParaRPr lang="en-US" sz="1000" dirty="0"/>
          </a:p>
        </p:txBody>
      </p:sp>
      <p:sp>
        <p:nvSpPr>
          <p:cNvPr id="23" name="Shape 21"/>
          <p:cNvSpPr/>
          <p:nvPr/>
        </p:nvSpPr>
        <p:spPr>
          <a:xfrm>
            <a:off x="3538728" y="3822192"/>
            <a:ext cx="2231136" cy="18288"/>
          </a:xfrm>
          <a:prstGeom prst="rect">
            <a:avLst/>
          </a:prstGeom>
          <a:solidFill>
            <a:srgbClr val="3A243A"/>
          </a:solidFill>
          <a:ln/>
        </p:spPr>
      </p:sp>
      <p:sp>
        <p:nvSpPr>
          <p:cNvPr id="24" name="Text 22"/>
          <p:cNvSpPr/>
          <p:nvPr/>
        </p:nvSpPr>
        <p:spPr>
          <a:xfrm>
            <a:off x="3538728" y="3950208"/>
            <a:ext cx="2231136" cy="1600200"/>
          </a:xfrm>
          <a:prstGeom prst="rect">
            <a:avLst/>
          </a:prstGeom>
          <a:noFill/>
          <a:ln/>
        </p:spPr>
        <p:txBody>
          <a:bodyPr wrap="square" lIns="0" tIns="0" rIns="0" bIns="0" rtlCol="0" anchor="t"/>
          <a:lstStyle/>
          <a:p>
            <a:pPr algn="l" indent="0" marL="0">
              <a:lnSpc>
                <a:spcPts val="1400"/>
              </a:lnSpc>
              <a:buNone/>
            </a:pPr>
            <a:r>
              <a:rPr lang="en-US" sz="1050" dirty="0">
                <a:solidFill>
                  <a:srgbClr val="F4F2ED"/>
                </a:solidFill>
                <a:latin typeface="DM Sans" pitchFamily="34" charset="0"/>
                <a:ea typeface="DM Sans" pitchFamily="34" charset="-122"/>
                <a:cs typeface="DM Sans" pitchFamily="34" charset="-120"/>
              </a:rPr>
              <a:t>Develop finished lots — we fund the roads, sewer and utilities; the builder just builds the homes.</a:t>
            </a:r>
            <a:endParaRPr lang="en-US" sz="1050" dirty="0"/>
          </a:p>
        </p:txBody>
      </p:sp>
      <p:sp>
        <p:nvSpPr>
          <p:cNvPr id="25" name="Shape 23"/>
          <p:cNvSpPr/>
          <p:nvPr/>
        </p:nvSpPr>
        <p:spPr>
          <a:xfrm>
            <a:off x="6163056" y="1920240"/>
            <a:ext cx="2688336" cy="3749040"/>
          </a:xfrm>
          <a:prstGeom prst="rect">
            <a:avLst/>
          </a:prstGeom>
          <a:solidFill>
            <a:srgbClr val="0B163C"/>
          </a:solidFill>
          <a:ln/>
        </p:spPr>
      </p:sp>
      <p:sp>
        <p:nvSpPr>
          <p:cNvPr id="26" name="Shape 24"/>
          <p:cNvSpPr/>
          <p:nvPr/>
        </p:nvSpPr>
        <p:spPr>
          <a:xfrm>
            <a:off x="6163056" y="1920240"/>
            <a:ext cx="2688336" cy="91440"/>
          </a:xfrm>
          <a:prstGeom prst="rect">
            <a:avLst/>
          </a:prstGeom>
          <a:solidFill>
            <a:srgbClr val="3A243A"/>
          </a:solidFill>
          <a:ln/>
        </p:spPr>
      </p:sp>
      <p:sp>
        <p:nvSpPr>
          <p:cNvPr id="27" name="Text 25"/>
          <p:cNvSpPr/>
          <p:nvPr/>
        </p:nvSpPr>
        <p:spPr>
          <a:xfrm>
            <a:off x="6391656" y="2148840"/>
            <a:ext cx="2231136" cy="822960"/>
          </a:xfrm>
          <a:prstGeom prst="rect">
            <a:avLst/>
          </a:prstGeom>
          <a:noFill/>
          <a:ln/>
        </p:spPr>
        <p:txBody>
          <a:bodyPr wrap="square" lIns="0" tIns="0" rIns="0" bIns="0" rtlCol="0" anchor="ctr"/>
          <a:lstStyle/>
          <a:p>
            <a:pPr algn="l" indent="0" marL="0">
              <a:buNone/>
            </a:pPr>
            <a:r>
              <a:rPr lang="en-US" sz="4400" b="1" dirty="0">
                <a:solidFill>
                  <a:srgbClr val="C4B8C4"/>
                </a:solidFill>
                <a:latin typeface="Montserrat" pitchFamily="34" charset="0"/>
                <a:ea typeface="Montserrat" pitchFamily="34" charset="-122"/>
                <a:cs typeface="Montserrat" pitchFamily="34" charset="-120"/>
              </a:rPr>
              <a:t>03</a:t>
            </a:r>
            <a:endParaRPr lang="en-US" sz="4400" dirty="0"/>
          </a:p>
        </p:txBody>
      </p:sp>
      <p:sp>
        <p:nvSpPr>
          <p:cNvPr id="28" name="Text 26"/>
          <p:cNvSpPr/>
          <p:nvPr/>
        </p:nvSpPr>
        <p:spPr>
          <a:xfrm>
            <a:off x="6391656" y="3063240"/>
            <a:ext cx="2231136" cy="365760"/>
          </a:xfrm>
          <a:prstGeom prst="rect">
            <a:avLst/>
          </a:prstGeom>
          <a:noFill/>
          <a:ln/>
        </p:spPr>
        <p:txBody>
          <a:bodyPr wrap="square" lIns="0" tIns="0" rIns="0" bIns="0" rtlCol="0" anchor="ctr"/>
          <a:lstStyle/>
          <a:p>
            <a:pPr algn="l" indent="0" marL="0">
              <a:buNone/>
            </a:pPr>
            <a:r>
              <a:rPr lang="en-US" sz="1400" b="1" dirty="0">
                <a:solidFill>
                  <a:srgbClr val="FFFFFF"/>
                </a:solidFill>
                <a:latin typeface="Montserrat" pitchFamily="34" charset="0"/>
                <a:ea typeface="Montserrat" pitchFamily="34" charset="-122"/>
                <a:cs typeface="Montserrat" pitchFamily="34" charset="-120"/>
              </a:rPr>
              <a:t>Golf &amp; Water Premium</a:t>
            </a:r>
            <a:endParaRPr lang="en-US" sz="1400" dirty="0"/>
          </a:p>
        </p:txBody>
      </p:sp>
      <p:sp>
        <p:nvSpPr>
          <p:cNvPr id="29" name="Text 27"/>
          <p:cNvSpPr/>
          <p:nvPr/>
        </p:nvSpPr>
        <p:spPr>
          <a:xfrm>
            <a:off x="6391656" y="3456432"/>
            <a:ext cx="2231136" cy="274320"/>
          </a:xfrm>
          <a:prstGeom prst="rect">
            <a:avLst/>
          </a:prstGeom>
          <a:noFill/>
          <a:ln/>
        </p:spPr>
        <p:txBody>
          <a:bodyPr wrap="square" lIns="0" tIns="0" rIns="0" bIns="0" rtlCol="0" anchor="ctr"/>
          <a:lstStyle/>
          <a:p>
            <a:pPr algn="l" indent="0" marL="0">
              <a:buNone/>
            </a:pPr>
            <a:r>
              <a:rPr lang="en-US" sz="1000" b="1" spc="100" kern="0" dirty="0">
                <a:solidFill>
                  <a:srgbClr val="8C9BB5"/>
                </a:solidFill>
                <a:latin typeface="Montserrat" pitchFamily="34" charset="0"/>
                <a:ea typeface="Montserrat" pitchFamily="34" charset="-122"/>
                <a:cs typeface="Montserrat" pitchFamily="34" charset="-120"/>
              </a:rPr>
              <a:t>Frontage sells higher</a:t>
            </a:r>
            <a:endParaRPr lang="en-US" sz="1000" dirty="0"/>
          </a:p>
        </p:txBody>
      </p:sp>
      <p:sp>
        <p:nvSpPr>
          <p:cNvPr id="30" name="Shape 28"/>
          <p:cNvSpPr/>
          <p:nvPr/>
        </p:nvSpPr>
        <p:spPr>
          <a:xfrm>
            <a:off x="6391656" y="3822192"/>
            <a:ext cx="2231136" cy="18288"/>
          </a:xfrm>
          <a:prstGeom prst="rect">
            <a:avLst/>
          </a:prstGeom>
          <a:solidFill>
            <a:srgbClr val="3A243A"/>
          </a:solidFill>
          <a:ln/>
        </p:spPr>
      </p:sp>
      <p:sp>
        <p:nvSpPr>
          <p:cNvPr id="31" name="Text 29"/>
          <p:cNvSpPr/>
          <p:nvPr/>
        </p:nvSpPr>
        <p:spPr>
          <a:xfrm>
            <a:off x="6391656" y="3950208"/>
            <a:ext cx="2231136" cy="1600200"/>
          </a:xfrm>
          <a:prstGeom prst="rect">
            <a:avLst/>
          </a:prstGeom>
          <a:noFill/>
          <a:ln/>
        </p:spPr>
        <p:txBody>
          <a:bodyPr wrap="square" lIns="0" tIns="0" rIns="0" bIns="0" rtlCol="0" anchor="t"/>
          <a:lstStyle/>
          <a:p>
            <a:pPr algn="l" indent="0" marL="0">
              <a:lnSpc>
                <a:spcPts val="1400"/>
              </a:lnSpc>
              <a:buNone/>
            </a:pPr>
            <a:r>
              <a:rPr lang="en-US" sz="1050" dirty="0">
                <a:solidFill>
                  <a:srgbClr val="F4F2ED"/>
                </a:solidFill>
                <a:latin typeface="DM Sans" pitchFamily="34" charset="0"/>
                <a:ea typeface="DM Sans" pitchFamily="34" charset="-122"/>
                <a:cs typeface="DM Sans" pitchFamily="34" charset="-120"/>
              </a:rPr>
              <a:t>Lots on a course or with Chesapeake water views command a premium and absorb faster.</a:t>
            </a:r>
            <a:endParaRPr lang="en-US" sz="1050" dirty="0"/>
          </a:p>
        </p:txBody>
      </p:sp>
      <p:sp>
        <p:nvSpPr>
          <p:cNvPr id="32" name="Shape 30"/>
          <p:cNvSpPr/>
          <p:nvPr/>
        </p:nvSpPr>
        <p:spPr>
          <a:xfrm>
            <a:off x="9015984" y="1920240"/>
            <a:ext cx="2688336" cy="3749040"/>
          </a:xfrm>
          <a:prstGeom prst="rect">
            <a:avLst/>
          </a:prstGeom>
          <a:solidFill>
            <a:srgbClr val="0B163C"/>
          </a:solidFill>
          <a:ln/>
        </p:spPr>
      </p:sp>
      <p:sp>
        <p:nvSpPr>
          <p:cNvPr id="33" name="Shape 31"/>
          <p:cNvSpPr/>
          <p:nvPr/>
        </p:nvSpPr>
        <p:spPr>
          <a:xfrm>
            <a:off x="9015984" y="1920240"/>
            <a:ext cx="2688336" cy="91440"/>
          </a:xfrm>
          <a:prstGeom prst="rect">
            <a:avLst/>
          </a:prstGeom>
          <a:solidFill>
            <a:srgbClr val="3A243A"/>
          </a:solidFill>
          <a:ln/>
        </p:spPr>
      </p:sp>
      <p:sp>
        <p:nvSpPr>
          <p:cNvPr id="34" name="Text 32"/>
          <p:cNvSpPr/>
          <p:nvPr/>
        </p:nvSpPr>
        <p:spPr>
          <a:xfrm>
            <a:off x="9244584" y="2148840"/>
            <a:ext cx="2231136" cy="822960"/>
          </a:xfrm>
          <a:prstGeom prst="rect">
            <a:avLst/>
          </a:prstGeom>
          <a:noFill/>
          <a:ln/>
        </p:spPr>
        <p:txBody>
          <a:bodyPr wrap="square" lIns="0" tIns="0" rIns="0" bIns="0" rtlCol="0" anchor="ctr"/>
          <a:lstStyle/>
          <a:p>
            <a:pPr algn="l" indent="0" marL="0">
              <a:buNone/>
            </a:pPr>
            <a:r>
              <a:rPr lang="en-US" sz="4400" b="1" dirty="0">
                <a:solidFill>
                  <a:srgbClr val="C4B8C4"/>
                </a:solidFill>
                <a:latin typeface="Montserrat" pitchFamily="34" charset="0"/>
                <a:ea typeface="Montserrat" pitchFamily="34" charset="-122"/>
                <a:cs typeface="Montserrat" pitchFamily="34" charset="-120"/>
              </a:rPr>
              <a:t>04</a:t>
            </a:r>
            <a:endParaRPr lang="en-US" sz="4400" dirty="0"/>
          </a:p>
        </p:txBody>
      </p:sp>
      <p:sp>
        <p:nvSpPr>
          <p:cNvPr id="35" name="Text 33"/>
          <p:cNvSpPr/>
          <p:nvPr/>
        </p:nvSpPr>
        <p:spPr>
          <a:xfrm>
            <a:off x="9244584" y="3063240"/>
            <a:ext cx="2231136" cy="365760"/>
          </a:xfrm>
          <a:prstGeom prst="rect">
            <a:avLst/>
          </a:prstGeom>
          <a:noFill/>
          <a:ln/>
        </p:spPr>
        <p:txBody>
          <a:bodyPr wrap="square" lIns="0" tIns="0" rIns="0" bIns="0" rtlCol="0" anchor="ctr"/>
          <a:lstStyle/>
          <a:p>
            <a:pPr algn="l" indent="0" marL="0">
              <a:buNone/>
            </a:pPr>
            <a:r>
              <a:rPr lang="en-US" sz="1400" b="1" dirty="0">
                <a:solidFill>
                  <a:srgbClr val="FFFFFF"/>
                </a:solidFill>
                <a:latin typeface="Montserrat" pitchFamily="34" charset="0"/>
                <a:ea typeface="Montserrat" pitchFamily="34" charset="-122"/>
                <a:cs typeface="Montserrat" pitchFamily="34" charset="-120"/>
              </a:rPr>
              <a:t>Recycle &amp; Repeat</a:t>
            </a:r>
            <a:endParaRPr lang="en-US" sz="1400" dirty="0"/>
          </a:p>
        </p:txBody>
      </p:sp>
      <p:sp>
        <p:nvSpPr>
          <p:cNvPr id="36" name="Text 34"/>
          <p:cNvSpPr/>
          <p:nvPr/>
        </p:nvSpPr>
        <p:spPr>
          <a:xfrm>
            <a:off x="9244584" y="3456432"/>
            <a:ext cx="2231136" cy="274320"/>
          </a:xfrm>
          <a:prstGeom prst="rect">
            <a:avLst/>
          </a:prstGeom>
          <a:noFill/>
          <a:ln/>
        </p:spPr>
        <p:txBody>
          <a:bodyPr wrap="square" lIns="0" tIns="0" rIns="0" bIns="0" rtlCol="0" anchor="ctr"/>
          <a:lstStyle/>
          <a:p>
            <a:pPr algn="l" indent="0" marL="0">
              <a:buNone/>
            </a:pPr>
            <a:r>
              <a:rPr lang="en-US" sz="1000" b="1" spc="100" kern="0" dirty="0">
                <a:solidFill>
                  <a:srgbClr val="8C9BB5"/>
                </a:solidFill>
                <a:latin typeface="Montserrat" pitchFamily="34" charset="0"/>
                <a:ea typeface="Montserrat" pitchFamily="34" charset="-122"/>
                <a:cs typeface="Montserrat" pitchFamily="34" charset="-120"/>
              </a:rPr>
              <a:t>Parcel by parcel</a:t>
            </a:r>
            <a:endParaRPr lang="en-US" sz="1000" dirty="0"/>
          </a:p>
        </p:txBody>
      </p:sp>
      <p:sp>
        <p:nvSpPr>
          <p:cNvPr id="37" name="Shape 35"/>
          <p:cNvSpPr/>
          <p:nvPr/>
        </p:nvSpPr>
        <p:spPr>
          <a:xfrm>
            <a:off x="9244584" y="3822192"/>
            <a:ext cx="2231136" cy="18288"/>
          </a:xfrm>
          <a:prstGeom prst="rect">
            <a:avLst/>
          </a:prstGeom>
          <a:solidFill>
            <a:srgbClr val="3A243A"/>
          </a:solidFill>
          <a:ln/>
        </p:spPr>
      </p:sp>
      <p:sp>
        <p:nvSpPr>
          <p:cNvPr id="38" name="Text 36"/>
          <p:cNvSpPr/>
          <p:nvPr/>
        </p:nvSpPr>
        <p:spPr>
          <a:xfrm>
            <a:off x="9244584" y="3950208"/>
            <a:ext cx="2231136" cy="1600200"/>
          </a:xfrm>
          <a:prstGeom prst="rect">
            <a:avLst/>
          </a:prstGeom>
          <a:noFill/>
          <a:ln/>
        </p:spPr>
        <p:txBody>
          <a:bodyPr wrap="square" lIns="0" tIns="0" rIns="0" bIns="0" rtlCol="0" anchor="t"/>
          <a:lstStyle/>
          <a:p>
            <a:pPr algn="l" indent="0" marL="0">
              <a:lnSpc>
                <a:spcPts val="1400"/>
              </a:lnSpc>
              <a:buNone/>
            </a:pPr>
            <a:r>
              <a:rPr lang="en-US" sz="1050" dirty="0">
                <a:solidFill>
                  <a:srgbClr val="F4F2ED"/>
                </a:solidFill>
                <a:latin typeface="DM Sans" pitchFamily="34" charset="0"/>
                <a:ea typeface="DM Sans" pitchFamily="34" charset="-122"/>
                <a:cs typeface="DM Sans" pitchFamily="34" charset="-120"/>
              </a:rPr>
              <a:t>Roll proceeds into the next parcel — and seed the broader Capital H6 program.</a:t>
            </a:r>
            <a:endParaRPr lang="en-US" sz="1050" dirty="0"/>
          </a:p>
        </p:txBody>
      </p:sp>
      <p:sp>
        <p:nvSpPr>
          <p:cNvPr id="39" name="Shape 37"/>
          <p:cNvSpPr/>
          <p:nvPr/>
        </p:nvSpPr>
        <p:spPr>
          <a:xfrm>
            <a:off x="457200" y="5943600"/>
            <a:ext cx="11274552" cy="420624"/>
          </a:xfrm>
          <a:prstGeom prst="rect">
            <a:avLst/>
          </a:prstGeom>
          <a:solidFill>
            <a:srgbClr val="3A243A"/>
          </a:solidFill>
          <a:ln/>
        </p:spPr>
      </p:sp>
      <p:sp>
        <p:nvSpPr>
          <p:cNvPr id="40" name="Text 38"/>
          <p:cNvSpPr/>
          <p:nvPr/>
        </p:nvSpPr>
        <p:spPr>
          <a:xfrm>
            <a:off x="640080" y="5943600"/>
            <a:ext cx="10908792" cy="420624"/>
          </a:xfrm>
          <a:prstGeom prst="rect">
            <a:avLst/>
          </a:prstGeom>
          <a:noFill/>
          <a:ln/>
        </p:spPr>
        <p:txBody>
          <a:bodyPr wrap="square" lIns="0" tIns="0" rIns="0" bIns="0" rtlCol="0" anchor="ctr"/>
          <a:lstStyle/>
          <a:p>
            <a:pPr algn="ctr" indent="0" marL="0">
              <a:buNone/>
            </a:pPr>
            <a:r>
              <a:rPr lang="en-US" sz="1100" b="1" dirty="0">
                <a:solidFill>
                  <a:srgbClr val="FFFFFF"/>
                </a:solidFill>
                <a:latin typeface="DM Sans" pitchFamily="34" charset="0"/>
                <a:ea typeface="DM Sans" pitchFamily="34" charset="-122"/>
                <a:cs typeface="DM Sans" pitchFamily="34" charset="-120"/>
              </a:rPr>
              <a:t>Move 01 is mostly soft costs — the fastest path to proof, and to first cash.</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6 / 20</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THE MATH  ·  ILLUSTRATIVE</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From 700 acres to $42M of finished-lot revenue.</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Finished-lot basis: we develop the lots — funding roads, sewer and utilities — and sell them finished; the builder just builds the homes. Costs and returns are on the pro forma. Illustrative — survey-dependent.</a:t>
            </a:r>
            <a:endParaRPr lang="en-US" sz="1300" dirty="0"/>
          </a:p>
        </p:txBody>
      </p:sp>
      <p:sp>
        <p:nvSpPr>
          <p:cNvPr id="11" name="Shape 9"/>
          <p:cNvSpPr/>
          <p:nvPr/>
        </p:nvSpPr>
        <p:spPr>
          <a:xfrm>
            <a:off x="457200" y="1920240"/>
            <a:ext cx="2926080" cy="365760"/>
          </a:xfrm>
          <a:prstGeom prst="rect">
            <a:avLst/>
          </a:prstGeom>
          <a:solidFill>
            <a:srgbClr val="0B163C"/>
          </a:solidFill>
          <a:ln/>
        </p:spPr>
      </p:sp>
      <p:sp>
        <p:nvSpPr>
          <p:cNvPr id="12" name="Text 10"/>
          <p:cNvSpPr/>
          <p:nvPr/>
        </p:nvSpPr>
        <p:spPr>
          <a:xfrm>
            <a:off x="457200" y="1920240"/>
            <a:ext cx="2926080"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Step</a:t>
            </a:r>
            <a:endParaRPr lang="en-US" sz="900" dirty="0"/>
          </a:p>
        </p:txBody>
      </p:sp>
      <p:sp>
        <p:nvSpPr>
          <p:cNvPr id="13" name="Shape 11"/>
          <p:cNvSpPr/>
          <p:nvPr/>
        </p:nvSpPr>
        <p:spPr>
          <a:xfrm>
            <a:off x="3383280" y="1920240"/>
            <a:ext cx="3108960" cy="365760"/>
          </a:xfrm>
          <a:prstGeom prst="rect">
            <a:avLst/>
          </a:prstGeom>
          <a:solidFill>
            <a:srgbClr val="0B163C"/>
          </a:solidFill>
          <a:ln/>
        </p:spPr>
      </p:sp>
      <p:sp>
        <p:nvSpPr>
          <p:cNvPr id="14" name="Text 12"/>
          <p:cNvSpPr/>
          <p:nvPr/>
        </p:nvSpPr>
        <p:spPr>
          <a:xfrm>
            <a:off x="3383280" y="1920240"/>
            <a:ext cx="3108960"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Basis</a:t>
            </a:r>
            <a:endParaRPr lang="en-US" sz="900" dirty="0"/>
          </a:p>
        </p:txBody>
      </p:sp>
      <p:sp>
        <p:nvSpPr>
          <p:cNvPr id="15" name="Shape 13"/>
          <p:cNvSpPr/>
          <p:nvPr/>
        </p:nvSpPr>
        <p:spPr>
          <a:xfrm>
            <a:off x="6492240" y="1920240"/>
            <a:ext cx="2651760" cy="365760"/>
          </a:xfrm>
          <a:prstGeom prst="rect">
            <a:avLst/>
          </a:prstGeom>
          <a:solidFill>
            <a:srgbClr val="0B163C"/>
          </a:solidFill>
          <a:ln/>
        </p:spPr>
      </p:sp>
      <p:sp>
        <p:nvSpPr>
          <p:cNvPr id="16" name="Text 14"/>
          <p:cNvSpPr/>
          <p:nvPr/>
        </p:nvSpPr>
        <p:spPr>
          <a:xfrm>
            <a:off x="6492240" y="1920240"/>
            <a:ext cx="2651760"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Calculation</a:t>
            </a:r>
            <a:endParaRPr lang="en-US" sz="900" dirty="0"/>
          </a:p>
        </p:txBody>
      </p:sp>
      <p:sp>
        <p:nvSpPr>
          <p:cNvPr id="17" name="Shape 15"/>
          <p:cNvSpPr/>
          <p:nvPr/>
        </p:nvSpPr>
        <p:spPr>
          <a:xfrm>
            <a:off x="9144000" y="1920240"/>
            <a:ext cx="2587752" cy="365760"/>
          </a:xfrm>
          <a:prstGeom prst="rect">
            <a:avLst/>
          </a:prstGeom>
          <a:solidFill>
            <a:srgbClr val="0B163C"/>
          </a:solidFill>
          <a:ln/>
        </p:spPr>
      </p:sp>
      <p:sp>
        <p:nvSpPr>
          <p:cNvPr id="18" name="Text 16"/>
          <p:cNvSpPr/>
          <p:nvPr/>
        </p:nvSpPr>
        <p:spPr>
          <a:xfrm>
            <a:off x="9144000" y="1920240"/>
            <a:ext cx="2587752" cy="365760"/>
          </a:xfrm>
          <a:prstGeom prst="rect">
            <a:avLst/>
          </a:prstGeom>
          <a:noFill/>
          <a:ln/>
        </p:spPr>
        <p:txBody>
          <a:bodyPr wrap="square" lIns="25400" tIns="76200" rIns="76200" bIns="25400" rtlCol="0" anchor="ctr"/>
          <a:lstStyle/>
          <a:p>
            <a:pPr algn="r" indent="0" marL="0">
              <a:buNone/>
            </a:pPr>
            <a:r>
              <a:rPr lang="en-US" sz="900" b="1" dirty="0">
                <a:solidFill>
                  <a:srgbClr val="FFFFFF"/>
                </a:solidFill>
                <a:latin typeface="Montserrat" pitchFamily="34" charset="0"/>
                <a:ea typeface="Montserrat" pitchFamily="34" charset="-122"/>
                <a:cs typeface="Montserrat" pitchFamily="34" charset="-120"/>
              </a:rPr>
              <a:t>= Result</a:t>
            </a:r>
            <a:endParaRPr lang="en-US" sz="900" dirty="0"/>
          </a:p>
        </p:txBody>
      </p:sp>
      <p:sp>
        <p:nvSpPr>
          <p:cNvPr id="19" name="Shape 17"/>
          <p:cNvSpPr/>
          <p:nvPr/>
        </p:nvSpPr>
        <p:spPr>
          <a:xfrm>
            <a:off x="457200" y="2286000"/>
            <a:ext cx="2926080" cy="438912"/>
          </a:xfrm>
          <a:prstGeom prst="rect">
            <a:avLst/>
          </a:prstGeom>
          <a:solidFill>
            <a:srgbClr val="FFFFFF"/>
          </a:solidFill>
          <a:ln/>
        </p:spPr>
      </p:sp>
      <p:sp>
        <p:nvSpPr>
          <p:cNvPr id="20" name="Text 18"/>
          <p:cNvSpPr/>
          <p:nvPr/>
        </p:nvSpPr>
        <p:spPr>
          <a:xfrm>
            <a:off x="457200" y="2286000"/>
            <a:ext cx="2926080" cy="438912"/>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Gross Queenstown land</a:t>
            </a:r>
            <a:endParaRPr lang="en-US" sz="1000" dirty="0"/>
          </a:p>
        </p:txBody>
      </p:sp>
      <p:sp>
        <p:nvSpPr>
          <p:cNvPr id="21" name="Shape 19"/>
          <p:cNvSpPr/>
          <p:nvPr/>
        </p:nvSpPr>
        <p:spPr>
          <a:xfrm>
            <a:off x="3383280" y="2286000"/>
            <a:ext cx="3108960" cy="438912"/>
          </a:xfrm>
          <a:prstGeom prst="rect">
            <a:avLst/>
          </a:prstGeom>
          <a:solidFill>
            <a:srgbClr val="FFFFFF"/>
          </a:solidFill>
          <a:ln/>
        </p:spPr>
      </p:sp>
      <p:sp>
        <p:nvSpPr>
          <p:cNvPr id="22" name="Text 20"/>
          <p:cNvSpPr/>
          <p:nvPr/>
        </p:nvSpPr>
        <p:spPr>
          <a:xfrm>
            <a:off x="3383280" y="2286000"/>
            <a:ext cx="310896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per ownership (to confirm)</a:t>
            </a:r>
            <a:endParaRPr lang="en-US" sz="950" dirty="0"/>
          </a:p>
        </p:txBody>
      </p:sp>
      <p:sp>
        <p:nvSpPr>
          <p:cNvPr id="23" name="Shape 21"/>
          <p:cNvSpPr/>
          <p:nvPr/>
        </p:nvSpPr>
        <p:spPr>
          <a:xfrm>
            <a:off x="6492240" y="2286000"/>
            <a:ext cx="2651760" cy="438912"/>
          </a:xfrm>
          <a:prstGeom prst="rect">
            <a:avLst/>
          </a:prstGeom>
          <a:solidFill>
            <a:srgbClr val="FFFFFF"/>
          </a:solidFill>
          <a:ln/>
        </p:spPr>
      </p:sp>
      <p:sp>
        <p:nvSpPr>
          <p:cNvPr id="24" name="Text 22"/>
          <p:cNvSpPr/>
          <p:nvPr/>
        </p:nvSpPr>
        <p:spPr>
          <a:xfrm>
            <a:off x="6492240" y="2286000"/>
            <a:ext cx="2651760" cy="438912"/>
          </a:xfrm>
          <a:prstGeom prst="rect">
            <a:avLst/>
          </a:prstGeom>
          <a:noFill/>
          <a:ln/>
        </p:spPr>
        <p:txBody>
          <a:bodyPr wrap="square" lIns="25400" tIns="76200" rIns="76200" bIns="25400" rtlCol="0" anchor="ctr"/>
          <a:lstStyle/>
          <a:p>
            <a:pPr algn="l" indent="0" marL="0">
              <a:buNone/>
            </a:pPr>
            <a:r>
              <a:rPr lang="en-US" sz="900" dirty="0">
                <a:solidFill>
                  <a:srgbClr val="6B5A6B"/>
                </a:solidFill>
                <a:latin typeface="DM Sans" pitchFamily="34" charset="0"/>
                <a:ea typeface="DM Sans" pitchFamily="34" charset="-122"/>
                <a:cs typeface="DM Sans" pitchFamily="34" charset="-120"/>
              </a:rPr>
              <a:t>—</a:t>
            </a:r>
            <a:endParaRPr lang="en-US" sz="900" dirty="0"/>
          </a:p>
        </p:txBody>
      </p:sp>
      <p:sp>
        <p:nvSpPr>
          <p:cNvPr id="25" name="Shape 23"/>
          <p:cNvSpPr/>
          <p:nvPr/>
        </p:nvSpPr>
        <p:spPr>
          <a:xfrm>
            <a:off x="9144000" y="2286000"/>
            <a:ext cx="2587752" cy="438912"/>
          </a:xfrm>
          <a:prstGeom prst="rect">
            <a:avLst/>
          </a:prstGeom>
          <a:solidFill>
            <a:srgbClr val="FFFFFF"/>
          </a:solidFill>
          <a:ln/>
        </p:spPr>
      </p:sp>
      <p:sp>
        <p:nvSpPr>
          <p:cNvPr id="26" name="Text 24"/>
          <p:cNvSpPr/>
          <p:nvPr/>
        </p:nvSpPr>
        <p:spPr>
          <a:xfrm>
            <a:off x="9144000" y="2286000"/>
            <a:ext cx="2587752" cy="438912"/>
          </a:xfrm>
          <a:prstGeom prst="rect">
            <a:avLst/>
          </a:prstGeom>
          <a:noFill/>
          <a:ln/>
        </p:spPr>
        <p:txBody>
          <a:bodyPr wrap="square" lIns="25400" tIns="76200" rIns="76200" bIns="25400" rtlCol="0" anchor="ctr"/>
          <a:lstStyle/>
          <a:p>
            <a:pPr algn="r" indent="0" marL="0">
              <a:buNone/>
            </a:pPr>
            <a:r>
              <a:rPr lang="en-US" sz="1100" b="1" dirty="0">
                <a:solidFill>
                  <a:srgbClr val="3A243A"/>
                </a:solidFill>
                <a:latin typeface="Montserrat" pitchFamily="34" charset="0"/>
                <a:ea typeface="Montserrat" pitchFamily="34" charset="-122"/>
                <a:cs typeface="Montserrat" pitchFamily="34" charset="-120"/>
              </a:rPr>
              <a:t>~700 ac</a:t>
            </a:r>
            <a:endParaRPr lang="en-US" sz="1100" dirty="0"/>
          </a:p>
        </p:txBody>
      </p:sp>
      <p:sp>
        <p:nvSpPr>
          <p:cNvPr id="27" name="Shape 25"/>
          <p:cNvSpPr/>
          <p:nvPr/>
        </p:nvSpPr>
        <p:spPr>
          <a:xfrm>
            <a:off x="457200" y="2724912"/>
            <a:ext cx="2926080" cy="438912"/>
          </a:xfrm>
          <a:prstGeom prst="rect">
            <a:avLst/>
          </a:prstGeom>
          <a:solidFill>
            <a:srgbClr val="F4F2ED"/>
          </a:solidFill>
          <a:ln/>
        </p:spPr>
      </p:sp>
      <p:sp>
        <p:nvSpPr>
          <p:cNvPr id="28" name="Text 26"/>
          <p:cNvSpPr/>
          <p:nvPr/>
        </p:nvSpPr>
        <p:spPr>
          <a:xfrm>
            <a:off x="457200" y="2724912"/>
            <a:ext cx="2926080" cy="438912"/>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Less permanent conservation</a:t>
            </a:r>
            <a:endParaRPr lang="en-US" sz="1000" dirty="0"/>
          </a:p>
        </p:txBody>
      </p:sp>
      <p:sp>
        <p:nvSpPr>
          <p:cNvPr id="29" name="Shape 27"/>
          <p:cNvSpPr/>
          <p:nvPr/>
        </p:nvSpPr>
        <p:spPr>
          <a:xfrm>
            <a:off x="3383280" y="2724912"/>
            <a:ext cx="3108960" cy="438912"/>
          </a:xfrm>
          <a:prstGeom prst="rect">
            <a:avLst/>
          </a:prstGeom>
          <a:solidFill>
            <a:srgbClr val="F4F2ED"/>
          </a:solidFill>
          <a:ln/>
        </p:spPr>
      </p:sp>
      <p:sp>
        <p:nvSpPr>
          <p:cNvPr id="30" name="Text 28"/>
          <p:cNvSpPr/>
          <p:nvPr/>
        </p:nvSpPr>
        <p:spPr>
          <a:xfrm>
            <a:off x="3383280" y="2724912"/>
            <a:ext cx="310896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recorded easement</a:t>
            </a:r>
            <a:endParaRPr lang="en-US" sz="950" dirty="0"/>
          </a:p>
        </p:txBody>
      </p:sp>
      <p:sp>
        <p:nvSpPr>
          <p:cNvPr id="31" name="Shape 29"/>
          <p:cNvSpPr/>
          <p:nvPr/>
        </p:nvSpPr>
        <p:spPr>
          <a:xfrm>
            <a:off x="6492240" y="2724912"/>
            <a:ext cx="2651760" cy="438912"/>
          </a:xfrm>
          <a:prstGeom prst="rect">
            <a:avLst/>
          </a:prstGeom>
          <a:solidFill>
            <a:srgbClr val="F4F2ED"/>
          </a:solidFill>
          <a:ln/>
        </p:spPr>
      </p:sp>
      <p:sp>
        <p:nvSpPr>
          <p:cNvPr id="32" name="Text 30"/>
          <p:cNvSpPr/>
          <p:nvPr/>
        </p:nvSpPr>
        <p:spPr>
          <a:xfrm>
            <a:off x="6492240" y="2724912"/>
            <a:ext cx="2651760" cy="438912"/>
          </a:xfrm>
          <a:prstGeom prst="rect">
            <a:avLst/>
          </a:prstGeom>
          <a:noFill/>
          <a:ln/>
        </p:spPr>
        <p:txBody>
          <a:bodyPr wrap="square" lIns="25400" tIns="76200" rIns="76200" bIns="25400" rtlCol="0" anchor="ctr"/>
          <a:lstStyle/>
          <a:p>
            <a:pPr algn="l" indent="0" marL="0">
              <a:buNone/>
            </a:pPr>
            <a:r>
              <a:rPr lang="en-US" sz="900" dirty="0">
                <a:solidFill>
                  <a:srgbClr val="6B5A6B"/>
                </a:solidFill>
                <a:latin typeface="DM Sans" pitchFamily="34" charset="0"/>
                <a:ea typeface="DM Sans" pitchFamily="34" charset="-122"/>
                <a:cs typeface="DM Sans" pitchFamily="34" charset="-120"/>
              </a:rPr>
              <a:t>700 − 198</a:t>
            </a:r>
            <a:endParaRPr lang="en-US" sz="900" dirty="0"/>
          </a:p>
        </p:txBody>
      </p:sp>
      <p:sp>
        <p:nvSpPr>
          <p:cNvPr id="33" name="Shape 31"/>
          <p:cNvSpPr/>
          <p:nvPr/>
        </p:nvSpPr>
        <p:spPr>
          <a:xfrm>
            <a:off x="9144000" y="2724912"/>
            <a:ext cx="2587752" cy="438912"/>
          </a:xfrm>
          <a:prstGeom prst="rect">
            <a:avLst/>
          </a:prstGeom>
          <a:solidFill>
            <a:srgbClr val="F4F2ED"/>
          </a:solidFill>
          <a:ln/>
        </p:spPr>
      </p:sp>
      <p:sp>
        <p:nvSpPr>
          <p:cNvPr id="34" name="Text 32"/>
          <p:cNvSpPr/>
          <p:nvPr/>
        </p:nvSpPr>
        <p:spPr>
          <a:xfrm>
            <a:off x="9144000" y="2724912"/>
            <a:ext cx="2587752" cy="438912"/>
          </a:xfrm>
          <a:prstGeom prst="rect">
            <a:avLst/>
          </a:prstGeom>
          <a:noFill/>
          <a:ln/>
        </p:spPr>
        <p:txBody>
          <a:bodyPr wrap="square" lIns="25400" tIns="76200" rIns="76200" bIns="25400" rtlCol="0" anchor="ctr"/>
          <a:lstStyle/>
          <a:p>
            <a:pPr algn="r" indent="0" marL="0">
              <a:buNone/>
            </a:pPr>
            <a:r>
              <a:rPr lang="en-US" sz="1100" b="1" dirty="0">
                <a:solidFill>
                  <a:srgbClr val="3A243A"/>
                </a:solidFill>
                <a:latin typeface="Montserrat" pitchFamily="34" charset="0"/>
                <a:ea typeface="Montserrat" pitchFamily="34" charset="-122"/>
                <a:cs typeface="Montserrat" pitchFamily="34" charset="-120"/>
              </a:rPr>
              <a:t>502 ac</a:t>
            </a:r>
            <a:endParaRPr lang="en-US" sz="1100" dirty="0"/>
          </a:p>
        </p:txBody>
      </p:sp>
      <p:sp>
        <p:nvSpPr>
          <p:cNvPr id="35" name="Shape 33"/>
          <p:cNvSpPr/>
          <p:nvPr/>
        </p:nvSpPr>
        <p:spPr>
          <a:xfrm>
            <a:off x="457200" y="3163824"/>
            <a:ext cx="2926080" cy="438912"/>
          </a:xfrm>
          <a:prstGeom prst="rect">
            <a:avLst/>
          </a:prstGeom>
          <a:solidFill>
            <a:srgbClr val="FFFFFF"/>
          </a:solidFill>
          <a:ln/>
        </p:spPr>
      </p:sp>
      <p:sp>
        <p:nvSpPr>
          <p:cNvPr id="36" name="Text 34"/>
          <p:cNvSpPr/>
          <p:nvPr/>
        </p:nvSpPr>
        <p:spPr>
          <a:xfrm>
            <a:off x="457200" y="3163824"/>
            <a:ext cx="2926080" cy="438912"/>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Less golf, range, water &amp; lodging</a:t>
            </a:r>
            <a:endParaRPr lang="en-US" sz="1000" dirty="0"/>
          </a:p>
        </p:txBody>
      </p:sp>
      <p:sp>
        <p:nvSpPr>
          <p:cNvPr id="37" name="Shape 35"/>
          <p:cNvSpPr/>
          <p:nvPr/>
        </p:nvSpPr>
        <p:spPr>
          <a:xfrm>
            <a:off x="3383280" y="3163824"/>
            <a:ext cx="3108960" cy="438912"/>
          </a:xfrm>
          <a:prstGeom prst="rect">
            <a:avLst/>
          </a:prstGeom>
          <a:solidFill>
            <a:srgbClr val="FFFFFF"/>
          </a:solidFill>
          <a:ln/>
        </p:spPr>
      </p:sp>
      <p:sp>
        <p:nvSpPr>
          <p:cNvPr id="38" name="Text 36"/>
          <p:cNvSpPr/>
          <p:nvPr/>
        </p:nvSpPr>
        <p:spPr>
          <a:xfrm>
            <a:off x="3383280" y="3163824"/>
            <a:ext cx="310896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two 18s + 9-ac range + cottages</a:t>
            </a:r>
            <a:endParaRPr lang="en-US" sz="950" dirty="0"/>
          </a:p>
        </p:txBody>
      </p:sp>
      <p:sp>
        <p:nvSpPr>
          <p:cNvPr id="39" name="Shape 37"/>
          <p:cNvSpPr/>
          <p:nvPr/>
        </p:nvSpPr>
        <p:spPr>
          <a:xfrm>
            <a:off x="6492240" y="3163824"/>
            <a:ext cx="2651760" cy="438912"/>
          </a:xfrm>
          <a:prstGeom prst="rect">
            <a:avLst/>
          </a:prstGeom>
          <a:solidFill>
            <a:srgbClr val="FFFFFF"/>
          </a:solidFill>
          <a:ln/>
        </p:spPr>
      </p:sp>
      <p:sp>
        <p:nvSpPr>
          <p:cNvPr id="40" name="Text 38"/>
          <p:cNvSpPr/>
          <p:nvPr/>
        </p:nvSpPr>
        <p:spPr>
          <a:xfrm>
            <a:off x="6492240" y="3163824"/>
            <a:ext cx="2651760" cy="438912"/>
          </a:xfrm>
          <a:prstGeom prst="rect">
            <a:avLst/>
          </a:prstGeom>
          <a:noFill/>
          <a:ln/>
        </p:spPr>
        <p:txBody>
          <a:bodyPr wrap="square" lIns="25400" tIns="76200" rIns="76200" bIns="25400" rtlCol="0" anchor="ctr"/>
          <a:lstStyle/>
          <a:p>
            <a:pPr algn="l" indent="0" marL="0">
              <a:buNone/>
            </a:pPr>
            <a:r>
              <a:rPr lang="en-US" sz="900" dirty="0">
                <a:solidFill>
                  <a:srgbClr val="6B5A6B"/>
                </a:solidFill>
                <a:latin typeface="DM Sans" pitchFamily="34" charset="0"/>
                <a:ea typeface="DM Sans" pitchFamily="34" charset="-122"/>
                <a:cs typeface="DM Sans" pitchFamily="34" charset="-120"/>
              </a:rPr>
              <a:t>502 − ~300</a:t>
            </a:r>
            <a:endParaRPr lang="en-US" sz="900" dirty="0"/>
          </a:p>
        </p:txBody>
      </p:sp>
      <p:sp>
        <p:nvSpPr>
          <p:cNvPr id="41" name="Shape 39"/>
          <p:cNvSpPr/>
          <p:nvPr/>
        </p:nvSpPr>
        <p:spPr>
          <a:xfrm>
            <a:off x="9144000" y="3163824"/>
            <a:ext cx="2587752" cy="438912"/>
          </a:xfrm>
          <a:prstGeom prst="rect">
            <a:avLst/>
          </a:prstGeom>
          <a:solidFill>
            <a:srgbClr val="FFFFFF"/>
          </a:solidFill>
          <a:ln/>
        </p:spPr>
      </p:sp>
      <p:sp>
        <p:nvSpPr>
          <p:cNvPr id="42" name="Text 40"/>
          <p:cNvSpPr/>
          <p:nvPr/>
        </p:nvSpPr>
        <p:spPr>
          <a:xfrm>
            <a:off x="9144000" y="3163824"/>
            <a:ext cx="2587752" cy="438912"/>
          </a:xfrm>
          <a:prstGeom prst="rect">
            <a:avLst/>
          </a:prstGeom>
          <a:noFill/>
          <a:ln/>
        </p:spPr>
        <p:txBody>
          <a:bodyPr wrap="square" lIns="25400" tIns="76200" rIns="76200" bIns="25400" rtlCol="0" anchor="ctr"/>
          <a:lstStyle/>
          <a:p>
            <a:pPr algn="r" indent="0" marL="0">
              <a:buNone/>
            </a:pPr>
            <a:r>
              <a:rPr lang="en-US" sz="1100" b="1" dirty="0">
                <a:solidFill>
                  <a:srgbClr val="3A243A"/>
                </a:solidFill>
                <a:latin typeface="Montserrat" pitchFamily="34" charset="0"/>
                <a:ea typeface="Montserrat" pitchFamily="34" charset="-122"/>
                <a:cs typeface="Montserrat" pitchFamily="34" charset="-120"/>
              </a:rPr>
              <a:t>~200 ac</a:t>
            </a:r>
            <a:endParaRPr lang="en-US" sz="1100" dirty="0"/>
          </a:p>
        </p:txBody>
      </p:sp>
      <p:sp>
        <p:nvSpPr>
          <p:cNvPr id="43" name="Shape 41"/>
          <p:cNvSpPr/>
          <p:nvPr/>
        </p:nvSpPr>
        <p:spPr>
          <a:xfrm>
            <a:off x="457200" y="3602736"/>
            <a:ext cx="2926080" cy="438912"/>
          </a:xfrm>
          <a:prstGeom prst="rect">
            <a:avLst/>
          </a:prstGeom>
          <a:solidFill>
            <a:srgbClr val="F4F2ED"/>
          </a:solidFill>
          <a:ln/>
        </p:spPr>
      </p:sp>
      <p:sp>
        <p:nvSpPr>
          <p:cNvPr id="44" name="Text 42"/>
          <p:cNvSpPr/>
          <p:nvPr/>
        </p:nvSpPr>
        <p:spPr>
          <a:xfrm>
            <a:off x="457200" y="3602736"/>
            <a:ext cx="2926080" cy="438912"/>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Less Critical Area &amp; wetlands</a:t>
            </a:r>
            <a:endParaRPr lang="en-US" sz="1000" dirty="0"/>
          </a:p>
        </p:txBody>
      </p:sp>
      <p:sp>
        <p:nvSpPr>
          <p:cNvPr id="45" name="Shape 43"/>
          <p:cNvSpPr/>
          <p:nvPr/>
        </p:nvSpPr>
        <p:spPr>
          <a:xfrm>
            <a:off x="3383280" y="3602736"/>
            <a:ext cx="3108960" cy="438912"/>
          </a:xfrm>
          <a:prstGeom prst="rect">
            <a:avLst/>
          </a:prstGeom>
          <a:solidFill>
            <a:srgbClr val="F4F2ED"/>
          </a:solidFill>
          <a:ln/>
        </p:spPr>
      </p:sp>
      <p:sp>
        <p:nvSpPr>
          <p:cNvPr id="46" name="Text 44"/>
          <p:cNvSpPr/>
          <p:nvPr/>
        </p:nvSpPr>
        <p:spPr>
          <a:xfrm>
            <a:off x="3383280" y="3602736"/>
            <a:ext cx="310896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Chesapeake 1,000-ft zone</a:t>
            </a:r>
            <a:endParaRPr lang="en-US" sz="950" dirty="0"/>
          </a:p>
        </p:txBody>
      </p:sp>
      <p:sp>
        <p:nvSpPr>
          <p:cNvPr id="47" name="Shape 45"/>
          <p:cNvSpPr/>
          <p:nvPr/>
        </p:nvSpPr>
        <p:spPr>
          <a:xfrm>
            <a:off x="6492240" y="3602736"/>
            <a:ext cx="2651760" cy="438912"/>
          </a:xfrm>
          <a:prstGeom prst="rect">
            <a:avLst/>
          </a:prstGeom>
          <a:solidFill>
            <a:srgbClr val="F4F2ED"/>
          </a:solidFill>
          <a:ln/>
        </p:spPr>
      </p:sp>
      <p:sp>
        <p:nvSpPr>
          <p:cNvPr id="48" name="Text 46"/>
          <p:cNvSpPr/>
          <p:nvPr/>
        </p:nvSpPr>
        <p:spPr>
          <a:xfrm>
            <a:off x="6492240" y="3602736"/>
            <a:ext cx="2651760" cy="438912"/>
          </a:xfrm>
          <a:prstGeom prst="rect">
            <a:avLst/>
          </a:prstGeom>
          <a:noFill/>
          <a:ln/>
        </p:spPr>
        <p:txBody>
          <a:bodyPr wrap="square" lIns="25400" tIns="76200" rIns="76200" bIns="25400" rtlCol="0" anchor="ctr"/>
          <a:lstStyle/>
          <a:p>
            <a:pPr algn="l" indent="0" marL="0">
              <a:buNone/>
            </a:pPr>
            <a:r>
              <a:rPr lang="en-US" sz="900" dirty="0">
                <a:solidFill>
                  <a:srgbClr val="6B5A6B"/>
                </a:solidFill>
                <a:latin typeface="DM Sans" pitchFamily="34" charset="0"/>
                <a:ea typeface="DM Sans" pitchFamily="34" charset="-122"/>
                <a:cs typeface="DM Sans" pitchFamily="34" charset="-120"/>
              </a:rPr>
              <a:t>200 − ~60</a:t>
            </a:r>
            <a:endParaRPr lang="en-US" sz="900" dirty="0"/>
          </a:p>
        </p:txBody>
      </p:sp>
      <p:sp>
        <p:nvSpPr>
          <p:cNvPr id="49" name="Shape 47"/>
          <p:cNvSpPr/>
          <p:nvPr/>
        </p:nvSpPr>
        <p:spPr>
          <a:xfrm>
            <a:off x="9144000" y="3602736"/>
            <a:ext cx="2587752" cy="438912"/>
          </a:xfrm>
          <a:prstGeom prst="rect">
            <a:avLst/>
          </a:prstGeom>
          <a:solidFill>
            <a:srgbClr val="F4F2ED"/>
          </a:solidFill>
          <a:ln/>
        </p:spPr>
      </p:sp>
      <p:sp>
        <p:nvSpPr>
          <p:cNvPr id="50" name="Text 48"/>
          <p:cNvSpPr/>
          <p:nvPr/>
        </p:nvSpPr>
        <p:spPr>
          <a:xfrm>
            <a:off x="9144000" y="3602736"/>
            <a:ext cx="2587752" cy="438912"/>
          </a:xfrm>
          <a:prstGeom prst="rect">
            <a:avLst/>
          </a:prstGeom>
          <a:noFill/>
          <a:ln/>
        </p:spPr>
        <p:txBody>
          <a:bodyPr wrap="square" lIns="25400" tIns="76200" rIns="76200" bIns="25400" rtlCol="0" anchor="ctr"/>
          <a:lstStyle/>
          <a:p>
            <a:pPr algn="r" indent="0" marL="0">
              <a:buNone/>
            </a:pPr>
            <a:r>
              <a:rPr lang="en-US" sz="1100" b="1" dirty="0">
                <a:solidFill>
                  <a:srgbClr val="3A243A"/>
                </a:solidFill>
                <a:latin typeface="Montserrat" pitchFamily="34" charset="0"/>
                <a:ea typeface="Montserrat" pitchFamily="34" charset="-122"/>
                <a:cs typeface="Montserrat" pitchFamily="34" charset="-120"/>
              </a:rPr>
              <a:t>~140 ac</a:t>
            </a:r>
            <a:endParaRPr lang="en-US" sz="1100" dirty="0"/>
          </a:p>
        </p:txBody>
      </p:sp>
      <p:sp>
        <p:nvSpPr>
          <p:cNvPr id="51" name="Shape 49"/>
          <p:cNvSpPr/>
          <p:nvPr/>
        </p:nvSpPr>
        <p:spPr>
          <a:xfrm>
            <a:off x="457200" y="4041648"/>
            <a:ext cx="2926080" cy="438912"/>
          </a:xfrm>
          <a:prstGeom prst="rect">
            <a:avLst/>
          </a:prstGeom>
          <a:solidFill>
            <a:srgbClr val="FFFFFF"/>
          </a:solidFill>
          <a:ln/>
        </p:spPr>
      </p:sp>
      <p:sp>
        <p:nvSpPr>
          <p:cNvPr id="52" name="Text 50"/>
          <p:cNvSpPr/>
          <p:nvPr/>
        </p:nvSpPr>
        <p:spPr>
          <a:xfrm>
            <a:off x="457200" y="4041648"/>
            <a:ext cx="2926080" cy="438912"/>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Finished lots</a:t>
            </a:r>
            <a:endParaRPr lang="en-US" sz="1000" dirty="0"/>
          </a:p>
        </p:txBody>
      </p:sp>
      <p:sp>
        <p:nvSpPr>
          <p:cNvPr id="53" name="Shape 51"/>
          <p:cNvSpPr/>
          <p:nvPr/>
        </p:nvSpPr>
        <p:spPr>
          <a:xfrm>
            <a:off x="3383280" y="4041648"/>
            <a:ext cx="3108960" cy="438912"/>
          </a:xfrm>
          <a:prstGeom prst="rect">
            <a:avLst/>
          </a:prstGeom>
          <a:solidFill>
            <a:srgbClr val="FFFFFF"/>
          </a:solidFill>
          <a:ln/>
        </p:spPr>
      </p:sp>
      <p:sp>
        <p:nvSpPr>
          <p:cNvPr id="54" name="Text 52"/>
          <p:cNvSpPr/>
          <p:nvPr/>
        </p:nvSpPr>
        <p:spPr>
          <a:xfrm>
            <a:off x="3383280" y="4041648"/>
            <a:ext cx="310896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~2.0 lots / acre</a:t>
            </a:r>
            <a:endParaRPr lang="en-US" sz="950" dirty="0"/>
          </a:p>
        </p:txBody>
      </p:sp>
      <p:sp>
        <p:nvSpPr>
          <p:cNvPr id="55" name="Shape 53"/>
          <p:cNvSpPr/>
          <p:nvPr/>
        </p:nvSpPr>
        <p:spPr>
          <a:xfrm>
            <a:off x="6492240" y="4041648"/>
            <a:ext cx="2651760" cy="438912"/>
          </a:xfrm>
          <a:prstGeom prst="rect">
            <a:avLst/>
          </a:prstGeom>
          <a:solidFill>
            <a:srgbClr val="FFFFFF"/>
          </a:solidFill>
          <a:ln/>
        </p:spPr>
      </p:sp>
      <p:sp>
        <p:nvSpPr>
          <p:cNvPr id="56" name="Text 54"/>
          <p:cNvSpPr/>
          <p:nvPr/>
        </p:nvSpPr>
        <p:spPr>
          <a:xfrm>
            <a:off x="6492240" y="4041648"/>
            <a:ext cx="2651760" cy="438912"/>
          </a:xfrm>
          <a:prstGeom prst="rect">
            <a:avLst/>
          </a:prstGeom>
          <a:noFill/>
          <a:ln/>
        </p:spPr>
        <p:txBody>
          <a:bodyPr wrap="square" lIns="25400" tIns="76200" rIns="76200" bIns="25400" rtlCol="0" anchor="ctr"/>
          <a:lstStyle/>
          <a:p>
            <a:pPr algn="l" indent="0" marL="0">
              <a:buNone/>
            </a:pPr>
            <a:r>
              <a:rPr lang="en-US" sz="900" dirty="0">
                <a:solidFill>
                  <a:srgbClr val="6B5A6B"/>
                </a:solidFill>
                <a:latin typeface="DM Sans" pitchFamily="34" charset="0"/>
                <a:ea typeface="DM Sans" pitchFamily="34" charset="-122"/>
                <a:cs typeface="DM Sans" pitchFamily="34" charset="-120"/>
              </a:rPr>
              <a:t>140 × 2.0</a:t>
            </a:r>
            <a:endParaRPr lang="en-US" sz="900" dirty="0"/>
          </a:p>
        </p:txBody>
      </p:sp>
      <p:sp>
        <p:nvSpPr>
          <p:cNvPr id="57" name="Shape 55"/>
          <p:cNvSpPr/>
          <p:nvPr/>
        </p:nvSpPr>
        <p:spPr>
          <a:xfrm>
            <a:off x="9144000" y="4041648"/>
            <a:ext cx="2587752" cy="438912"/>
          </a:xfrm>
          <a:prstGeom prst="rect">
            <a:avLst/>
          </a:prstGeom>
          <a:solidFill>
            <a:srgbClr val="FFFFFF"/>
          </a:solidFill>
          <a:ln/>
        </p:spPr>
      </p:sp>
      <p:sp>
        <p:nvSpPr>
          <p:cNvPr id="58" name="Text 56"/>
          <p:cNvSpPr/>
          <p:nvPr/>
        </p:nvSpPr>
        <p:spPr>
          <a:xfrm>
            <a:off x="9144000" y="4041648"/>
            <a:ext cx="2587752" cy="438912"/>
          </a:xfrm>
          <a:prstGeom prst="rect">
            <a:avLst/>
          </a:prstGeom>
          <a:noFill/>
          <a:ln/>
        </p:spPr>
        <p:txBody>
          <a:bodyPr wrap="square" lIns="25400" tIns="76200" rIns="76200" bIns="25400" rtlCol="0" anchor="ctr"/>
          <a:lstStyle/>
          <a:p>
            <a:pPr algn="r" indent="0" marL="0">
              <a:buNone/>
            </a:pPr>
            <a:r>
              <a:rPr lang="en-US" sz="1100" b="1" dirty="0">
                <a:solidFill>
                  <a:srgbClr val="3A243A"/>
                </a:solidFill>
                <a:latin typeface="Montserrat" pitchFamily="34" charset="0"/>
                <a:ea typeface="Montserrat" pitchFamily="34" charset="-122"/>
                <a:cs typeface="Montserrat" pitchFamily="34" charset="-120"/>
              </a:rPr>
              <a:t>~280 lots</a:t>
            </a:r>
            <a:endParaRPr lang="en-US" sz="1100" dirty="0"/>
          </a:p>
        </p:txBody>
      </p:sp>
      <p:sp>
        <p:nvSpPr>
          <p:cNvPr id="59" name="Shape 57"/>
          <p:cNvSpPr/>
          <p:nvPr/>
        </p:nvSpPr>
        <p:spPr>
          <a:xfrm>
            <a:off x="457200" y="4480560"/>
            <a:ext cx="2926080" cy="438912"/>
          </a:xfrm>
          <a:prstGeom prst="rect">
            <a:avLst/>
          </a:prstGeom>
          <a:solidFill>
            <a:srgbClr val="F4F2ED"/>
          </a:solidFill>
          <a:ln/>
        </p:spPr>
      </p:sp>
      <p:sp>
        <p:nvSpPr>
          <p:cNvPr id="60" name="Text 58"/>
          <p:cNvSpPr/>
          <p:nvPr/>
        </p:nvSpPr>
        <p:spPr>
          <a:xfrm>
            <a:off x="457200" y="4480560"/>
            <a:ext cx="2926080" cy="438912"/>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Finished lot price</a:t>
            </a:r>
            <a:endParaRPr lang="en-US" sz="1000" dirty="0"/>
          </a:p>
        </p:txBody>
      </p:sp>
      <p:sp>
        <p:nvSpPr>
          <p:cNvPr id="61" name="Shape 59"/>
          <p:cNvSpPr/>
          <p:nvPr/>
        </p:nvSpPr>
        <p:spPr>
          <a:xfrm>
            <a:off x="3383280" y="4480560"/>
            <a:ext cx="3108960" cy="438912"/>
          </a:xfrm>
          <a:prstGeom prst="rect">
            <a:avLst/>
          </a:prstGeom>
          <a:solidFill>
            <a:srgbClr val="F4F2ED"/>
          </a:solidFill>
          <a:ln/>
        </p:spPr>
      </p:sp>
      <p:sp>
        <p:nvSpPr>
          <p:cNvPr id="62" name="Text 60"/>
          <p:cNvSpPr/>
          <p:nvPr/>
        </p:nvSpPr>
        <p:spPr>
          <a:xfrm>
            <a:off x="3383280" y="4480560"/>
            <a:ext cx="310896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we deliver finished lots</a:t>
            </a:r>
            <a:endParaRPr lang="en-US" sz="950" dirty="0"/>
          </a:p>
        </p:txBody>
      </p:sp>
      <p:sp>
        <p:nvSpPr>
          <p:cNvPr id="63" name="Shape 61"/>
          <p:cNvSpPr/>
          <p:nvPr/>
        </p:nvSpPr>
        <p:spPr>
          <a:xfrm>
            <a:off x="6492240" y="4480560"/>
            <a:ext cx="2651760" cy="438912"/>
          </a:xfrm>
          <a:prstGeom prst="rect">
            <a:avLst/>
          </a:prstGeom>
          <a:solidFill>
            <a:srgbClr val="F4F2ED"/>
          </a:solidFill>
          <a:ln/>
        </p:spPr>
      </p:sp>
      <p:sp>
        <p:nvSpPr>
          <p:cNvPr id="64" name="Text 62"/>
          <p:cNvSpPr/>
          <p:nvPr/>
        </p:nvSpPr>
        <p:spPr>
          <a:xfrm>
            <a:off x="6492240" y="4480560"/>
            <a:ext cx="2651760" cy="438912"/>
          </a:xfrm>
          <a:prstGeom prst="rect">
            <a:avLst/>
          </a:prstGeom>
          <a:noFill/>
          <a:ln/>
        </p:spPr>
        <p:txBody>
          <a:bodyPr wrap="square" lIns="25400" tIns="76200" rIns="76200" bIns="25400" rtlCol="0" anchor="ctr"/>
          <a:lstStyle/>
          <a:p>
            <a:pPr algn="l" indent="0" marL="0">
              <a:buNone/>
            </a:pPr>
            <a:r>
              <a:rPr lang="en-US" sz="900" dirty="0">
                <a:solidFill>
                  <a:srgbClr val="6B5A6B"/>
                </a:solidFill>
                <a:latin typeface="DM Sans" pitchFamily="34" charset="0"/>
                <a:ea typeface="DM Sans" pitchFamily="34" charset="-122"/>
                <a:cs typeface="DM Sans" pitchFamily="34" charset="-120"/>
              </a:rPr>
              <a:t>to homebuilders</a:t>
            </a:r>
            <a:endParaRPr lang="en-US" sz="900" dirty="0"/>
          </a:p>
        </p:txBody>
      </p:sp>
      <p:sp>
        <p:nvSpPr>
          <p:cNvPr id="65" name="Shape 63"/>
          <p:cNvSpPr/>
          <p:nvPr/>
        </p:nvSpPr>
        <p:spPr>
          <a:xfrm>
            <a:off x="9144000" y="4480560"/>
            <a:ext cx="2587752" cy="438912"/>
          </a:xfrm>
          <a:prstGeom prst="rect">
            <a:avLst/>
          </a:prstGeom>
          <a:solidFill>
            <a:srgbClr val="F4F2ED"/>
          </a:solidFill>
          <a:ln/>
        </p:spPr>
      </p:sp>
      <p:sp>
        <p:nvSpPr>
          <p:cNvPr id="66" name="Text 64"/>
          <p:cNvSpPr/>
          <p:nvPr/>
        </p:nvSpPr>
        <p:spPr>
          <a:xfrm>
            <a:off x="9144000" y="4480560"/>
            <a:ext cx="2587752" cy="438912"/>
          </a:xfrm>
          <a:prstGeom prst="rect">
            <a:avLst/>
          </a:prstGeom>
          <a:noFill/>
          <a:ln/>
        </p:spPr>
        <p:txBody>
          <a:bodyPr wrap="square" lIns="25400" tIns="76200" rIns="76200" bIns="25400" rtlCol="0" anchor="ctr"/>
          <a:lstStyle/>
          <a:p>
            <a:pPr algn="r" indent="0" marL="0">
              <a:buNone/>
            </a:pPr>
            <a:r>
              <a:rPr lang="en-US" sz="1100" b="1" dirty="0">
                <a:solidFill>
                  <a:srgbClr val="3A243A"/>
                </a:solidFill>
                <a:latin typeface="Montserrat" pitchFamily="34" charset="0"/>
                <a:ea typeface="Montserrat" pitchFamily="34" charset="-122"/>
                <a:cs typeface="Montserrat" pitchFamily="34" charset="-120"/>
              </a:rPr>
              <a:t>$150K</a:t>
            </a:r>
            <a:endParaRPr lang="en-US" sz="1100" dirty="0"/>
          </a:p>
        </p:txBody>
      </p:sp>
      <p:sp>
        <p:nvSpPr>
          <p:cNvPr id="67" name="Shape 65"/>
          <p:cNvSpPr/>
          <p:nvPr/>
        </p:nvSpPr>
        <p:spPr>
          <a:xfrm>
            <a:off x="457200" y="4919472"/>
            <a:ext cx="2926080" cy="438912"/>
          </a:xfrm>
          <a:prstGeom prst="rect">
            <a:avLst/>
          </a:prstGeom>
          <a:solidFill>
            <a:srgbClr val="FFFFFF"/>
          </a:solidFill>
          <a:ln/>
        </p:spPr>
      </p:sp>
      <p:sp>
        <p:nvSpPr>
          <p:cNvPr id="68" name="Text 66"/>
          <p:cNvSpPr/>
          <p:nvPr/>
        </p:nvSpPr>
        <p:spPr>
          <a:xfrm>
            <a:off x="457200" y="4919472"/>
            <a:ext cx="2926080" cy="438912"/>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GROSS LOT REVENUE</a:t>
            </a:r>
            <a:endParaRPr lang="en-US" sz="1000" dirty="0"/>
          </a:p>
        </p:txBody>
      </p:sp>
      <p:sp>
        <p:nvSpPr>
          <p:cNvPr id="69" name="Shape 67"/>
          <p:cNvSpPr/>
          <p:nvPr/>
        </p:nvSpPr>
        <p:spPr>
          <a:xfrm>
            <a:off x="3383280" y="4919472"/>
            <a:ext cx="3108960" cy="438912"/>
          </a:xfrm>
          <a:prstGeom prst="rect">
            <a:avLst/>
          </a:prstGeom>
          <a:solidFill>
            <a:srgbClr val="FFFFFF"/>
          </a:solidFill>
          <a:ln/>
        </p:spPr>
      </p:sp>
      <p:sp>
        <p:nvSpPr>
          <p:cNvPr id="70" name="Text 68"/>
          <p:cNvSpPr/>
          <p:nvPr/>
        </p:nvSpPr>
        <p:spPr>
          <a:xfrm>
            <a:off x="3383280" y="4919472"/>
            <a:ext cx="3108960" cy="438912"/>
          </a:xfrm>
          <a:prstGeom prst="rect">
            <a:avLst/>
          </a:prstGeom>
          <a:noFill/>
          <a:ln/>
        </p:spPr>
        <p:txBody>
          <a:bodyPr wrap="square" lIns="25400" tIns="76200" rIns="76200" bIns="25400" rtlCol="0" anchor="ctr"/>
          <a:lstStyle/>
          <a:p>
            <a:pPr algn="l" indent="0" marL="0">
              <a:buNone/>
            </a:pPr>
            <a:r>
              <a:rPr lang="en-US" sz="950" dirty="0">
                <a:solidFill>
                  <a:srgbClr val="6B5A6B"/>
                </a:solidFill>
                <a:latin typeface="DM Sans" pitchFamily="34" charset="0"/>
                <a:ea typeface="DM Sans" pitchFamily="34" charset="-122"/>
                <a:cs typeface="DM Sans" pitchFamily="34" charset="-120"/>
              </a:rPr>
              <a:t>net profit &amp; returns on the pro forma</a:t>
            </a:r>
            <a:endParaRPr lang="en-US" sz="950" dirty="0"/>
          </a:p>
        </p:txBody>
      </p:sp>
      <p:sp>
        <p:nvSpPr>
          <p:cNvPr id="71" name="Shape 69"/>
          <p:cNvSpPr/>
          <p:nvPr/>
        </p:nvSpPr>
        <p:spPr>
          <a:xfrm>
            <a:off x="6492240" y="4919472"/>
            <a:ext cx="2651760" cy="438912"/>
          </a:xfrm>
          <a:prstGeom prst="rect">
            <a:avLst/>
          </a:prstGeom>
          <a:solidFill>
            <a:srgbClr val="FFFFFF"/>
          </a:solidFill>
          <a:ln/>
        </p:spPr>
      </p:sp>
      <p:sp>
        <p:nvSpPr>
          <p:cNvPr id="72" name="Text 70"/>
          <p:cNvSpPr/>
          <p:nvPr/>
        </p:nvSpPr>
        <p:spPr>
          <a:xfrm>
            <a:off x="6492240" y="4919472"/>
            <a:ext cx="2651760" cy="438912"/>
          </a:xfrm>
          <a:prstGeom prst="rect">
            <a:avLst/>
          </a:prstGeom>
          <a:noFill/>
          <a:ln/>
        </p:spPr>
        <p:txBody>
          <a:bodyPr wrap="square" lIns="25400" tIns="76200" rIns="76200" bIns="25400" rtlCol="0" anchor="ctr"/>
          <a:lstStyle/>
          <a:p>
            <a:pPr algn="l" indent="0" marL="0">
              <a:buNone/>
            </a:pPr>
            <a:r>
              <a:rPr lang="en-US" sz="900" dirty="0">
                <a:solidFill>
                  <a:srgbClr val="6B5A6B"/>
                </a:solidFill>
                <a:latin typeface="DM Sans" pitchFamily="34" charset="0"/>
                <a:ea typeface="DM Sans" pitchFamily="34" charset="-122"/>
                <a:cs typeface="DM Sans" pitchFamily="34" charset="-120"/>
              </a:rPr>
              <a:t>280 × $150K</a:t>
            </a:r>
            <a:endParaRPr lang="en-US" sz="900" dirty="0"/>
          </a:p>
        </p:txBody>
      </p:sp>
      <p:sp>
        <p:nvSpPr>
          <p:cNvPr id="73" name="Shape 71"/>
          <p:cNvSpPr/>
          <p:nvPr/>
        </p:nvSpPr>
        <p:spPr>
          <a:xfrm>
            <a:off x="9144000" y="4919472"/>
            <a:ext cx="2587752" cy="438912"/>
          </a:xfrm>
          <a:prstGeom prst="rect">
            <a:avLst/>
          </a:prstGeom>
          <a:solidFill>
            <a:srgbClr val="FFFFFF"/>
          </a:solidFill>
          <a:ln/>
        </p:spPr>
      </p:sp>
      <p:sp>
        <p:nvSpPr>
          <p:cNvPr id="74" name="Text 72"/>
          <p:cNvSpPr/>
          <p:nvPr/>
        </p:nvSpPr>
        <p:spPr>
          <a:xfrm>
            <a:off x="9144000" y="4919472"/>
            <a:ext cx="2587752" cy="438912"/>
          </a:xfrm>
          <a:prstGeom prst="rect">
            <a:avLst/>
          </a:prstGeom>
          <a:noFill/>
          <a:ln/>
        </p:spPr>
        <p:txBody>
          <a:bodyPr wrap="square" lIns="25400" tIns="76200" rIns="76200" bIns="25400" rtlCol="0" anchor="ctr"/>
          <a:lstStyle/>
          <a:p>
            <a:pPr algn="r" indent="0" marL="0">
              <a:buNone/>
            </a:pPr>
            <a:r>
              <a:rPr lang="en-US" sz="1100" b="1" dirty="0">
                <a:solidFill>
                  <a:srgbClr val="3A243A"/>
                </a:solidFill>
                <a:latin typeface="Montserrat" pitchFamily="34" charset="0"/>
                <a:ea typeface="Montserrat" pitchFamily="34" charset="-122"/>
                <a:cs typeface="Montserrat" pitchFamily="34" charset="-120"/>
              </a:rPr>
              <a:t>$42.0M</a:t>
            </a:r>
            <a:endParaRPr lang="en-US" sz="1100" dirty="0"/>
          </a:p>
        </p:txBody>
      </p:sp>
      <p:sp>
        <p:nvSpPr>
          <p:cNvPr id="75" name="Shape 73"/>
          <p:cNvSpPr/>
          <p:nvPr/>
        </p:nvSpPr>
        <p:spPr>
          <a:xfrm>
            <a:off x="457200" y="5486400"/>
            <a:ext cx="11274552" cy="411480"/>
          </a:xfrm>
          <a:prstGeom prst="rect">
            <a:avLst/>
          </a:prstGeom>
          <a:solidFill>
            <a:srgbClr val="0B163C"/>
          </a:solidFill>
          <a:ln/>
        </p:spPr>
      </p:sp>
      <p:sp>
        <p:nvSpPr>
          <p:cNvPr id="76" name="Text 74"/>
          <p:cNvSpPr/>
          <p:nvPr/>
        </p:nvSpPr>
        <p:spPr>
          <a:xfrm>
            <a:off x="640080" y="5486400"/>
            <a:ext cx="10908792" cy="411480"/>
          </a:xfrm>
          <a:prstGeom prst="rect">
            <a:avLst/>
          </a:prstGeom>
          <a:noFill/>
          <a:ln/>
        </p:spPr>
        <p:txBody>
          <a:bodyPr wrap="square" lIns="0" tIns="0" rIns="0" bIns="0" rtlCol="0" anchor="ctr"/>
          <a:lstStyle/>
          <a:p>
            <a:pPr algn="ctr" indent="0" marL="0">
              <a:buNone/>
            </a:pPr>
            <a:r>
              <a:rPr lang="en-US" sz="1100" b="1" dirty="0">
                <a:solidFill>
                  <a:srgbClr val="FFFFFF"/>
                </a:solidFill>
                <a:latin typeface="Montserrat" pitchFamily="34" charset="0"/>
                <a:ea typeface="Montserrat" pitchFamily="34" charset="-122"/>
                <a:cs typeface="Montserrat" pitchFamily="34" charset="-120"/>
              </a:rPr>
              <a:t>$42.0M gross finished-lot revenue — we develop and deliver finished lots; builders just build. Net profit &amp; returns on the pro forma.</a:t>
            </a:r>
            <a:endParaRPr lang="en-US" sz="1100" dirty="0"/>
          </a:p>
        </p:txBody>
      </p:sp>
      <p:sp>
        <p:nvSpPr>
          <p:cNvPr id="77" name="Text 75"/>
          <p:cNvSpPr/>
          <p:nvPr/>
        </p:nvSpPr>
        <p:spPr>
          <a:xfrm>
            <a:off x="457200" y="6053328"/>
            <a:ext cx="11274552" cy="237744"/>
          </a:xfrm>
          <a:prstGeom prst="rect">
            <a:avLst/>
          </a:prstGeom>
          <a:noFill/>
          <a:ln/>
        </p:spPr>
        <p:txBody>
          <a:bodyPr wrap="square" lIns="0" tIns="0" rIns="0" bIns="0" rtlCol="0" anchor="ctr"/>
          <a:lstStyle/>
          <a:p>
            <a:pPr algn="l" indent="0" marL="0">
              <a:buNone/>
            </a:pPr>
            <a:r>
              <a:rPr lang="en-US" sz="700" b="1" dirty="0">
                <a:solidFill>
                  <a:srgbClr val="6B5A6B"/>
                </a:solidFill>
                <a:latin typeface="DM Sans" pitchFamily="34" charset="0"/>
                <a:ea typeface="DM Sans" pitchFamily="34" charset="-122"/>
                <a:cs typeface="DM Sans" pitchFamily="34" charset="-120"/>
              </a:rPr>
              <a:t>Sources (own research; subject to change &amp; confirmation):  </a:t>
            </a:r>
            <a:pPr algn="l" indent="0" marL="0">
              <a:buNone/>
            </a:pPr>
            <a:r>
              <a:rPr lang="en-US" sz="700" u="sng" dirty="0">
                <a:solidFill>
                  <a:srgbClr val="3A243A"/>
                </a:solidFill>
                <a:latin typeface="DM Sans" pitchFamily="34" charset="0"/>
                <a:ea typeface="DM Sans" pitchFamily="34" charset="-122"/>
                <a:cs typeface="DM Sans" pitchFamily="34" charset="-120"/>
                <a:hlinkClick r:id="rId1" invalidUrl="" action="" tgtFrame="" tooltip="qhgolf.com/who-we-are" history="1" highlightClick="0" endSnd="0">
                  <a:extLst>
                    <a:ext uri="{A12FA001-AC4F-418D-AE19-62706E023703}">
                      <ahyp:hlinkClr xmlns:ahyp="http://schemas.microsoft.com/office/drawing/2018/hyperlinkcolor" val="tx"/>
                    </a:ext>
                  </a:extLst>
                </a:hlinkClick>
              </a:rPr>
              <a:t>qhgolf.com/who-we-are</a:t>
            </a:r>
            <a:pPr algn="l" indent="0" marL="0">
              <a:buNone/>
            </a:pPr>
            <a:r>
              <a:rPr lang="en-US" sz="700" dirty="0">
                <a:solidFill>
                  <a:srgbClr val="C4B8C4"/>
                </a:solidFill>
                <a:latin typeface="DM Sans" pitchFamily="34" charset="0"/>
                <a:ea typeface="DM Sans" pitchFamily="34" charset="-122"/>
                <a:cs typeface="DM Sans" pitchFamily="34" charset="-120"/>
              </a:rPr>
              <a:t>    ·    </a:t>
            </a:r>
            <a:pPr algn="l" indent="0" marL="0">
              <a:buNone/>
            </a:pPr>
            <a:r>
              <a:rPr lang="en-US" sz="700" u="sng" dirty="0">
                <a:solidFill>
                  <a:srgbClr val="3A243A"/>
                </a:solidFill>
                <a:latin typeface="DM Sans" pitchFamily="34" charset="0"/>
                <a:ea typeface="DM Sans" pitchFamily="34" charset="-122"/>
                <a:cs typeface="DM Sans" pitchFamily="34" charset="-120"/>
                <a:hlinkClick r:id="rId2" invalidUrl="" action="" tgtFrame="" tooltip="Queen Anne's Co. — Critical Area" history="1" highlightClick="0" endSnd="0">
                  <a:extLst>
                    <a:ext uri="{A12FA001-AC4F-418D-AE19-62706E023703}">
                      <ahyp:hlinkClr xmlns:ahyp="http://schemas.microsoft.com/office/drawing/2018/hyperlinkcolor" val="tx"/>
                    </a:ext>
                  </a:extLst>
                </a:hlinkClick>
              </a:rPr>
              <a:t>Queen Anne's Co. — Critical Area</a:t>
            </a:r>
            <a:pPr algn="l" indent="0" marL="0">
              <a:buNone/>
            </a:pPr>
            <a:r>
              <a:rPr lang="en-US" sz="700" dirty="0">
                <a:solidFill>
                  <a:srgbClr val="C4B8C4"/>
                </a:solidFill>
                <a:latin typeface="DM Sans" pitchFamily="34" charset="0"/>
                <a:ea typeface="DM Sans" pitchFamily="34" charset="-122"/>
                <a:cs typeface="DM Sans" pitchFamily="34" charset="-120"/>
              </a:rPr>
              <a:t>    ·    </a:t>
            </a:r>
            <a:pPr algn="l" indent="0" marL="0">
              <a:buNone/>
            </a:pPr>
            <a:r>
              <a:rPr lang="en-US" sz="700" u="sng" dirty="0">
                <a:solidFill>
                  <a:srgbClr val="3A243A"/>
                </a:solidFill>
                <a:latin typeface="DM Sans" pitchFamily="34" charset="0"/>
                <a:ea typeface="DM Sans" pitchFamily="34" charset="-122"/>
                <a:cs typeface="DM Sans" pitchFamily="34" charset="-120"/>
                <a:hlinkClick r:id="rId3" invalidUrl="" action="" tgtFrame="" tooltip="MD DNR — Critical Area" history="1" highlightClick="0" endSnd="0">
                  <a:extLst>
                    <a:ext uri="{A12FA001-AC4F-418D-AE19-62706E023703}">
                      <ahyp:hlinkClr xmlns:ahyp="http://schemas.microsoft.com/office/drawing/2018/hyperlinkcolor" val="tx"/>
                    </a:ext>
                  </a:extLst>
                </a:hlinkClick>
              </a:rPr>
              <a:t>MD DNR — Critical Area</a:t>
            </a:r>
            <a:endParaRPr lang="en-US" sz="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7 / 20</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WHY IT SELLS</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These lots sell — here's why.</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Course and water frontage, Bay Bridge proximity, and builder appetite for entitled lots all push price and absorption. We're meeting demand that already exists.</a:t>
            </a:r>
            <a:endParaRPr lang="en-US" sz="1300" dirty="0"/>
          </a:p>
        </p:txBody>
      </p:sp>
      <p:sp>
        <p:nvSpPr>
          <p:cNvPr id="11" name="Shape 9"/>
          <p:cNvSpPr/>
          <p:nvPr/>
        </p:nvSpPr>
        <p:spPr>
          <a:xfrm>
            <a:off x="457200" y="1965960"/>
            <a:ext cx="2743200" cy="365760"/>
          </a:xfrm>
          <a:prstGeom prst="rect">
            <a:avLst/>
          </a:prstGeom>
          <a:solidFill>
            <a:srgbClr val="0B163C"/>
          </a:solidFill>
          <a:ln/>
        </p:spPr>
      </p:sp>
      <p:sp>
        <p:nvSpPr>
          <p:cNvPr id="12" name="Text 10"/>
          <p:cNvSpPr/>
          <p:nvPr/>
        </p:nvSpPr>
        <p:spPr>
          <a:xfrm>
            <a:off x="457200" y="1965960"/>
            <a:ext cx="2743200"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Driver</a:t>
            </a:r>
            <a:endParaRPr lang="en-US" sz="900" dirty="0"/>
          </a:p>
        </p:txBody>
      </p:sp>
      <p:sp>
        <p:nvSpPr>
          <p:cNvPr id="13" name="Shape 11"/>
          <p:cNvSpPr/>
          <p:nvPr/>
        </p:nvSpPr>
        <p:spPr>
          <a:xfrm>
            <a:off x="3200400" y="1965960"/>
            <a:ext cx="4389120" cy="365760"/>
          </a:xfrm>
          <a:prstGeom prst="rect">
            <a:avLst/>
          </a:prstGeom>
          <a:solidFill>
            <a:srgbClr val="0B163C"/>
          </a:solidFill>
          <a:ln/>
        </p:spPr>
      </p:sp>
      <p:sp>
        <p:nvSpPr>
          <p:cNvPr id="14" name="Text 12"/>
          <p:cNvSpPr/>
          <p:nvPr/>
        </p:nvSpPr>
        <p:spPr>
          <a:xfrm>
            <a:off x="3200400" y="1965960"/>
            <a:ext cx="4389120"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Detail</a:t>
            </a:r>
            <a:endParaRPr lang="en-US" sz="900" dirty="0"/>
          </a:p>
        </p:txBody>
      </p:sp>
      <p:sp>
        <p:nvSpPr>
          <p:cNvPr id="15" name="Shape 13"/>
          <p:cNvSpPr/>
          <p:nvPr/>
        </p:nvSpPr>
        <p:spPr>
          <a:xfrm>
            <a:off x="7589520" y="1965960"/>
            <a:ext cx="4142232" cy="365760"/>
          </a:xfrm>
          <a:prstGeom prst="rect">
            <a:avLst/>
          </a:prstGeom>
          <a:solidFill>
            <a:srgbClr val="0B163C"/>
          </a:solidFill>
          <a:ln/>
        </p:spPr>
      </p:sp>
      <p:sp>
        <p:nvSpPr>
          <p:cNvPr id="16" name="Text 14"/>
          <p:cNvSpPr/>
          <p:nvPr/>
        </p:nvSpPr>
        <p:spPr>
          <a:xfrm>
            <a:off x="7589520" y="1965960"/>
            <a:ext cx="4142232"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Why it lifts value</a:t>
            </a:r>
            <a:endParaRPr lang="en-US" sz="900" dirty="0"/>
          </a:p>
        </p:txBody>
      </p:sp>
      <p:sp>
        <p:nvSpPr>
          <p:cNvPr id="17" name="Shape 15"/>
          <p:cNvSpPr/>
          <p:nvPr/>
        </p:nvSpPr>
        <p:spPr>
          <a:xfrm>
            <a:off x="457200" y="2331720"/>
            <a:ext cx="2743200" cy="566928"/>
          </a:xfrm>
          <a:prstGeom prst="rect">
            <a:avLst/>
          </a:prstGeom>
          <a:solidFill>
            <a:srgbClr val="FFFFFF"/>
          </a:solidFill>
          <a:ln/>
        </p:spPr>
      </p:sp>
      <p:sp>
        <p:nvSpPr>
          <p:cNvPr id="18" name="Text 16"/>
          <p:cNvSpPr/>
          <p:nvPr/>
        </p:nvSpPr>
        <p:spPr>
          <a:xfrm>
            <a:off x="457200" y="2331720"/>
            <a:ext cx="2743200" cy="566928"/>
          </a:xfrm>
          <a:prstGeom prst="rect">
            <a:avLst/>
          </a:prstGeom>
          <a:noFill/>
          <a:ln/>
        </p:spPr>
        <p:txBody>
          <a:bodyPr wrap="square" lIns="25400" tIns="76200" rIns="76200" bIns="25400" rtlCol="0" anchor="ctr"/>
          <a:lstStyle/>
          <a:p>
            <a:pPr algn="l" indent="0" marL="0">
              <a:buNone/>
            </a:pPr>
            <a:r>
              <a:rPr lang="en-US" sz="1050" b="1" dirty="0">
                <a:solidFill>
                  <a:srgbClr val="0B163C"/>
                </a:solidFill>
                <a:latin typeface="Montserrat" pitchFamily="34" charset="0"/>
                <a:ea typeface="Montserrat" pitchFamily="34" charset="-122"/>
                <a:cs typeface="Montserrat" pitchFamily="34" charset="-120"/>
              </a:rPr>
              <a:t>Golf &amp; water frontage</a:t>
            </a:r>
            <a:endParaRPr lang="en-US" sz="1050" dirty="0"/>
          </a:p>
        </p:txBody>
      </p:sp>
      <p:sp>
        <p:nvSpPr>
          <p:cNvPr id="19" name="Shape 17"/>
          <p:cNvSpPr/>
          <p:nvPr/>
        </p:nvSpPr>
        <p:spPr>
          <a:xfrm>
            <a:off x="3200400" y="2331720"/>
            <a:ext cx="4389120" cy="566928"/>
          </a:xfrm>
          <a:prstGeom prst="rect">
            <a:avLst/>
          </a:prstGeom>
          <a:solidFill>
            <a:srgbClr val="FFFFFF"/>
          </a:solidFill>
          <a:ln/>
        </p:spPr>
      </p:sp>
      <p:sp>
        <p:nvSpPr>
          <p:cNvPr id="20" name="Text 18"/>
          <p:cNvSpPr/>
          <p:nvPr/>
        </p:nvSpPr>
        <p:spPr>
          <a:xfrm>
            <a:off x="3200400" y="2331720"/>
            <a:ext cx="4389120" cy="566928"/>
          </a:xfrm>
          <a:prstGeom prst="rect">
            <a:avLst/>
          </a:prstGeom>
          <a:noFill/>
          <a:ln/>
        </p:spPr>
        <p:txBody>
          <a:bodyPr wrap="square" lIns="25400" tIns="76200" rIns="76200" bIns="25400" rtlCol="0" anchor="ctr"/>
          <a:lstStyle/>
          <a:p>
            <a:pPr algn="l" indent="0" marL="0">
              <a:lnSpc>
                <a:spcPts val="1100"/>
              </a:lnSpc>
              <a:buNone/>
            </a:pPr>
            <a:r>
              <a:rPr lang="en-US" sz="950" dirty="0">
                <a:solidFill>
                  <a:srgbClr val="0B163C"/>
                </a:solidFill>
                <a:latin typeface="DM Sans" pitchFamily="34" charset="0"/>
                <a:ea typeface="DM Sans" pitchFamily="34" charset="-122"/>
                <a:cs typeface="DM Sans" pitchFamily="34" charset="-120"/>
              </a:rPr>
              <a:t>Lots on the River / Lakes courses &amp; Chester River</a:t>
            </a:r>
            <a:endParaRPr lang="en-US" sz="950" dirty="0"/>
          </a:p>
        </p:txBody>
      </p:sp>
      <p:sp>
        <p:nvSpPr>
          <p:cNvPr id="21" name="Shape 19"/>
          <p:cNvSpPr/>
          <p:nvPr/>
        </p:nvSpPr>
        <p:spPr>
          <a:xfrm>
            <a:off x="7589520" y="2331720"/>
            <a:ext cx="4142232" cy="566928"/>
          </a:xfrm>
          <a:prstGeom prst="rect">
            <a:avLst/>
          </a:prstGeom>
          <a:solidFill>
            <a:srgbClr val="FFFFFF"/>
          </a:solidFill>
          <a:ln/>
        </p:spPr>
      </p:sp>
      <p:sp>
        <p:nvSpPr>
          <p:cNvPr id="22" name="Text 20"/>
          <p:cNvSpPr/>
          <p:nvPr/>
        </p:nvSpPr>
        <p:spPr>
          <a:xfrm>
            <a:off x="7589520" y="2331720"/>
            <a:ext cx="4142232" cy="566928"/>
          </a:xfrm>
          <a:prstGeom prst="rect">
            <a:avLst/>
          </a:prstGeom>
          <a:noFill/>
          <a:ln/>
        </p:spPr>
        <p:txBody>
          <a:bodyPr wrap="square" lIns="25400" tIns="76200" rIns="76200" bIns="25400" rtlCol="0" anchor="ctr"/>
          <a:lstStyle/>
          <a:p>
            <a:pPr algn="l" indent="0" marL="0">
              <a:lnSpc>
                <a:spcPts val="1100"/>
              </a:lnSpc>
              <a:buNone/>
            </a:pPr>
            <a:r>
              <a:rPr lang="en-US" sz="950" dirty="0">
                <a:solidFill>
                  <a:srgbClr val="6B5A6B"/>
                </a:solidFill>
                <a:latin typeface="DM Sans" pitchFamily="34" charset="0"/>
                <a:ea typeface="DM Sans" pitchFamily="34" charset="-122"/>
                <a:cs typeface="DM Sans" pitchFamily="34" charset="-120"/>
              </a:rPr>
              <a:t>Premium pricing and faster absorption vs. a raw subdivision</a:t>
            </a:r>
            <a:endParaRPr lang="en-US" sz="950" dirty="0"/>
          </a:p>
        </p:txBody>
      </p:sp>
      <p:sp>
        <p:nvSpPr>
          <p:cNvPr id="23" name="Shape 21"/>
          <p:cNvSpPr/>
          <p:nvPr/>
        </p:nvSpPr>
        <p:spPr>
          <a:xfrm>
            <a:off x="457200" y="2898648"/>
            <a:ext cx="2743200" cy="566928"/>
          </a:xfrm>
          <a:prstGeom prst="rect">
            <a:avLst/>
          </a:prstGeom>
          <a:solidFill>
            <a:srgbClr val="F4F2ED"/>
          </a:solidFill>
          <a:ln/>
        </p:spPr>
      </p:sp>
      <p:sp>
        <p:nvSpPr>
          <p:cNvPr id="24" name="Text 22"/>
          <p:cNvSpPr/>
          <p:nvPr/>
        </p:nvSpPr>
        <p:spPr>
          <a:xfrm>
            <a:off x="457200" y="2898648"/>
            <a:ext cx="2743200" cy="566928"/>
          </a:xfrm>
          <a:prstGeom prst="rect">
            <a:avLst/>
          </a:prstGeom>
          <a:noFill/>
          <a:ln/>
        </p:spPr>
        <p:txBody>
          <a:bodyPr wrap="square" lIns="25400" tIns="76200" rIns="76200" bIns="25400" rtlCol="0" anchor="ctr"/>
          <a:lstStyle/>
          <a:p>
            <a:pPr algn="l" indent="0" marL="0">
              <a:buNone/>
            </a:pPr>
            <a:r>
              <a:rPr lang="en-US" sz="1050" b="1" dirty="0">
                <a:solidFill>
                  <a:srgbClr val="0B163C"/>
                </a:solidFill>
                <a:latin typeface="Montserrat" pitchFamily="34" charset="0"/>
                <a:ea typeface="Montserrat" pitchFamily="34" charset="-122"/>
                <a:cs typeface="Montserrat" pitchFamily="34" charset="-120"/>
              </a:rPr>
              <a:t>Bay Bridge location</a:t>
            </a:r>
            <a:endParaRPr lang="en-US" sz="1050" dirty="0"/>
          </a:p>
        </p:txBody>
      </p:sp>
      <p:sp>
        <p:nvSpPr>
          <p:cNvPr id="25" name="Shape 23"/>
          <p:cNvSpPr/>
          <p:nvPr/>
        </p:nvSpPr>
        <p:spPr>
          <a:xfrm>
            <a:off x="3200400" y="2898648"/>
            <a:ext cx="4389120" cy="566928"/>
          </a:xfrm>
          <a:prstGeom prst="rect">
            <a:avLst/>
          </a:prstGeom>
          <a:solidFill>
            <a:srgbClr val="F4F2ED"/>
          </a:solidFill>
          <a:ln/>
        </p:spPr>
      </p:sp>
      <p:sp>
        <p:nvSpPr>
          <p:cNvPr id="26" name="Text 24"/>
          <p:cNvSpPr/>
          <p:nvPr/>
        </p:nvSpPr>
        <p:spPr>
          <a:xfrm>
            <a:off x="3200400" y="2898648"/>
            <a:ext cx="4389120" cy="566928"/>
          </a:xfrm>
          <a:prstGeom prst="rect">
            <a:avLst/>
          </a:prstGeom>
          <a:noFill/>
          <a:ln/>
        </p:spPr>
        <p:txBody>
          <a:bodyPr wrap="square" lIns="25400" tIns="76200" rIns="76200" bIns="25400" rtlCol="0" anchor="ctr"/>
          <a:lstStyle/>
          <a:p>
            <a:pPr algn="l" indent="0" marL="0">
              <a:lnSpc>
                <a:spcPts val="1100"/>
              </a:lnSpc>
              <a:buNone/>
            </a:pPr>
            <a:r>
              <a:rPr lang="en-US" sz="950" dirty="0">
                <a:solidFill>
                  <a:srgbClr val="0B163C"/>
                </a:solidFill>
                <a:latin typeface="DM Sans" pitchFamily="34" charset="0"/>
                <a:ea typeface="DM Sans" pitchFamily="34" charset="-122"/>
                <a:cs typeface="DM Sans" pitchFamily="34" charset="-120"/>
              </a:rPr>
              <a:t>Minutes to Annapolis; ~1 hr to D.C. &amp; Baltimore</a:t>
            </a:r>
            <a:endParaRPr lang="en-US" sz="950" dirty="0"/>
          </a:p>
        </p:txBody>
      </p:sp>
      <p:sp>
        <p:nvSpPr>
          <p:cNvPr id="27" name="Shape 25"/>
          <p:cNvSpPr/>
          <p:nvPr/>
        </p:nvSpPr>
        <p:spPr>
          <a:xfrm>
            <a:off x="7589520" y="2898648"/>
            <a:ext cx="4142232" cy="566928"/>
          </a:xfrm>
          <a:prstGeom prst="rect">
            <a:avLst/>
          </a:prstGeom>
          <a:solidFill>
            <a:srgbClr val="F4F2ED"/>
          </a:solidFill>
          <a:ln/>
        </p:spPr>
      </p:sp>
      <p:sp>
        <p:nvSpPr>
          <p:cNvPr id="28" name="Text 26"/>
          <p:cNvSpPr/>
          <p:nvPr/>
        </p:nvSpPr>
        <p:spPr>
          <a:xfrm>
            <a:off x="7589520" y="2898648"/>
            <a:ext cx="4142232" cy="566928"/>
          </a:xfrm>
          <a:prstGeom prst="rect">
            <a:avLst/>
          </a:prstGeom>
          <a:noFill/>
          <a:ln/>
        </p:spPr>
        <p:txBody>
          <a:bodyPr wrap="square" lIns="25400" tIns="76200" rIns="76200" bIns="25400" rtlCol="0" anchor="ctr"/>
          <a:lstStyle/>
          <a:p>
            <a:pPr algn="l" indent="0" marL="0">
              <a:lnSpc>
                <a:spcPts val="1100"/>
              </a:lnSpc>
              <a:buNone/>
            </a:pPr>
            <a:r>
              <a:rPr lang="en-US" sz="950" dirty="0">
                <a:solidFill>
                  <a:srgbClr val="6B5A6B"/>
                </a:solidFill>
                <a:latin typeface="DM Sans" pitchFamily="34" charset="0"/>
                <a:ea typeface="DM Sans" pitchFamily="34" charset="-122"/>
                <a:cs typeface="DM Sans" pitchFamily="34" charset="-120"/>
              </a:rPr>
              <a:t>Commuter, second-home and weekend demand from three metros</a:t>
            </a:r>
            <a:endParaRPr lang="en-US" sz="950" dirty="0"/>
          </a:p>
        </p:txBody>
      </p:sp>
      <p:sp>
        <p:nvSpPr>
          <p:cNvPr id="29" name="Shape 27"/>
          <p:cNvSpPr/>
          <p:nvPr/>
        </p:nvSpPr>
        <p:spPr>
          <a:xfrm>
            <a:off x="457200" y="3465576"/>
            <a:ext cx="2743200" cy="566928"/>
          </a:xfrm>
          <a:prstGeom prst="rect">
            <a:avLst/>
          </a:prstGeom>
          <a:solidFill>
            <a:srgbClr val="FFFFFF"/>
          </a:solidFill>
          <a:ln/>
        </p:spPr>
      </p:sp>
      <p:sp>
        <p:nvSpPr>
          <p:cNvPr id="30" name="Text 28"/>
          <p:cNvSpPr/>
          <p:nvPr/>
        </p:nvSpPr>
        <p:spPr>
          <a:xfrm>
            <a:off x="457200" y="3465576"/>
            <a:ext cx="2743200" cy="566928"/>
          </a:xfrm>
          <a:prstGeom prst="rect">
            <a:avLst/>
          </a:prstGeom>
          <a:noFill/>
          <a:ln/>
        </p:spPr>
        <p:txBody>
          <a:bodyPr wrap="square" lIns="25400" tIns="76200" rIns="76200" bIns="25400" rtlCol="0" anchor="ctr"/>
          <a:lstStyle/>
          <a:p>
            <a:pPr algn="l" indent="0" marL="0">
              <a:buNone/>
            </a:pPr>
            <a:r>
              <a:rPr lang="en-US" sz="1050" b="1" dirty="0">
                <a:solidFill>
                  <a:srgbClr val="0B163C"/>
                </a:solidFill>
                <a:latin typeface="Montserrat" pitchFamily="34" charset="0"/>
                <a:ea typeface="Montserrat" pitchFamily="34" charset="-122"/>
                <a:cs typeface="Montserrat" pitchFamily="34" charset="-120"/>
              </a:rPr>
              <a:t>Chesapeake scarcity</a:t>
            </a:r>
            <a:endParaRPr lang="en-US" sz="1050" dirty="0"/>
          </a:p>
        </p:txBody>
      </p:sp>
      <p:sp>
        <p:nvSpPr>
          <p:cNvPr id="31" name="Shape 29"/>
          <p:cNvSpPr/>
          <p:nvPr/>
        </p:nvSpPr>
        <p:spPr>
          <a:xfrm>
            <a:off x="3200400" y="3465576"/>
            <a:ext cx="4389120" cy="566928"/>
          </a:xfrm>
          <a:prstGeom prst="rect">
            <a:avLst/>
          </a:prstGeom>
          <a:solidFill>
            <a:srgbClr val="FFFFFF"/>
          </a:solidFill>
          <a:ln/>
        </p:spPr>
      </p:sp>
      <p:sp>
        <p:nvSpPr>
          <p:cNvPr id="32" name="Text 30"/>
          <p:cNvSpPr/>
          <p:nvPr/>
        </p:nvSpPr>
        <p:spPr>
          <a:xfrm>
            <a:off x="3200400" y="3465576"/>
            <a:ext cx="4389120" cy="566928"/>
          </a:xfrm>
          <a:prstGeom prst="rect">
            <a:avLst/>
          </a:prstGeom>
          <a:noFill/>
          <a:ln/>
        </p:spPr>
        <p:txBody>
          <a:bodyPr wrap="square" lIns="25400" tIns="76200" rIns="76200" bIns="25400" rtlCol="0" anchor="ctr"/>
          <a:lstStyle/>
          <a:p>
            <a:pPr algn="l" indent="0" marL="0">
              <a:lnSpc>
                <a:spcPts val="1100"/>
              </a:lnSpc>
              <a:buNone/>
            </a:pPr>
            <a:r>
              <a:rPr lang="en-US" sz="950" dirty="0">
                <a:solidFill>
                  <a:srgbClr val="0B163C"/>
                </a:solidFill>
                <a:latin typeface="DM Sans" pitchFamily="34" charset="0"/>
                <a:ea typeface="DM Sans" pitchFamily="34" charset="-122"/>
                <a:cs typeface="DM Sans" pitchFamily="34" charset="-120"/>
              </a:rPr>
              <a:t>Limited new waterfront-adjacent lots on the Shore</a:t>
            </a:r>
            <a:endParaRPr lang="en-US" sz="950" dirty="0"/>
          </a:p>
        </p:txBody>
      </p:sp>
      <p:sp>
        <p:nvSpPr>
          <p:cNvPr id="33" name="Shape 31"/>
          <p:cNvSpPr/>
          <p:nvPr/>
        </p:nvSpPr>
        <p:spPr>
          <a:xfrm>
            <a:off x="7589520" y="3465576"/>
            <a:ext cx="4142232" cy="566928"/>
          </a:xfrm>
          <a:prstGeom prst="rect">
            <a:avLst/>
          </a:prstGeom>
          <a:solidFill>
            <a:srgbClr val="FFFFFF"/>
          </a:solidFill>
          <a:ln/>
        </p:spPr>
      </p:sp>
      <p:sp>
        <p:nvSpPr>
          <p:cNvPr id="34" name="Text 32"/>
          <p:cNvSpPr/>
          <p:nvPr/>
        </p:nvSpPr>
        <p:spPr>
          <a:xfrm>
            <a:off x="7589520" y="3465576"/>
            <a:ext cx="4142232" cy="566928"/>
          </a:xfrm>
          <a:prstGeom prst="rect">
            <a:avLst/>
          </a:prstGeom>
          <a:noFill/>
          <a:ln/>
        </p:spPr>
        <p:txBody>
          <a:bodyPr wrap="square" lIns="25400" tIns="76200" rIns="76200" bIns="25400" rtlCol="0" anchor="ctr"/>
          <a:lstStyle/>
          <a:p>
            <a:pPr algn="l" indent="0" marL="0">
              <a:lnSpc>
                <a:spcPts val="1100"/>
              </a:lnSpc>
              <a:buNone/>
            </a:pPr>
            <a:r>
              <a:rPr lang="en-US" sz="950" dirty="0">
                <a:solidFill>
                  <a:srgbClr val="6B5A6B"/>
                </a:solidFill>
                <a:latin typeface="DM Sans" pitchFamily="34" charset="0"/>
                <a:ea typeface="DM Sans" pitchFamily="34" charset="-122"/>
                <a:cs typeface="DM Sans" pitchFamily="34" charset="-120"/>
              </a:rPr>
              <a:t>High barriers → durable, premium lot values</a:t>
            </a:r>
            <a:endParaRPr lang="en-US" sz="950" dirty="0"/>
          </a:p>
        </p:txBody>
      </p:sp>
      <p:sp>
        <p:nvSpPr>
          <p:cNvPr id="35" name="Shape 33"/>
          <p:cNvSpPr/>
          <p:nvPr/>
        </p:nvSpPr>
        <p:spPr>
          <a:xfrm>
            <a:off x="457200" y="4032504"/>
            <a:ext cx="2743200" cy="566928"/>
          </a:xfrm>
          <a:prstGeom prst="rect">
            <a:avLst/>
          </a:prstGeom>
          <a:solidFill>
            <a:srgbClr val="F4F2ED"/>
          </a:solidFill>
          <a:ln/>
        </p:spPr>
      </p:sp>
      <p:sp>
        <p:nvSpPr>
          <p:cNvPr id="36" name="Text 34"/>
          <p:cNvSpPr/>
          <p:nvPr/>
        </p:nvSpPr>
        <p:spPr>
          <a:xfrm>
            <a:off x="457200" y="4032504"/>
            <a:ext cx="2743200" cy="566928"/>
          </a:xfrm>
          <a:prstGeom prst="rect">
            <a:avLst/>
          </a:prstGeom>
          <a:noFill/>
          <a:ln/>
        </p:spPr>
        <p:txBody>
          <a:bodyPr wrap="square" lIns="25400" tIns="76200" rIns="76200" bIns="25400" rtlCol="0" anchor="ctr"/>
          <a:lstStyle/>
          <a:p>
            <a:pPr algn="l" indent="0" marL="0">
              <a:buNone/>
            </a:pPr>
            <a:r>
              <a:rPr lang="en-US" sz="1050" b="1" dirty="0">
                <a:solidFill>
                  <a:srgbClr val="0B163C"/>
                </a:solidFill>
                <a:latin typeface="Montserrat" pitchFamily="34" charset="0"/>
                <a:ea typeface="Montserrat" pitchFamily="34" charset="-122"/>
                <a:cs typeface="Montserrat" pitchFamily="34" charset="-120"/>
              </a:rPr>
              <a:t>Builder appetite</a:t>
            </a:r>
            <a:endParaRPr lang="en-US" sz="1050" dirty="0"/>
          </a:p>
        </p:txBody>
      </p:sp>
      <p:sp>
        <p:nvSpPr>
          <p:cNvPr id="37" name="Shape 35"/>
          <p:cNvSpPr/>
          <p:nvPr/>
        </p:nvSpPr>
        <p:spPr>
          <a:xfrm>
            <a:off x="3200400" y="4032504"/>
            <a:ext cx="4389120" cy="566928"/>
          </a:xfrm>
          <a:prstGeom prst="rect">
            <a:avLst/>
          </a:prstGeom>
          <a:solidFill>
            <a:srgbClr val="F4F2ED"/>
          </a:solidFill>
          <a:ln/>
        </p:spPr>
      </p:sp>
      <p:sp>
        <p:nvSpPr>
          <p:cNvPr id="38" name="Text 36"/>
          <p:cNvSpPr/>
          <p:nvPr/>
        </p:nvSpPr>
        <p:spPr>
          <a:xfrm>
            <a:off x="3200400" y="4032504"/>
            <a:ext cx="4389120" cy="566928"/>
          </a:xfrm>
          <a:prstGeom prst="rect">
            <a:avLst/>
          </a:prstGeom>
          <a:noFill/>
          <a:ln/>
        </p:spPr>
        <p:txBody>
          <a:bodyPr wrap="square" lIns="25400" tIns="76200" rIns="76200" bIns="25400" rtlCol="0" anchor="ctr"/>
          <a:lstStyle/>
          <a:p>
            <a:pPr algn="l" indent="0" marL="0">
              <a:lnSpc>
                <a:spcPts val="1100"/>
              </a:lnSpc>
              <a:buNone/>
            </a:pPr>
            <a:r>
              <a:rPr lang="en-US" sz="950" dirty="0">
                <a:solidFill>
                  <a:srgbClr val="0B163C"/>
                </a:solidFill>
                <a:latin typeface="DM Sans" pitchFamily="34" charset="0"/>
                <a:ea typeface="DM Sans" pitchFamily="34" charset="-122"/>
                <a:cs typeface="DM Sans" pitchFamily="34" charset="-120"/>
              </a:rPr>
              <a:t>Regional homebuilders want entitled / finished lots</a:t>
            </a:r>
            <a:endParaRPr lang="en-US" sz="950" dirty="0"/>
          </a:p>
        </p:txBody>
      </p:sp>
      <p:sp>
        <p:nvSpPr>
          <p:cNvPr id="39" name="Shape 37"/>
          <p:cNvSpPr/>
          <p:nvPr/>
        </p:nvSpPr>
        <p:spPr>
          <a:xfrm>
            <a:off x="7589520" y="4032504"/>
            <a:ext cx="4142232" cy="566928"/>
          </a:xfrm>
          <a:prstGeom prst="rect">
            <a:avLst/>
          </a:prstGeom>
          <a:solidFill>
            <a:srgbClr val="F4F2ED"/>
          </a:solidFill>
          <a:ln/>
        </p:spPr>
      </p:sp>
      <p:sp>
        <p:nvSpPr>
          <p:cNvPr id="40" name="Text 38"/>
          <p:cNvSpPr/>
          <p:nvPr/>
        </p:nvSpPr>
        <p:spPr>
          <a:xfrm>
            <a:off x="7589520" y="4032504"/>
            <a:ext cx="4142232" cy="566928"/>
          </a:xfrm>
          <a:prstGeom prst="rect">
            <a:avLst/>
          </a:prstGeom>
          <a:noFill/>
          <a:ln/>
        </p:spPr>
        <p:txBody>
          <a:bodyPr wrap="square" lIns="25400" tIns="76200" rIns="76200" bIns="25400" rtlCol="0" anchor="ctr"/>
          <a:lstStyle/>
          <a:p>
            <a:pPr algn="l" indent="0" marL="0">
              <a:lnSpc>
                <a:spcPts val="1100"/>
              </a:lnSpc>
              <a:buNone/>
            </a:pPr>
            <a:r>
              <a:rPr lang="en-US" sz="950" dirty="0">
                <a:solidFill>
                  <a:srgbClr val="6B5A6B"/>
                </a:solidFill>
                <a:latin typeface="DM Sans" pitchFamily="34" charset="0"/>
                <a:ea typeface="DM Sans" pitchFamily="34" charset="-122"/>
                <a:cs typeface="DM Sans" pitchFamily="34" charset="-120"/>
              </a:rPr>
              <a:t>They pay to avoid entitlement risk — and fund the infrastructure</a:t>
            </a:r>
            <a:endParaRPr lang="en-US" sz="950" dirty="0"/>
          </a:p>
        </p:txBody>
      </p:sp>
      <p:sp>
        <p:nvSpPr>
          <p:cNvPr id="41" name="Shape 39"/>
          <p:cNvSpPr/>
          <p:nvPr/>
        </p:nvSpPr>
        <p:spPr>
          <a:xfrm>
            <a:off x="457200" y="4599432"/>
            <a:ext cx="2743200" cy="566928"/>
          </a:xfrm>
          <a:prstGeom prst="rect">
            <a:avLst/>
          </a:prstGeom>
          <a:solidFill>
            <a:srgbClr val="FFFFFF"/>
          </a:solidFill>
          <a:ln/>
        </p:spPr>
      </p:sp>
      <p:sp>
        <p:nvSpPr>
          <p:cNvPr id="42" name="Text 40"/>
          <p:cNvSpPr/>
          <p:nvPr/>
        </p:nvSpPr>
        <p:spPr>
          <a:xfrm>
            <a:off x="457200" y="4599432"/>
            <a:ext cx="2743200" cy="566928"/>
          </a:xfrm>
          <a:prstGeom prst="rect">
            <a:avLst/>
          </a:prstGeom>
          <a:noFill/>
          <a:ln/>
        </p:spPr>
        <p:txBody>
          <a:bodyPr wrap="square" lIns="25400" tIns="76200" rIns="76200" bIns="25400" rtlCol="0" anchor="ctr"/>
          <a:lstStyle/>
          <a:p>
            <a:pPr algn="l" indent="0" marL="0">
              <a:buNone/>
            </a:pPr>
            <a:r>
              <a:rPr lang="en-US" sz="1050" b="1" dirty="0">
                <a:solidFill>
                  <a:srgbClr val="0B163C"/>
                </a:solidFill>
                <a:latin typeface="Montserrat" pitchFamily="34" charset="0"/>
                <a:ea typeface="Montserrat" pitchFamily="34" charset="-122"/>
                <a:cs typeface="Montserrat" pitchFamily="34" charset="-120"/>
              </a:rPr>
              <a:t>Fresh owned basis</a:t>
            </a:r>
            <a:endParaRPr lang="en-US" sz="1050" dirty="0"/>
          </a:p>
        </p:txBody>
      </p:sp>
      <p:sp>
        <p:nvSpPr>
          <p:cNvPr id="43" name="Shape 41"/>
          <p:cNvSpPr/>
          <p:nvPr/>
        </p:nvSpPr>
        <p:spPr>
          <a:xfrm>
            <a:off x="3200400" y="4599432"/>
            <a:ext cx="4389120" cy="566928"/>
          </a:xfrm>
          <a:prstGeom prst="rect">
            <a:avLst/>
          </a:prstGeom>
          <a:solidFill>
            <a:srgbClr val="FFFFFF"/>
          </a:solidFill>
          <a:ln/>
        </p:spPr>
      </p:sp>
      <p:sp>
        <p:nvSpPr>
          <p:cNvPr id="44" name="Text 42"/>
          <p:cNvSpPr/>
          <p:nvPr/>
        </p:nvSpPr>
        <p:spPr>
          <a:xfrm>
            <a:off x="3200400" y="4599432"/>
            <a:ext cx="4389120" cy="566928"/>
          </a:xfrm>
          <a:prstGeom prst="rect">
            <a:avLst/>
          </a:prstGeom>
          <a:noFill/>
          <a:ln/>
        </p:spPr>
        <p:txBody>
          <a:bodyPr wrap="square" lIns="25400" tIns="76200" rIns="76200" bIns="25400" rtlCol="0" anchor="ctr"/>
          <a:lstStyle/>
          <a:p>
            <a:pPr algn="l" indent="0" marL="0">
              <a:lnSpc>
                <a:spcPts val="1100"/>
              </a:lnSpc>
              <a:buNone/>
            </a:pPr>
            <a:r>
              <a:rPr lang="en-US" sz="950" dirty="0">
                <a:solidFill>
                  <a:srgbClr val="0B163C"/>
                </a:solidFill>
                <a:latin typeface="DM Sans" pitchFamily="34" charset="0"/>
                <a:ea typeface="DM Sans" pitchFamily="34" charset="-122"/>
                <a:cs typeface="DM Sans" pitchFamily="34" charset="-120"/>
              </a:rPr>
              <a:t>$25M for 870+ ac just closed</a:t>
            </a:r>
            <a:endParaRPr lang="en-US" sz="950" dirty="0"/>
          </a:p>
        </p:txBody>
      </p:sp>
      <p:sp>
        <p:nvSpPr>
          <p:cNvPr id="45" name="Shape 43"/>
          <p:cNvSpPr/>
          <p:nvPr/>
        </p:nvSpPr>
        <p:spPr>
          <a:xfrm>
            <a:off x="7589520" y="4599432"/>
            <a:ext cx="4142232" cy="566928"/>
          </a:xfrm>
          <a:prstGeom prst="rect">
            <a:avLst/>
          </a:prstGeom>
          <a:solidFill>
            <a:srgbClr val="FFFFFF"/>
          </a:solidFill>
          <a:ln/>
        </p:spPr>
      </p:sp>
      <p:sp>
        <p:nvSpPr>
          <p:cNvPr id="46" name="Text 44"/>
          <p:cNvSpPr/>
          <p:nvPr/>
        </p:nvSpPr>
        <p:spPr>
          <a:xfrm>
            <a:off x="7589520" y="4599432"/>
            <a:ext cx="4142232" cy="566928"/>
          </a:xfrm>
          <a:prstGeom prst="rect">
            <a:avLst/>
          </a:prstGeom>
          <a:noFill/>
          <a:ln/>
        </p:spPr>
        <p:txBody>
          <a:bodyPr wrap="square" lIns="25400" tIns="76200" rIns="76200" bIns="25400" rtlCol="0" anchor="ctr"/>
          <a:lstStyle/>
          <a:p>
            <a:pPr algn="l" indent="0" marL="0">
              <a:lnSpc>
                <a:spcPts val="1100"/>
              </a:lnSpc>
              <a:buNone/>
            </a:pPr>
            <a:r>
              <a:rPr lang="en-US" sz="950" dirty="0">
                <a:solidFill>
                  <a:srgbClr val="6B5A6B"/>
                </a:solidFill>
                <a:latin typeface="DM Sans" pitchFamily="34" charset="0"/>
                <a:ea typeface="DM Sans" pitchFamily="34" charset="-122"/>
                <a:cs typeface="DM Sans" pitchFamily="34" charset="-120"/>
              </a:rPr>
              <a:t>Low land basis → development margin starts higher</a:t>
            </a:r>
            <a:endParaRPr lang="en-US" sz="950" dirty="0"/>
          </a:p>
        </p:txBody>
      </p:sp>
      <p:sp>
        <p:nvSpPr>
          <p:cNvPr id="47" name="Shape 45"/>
          <p:cNvSpPr/>
          <p:nvPr/>
        </p:nvSpPr>
        <p:spPr>
          <a:xfrm>
            <a:off x="457200" y="5943600"/>
            <a:ext cx="11274552" cy="420624"/>
          </a:xfrm>
          <a:prstGeom prst="rect">
            <a:avLst/>
          </a:prstGeom>
          <a:solidFill>
            <a:srgbClr val="3A243A"/>
          </a:solidFill>
          <a:ln/>
        </p:spPr>
      </p:sp>
      <p:sp>
        <p:nvSpPr>
          <p:cNvPr id="48" name="Text 46"/>
          <p:cNvSpPr/>
          <p:nvPr/>
        </p:nvSpPr>
        <p:spPr>
          <a:xfrm>
            <a:off x="640080" y="5943600"/>
            <a:ext cx="10908792" cy="420624"/>
          </a:xfrm>
          <a:prstGeom prst="rect">
            <a:avLst/>
          </a:prstGeom>
          <a:noFill/>
          <a:ln/>
        </p:spPr>
        <p:txBody>
          <a:bodyPr wrap="square" lIns="0" tIns="0" rIns="0" bIns="0" rtlCol="0" anchor="ctr"/>
          <a:lstStyle/>
          <a:p>
            <a:pPr algn="ctr" indent="0" marL="0">
              <a:buNone/>
            </a:pPr>
            <a:r>
              <a:rPr lang="en-US" sz="1100" b="1" dirty="0">
                <a:solidFill>
                  <a:srgbClr val="FFFFFF"/>
                </a:solidFill>
                <a:latin typeface="DM Sans" pitchFamily="34" charset="0"/>
                <a:ea typeface="DM Sans" pitchFamily="34" charset="-122"/>
                <a:cs typeface="DM Sans" pitchFamily="34" charset="-120"/>
              </a:rPr>
              <a:t>Demand is already here — we're entitling supply to meet it, not creating a market.</a:t>
            </a:r>
            <a:endParaRPr lang="en-US" sz="1100" dirty="0"/>
          </a:p>
        </p:txBody>
      </p:sp>
      <p:sp>
        <p:nvSpPr>
          <p:cNvPr id="49" name="Text 47"/>
          <p:cNvSpPr/>
          <p:nvPr/>
        </p:nvSpPr>
        <p:spPr>
          <a:xfrm>
            <a:off x="457200" y="5321808"/>
            <a:ext cx="11274552" cy="237744"/>
          </a:xfrm>
          <a:prstGeom prst="rect">
            <a:avLst/>
          </a:prstGeom>
          <a:noFill/>
          <a:ln/>
        </p:spPr>
        <p:txBody>
          <a:bodyPr wrap="square" lIns="0" tIns="0" rIns="0" bIns="0" rtlCol="0" anchor="ctr"/>
          <a:lstStyle/>
          <a:p>
            <a:pPr algn="l" indent="0" marL="0">
              <a:buNone/>
            </a:pPr>
            <a:r>
              <a:rPr lang="en-US" sz="700" b="1" dirty="0">
                <a:solidFill>
                  <a:srgbClr val="6B5A6B"/>
                </a:solidFill>
                <a:latin typeface="DM Sans" pitchFamily="34" charset="0"/>
                <a:ea typeface="DM Sans" pitchFamily="34" charset="-122"/>
                <a:cs typeface="DM Sans" pitchFamily="34" charset="-120"/>
              </a:rPr>
              <a:t>Sources (own research; subject to change &amp; confirmation):  </a:t>
            </a:r>
            <a:pPr algn="l" indent="0" marL="0">
              <a:buNone/>
            </a:pPr>
            <a:r>
              <a:rPr lang="en-US" sz="700" u="sng" dirty="0">
                <a:solidFill>
                  <a:srgbClr val="3A243A"/>
                </a:solidFill>
                <a:latin typeface="DM Sans" pitchFamily="34" charset="0"/>
                <a:ea typeface="DM Sans" pitchFamily="34" charset="-122"/>
                <a:cs typeface="DM Sans" pitchFamily="34" charset="-120"/>
                <a:hlinkClick r:id="rId1" invalidUrl="" action="" tgtFrame="" tooltip="distance-cities.com" history="1" highlightClick="0" endSnd="0">
                  <a:extLst>
                    <a:ext uri="{A12FA001-AC4F-418D-AE19-62706E023703}">
                      <ahyp:hlinkClr xmlns:ahyp="http://schemas.microsoft.com/office/drawing/2018/hyperlinkcolor" val="tx"/>
                    </a:ext>
                  </a:extLst>
                </a:hlinkClick>
              </a:rPr>
              <a:t>distance-cities.com</a:t>
            </a:r>
            <a:pPr algn="l" indent="0" marL="0">
              <a:buNone/>
            </a:pPr>
            <a:r>
              <a:rPr lang="en-US" sz="700" dirty="0">
                <a:solidFill>
                  <a:srgbClr val="C4B8C4"/>
                </a:solidFill>
                <a:latin typeface="DM Sans" pitchFamily="34" charset="0"/>
                <a:ea typeface="DM Sans" pitchFamily="34" charset="-122"/>
                <a:cs typeface="DM Sans" pitchFamily="34" charset="-120"/>
              </a:rPr>
              <a:t>    ·    </a:t>
            </a:r>
            <a:pPr algn="l" indent="0" marL="0">
              <a:buNone/>
            </a:pPr>
            <a:r>
              <a:rPr lang="en-US" sz="700" u="sng" dirty="0">
                <a:solidFill>
                  <a:srgbClr val="3A243A"/>
                </a:solidFill>
                <a:latin typeface="DM Sans" pitchFamily="34" charset="0"/>
                <a:ea typeface="DM Sans" pitchFamily="34" charset="-122"/>
                <a:cs typeface="DM Sans" pitchFamily="34" charset="-120"/>
                <a:hlinkClick r:id="rId2" invalidUrl="" action="" tgtFrame="" tooltip="Queen Anne's Co. — Critical Area" history="1" highlightClick="0" endSnd="0">
                  <a:extLst>
                    <a:ext uri="{A12FA001-AC4F-418D-AE19-62706E023703}">
                      <ahyp:hlinkClr xmlns:ahyp="http://schemas.microsoft.com/office/drawing/2018/hyperlinkcolor" val="tx"/>
                    </a:ext>
                  </a:extLst>
                </a:hlinkClick>
              </a:rPr>
              <a:t>Queen Anne's Co. — Critical Area</a:t>
            </a:r>
            <a:endParaRPr lang="en-US" sz="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8 / 20</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THE SISTER ASSET</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South River — the Annapolis-side anchor.</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Acquired in the same $25M Capital H6 deal: an established 18-hole private club near Annapolis with 600+ member families — a membership and events engine, and the next place to run the playbook.</a:t>
            </a:r>
            <a:endParaRPr lang="en-US" sz="1300" dirty="0"/>
          </a:p>
        </p:txBody>
      </p:sp>
      <p:sp>
        <p:nvSpPr>
          <p:cNvPr id="11" name="Shape 9"/>
          <p:cNvSpPr/>
          <p:nvPr/>
        </p:nvSpPr>
        <p:spPr>
          <a:xfrm>
            <a:off x="457200" y="1874520"/>
            <a:ext cx="5486400" cy="868680"/>
          </a:xfrm>
          <a:prstGeom prst="rect">
            <a:avLst/>
          </a:prstGeom>
          <a:solidFill>
            <a:srgbClr val="FFFFFF"/>
          </a:solidFill>
          <a:ln w="9525">
            <a:solidFill>
              <a:srgbClr val="E6E1DB"/>
            </a:solidFill>
            <a:prstDash val="solid"/>
          </a:ln>
        </p:spPr>
      </p:sp>
      <p:sp>
        <p:nvSpPr>
          <p:cNvPr id="12" name="Text 10"/>
          <p:cNvSpPr/>
          <p:nvPr/>
        </p:nvSpPr>
        <p:spPr>
          <a:xfrm>
            <a:off x="640080" y="1965960"/>
            <a:ext cx="2011680" cy="685800"/>
          </a:xfrm>
          <a:prstGeom prst="rect">
            <a:avLst/>
          </a:prstGeom>
          <a:noFill/>
          <a:ln/>
        </p:spPr>
        <p:txBody>
          <a:bodyPr wrap="square" lIns="0" tIns="0" rIns="0" bIns="0" rtlCol="0" anchor="ctr"/>
          <a:lstStyle/>
          <a:p>
            <a:pPr algn="l" indent="0" marL="0">
              <a:buNone/>
            </a:pPr>
            <a:r>
              <a:rPr lang="en-US" sz="2200" b="1" dirty="0">
                <a:solidFill>
                  <a:srgbClr val="0B163C"/>
                </a:solidFill>
                <a:latin typeface="Montserrat" pitchFamily="34" charset="0"/>
                <a:ea typeface="Montserrat" pitchFamily="34" charset="-122"/>
                <a:cs typeface="Montserrat" pitchFamily="34" charset="-120"/>
              </a:rPr>
              <a:t>18 holes</a:t>
            </a:r>
            <a:endParaRPr lang="en-US" sz="2200" dirty="0"/>
          </a:p>
        </p:txBody>
      </p:sp>
      <p:sp>
        <p:nvSpPr>
          <p:cNvPr id="13" name="Text 11"/>
          <p:cNvSpPr/>
          <p:nvPr/>
        </p:nvSpPr>
        <p:spPr>
          <a:xfrm>
            <a:off x="2651760" y="1984248"/>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Private club (Brian Ault, 1996)</a:t>
            </a:r>
            <a:endParaRPr lang="en-US" sz="1200" dirty="0"/>
          </a:p>
        </p:txBody>
      </p:sp>
      <p:sp>
        <p:nvSpPr>
          <p:cNvPr id="14" name="Text 12"/>
          <p:cNvSpPr/>
          <p:nvPr/>
        </p:nvSpPr>
        <p:spPr>
          <a:xfrm>
            <a:off x="2651760" y="2331720"/>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Edgewater, MD — on the South River</a:t>
            </a:r>
            <a:endParaRPr lang="en-US" sz="1000" dirty="0"/>
          </a:p>
        </p:txBody>
      </p:sp>
      <p:sp>
        <p:nvSpPr>
          <p:cNvPr id="15" name="Shape 13"/>
          <p:cNvSpPr/>
          <p:nvPr/>
        </p:nvSpPr>
        <p:spPr>
          <a:xfrm>
            <a:off x="457200" y="2852928"/>
            <a:ext cx="5486400" cy="868680"/>
          </a:xfrm>
          <a:prstGeom prst="rect">
            <a:avLst/>
          </a:prstGeom>
          <a:solidFill>
            <a:srgbClr val="FFFFFF"/>
          </a:solidFill>
          <a:ln w="9525">
            <a:solidFill>
              <a:srgbClr val="E6E1DB"/>
            </a:solidFill>
            <a:prstDash val="solid"/>
          </a:ln>
        </p:spPr>
      </p:sp>
      <p:sp>
        <p:nvSpPr>
          <p:cNvPr id="16" name="Text 14"/>
          <p:cNvSpPr/>
          <p:nvPr/>
        </p:nvSpPr>
        <p:spPr>
          <a:xfrm>
            <a:off x="640080" y="2944368"/>
            <a:ext cx="2011680" cy="685800"/>
          </a:xfrm>
          <a:prstGeom prst="rect">
            <a:avLst/>
          </a:prstGeom>
          <a:noFill/>
          <a:ln/>
        </p:spPr>
        <p:txBody>
          <a:bodyPr wrap="square" lIns="0" tIns="0" rIns="0" bIns="0" rtlCol="0" anchor="ctr"/>
          <a:lstStyle/>
          <a:p>
            <a:pPr algn="l" indent="0" marL="0">
              <a:buNone/>
            </a:pPr>
            <a:r>
              <a:rPr lang="en-US" sz="2700" b="1" dirty="0">
                <a:solidFill>
                  <a:srgbClr val="0B163C"/>
                </a:solidFill>
                <a:latin typeface="Montserrat" pitchFamily="34" charset="0"/>
                <a:ea typeface="Montserrat" pitchFamily="34" charset="-122"/>
                <a:cs typeface="Montserrat" pitchFamily="34" charset="-120"/>
              </a:rPr>
              <a:t>600+</a:t>
            </a:r>
            <a:endParaRPr lang="en-US" sz="2700" dirty="0"/>
          </a:p>
        </p:txBody>
      </p:sp>
      <p:sp>
        <p:nvSpPr>
          <p:cNvPr id="17" name="Text 15"/>
          <p:cNvSpPr/>
          <p:nvPr/>
        </p:nvSpPr>
        <p:spPr>
          <a:xfrm>
            <a:off x="2651760" y="2962656"/>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Member families</a:t>
            </a:r>
            <a:endParaRPr lang="en-US" sz="1200" dirty="0"/>
          </a:p>
        </p:txBody>
      </p:sp>
      <p:sp>
        <p:nvSpPr>
          <p:cNvPr id="18" name="Text 16"/>
          <p:cNvSpPr/>
          <p:nvPr/>
        </p:nvSpPr>
        <p:spPr>
          <a:xfrm>
            <a:off x="2651760" y="3310128"/>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Recurring dues + a built-in events base</a:t>
            </a:r>
            <a:endParaRPr lang="en-US" sz="1000" dirty="0"/>
          </a:p>
        </p:txBody>
      </p:sp>
      <p:sp>
        <p:nvSpPr>
          <p:cNvPr id="19" name="Shape 17"/>
          <p:cNvSpPr/>
          <p:nvPr/>
        </p:nvSpPr>
        <p:spPr>
          <a:xfrm>
            <a:off x="457200" y="3831336"/>
            <a:ext cx="5486400" cy="868680"/>
          </a:xfrm>
          <a:prstGeom prst="rect">
            <a:avLst/>
          </a:prstGeom>
          <a:solidFill>
            <a:srgbClr val="FFFFFF"/>
          </a:solidFill>
          <a:ln w="9525">
            <a:solidFill>
              <a:srgbClr val="E6E1DB"/>
            </a:solidFill>
            <a:prstDash val="solid"/>
          </a:ln>
        </p:spPr>
      </p:sp>
      <p:sp>
        <p:nvSpPr>
          <p:cNvPr id="20" name="Text 18"/>
          <p:cNvSpPr/>
          <p:nvPr/>
        </p:nvSpPr>
        <p:spPr>
          <a:xfrm>
            <a:off x="640080" y="3922776"/>
            <a:ext cx="2011680" cy="685800"/>
          </a:xfrm>
          <a:prstGeom prst="rect">
            <a:avLst/>
          </a:prstGeom>
          <a:noFill/>
          <a:ln/>
        </p:spPr>
        <p:txBody>
          <a:bodyPr wrap="square" lIns="0" tIns="0" rIns="0" bIns="0" rtlCol="0" anchor="ctr"/>
          <a:lstStyle/>
          <a:p>
            <a:pPr algn="l" indent="0" marL="0">
              <a:buNone/>
            </a:pPr>
            <a:r>
              <a:rPr lang="en-US" sz="2700" b="1" dirty="0">
                <a:solidFill>
                  <a:srgbClr val="0B163C"/>
                </a:solidFill>
                <a:latin typeface="Montserrat" pitchFamily="34" charset="0"/>
                <a:ea typeface="Montserrat" pitchFamily="34" charset="-122"/>
                <a:cs typeface="Montserrat" pitchFamily="34" charset="-120"/>
              </a:rPr>
              <a:t>165 ac</a:t>
            </a:r>
            <a:endParaRPr lang="en-US" sz="2700" dirty="0"/>
          </a:p>
        </p:txBody>
      </p:sp>
      <p:sp>
        <p:nvSpPr>
          <p:cNvPr id="21" name="Text 19"/>
          <p:cNvSpPr/>
          <p:nvPr/>
        </p:nvSpPr>
        <p:spPr>
          <a:xfrm>
            <a:off x="2651760" y="3941064"/>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Club grounds</a:t>
            </a:r>
            <a:endParaRPr lang="en-US" sz="1200" dirty="0"/>
          </a:p>
        </p:txBody>
      </p:sp>
      <p:sp>
        <p:nvSpPr>
          <p:cNvPr id="22" name="Text 20"/>
          <p:cNvSpPr/>
          <p:nvPr/>
        </p:nvSpPr>
        <p:spPr>
          <a:xfrm>
            <a:off x="2651760" y="4288536"/>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8 lakes · 14 environmentally protected areas</a:t>
            </a:r>
            <a:endParaRPr lang="en-US" sz="1000" dirty="0"/>
          </a:p>
        </p:txBody>
      </p:sp>
      <p:sp>
        <p:nvSpPr>
          <p:cNvPr id="23" name="Shape 21"/>
          <p:cNvSpPr/>
          <p:nvPr/>
        </p:nvSpPr>
        <p:spPr>
          <a:xfrm>
            <a:off x="457200" y="4809744"/>
            <a:ext cx="5486400" cy="868680"/>
          </a:xfrm>
          <a:prstGeom prst="rect">
            <a:avLst/>
          </a:prstGeom>
          <a:solidFill>
            <a:srgbClr val="FFFFFF"/>
          </a:solidFill>
          <a:ln w="9525">
            <a:solidFill>
              <a:srgbClr val="E6E1DB"/>
            </a:solidFill>
            <a:prstDash val="solid"/>
          </a:ln>
        </p:spPr>
      </p:sp>
      <p:sp>
        <p:nvSpPr>
          <p:cNvPr id="24" name="Text 22"/>
          <p:cNvSpPr/>
          <p:nvPr/>
        </p:nvSpPr>
        <p:spPr>
          <a:xfrm>
            <a:off x="640080" y="4901184"/>
            <a:ext cx="2011680" cy="685800"/>
          </a:xfrm>
          <a:prstGeom prst="rect">
            <a:avLst/>
          </a:prstGeom>
          <a:noFill/>
          <a:ln/>
        </p:spPr>
        <p:txBody>
          <a:bodyPr wrap="square" lIns="0" tIns="0" rIns="0" bIns="0" rtlCol="0" anchor="ctr"/>
          <a:lstStyle/>
          <a:p>
            <a:pPr algn="l" indent="0" marL="0">
              <a:buNone/>
            </a:pPr>
            <a:r>
              <a:rPr lang="en-US" sz="2200" b="1" dirty="0">
                <a:solidFill>
                  <a:srgbClr val="0B163C"/>
                </a:solidFill>
                <a:latin typeface="Montserrat" pitchFamily="34" charset="0"/>
                <a:ea typeface="Montserrat" pitchFamily="34" charset="-122"/>
                <a:cs typeface="Montserrat" pitchFamily="34" charset="-120"/>
              </a:rPr>
              <a:t>Same deal</a:t>
            </a:r>
            <a:endParaRPr lang="en-US" sz="2200" dirty="0"/>
          </a:p>
        </p:txBody>
      </p:sp>
      <p:sp>
        <p:nvSpPr>
          <p:cNvPr id="25" name="Text 23"/>
          <p:cNvSpPr/>
          <p:nvPr/>
        </p:nvSpPr>
        <p:spPr>
          <a:xfrm>
            <a:off x="2651760" y="4919472"/>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Part of the $25M H6 buy</a:t>
            </a:r>
            <a:endParaRPr lang="en-US" sz="1200" dirty="0"/>
          </a:p>
        </p:txBody>
      </p:sp>
      <p:sp>
        <p:nvSpPr>
          <p:cNvPr id="26" name="Text 24"/>
          <p:cNvSpPr/>
          <p:nvPr/>
        </p:nvSpPr>
        <p:spPr>
          <a:xfrm>
            <a:off x="2651760" y="5266944"/>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One platform, two assets</a:t>
            </a:r>
            <a:endParaRPr lang="en-US" sz="1000" dirty="0"/>
          </a:p>
        </p:txBody>
      </p:sp>
      <p:sp>
        <p:nvSpPr>
          <p:cNvPr id="27" name="Shape 25"/>
          <p:cNvSpPr/>
          <p:nvPr/>
        </p:nvSpPr>
        <p:spPr>
          <a:xfrm>
            <a:off x="6400800" y="1874520"/>
            <a:ext cx="5330952" cy="4114800"/>
          </a:xfrm>
          <a:prstGeom prst="rect">
            <a:avLst/>
          </a:prstGeom>
          <a:solidFill>
            <a:srgbClr val="0B163C"/>
          </a:solidFill>
          <a:ln/>
        </p:spPr>
      </p:sp>
      <p:sp>
        <p:nvSpPr>
          <p:cNvPr id="28" name="Shape 26"/>
          <p:cNvSpPr/>
          <p:nvPr/>
        </p:nvSpPr>
        <p:spPr>
          <a:xfrm>
            <a:off x="6400800" y="1874520"/>
            <a:ext cx="109728" cy="4114800"/>
          </a:xfrm>
          <a:prstGeom prst="rect">
            <a:avLst/>
          </a:prstGeom>
          <a:solidFill>
            <a:srgbClr val="3A243A"/>
          </a:solidFill>
          <a:ln/>
        </p:spPr>
      </p:sp>
      <p:sp>
        <p:nvSpPr>
          <p:cNvPr id="29" name="Text 27"/>
          <p:cNvSpPr/>
          <p:nvPr/>
        </p:nvSpPr>
        <p:spPr>
          <a:xfrm>
            <a:off x="6766560" y="2039112"/>
            <a:ext cx="4782312" cy="274320"/>
          </a:xfrm>
          <a:prstGeom prst="rect">
            <a:avLst/>
          </a:prstGeom>
          <a:noFill/>
          <a:ln/>
        </p:spPr>
        <p:txBody>
          <a:bodyPr wrap="square" lIns="0" tIns="0" rIns="0" bIns="0" rtlCol="0" anchor="ctr"/>
          <a:lstStyle/>
          <a:p>
            <a:pPr algn="l" indent="0" marL="0">
              <a:buNone/>
            </a:pPr>
            <a:r>
              <a:rPr lang="en-US" sz="1000" b="1" spc="400" kern="0" dirty="0">
                <a:solidFill>
                  <a:srgbClr val="C4B8C4"/>
                </a:solidFill>
                <a:latin typeface="Montserrat" pitchFamily="34" charset="0"/>
                <a:ea typeface="Montserrat" pitchFamily="34" charset="-122"/>
                <a:cs typeface="Montserrat" pitchFamily="34" charset="-120"/>
              </a:rPr>
              <a:t>THE ANGLE</a:t>
            </a:r>
            <a:endParaRPr lang="en-US" sz="1000" dirty="0"/>
          </a:p>
        </p:txBody>
      </p:sp>
      <p:sp>
        <p:nvSpPr>
          <p:cNvPr id="30" name="Text 28"/>
          <p:cNvSpPr/>
          <p:nvPr/>
        </p:nvSpPr>
        <p:spPr>
          <a:xfrm>
            <a:off x="6766560" y="2386584"/>
            <a:ext cx="4764024" cy="749808"/>
          </a:xfrm>
          <a:prstGeom prst="rect">
            <a:avLst/>
          </a:prstGeom>
          <a:noFill/>
          <a:ln/>
        </p:spPr>
        <p:txBody>
          <a:bodyPr wrap="square" lIns="0" tIns="0" rIns="0" bIns="0" rtlCol="0" anchor="ctr"/>
          <a:lstStyle/>
          <a:p>
            <a:pPr algn="l" indent="0" marL="0">
              <a:lnSpc>
                <a:spcPts val="1800"/>
              </a:lnSpc>
              <a:buNone/>
            </a:pPr>
            <a:r>
              <a:rPr lang="en-US" sz="1450" b="1" dirty="0">
                <a:solidFill>
                  <a:srgbClr val="FFFFFF"/>
                </a:solidFill>
                <a:latin typeface="Montserrat" pitchFamily="34" charset="0"/>
                <a:ea typeface="Montserrat" pitchFamily="34" charset="-122"/>
                <a:cs typeface="Montserrat" pitchFamily="34" charset="-120"/>
              </a:rPr>
              <a:t>Membership and events first; land where diligence supports it.</a:t>
            </a:r>
            <a:endParaRPr lang="en-US" sz="1450" dirty="0"/>
          </a:p>
        </p:txBody>
      </p:sp>
      <p:sp>
        <p:nvSpPr>
          <p:cNvPr id="31" name="Text 29"/>
          <p:cNvSpPr/>
          <p:nvPr/>
        </p:nvSpPr>
        <p:spPr>
          <a:xfrm>
            <a:off x="6766560" y="324612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600+ member families — recurring dues, plus an events / dining base to grow.</a:t>
            </a:r>
            <a:endParaRPr lang="en-US" sz="1000" dirty="0"/>
          </a:p>
        </p:txBody>
      </p:sp>
      <p:sp>
        <p:nvSpPr>
          <p:cNvPr id="32" name="Text 30"/>
          <p:cNvSpPr/>
          <p:nvPr/>
        </p:nvSpPr>
        <p:spPr>
          <a:xfrm>
            <a:off x="6766560" y="392049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Annapolis-side, west of the Bay — an affluent, supply-constrained catchment.</a:t>
            </a:r>
            <a:endParaRPr lang="en-US" sz="1000" dirty="0"/>
          </a:p>
        </p:txBody>
      </p:sp>
      <p:sp>
        <p:nvSpPr>
          <p:cNvPr id="33" name="Text 31"/>
          <p:cNvSpPr/>
          <p:nvPr/>
        </p:nvSpPr>
        <p:spPr>
          <a:xfrm>
            <a:off x="6766560" y="459486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The Bistro, fitness, simulator lounge &amp; range already drive non-golf revenue.</a:t>
            </a:r>
            <a:endParaRPr lang="en-US" sz="1000" dirty="0"/>
          </a:p>
        </p:txBody>
      </p:sp>
      <p:sp>
        <p:nvSpPr>
          <p:cNvPr id="34" name="Text 32"/>
          <p:cNvSpPr/>
          <p:nvPr/>
        </p:nvSpPr>
        <p:spPr>
          <a:xfrm>
            <a:off x="6766560" y="526923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Assess limited parcel entitlement without disturbing the member experience.</a:t>
            </a:r>
            <a:endParaRPr lang="en-US" sz="1000" dirty="0"/>
          </a:p>
        </p:txBody>
      </p:sp>
      <p:sp>
        <p:nvSpPr>
          <p:cNvPr id="35" name="Text 33"/>
          <p:cNvSpPr/>
          <p:nvPr/>
        </p:nvSpPr>
        <p:spPr>
          <a:xfrm>
            <a:off x="457200" y="6089904"/>
            <a:ext cx="11274552" cy="237744"/>
          </a:xfrm>
          <a:prstGeom prst="rect">
            <a:avLst/>
          </a:prstGeom>
          <a:noFill/>
          <a:ln/>
        </p:spPr>
        <p:txBody>
          <a:bodyPr wrap="square" lIns="0" tIns="0" rIns="0" bIns="0" rtlCol="0" anchor="ctr"/>
          <a:lstStyle/>
          <a:p>
            <a:pPr algn="l" indent="0" marL="0">
              <a:buNone/>
            </a:pPr>
            <a:r>
              <a:rPr lang="en-US" sz="700" b="1" dirty="0">
                <a:solidFill>
                  <a:srgbClr val="6B5A6B"/>
                </a:solidFill>
                <a:latin typeface="DM Sans" pitchFamily="34" charset="0"/>
                <a:ea typeface="DM Sans" pitchFamily="34" charset="-122"/>
                <a:cs typeface="DM Sans" pitchFamily="34" charset="-120"/>
              </a:rPr>
              <a:t>Sources (own research; subject to change &amp; confirmation):  </a:t>
            </a:r>
            <a:pPr algn="l" indent="0" marL="0">
              <a:buNone/>
            </a:pPr>
            <a:r>
              <a:rPr lang="en-US" sz="700" u="sng" dirty="0">
                <a:solidFill>
                  <a:srgbClr val="3A243A"/>
                </a:solidFill>
                <a:latin typeface="DM Sans" pitchFamily="34" charset="0"/>
                <a:ea typeface="DM Sans" pitchFamily="34" charset="-122"/>
                <a:cs typeface="DM Sans" pitchFamily="34" charset="-120"/>
                <a:hlinkClick r:id="rId1" invalidUrl="" action="" tgtFrame="" tooltip="golfclubsr.com" history="1" highlightClick="0" endSnd="0">
                  <a:extLst>
                    <a:ext uri="{A12FA001-AC4F-418D-AE19-62706E023703}">
                      <ahyp:hlinkClr xmlns:ahyp="http://schemas.microsoft.com/office/drawing/2018/hyperlinkcolor" val="tx"/>
                    </a:ext>
                  </a:extLst>
                </a:hlinkClick>
              </a:rPr>
              <a:t>golfclubsr.com</a:t>
            </a:r>
            <a:pPr algn="l" indent="0" marL="0">
              <a:buNone/>
            </a:pPr>
            <a:r>
              <a:rPr lang="en-US" sz="700" dirty="0">
                <a:solidFill>
                  <a:srgbClr val="C4B8C4"/>
                </a:solidFill>
                <a:latin typeface="DM Sans" pitchFamily="34" charset="0"/>
                <a:ea typeface="DM Sans" pitchFamily="34" charset="-122"/>
                <a:cs typeface="DM Sans" pitchFamily="34" charset="-120"/>
              </a:rPr>
              <a:t>    ·    </a:t>
            </a:r>
            <a:pPr algn="l" indent="0" marL="0">
              <a:buNone/>
            </a:pPr>
            <a:r>
              <a:rPr lang="en-US" sz="700" u="sng" dirty="0">
                <a:solidFill>
                  <a:srgbClr val="3A243A"/>
                </a:solidFill>
                <a:latin typeface="DM Sans" pitchFamily="34" charset="0"/>
                <a:ea typeface="DM Sans" pitchFamily="34" charset="-122"/>
                <a:cs typeface="DM Sans" pitchFamily="34" charset="-120"/>
                <a:hlinkClick r:id="rId2" invalidUrl="" action="" tgtFrame="" tooltip="foretee.com" history="1" highlightClick="0" endSnd="0">
                  <a:extLst>
                    <a:ext uri="{A12FA001-AC4F-418D-AE19-62706E023703}">
                      <ahyp:hlinkClr xmlns:ahyp="http://schemas.microsoft.com/office/drawing/2018/hyperlinkcolor" val="tx"/>
                    </a:ext>
                  </a:extLst>
                </a:hlinkClick>
              </a:rPr>
              <a:t>foretee.com</a:t>
            </a:r>
            <a:pPr algn="l" indent="0" marL="0">
              <a:buNone/>
            </a:pPr>
            <a:r>
              <a:rPr lang="en-US" sz="700" dirty="0">
                <a:solidFill>
                  <a:srgbClr val="C4B8C4"/>
                </a:solidFill>
                <a:latin typeface="DM Sans" pitchFamily="34" charset="0"/>
                <a:ea typeface="DM Sans" pitchFamily="34" charset="-122"/>
                <a:cs typeface="DM Sans" pitchFamily="34" charset="-120"/>
              </a:rPr>
              <a:t>    ·    </a:t>
            </a:r>
            <a:pPr algn="l" indent="0" marL="0">
              <a:buNone/>
            </a:pPr>
            <a:r>
              <a:rPr lang="en-US" sz="700" u="sng" dirty="0">
                <a:solidFill>
                  <a:srgbClr val="3A243A"/>
                </a:solidFill>
                <a:latin typeface="DM Sans" pitchFamily="34" charset="0"/>
                <a:ea typeface="DM Sans" pitchFamily="34" charset="-122"/>
                <a:cs typeface="DM Sans" pitchFamily="34" charset="-120"/>
                <a:hlinkClick r:id="rId3" invalidUrl="" action="" tgtFrame="" tooltip="Club + Resort Business" history="1" highlightClick="0" endSnd="0">
                  <a:extLst>
                    <a:ext uri="{A12FA001-AC4F-418D-AE19-62706E023703}">
                      <ahyp:hlinkClr xmlns:ahyp="http://schemas.microsoft.com/office/drawing/2018/hyperlinkcolor" val="tx"/>
                    </a:ext>
                  </a:extLst>
                </a:hlinkClick>
              </a:rPr>
              <a:t>Club + Resort Business</a:t>
            </a:r>
            <a:endParaRPr lang="en-US" sz="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9 / 20</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DEVELOPMENT PLAN</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Entitle, develop, deliver finished lots.</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Start light with entitlement (soft costs), then fund the horizontal — roads, sewer and utilities — and deliver finished lots. The builder just builds the homes, so we capture the full lot value.</a:t>
            </a:r>
            <a:endParaRPr lang="en-US" sz="1300" dirty="0"/>
          </a:p>
        </p:txBody>
      </p:sp>
      <p:sp>
        <p:nvSpPr>
          <p:cNvPr id="11" name="Shape 9"/>
          <p:cNvSpPr/>
          <p:nvPr/>
        </p:nvSpPr>
        <p:spPr>
          <a:xfrm>
            <a:off x="457200" y="1874520"/>
            <a:ext cx="5532120" cy="868680"/>
          </a:xfrm>
          <a:prstGeom prst="rect">
            <a:avLst/>
          </a:prstGeom>
          <a:solidFill>
            <a:srgbClr val="FFFFFF"/>
          </a:solidFill>
          <a:ln w="9525">
            <a:solidFill>
              <a:srgbClr val="E6E1DB"/>
            </a:solidFill>
            <a:prstDash val="solid"/>
          </a:ln>
        </p:spPr>
      </p:sp>
      <p:sp>
        <p:nvSpPr>
          <p:cNvPr id="12" name="Text 10"/>
          <p:cNvSpPr/>
          <p:nvPr/>
        </p:nvSpPr>
        <p:spPr>
          <a:xfrm>
            <a:off x="640080" y="1965960"/>
            <a:ext cx="2011680" cy="685800"/>
          </a:xfrm>
          <a:prstGeom prst="rect">
            <a:avLst/>
          </a:prstGeom>
          <a:noFill/>
          <a:ln/>
        </p:spPr>
        <p:txBody>
          <a:bodyPr wrap="square" lIns="0" tIns="0" rIns="0" bIns="0" rtlCol="0" anchor="ctr"/>
          <a:lstStyle/>
          <a:p>
            <a:pPr algn="l" indent="0" marL="0">
              <a:buNone/>
            </a:pPr>
            <a:r>
              <a:rPr lang="en-US" sz="2700" b="1" dirty="0">
                <a:solidFill>
                  <a:srgbClr val="0B163C"/>
                </a:solidFill>
                <a:latin typeface="Montserrat" pitchFamily="34" charset="0"/>
                <a:ea typeface="Montserrat" pitchFamily="34" charset="-122"/>
                <a:cs typeface="Montserrat" pitchFamily="34" charset="-120"/>
              </a:rPr>
              <a:t>$1–3M</a:t>
            </a:r>
            <a:endParaRPr lang="en-US" sz="2700" dirty="0"/>
          </a:p>
        </p:txBody>
      </p:sp>
      <p:sp>
        <p:nvSpPr>
          <p:cNvPr id="13" name="Text 11"/>
          <p:cNvSpPr/>
          <p:nvPr/>
        </p:nvSpPr>
        <p:spPr>
          <a:xfrm>
            <a:off x="2651760" y="1984248"/>
            <a:ext cx="315468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To entitle (Phase 1)</a:t>
            </a:r>
            <a:endParaRPr lang="en-US" sz="1200" dirty="0"/>
          </a:p>
        </p:txBody>
      </p:sp>
      <p:sp>
        <p:nvSpPr>
          <p:cNvPr id="14" name="Text 12"/>
          <p:cNvSpPr/>
          <p:nvPr/>
        </p:nvSpPr>
        <p:spPr>
          <a:xfrm>
            <a:off x="2651760" y="2331720"/>
            <a:ext cx="315468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Light to start — before the horizontal</a:t>
            </a:r>
            <a:endParaRPr lang="en-US" sz="1000" dirty="0"/>
          </a:p>
        </p:txBody>
      </p:sp>
      <p:sp>
        <p:nvSpPr>
          <p:cNvPr id="15" name="Shape 13"/>
          <p:cNvSpPr/>
          <p:nvPr/>
        </p:nvSpPr>
        <p:spPr>
          <a:xfrm>
            <a:off x="457200" y="2852928"/>
            <a:ext cx="5532120" cy="868680"/>
          </a:xfrm>
          <a:prstGeom prst="rect">
            <a:avLst/>
          </a:prstGeom>
          <a:solidFill>
            <a:srgbClr val="FFFFFF"/>
          </a:solidFill>
          <a:ln w="9525">
            <a:solidFill>
              <a:srgbClr val="E6E1DB"/>
            </a:solidFill>
            <a:prstDash val="solid"/>
          </a:ln>
        </p:spPr>
      </p:sp>
      <p:sp>
        <p:nvSpPr>
          <p:cNvPr id="16" name="Text 14"/>
          <p:cNvSpPr/>
          <p:nvPr/>
        </p:nvSpPr>
        <p:spPr>
          <a:xfrm>
            <a:off x="640080" y="2944368"/>
            <a:ext cx="2011680" cy="685800"/>
          </a:xfrm>
          <a:prstGeom prst="rect">
            <a:avLst/>
          </a:prstGeom>
          <a:noFill/>
          <a:ln/>
        </p:spPr>
        <p:txBody>
          <a:bodyPr wrap="square" lIns="0" tIns="0" rIns="0" bIns="0" rtlCol="0" anchor="ctr"/>
          <a:lstStyle/>
          <a:p>
            <a:pPr algn="l" indent="0" marL="0">
              <a:buNone/>
            </a:pPr>
            <a:r>
              <a:rPr lang="en-US" sz="1900" b="1" dirty="0">
                <a:solidFill>
                  <a:srgbClr val="0B163C"/>
                </a:solidFill>
                <a:latin typeface="Montserrat" pitchFamily="34" charset="0"/>
                <a:ea typeface="Montserrat" pitchFamily="34" charset="-122"/>
                <a:cs typeface="Montserrat" pitchFamily="34" charset="-120"/>
              </a:rPr>
              <a:t>$60K / lot</a:t>
            </a:r>
            <a:endParaRPr lang="en-US" sz="1900" dirty="0"/>
          </a:p>
        </p:txBody>
      </p:sp>
      <p:sp>
        <p:nvSpPr>
          <p:cNvPr id="17" name="Text 15"/>
          <p:cNvSpPr/>
          <p:nvPr/>
        </p:nvSpPr>
        <p:spPr>
          <a:xfrm>
            <a:off x="2651760" y="2962656"/>
            <a:ext cx="315468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Horizontal we fund</a:t>
            </a:r>
            <a:endParaRPr lang="en-US" sz="1200" dirty="0"/>
          </a:p>
        </p:txBody>
      </p:sp>
      <p:sp>
        <p:nvSpPr>
          <p:cNvPr id="18" name="Text 16"/>
          <p:cNvSpPr/>
          <p:nvPr/>
        </p:nvSpPr>
        <p:spPr>
          <a:xfrm>
            <a:off x="2651760" y="3310128"/>
            <a:ext cx="315468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Roads, sewer &amp; utilities — lots delivered finished</a:t>
            </a:r>
            <a:endParaRPr lang="en-US" sz="1000" dirty="0"/>
          </a:p>
        </p:txBody>
      </p:sp>
      <p:sp>
        <p:nvSpPr>
          <p:cNvPr id="19" name="Shape 17"/>
          <p:cNvSpPr/>
          <p:nvPr/>
        </p:nvSpPr>
        <p:spPr>
          <a:xfrm>
            <a:off x="6400800" y="1874520"/>
            <a:ext cx="5330952" cy="1847088"/>
          </a:xfrm>
          <a:prstGeom prst="rect">
            <a:avLst/>
          </a:prstGeom>
          <a:solidFill>
            <a:srgbClr val="0B163C"/>
          </a:solidFill>
          <a:ln/>
        </p:spPr>
      </p:sp>
      <p:sp>
        <p:nvSpPr>
          <p:cNvPr id="20" name="Shape 18"/>
          <p:cNvSpPr/>
          <p:nvPr/>
        </p:nvSpPr>
        <p:spPr>
          <a:xfrm>
            <a:off x="6400800" y="1874520"/>
            <a:ext cx="109728" cy="1847088"/>
          </a:xfrm>
          <a:prstGeom prst="rect">
            <a:avLst/>
          </a:prstGeom>
          <a:solidFill>
            <a:srgbClr val="3A243A"/>
          </a:solidFill>
          <a:ln/>
        </p:spPr>
      </p:sp>
      <p:sp>
        <p:nvSpPr>
          <p:cNvPr id="21" name="Text 19"/>
          <p:cNvSpPr/>
          <p:nvPr/>
        </p:nvSpPr>
        <p:spPr>
          <a:xfrm>
            <a:off x="6766560" y="2011680"/>
            <a:ext cx="4937760" cy="274320"/>
          </a:xfrm>
          <a:prstGeom prst="rect">
            <a:avLst/>
          </a:prstGeom>
          <a:noFill/>
          <a:ln/>
        </p:spPr>
        <p:txBody>
          <a:bodyPr wrap="square" lIns="0" tIns="0" rIns="0" bIns="0" rtlCol="0" anchor="ctr"/>
          <a:lstStyle/>
          <a:p>
            <a:pPr algn="l" indent="0" marL="0">
              <a:buNone/>
            </a:pPr>
            <a:r>
              <a:rPr lang="en-US" sz="1000" b="1" spc="400" kern="0" dirty="0">
                <a:solidFill>
                  <a:srgbClr val="C4B8C4"/>
                </a:solidFill>
                <a:latin typeface="Montserrat" pitchFamily="34" charset="0"/>
                <a:ea typeface="Montserrat" pitchFamily="34" charset="-122"/>
                <a:cs typeface="Montserrat" pitchFamily="34" charset="-120"/>
              </a:rPr>
              <a:t>THE PRINCIPLE</a:t>
            </a:r>
            <a:endParaRPr lang="en-US" sz="1000" dirty="0"/>
          </a:p>
        </p:txBody>
      </p:sp>
      <p:sp>
        <p:nvSpPr>
          <p:cNvPr id="22" name="Text 20"/>
          <p:cNvSpPr/>
          <p:nvPr/>
        </p:nvSpPr>
        <p:spPr>
          <a:xfrm>
            <a:off x="6766560" y="2286000"/>
            <a:ext cx="4937760" cy="320040"/>
          </a:xfrm>
          <a:prstGeom prst="rect">
            <a:avLst/>
          </a:prstGeom>
          <a:noFill/>
          <a:ln/>
        </p:spPr>
        <p:txBody>
          <a:bodyPr wrap="square" lIns="0" tIns="0" rIns="0" bIns="0" rtlCol="0" anchor="ctr"/>
          <a:lstStyle/>
          <a:p>
            <a:pPr algn="l" indent="0" marL="0">
              <a:buNone/>
            </a:pPr>
            <a:r>
              <a:rPr lang="en-US" sz="1300" b="1" dirty="0">
                <a:solidFill>
                  <a:srgbClr val="FFFFFF"/>
                </a:solidFill>
                <a:latin typeface="Montserrat" pitchFamily="34" charset="0"/>
                <a:ea typeface="Montserrat" pitchFamily="34" charset="-122"/>
                <a:cs typeface="Montserrat" pitchFamily="34" charset="-120"/>
              </a:rPr>
              <a:t>We control and capture the full lot.</a:t>
            </a:r>
            <a:endParaRPr lang="en-US" sz="1300" dirty="0"/>
          </a:p>
        </p:txBody>
      </p:sp>
      <p:sp>
        <p:nvSpPr>
          <p:cNvPr id="23" name="Text 21"/>
          <p:cNvSpPr/>
          <p:nvPr/>
        </p:nvSpPr>
        <p:spPr>
          <a:xfrm>
            <a:off x="6766560" y="2706624"/>
            <a:ext cx="4937760" cy="914400"/>
          </a:xfrm>
          <a:prstGeom prst="rect">
            <a:avLst/>
          </a:prstGeom>
          <a:noFill/>
          <a:ln/>
        </p:spPr>
        <p:txBody>
          <a:bodyPr wrap="square" lIns="0" tIns="0" rIns="0" bIns="0" rtlCol="0" anchor="t"/>
          <a:lstStyle/>
          <a:p>
            <a:pPr algn="l" indent="0" marL="0">
              <a:lnSpc>
                <a:spcPts val="1400"/>
              </a:lnSpc>
              <a:buNone/>
            </a:pPr>
            <a:r>
              <a:rPr lang="en-US" sz="1050" dirty="0">
                <a:solidFill>
                  <a:srgbClr val="F4F2ED"/>
                </a:solidFill>
                <a:latin typeface="DM Sans" pitchFamily="34" charset="0"/>
                <a:ea typeface="DM Sans" pitchFamily="34" charset="-122"/>
                <a:cs typeface="DM Sans" pitchFamily="34" charset="-120"/>
              </a:rPr>
              <a:t>We fund the roads, sewer and utilities and sell finished lots — capturing the builder's development margin and controlling quality, timing and absorption.</a:t>
            </a:r>
            <a:endParaRPr lang="en-US" sz="1050" dirty="0"/>
          </a:p>
        </p:txBody>
      </p:sp>
      <p:sp>
        <p:nvSpPr>
          <p:cNvPr id="24" name="Shape 22"/>
          <p:cNvSpPr/>
          <p:nvPr/>
        </p:nvSpPr>
        <p:spPr>
          <a:xfrm>
            <a:off x="457200" y="3931920"/>
            <a:ext cx="2743200" cy="365760"/>
          </a:xfrm>
          <a:prstGeom prst="rect">
            <a:avLst/>
          </a:prstGeom>
          <a:solidFill>
            <a:srgbClr val="0B163C"/>
          </a:solidFill>
          <a:ln/>
        </p:spPr>
      </p:sp>
      <p:sp>
        <p:nvSpPr>
          <p:cNvPr id="25" name="Text 23"/>
          <p:cNvSpPr/>
          <p:nvPr/>
        </p:nvSpPr>
        <p:spPr>
          <a:xfrm>
            <a:off x="457200" y="3931920"/>
            <a:ext cx="2743200"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Phase</a:t>
            </a:r>
            <a:endParaRPr lang="en-US" sz="900" dirty="0"/>
          </a:p>
        </p:txBody>
      </p:sp>
      <p:sp>
        <p:nvSpPr>
          <p:cNvPr id="26" name="Shape 24"/>
          <p:cNvSpPr/>
          <p:nvPr/>
        </p:nvSpPr>
        <p:spPr>
          <a:xfrm>
            <a:off x="3200400" y="3931920"/>
            <a:ext cx="3017520" cy="365760"/>
          </a:xfrm>
          <a:prstGeom prst="rect">
            <a:avLst/>
          </a:prstGeom>
          <a:solidFill>
            <a:srgbClr val="0B163C"/>
          </a:solidFill>
          <a:ln/>
        </p:spPr>
      </p:sp>
      <p:sp>
        <p:nvSpPr>
          <p:cNvPr id="27" name="Text 25"/>
          <p:cNvSpPr/>
          <p:nvPr/>
        </p:nvSpPr>
        <p:spPr>
          <a:xfrm>
            <a:off x="3200400" y="3931920"/>
            <a:ext cx="3017520"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Approach</a:t>
            </a:r>
            <a:endParaRPr lang="en-US" sz="900" dirty="0"/>
          </a:p>
        </p:txBody>
      </p:sp>
      <p:sp>
        <p:nvSpPr>
          <p:cNvPr id="28" name="Shape 26"/>
          <p:cNvSpPr/>
          <p:nvPr/>
        </p:nvSpPr>
        <p:spPr>
          <a:xfrm>
            <a:off x="6217920" y="3931920"/>
            <a:ext cx="2011680" cy="365760"/>
          </a:xfrm>
          <a:prstGeom prst="rect">
            <a:avLst/>
          </a:prstGeom>
          <a:solidFill>
            <a:srgbClr val="0B163C"/>
          </a:solidFill>
          <a:ln/>
        </p:spPr>
      </p:sp>
      <p:sp>
        <p:nvSpPr>
          <p:cNvPr id="29" name="Text 27"/>
          <p:cNvSpPr/>
          <p:nvPr/>
        </p:nvSpPr>
        <p:spPr>
          <a:xfrm>
            <a:off x="6217920" y="3931920"/>
            <a:ext cx="2011680" cy="365760"/>
          </a:xfrm>
          <a:prstGeom prst="rect">
            <a:avLst/>
          </a:prstGeom>
          <a:noFill/>
          <a:ln/>
        </p:spPr>
        <p:txBody>
          <a:bodyPr wrap="square" lIns="25400" tIns="76200" rIns="76200" bIns="25400" rtlCol="0" anchor="ctr"/>
          <a:lstStyle/>
          <a:p>
            <a:pPr algn="ctr" indent="0" marL="0">
              <a:buNone/>
            </a:pPr>
            <a:r>
              <a:rPr lang="en-US" sz="900" b="1" dirty="0">
                <a:solidFill>
                  <a:srgbClr val="FFFFFF"/>
                </a:solidFill>
                <a:latin typeface="Montserrat" pitchFamily="34" charset="0"/>
                <a:ea typeface="Montserrat" pitchFamily="34" charset="-122"/>
                <a:cs typeface="Montserrat" pitchFamily="34" charset="-120"/>
              </a:rPr>
              <a:t>Capital</a:t>
            </a:r>
            <a:endParaRPr lang="en-US" sz="900" dirty="0"/>
          </a:p>
        </p:txBody>
      </p:sp>
      <p:sp>
        <p:nvSpPr>
          <p:cNvPr id="30" name="Shape 28"/>
          <p:cNvSpPr/>
          <p:nvPr/>
        </p:nvSpPr>
        <p:spPr>
          <a:xfrm>
            <a:off x="8229600" y="3931920"/>
            <a:ext cx="3502152" cy="365760"/>
          </a:xfrm>
          <a:prstGeom prst="rect">
            <a:avLst/>
          </a:prstGeom>
          <a:solidFill>
            <a:srgbClr val="0B163C"/>
          </a:solidFill>
          <a:ln/>
        </p:spPr>
      </p:sp>
      <p:sp>
        <p:nvSpPr>
          <p:cNvPr id="31" name="Text 29"/>
          <p:cNvSpPr/>
          <p:nvPr/>
        </p:nvSpPr>
        <p:spPr>
          <a:xfrm>
            <a:off x="8229600" y="3931920"/>
            <a:ext cx="3502152"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Who funds</a:t>
            </a:r>
            <a:endParaRPr lang="en-US" sz="900" dirty="0"/>
          </a:p>
        </p:txBody>
      </p:sp>
      <p:sp>
        <p:nvSpPr>
          <p:cNvPr id="32" name="Shape 30"/>
          <p:cNvSpPr/>
          <p:nvPr/>
        </p:nvSpPr>
        <p:spPr>
          <a:xfrm>
            <a:off x="457200" y="4297680"/>
            <a:ext cx="2743200" cy="457200"/>
          </a:xfrm>
          <a:prstGeom prst="rect">
            <a:avLst/>
          </a:prstGeom>
          <a:solidFill>
            <a:srgbClr val="FFFFFF"/>
          </a:solidFill>
          <a:ln/>
        </p:spPr>
      </p:sp>
      <p:sp>
        <p:nvSpPr>
          <p:cNvPr id="33" name="Text 31"/>
          <p:cNvSpPr/>
          <p:nvPr/>
        </p:nvSpPr>
        <p:spPr>
          <a:xfrm>
            <a:off x="457200" y="4297680"/>
            <a:ext cx="2743200" cy="457200"/>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Phase 1 — Entitle</a:t>
            </a:r>
            <a:endParaRPr lang="en-US" sz="1000" dirty="0"/>
          </a:p>
        </p:txBody>
      </p:sp>
      <p:sp>
        <p:nvSpPr>
          <p:cNvPr id="34" name="Shape 32"/>
          <p:cNvSpPr/>
          <p:nvPr/>
        </p:nvSpPr>
        <p:spPr>
          <a:xfrm>
            <a:off x="3200400" y="4297680"/>
            <a:ext cx="3017520" cy="457200"/>
          </a:xfrm>
          <a:prstGeom prst="rect">
            <a:avLst/>
          </a:prstGeom>
          <a:solidFill>
            <a:srgbClr val="FFFFFF"/>
          </a:solidFill>
          <a:ln/>
        </p:spPr>
      </p:sp>
      <p:sp>
        <p:nvSpPr>
          <p:cNvPr id="35" name="Text 33"/>
          <p:cNvSpPr/>
          <p:nvPr/>
        </p:nvSpPr>
        <p:spPr>
          <a:xfrm>
            <a:off x="3200400" y="4297680"/>
            <a:ext cx="3017520" cy="457200"/>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Approvals for lots</a:t>
            </a:r>
            <a:endParaRPr lang="en-US" sz="950" dirty="0"/>
          </a:p>
        </p:txBody>
      </p:sp>
      <p:sp>
        <p:nvSpPr>
          <p:cNvPr id="36" name="Shape 34"/>
          <p:cNvSpPr/>
          <p:nvPr/>
        </p:nvSpPr>
        <p:spPr>
          <a:xfrm>
            <a:off x="6217920" y="4297680"/>
            <a:ext cx="2011680" cy="457200"/>
          </a:xfrm>
          <a:prstGeom prst="rect">
            <a:avLst/>
          </a:prstGeom>
          <a:solidFill>
            <a:srgbClr val="FFFFFF"/>
          </a:solidFill>
          <a:ln/>
        </p:spPr>
      </p:sp>
      <p:sp>
        <p:nvSpPr>
          <p:cNvPr id="37" name="Text 35"/>
          <p:cNvSpPr/>
          <p:nvPr/>
        </p:nvSpPr>
        <p:spPr>
          <a:xfrm>
            <a:off x="6217920" y="4297680"/>
            <a:ext cx="2011680" cy="457200"/>
          </a:xfrm>
          <a:prstGeom prst="rect">
            <a:avLst/>
          </a:prstGeom>
          <a:noFill/>
          <a:ln/>
        </p:spPr>
        <p:txBody>
          <a:bodyPr wrap="square" lIns="25400" tIns="76200" rIns="76200" bIns="25400" rtlCol="0" anchor="ctr"/>
          <a:lstStyle/>
          <a:p>
            <a:pPr algn="ctr" indent="0" marL="0">
              <a:buNone/>
            </a:pPr>
            <a:r>
              <a:rPr lang="en-US" sz="1000" b="1" dirty="0">
                <a:solidFill>
                  <a:srgbClr val="3A243A"/>
                </a:solidFill>
                <a:latin typeface="Montserrat" pitchFamily="34" charset="0"/>
                <a:ea typeface="Montserrat" pitchFamily="34" charset="-122"/>
                <a:cs typeface="Montserrat" pitchFamily="34" charset="-120"/>
              </a:rPr>
              <a:t>$1–3M</a:t>
            </a:r>
            <a:endParaRPr lang="en-US" sz="1000" dirty="0"/>
          </a:p>
        </p:txBody>
      </p:sp>
      <p:sp>
        <p:nvSpPr>
          <p:cNvPr id="38" name="Shape 36"/>
          <p:cNvSpPr/>
          <p:nvPr/>
        </p:nvSpPr>
        <p:spPr>
          <a:xfrm>
            <a:off x="8229600" y="4297680"/>
            <a:ext cx="3502152" cy="457200"/>
          </a:xfrm>
          <a:prstGeom prst="rect">
            <a:avLst/>
          </a:prstGeom>
          <a:solidFill>
            <a:srgbClr val="FFFFFF"/>
          </a:solidFill>
          <a:ln/>
        </p:spPr>
      </p:sp>
      <p:sp>
        <p:nvSpPr>
          <p:cNvPr id="39" name="Text 37"/>
          <p:cNvSpPr/>
          <p:nvPr/>
        </p:nvSpPr>
        <p:spPr>
          <a:xfrm>
            <a:off x="8229600" y="4297680"/>
            <a:ext cx="3502152" cy="457200"/>
          </a:xfrm>
          <a:prstGeom prst="rect">
            <a:avLst/>
          </a:prstGeom>
          <a:noFill/>
          <a:ln/>
        </p:spPr>
        <p:txBody>
          <a:bodyPr wrap="square" lIns="25400" tIns="76200" rIns="76200" bIns="25400" rtlCol="0" anchor="ctr"/>
          <a:lstStyle/>
          <a:p>
            <a:pPr algn="l" indent="0" marL="0">
              <a:buNone/>
            </a:pPr>
            <a:r>
              <a:rPr lang="en-US" sz="900" dirty="0">
                <a:solidFill>
                  <a:srgbClr val="6B5A6B"/>
                </a:solidFill>
                <a:latin typeface="DM Sans" pitchFamily="34" charset="0"/>
                <a:ea typeface="DM Sans" pitchFamily="34" charset="-122"/>
                <a:cs typeface="DM Sans" pitchFamily="34" charset="-120"/>
              </a:rPr>
              <a:t>JAL + H6 (soft costs, light)</a:t>
            </a:r>
            <a:endParaRPr lang="en-US" sz="900" dirty="0"/>
          </a:p>
        </p:txBody>
      </p:sp>
      <p:sp>
        <p:nvSpPr>
          <p:cNvPr id="40" name="Shape 38"/>
          <p:cNvSpPr/>
          <p:nvPr/>
        </p:nvSpPr>
        <p:spPr>
          <a:xfrm>
            <a:off x="457200" y="4754880"/>
            <a:ext cx="2743200" cy="457200"/>
          </a:xfrm>
          <a:prstGeom prst="rect">
            <a:avLst/>
          </a:prstGeom>
          <a:solidFill>
            <a:srgbClr val="F4F2ED"/>
          </a:solidFill>
          <a:ln/>
        </p:spPr>
      </p:sp>
      <p:sp>
        <p:nvSpPr>
          <p:cNvPr id="41" name="Text 39"/>
          <p:cNvSpPr/>
          <p:nvPr/>
        </p:nvSpPr>
        <p:spPr>
          <a:xfrm>
            <a:off x="457200" y="4754880"/>
            <a:ext cx="2743200" cy="457200"/>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Phase 2 — Develop</a:t>
            </a:r>
            <a:endParaRPr lang="en-US" sz="1000" dirty="0"/>
          </a:p>
        </p:txBody>
      </p:sp>
      <p:sp>
        <p:nvSpPr>
          <p:cNvPr id="42" name="Shape 40"/>
          <p:cNvSpPr/>
          <p:nvPr/>
        </p:nvSpPr>
        <p:spPr>
          <a:xfrm>
            <a:off x="3200400" y="4754880"/>
            <a:ext cx="3017520" cy="457200"/>
          </a:xfrm>
          <a:prstGeom prst="rect">
            <a:avLst/>
          </a:prstGeom>
          <a:solidFill>
            <a:srgbClr val="F4F2ED"/>
          </a:solidFill>
          <a:ln/>
        </p:spPr>
      </p:sp>
      <p:sp>
        <p:nvSpPr>
          <p:cNvPr id="43" name="Text 41"/>
          <p:cNvSpPr/>
          <p:nvPr/>
        </p:nvSpPr>
        <p:spPr>
          <a:xfrm>
            <a:off x="3200400" y="4754880"/>
            <a:ext cx="3017520" cy="457200"/>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Roads, sewer &amp; utilities</a:t>
            </a:r>
            <a:endParaRPr lang="en-US" sz="950" dirty="0"/>
          </a:p>
        </p:txBody>
      </p:sp>
      <p:sp>
        <p:nvSpPr>
          <p:cNvPr id="44" name="Shape 42"/>
          <p:cNvSpPr/>
          <p:nvPr/>
        </p:nvSpPr>
        <p:spPr>
          <a:xfrm>
            <a:off x="6217920" y="4754880"/>
            <a:ext cx="2011680" cy="457200"/>
          </a:xfrm>
          <a:prstGeom prst="rect">
            <a:avLst/>
          </a:prstGeom>
          <a:solidFill>
            <a:srgbClr val="F4F2ED"/>
          </a:solidFill>
          <a:ln/>
        </p:spPr>
      </p:sp>
      <p:sp>
        <p:nvSpPr>
          <p:cNvPr id="45" name="Text 43"/>
          <p:cNvSpPr/>
          <p:nvPr/>
        </p:nvSpPr>
        <p:spPr>
          <a:xfrm>
            <a:off x="6217920" y="4754880"/>
            <a:ext cx="2011680" cy="457200"/>
          </a:xfrm>
          <a:prstGeom prst="rect">
            <a:avLst/>
          </a:prstGeom>
          <a:noFill/>
          <a:ln/>
        </p:spPr>
        <p:txBody>
          <a:bodyPr wrap="square" lIns="25400" tIns="76200" rIns="76200" bIns="25400" rtlCol="0" anchor="ctr"/>
          <a:lstStyle/>
          <a:p>
            <a:pPr algn="ctr" indent="0" marL="0">
              <a:buNone/>
            </a:pPr>
            <a:r>
              <a:rPr lang="en-US" sz="1000" b="1" dirty="0">
                <a:solidFill>
                  <a:srgbClr val="3A243A"/>
                </a:solidFill>
                <a:latin typeface="Montserrat" pitchFamily="34" charset="0"/>
                <a:ea typeface="Montserrat" pitchFamily="34" charset="-122"/>
                <a:cs typeface="Montserrat" pitchFamily="34" charset="-120"/>
              </a:rPr>
              <a:t>~$16.8M</a:t>
            </a:r>
            <a:endParaRPr lang="en-US" sz="1000" dirty="0"/>
          </a:p>
        </p:txBody>
      </p:sp>
      <p:sp>
        <p:nvSpPr>
          <p:cNvPr id="46" name="Shape 44"/>
          <p:cNvSpPr/>
          <p:nvPr/>
        </p:nvSpPr>
        <p:spPr>
          <a:xfrm>
            <a:off x="8229600" y="4754880"/>
            <a:ext cx="3502152" cy="457200"/>
          </a:xfrm>
          <a:prstGeom prst="rect">
            <a:avLst/>
          </a:prstGeom>
          <a:solidFill>
            <a:srgbClr val="F4F2ED"/>
          </a:solidFill>
          <a:ln/>
        </p:spPr>
      </p:sp>
      <p:sp>
        <p:nvSpPr>
          <p:cNvPr id="47" name="Text 45"/>
          <p:cNvSpPr/>
          <p:nvPr/>
        </p:nvSpPr>
        <p:spPr>
          <a:xfrm>
            <a:off x="8229600" y="4754880"/>
            <a:ext cx="3502152" cy="457200"/>
          </a:xfrm>
          <a:prstGeom prst="rect">
            <a:avLst/>
          </a:prstGeom>
          <a:noFill/>
          <a:ln/>
        </p:spPr>
        <p:txBody>
          <a:bodyPr wrap="square" lIns="25400" tIns="76200" rIns="76200" bIns="25400" rtlCol="0" anchor="ctr"/>
          <a:lstStyle/>
          <a:p>
            <a:pPr algn="l" indent="0" marL="0">
              <a:buNone/>
            </a:pPr>
            <a:r>
              <a:rPr lang="en-US" sz="900" dirty="0">
                <a:solidFill>
                  <a:srgbClr val="6B5A6B"/>
                </a:solidFill>
                <a:latin typeface="DM Sans" pitchFamily="34" charset="0"/>
                <a:ea typeface="DM Sans" pitchFamily="34" charset="-122"/>
                <a:cs typeface="DM Sans" pitchFamily="34" charset="-120"/>
              </a:rPr>
              <a:t>Development loan + equity (we fund)</a:t>
            </a:r>
            <a:endParaRPr lang="en-US" sz="900" dirty="0"/>
          </a:p>
        </p:txBody>
      </p:sp>
      <p:sp>
        <p:nvSpPr>
          <p:cNvPr id="48" name="Shape 46"/>
          <p:cNvSpPr/>
          <p:nvPr/>
        </p:nvSpPr>
        <p:spPr>
          <a:xfrm>
            <a:off x="457200" y="5212080"/>
            <a:ext cx="2743200" cy="457200"/>
          </a:xfrm>
          <a:prstGeom prst="rect">
            <a:avLst/>
          </a:prstGeom>
          <a:solidFill>
            <a:srgbClr val="FFFFFF"/>
          </a:solidFill>
          <a:ln/>
        </p:spPr>
      </p:sp>
      <p:sp>
        <p:nvSpPr>
          <p:cNvPr id="49" name="Text 47"/>
          <p:cNvSpPr/>
          <p:nvPr/>
        </p:nvSpPr>
        <p:spPr>
          <a:xfrm>
            <a:off x="457200" y="5212080"/>
            <a:ext cx="2743200" cy="457200"/>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Phase 3 — Deliver</a:t>
            </a:r>
            <a:endParaRPr lang="en-US" sz="1000" dirty="0"/>
          </a:p>
        </p:txBody>
      </p:sp>
      <p:sp>
        <p:nvSpPr>
          <p:cNvPr id="50" name="Shape 48"/>
          <p:cNvSpPr/>
          <p:nvPr/>
        </p:nvSpPr>
        <p:spPr>
          <a:xfrm>
            <a:off x="3200400" y="5212080"/>
            <a:ext cx="3017520" cy="457200"/>
          </a:xfrm>
          <a:prstGeom prst="rect">
            <a:avLst/>
          </a:prstGeom>
          <a:solidFill>
            <a:srgbClr val="FFFFFF"/>
          </a:solidFill>
          <a:ln/>
        </p:spPr>
      </p:sp>
      <p:sp>
        <p:nvSpPr>
          <p:cNvPr id="51" name="Text 49"/>
          <p:cNvSpPr/>
          <p:nvPr/>
        </p:nvSpPr>
        <p:spPr>
          <a:xfrm>
            <a:off x="3200400" y="5212080"/>
            <a:ext cx="3017520" cy="457200"/>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Sell finished lots</a:t>
            </a:r>
            <a:endParaRPr lang="en-US" sz="950" dirty="0"/>
          </a:p>
        </p:txBody>
      </p:sp>
      <p:sp>
        <p:nvSpPr>
          <p:cNvPr id="52" name="Shape 50"/>
          <p:cNvSpPr/>
          <p:nvPr/>
        </p:nvSpPr>
        <p:spPr>
          <a:xfrm>
            <a:off x="6217920" y="5212080"/>
            <a:ext cx="2011680" cy="457200"/>
          </a:xfrm>
          <a:prstGeom prst="rect">
            <a:avLst/>
          </a:prstGeom>
          <a:solidFill>
            <a:srgbClr val="FFFFFF"/>
          </a:solidFill>
          <a:ln/>
        </p:spPr>
      </p:sp>
      <p:sp>
        <p:nvSpPr>
          <p:cNvPr id="53" name="Text 51"/>
          <p:cNvSpPr/>
          <p:nvPr/>
        </p:nvSpPr>
        <p:spPr>
          <a:xfrm>
            <a:off x="6217920" y="5212080"/>
            <a:ext cx="2011680" cy="457200"/>
          </a:xfrm>
          <a:prstGeom prst="rect">
            <a:avLst/>
          </a:prstGeom>
          <a:noFill/>
          <a:ln/>
        </p:spPr>
        <p:txBody>
          <a:bodyPr wrap="square" lIns="25400" tIns="76200" rIns="76200" bIns="25400" rtlCol="0" anchor="ctr"/>
          <a:lstStyle/>
          <a:p>
            <a:pPr algn="ctr" indent="0" marL="0">
              <a:buNone/>
            </a:pPr>
            <a:r>
              <a:rPr lang="en-US" sz="1000" b="1" dirty="0">
                <a:solidFill>
                  <a:srgbClr val="3A243A"/>
                </a:solidFill>
                <a:latin typeface="Montserrat" pitchFamily="34" charset="0"/>
                <a:ea typeface="Montserrat" pitchFamily="34" charset="-122"/>
                <a:cs typeface="Montserrat" pitchFamily="34" charset="-120"/>
              </a:rPr>
              <a:t>Self-funding</a:t>
            </a:r>
            <a:endParaRPr lang="en-US" sz="1000" dirty="0"/>
          </a:p>
        </p:txBody>
      </p:sp>
      <p:sp>
        <p:nvSpPr>
          <p:cNvPr id="54" name="Shape 52"/>
          <p:cNvSpPr/>
          <p:nvPr/>
        </p:nvSpPr>
        <p:spPr>
          <a:xfrm>
            <a:off x="8229600" y="5212080"/>
            <a:ext cx="3502152" cy="457200"/>
          </a:xfrm>
          <a:prstGeom prst="rect">
            <a:avLst/>
          </a:prstGeom>
          <a:solidFill>
            <a:srgbClr val="FFFFFF"/>
          </a:solidFill>
          <a:ln/>
        </p:spPr>
      </p:sp>
      <p:sp>
        <p:nvSpPr>
          <p:cNvPr id="55" name="Text 53"/>
          <p:cNvSpPr/>
          <p:nvPr/>
        </p:nvSpPr>
        <p:spPr>
          <a:xfrm>
            <a:off x="8229600" y="5212080"/>
            <a:ext cx="3502152" cy="457200"/>
          </a:xfrm>
          <a:prstGeom prst="rect">
            <a:avLst/>
          </a:prstGeom>
          <a:noFill/>
          <a:ln/>
        </p:spPr>
        <p:txBody>
          <a:bodyPr wrap="square" lIns="25400" tIns="76200" rIns="76200" bIns="25400" rtlCol="0" anchor="ctr"/>
          <a:lstStyle/>
          <a:p>
            <a:pPr algn="l" indent="0" marL="0">
              <a:buNone/>
            </a:pPr>
            <a:r>
              <a:rPr lang="en-US" sz="900" dirty="0">
                <a:solidFill>
                  <a:srgbClr val="6B5A6B"/>
                </a:solidFill>
                <a:latin typeface="DM Sans" pitchFamily="34" charset="0"/>
                <a:ea typeface="DM Sans" pitchFamily="34" charset="-122"/>
                <a:cs typeface="DM Sans" pitchFamily="34" charset="-120"/>
              </a:rPr>
              <a:t>Builders build homes; proceeds recycle</a:t>
            </a:r>
            <a:endParaRPr lang="en-US" sz="900" dirty="0"/>
          </a:p>
        </p:txBody>
      </p:sp>
      <p:sp>
        <p:nvSpPr>
          <p:cNvPr id="56" name="Shape 54"/>
          <p:cNvSpPr/>
          <p:nvPr/>
        </p:nvSpPr>
        <p:spPr>
          <a:xfrm>
            <a:off x="457200" y="5943600"/>
            <a:ext cx="11274552" cy="420624"/>
          </a:xfrm>
          <a:prstGeom prst="rect">
            <a:avLst/>
          </a:prstGeom>
          <a:solidFill>
            <a:srgbClr val="3A243A"/>
          </a:solidFill>
          <a:ln/>
        </p:spPr>
      </p:sp>
      <p:sp>
        <p:nvSpPr>
          <p:cNvPr id="57" name="Text 55"/>
          <p:cNvSpPr/>
          <p:nvPr/>
        </p:nvSpPr>
        <p:spPr>
          <a:xfrm>
            <a:off x="640080" y="5943600"/>
            <a:ext cx="10908792" cy="420624"/>
          </a:xfrm>
          <a:prstGeom prst="rect">
            <a:avLst/>
          </a:prstGeom>
          <a:noFill/>
          <a:ln/>
        </p:spPr>
        <p:txBody>
          <a:bodyPr wrap="square" lIns="0" tIns="0" rIns="0" bIns="0" rtlCol="0" anchor="ctr"/>
          <a:lstStyle/>
          <a:p>
            <a:pPr algn="ctr" indent="0" marL="0">
              <a:buNone/>
            </a:pPr>
            <a:r>
              <a:rPr lang="en-US" sz="1100" b="1" dirty="0">
                <a:solidFill>
                  <a:srgbClr val="FFFFFF"/>
                </a:solidFill>
                <a:latin typeface="DM Sans" pitchFamily="34" charset="0"/>
                <a:ea typeface="DM Sans" pitchFamily="34" charset="-122"/>
                <a:cs typeface="DM Sans" pitchFamily="34" charset="-120"/>
              </a:rPr>
              <a:t>We carry the development to finished lots — capturing the builder's margin and controlling quality, timing &amp; absorption.</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10 / 20</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PRO FORMA  ·  ILLUSTRATIVE</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The budget, and the returns.</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A finished-lot development: Capital H6 contributes the land, a development loan plus equity funds the horizontal, and we sell ~280 finished lots to homebuilders. Illustrative — for discussion.</a:t>
            </a:r>
            <a:endParaRPr lang="en-US" sz="1300" dirty="0"/>
          </a:p>
        </p:txBody>
      </p:sp>
      <p:sp>
        <p:nvSpPr>
          <p:cNvPr id="11" name="Shape 9"/>
          <p:cNvSpPr/>
          <p:nvPr/>
        </p:nvSpPr>
        <p:spPr>
          <a:xfrm>
            <a:off x="457200" y="1828800"/>
            <a:ext cx="3611880" cy="365760"/>
          </a:xfrm>
          <a:prstGeom prst="rect">
            <a:avLst/>
          </a:prstGeom>
          <a:solidFill>
            <a:srgbClr val="0B163C"/>
          </a:solidFill>
          <a:ln/>
        </p:spPr>
      </p:sp>
      <p:sp>
        <p:nvSpPr>
          <p:cNvPr id="12" name="Text 10"/>
          <p:cNvSpPr/>
          <p:nvPr/>
        </p:nvSpPr>
        <p:spPr>
          <a:xfrm>
            <a:off x="457200" y="1828800"/>
            <a:ext cx="3611880"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USES OF CAPITAL</a:t>
            </a:r>
            <a:endParaRPr lang="en-US" sz="900" dirty="0"/>
          </a:p>
        </p:txBody>
      </p:sp>
      <p:sp>
        <p:nvSpPr>
          <p:cNvPr id="13" name="Shape 11"/>
          <p:cNvSpPr/>
          <p:nvPr/>
        </p:nvSpPr>
        <p:spPr>
          <a:xfrm>
            <a:off x="4069080" y="1828800"/>
            <a:ext cx="1417320" cy="365760"/>
          </a:xfrm>
          <a:prstGeom prst="rect">
            <a:avLst/>
          </a:prstGeom>
          <a:solidFill>
            <a:srgbClr val="0B163C"/>
          </a:solidFill>
          <a:ln/>
        </p:spPr>
      </p:sp>
      <p:sp>
        <p:nvSpPr>
          <p:cNvPr id="14" name="Text 12"/>
          <p:cNvSpPr/>
          <p:nvPr/>
        </p:nvSpPr>
        <p:spPr>
          <a:xfrm>
            <a:off x="4069080" y="1828800"/>
            <a:ext cx="1417320" cy="365760"/>
          </a:xfrm>
          <a:prstGeom prst="rect">
            <a:avLst/>
          </a:prstGeom>
          <a:noFill/>
          <a:ln/>
        </p:spPr>
        <p:txBody>
          <a:bodyPr wrap="square" lIns="25400" tIns="76200" rIns="76200" bIns="25400" rtlCol="0" anchor="ctr"/>
          <a:lstStyle/>
          <a:p>
            <a:pPr algn="r" indent="0" marL="0">
              <a:buNone/>
            </a:pPr>
            <a:endParaRPr lang="en-US" sz="900" dirty="0"/>
          </a:p>
        </p:txBody>
      </p:sp>
      <p:sp>
        <p:nvSpPr>
          <p:cNvPr id="15" name="Shape 13"/>
          <p:cNvSpPr/>
          <p:nvPr/>
        </p:nvSpPr>
        <p:spPr>
          <a:xfrm>
            <a:off x="457200" y="2194560"/>
            <a:ext cx="3611880" cy="438912"/>
          </a:xfrm>
          <a:prstGeom prst="rect">
            <a:avLst/>
          </a:prstGeom>
          <a:solidFill>
            <a:srgbClr val="FFFFFF"/>
          </a:solidFill>
          <a:ln/>
        </p:spPr>
      </p:sp>
      <p:sp>
        <p:nvSpPr>
          <p:cNvPr id="16" name="Text 14"/>
          <p:cNvSpPr/>
          <p:nvPr/>
        </p:nvSpPr>
        <p:spPr>
          <a:xfrm>
            <a:off x="457200" y="2194560"/>
            <a:ext cx="361188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Land contribution (~140 dev. ac)</a:t>
            </a:r>
            <a:endParaRPr lang="en-US" sz="950" dirty="0"/>
          </a:p>
        </p:txBody>
      </p:sp>
      <p:sp>
        <p:nvSpPr>
          <p:cNvPr id="17" name="Shape 15"/>
          <p:cNvSpPr/>
          <p:nvPr/>
        </p:nvSpPr>
        <p:spPr>
          <a:xfrm>
            <a:off x="4069080" y="2194560"/>
            <a:ext cx="1417320" cy="438912"/>
          </a:xfrm>
          <a:prstGeom prst="rect">
            <a:avLst/>
          </a:prstGeom>
          <a:solidFill>
            <a:srgbClr val="FFFFFF"/>
          </a:solidFill>
          <a:ln/>
        </p:spPr>
      </p:sp>
      <p:sp>
        <p:nvSpPr>
          <p:cNvPr id="18" name="Text 16"/>
          <p:cNvSpPr/>
          <p:nvPr/>
        </p:nvSpPr>
        <p:spPr>
          <a:xfrm>
            <a:off x="4069080" y="2194560"/>
            <a:ext cx="1417320" cy="438912"/>
          </a:xfrm>
          <a:prstGeom prst="rect">
            <a:avLst/>
          </a:prstGeom>
          <a:noFill/>
          <a:ln/>
        </p:spPr>
        <p:txBody>
          <a:bodyPr wrap="square" lIns="25400" tIns="76200" rIns="76200" bIns="25400" rtlCol="0" anchor="ctr"/>
          <a:lstStyle/>
          <a:p>
            <a:pPr algn="r" indent="0" marL="0">
              <a:buNone/>
            </a:pPr>
            <a:r>
              <a:rPr lang="en-US" sz="950" b="1" dirty="0">
                <a:solidFill>
                  <a:srgbClr val="0B163C"/>
                </a:solidFill>
                <a:latin typeface="Montserrat" pitchFamily="34" charset="0"/>
                <a:ea typeface="Montserrat" pitchFamily="34" charset="-122"/>
                <a:cs typeface="Montserrat" pitchFamily="34" charset="-120"/>
              </a:rPr>
              <a:t>$4.0M</a:t>
            </a:r>
            <a:endParaRPr lang="en-US" sz="950" dirty="0"/>
          </a:p>
        </p:txBody>
      </p:sp>
      <p:sp>
        <p:nvSpPr>
          <p:cNvPr id="19" name="Shape 17"/>
          <p:cNvSpPr/>
          <p:nvPr/>
        </p:nvSpPr>
        <p:spPr>
          <a:xfrm>
            <a:off x="457200" y="2633472"/>
            <a:ext cx="3611880" cy="438912"/>
          </a:xfrm>
          <a:prstGeom prst="rect">
            <a:avLst/>
          </a:prstGeom>
          <a:solidFill>
            <a:srgbClr val="F4F2ED"/>
          </a:solidFill>
          <a:ln/>
        </p:spPr>
      </p:sp>
      <p:sp>
        <p:nvSpPr>
          <p:cNvPr id="20" name="Text 18"/>
          <p:cNvSpPr/>
          <p:nvPr/>
        </p:nvSpPr>
        <p:spPr>
          <a:xfrm>
            <a:off x="457200" y="2633472"/>
            <a:ext cx="361188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Horizontal site development ($60K/lot)</a:t>
            </a:r>
            <a:endParaRPr lang="en-US" sz="950" dirty="0"/>
          </a:p>
        </p:txBody>
      </p:sp>
      <p:sp>
        <p:nvSpPr>
          <p:cNvPr id="21" name="Shape 19"/>
          <p:cNvSpPr/>
          <p:nvPr/>
        </p:nvSpPr>
        <p:spPr>
          <a:xfrm>
            <a:off x="4069080" y="2633472"/>
            <a:ext cx="1417320" cy="438912"/>
          </a:xfrm>
          <a:prstGeom prst="rect">
            <a:avLst/>
          </a:prstGeom>
          <a:solidFill>
            <a:srgbClr val="F4F2ED"/>
          </a:solidFill>
          <a:ln/>
        </p:spPr>
      </p:sp>
      <p:sp>
        <p:nvSpPr>
          <p:cNvPr id="22" name="Text 20"/>
          <p:cNvSpPr/>
          <p:nvPr/>
        </p:nvSpPr>
        <p:spPr>
          <a:xfrm>
            <a:off x="4069080" y="2633472"/>
            <a:ext cx="1417320" cy="438912"/>
          </a:xfrm>
          <a:prstGeom prst="rect">
            <a:avLst/>
          </a:prstGeom>
          <a:noFill/>
          <a:ln/>
        </p:spPr>
        <p:txBody>
          <a:bodyPr wrap="square" lIns="25400" tIns="76200" rIns="76200" bIns="25400" rtlCol="0" anchor="ctr"/>
          <a:lstStyle/>
          <a:p>
            <a:pPr algn="r" indent="0" marL="0">
              <a:buNone/>
            </a:pPr>
            <a:r>
              <a:rPr lang="en-US" sz="950" b="1" dirty="0">
                <a:solidFill>
                  <a:srgbClr val="0B163C"/>
                </a:solidFill>
                <a:latin typeface="Montserrat" pitchFamily="34" charset="0"/>
                <a:ea typeface="Montserrat" pitchFamily="34" charset="-122"/>
                <a:cs typeface="Montserrat" pitchFamily="34" charset="-120"/>
              </a:rPr>
              <a:t>$16.8M</a:t>
            </a:r>
            <a:endParaRPr lang="en-US" sz="950" dirty="0"/>
          </a:p>
        </p:txBody>
      </p:sp>
      <p:sp>
        <p:nvSpPr>
          <p:cNvPr id="23" name="Shape 21"/>
          <p:cNvSpPr/>
          <p:nvPr/>
        </p:nvSpPr>
        <p:spPr>
          <a:xfrm>
            <a:off x="457200" y="3072384"/>
            <a:ext cx="3611880" cy="438912"/>
          </a:xfrm>
          <a:prstGeom prst="rect">
            <a:avLst/>
          </a:prstGeom>
          <a:solidFill>
            <a:srgbClr val="FFFFFF"/>
          </a:solidFill>
          <a:ln/>
        </p:spPr>
      </p:sp>
      <p:sp>
        <p:nvSpPr>
          <p:cNvPr id="24" name="Text 22"/>
          <p:cNvSpPr/>
          <p:nvPr/>
        </p:nvSpPr>
        <p:spPr>
          <a:xfrm>
            <a:off x="457200" y="3072384"/>
            <a:ext cx="361188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Soft costs (entitle, civil, env, legal)</a:t>
            </a:r>
            <a:endParaRPr lang="en-US" sz="950" dirty="0"/>
          </a:p>
        </p:txBody>
      </p:sp>
      <p:sp>
        <p:nvSpPr>
          <p:cNvPr id="25" name="Shape 23"/>
          <p:cNvSpPr/>
          <p:nvPr/>
        </p:nvSpPr>
        <p:spPr>
          <a:xfrm>
            <a:off x="4069080" y="3072384"/>
            <a:ext cx="1417320" cy="438912"/>
          </a:xfrm>
          <a:prstGeom prst="rect">
            <a:avLst/>
          </a:prstGeom>
          <a:solidFill>
            <a:srgbClr val="FFFFFF"/>
          </a:solidFill>
          <a:ln/>
        </p:spPr>
      </p:sp>
      <p:sp>
        <p:nvSpPr>
          <p:cNvPr id="26" name="Text 24"/>
          <p:cNvSpPr/>
          <p:nvPr/>
        </p:nvSpPr>
        <p:spPr>
          <a:xfrm>
            <a:off x="4069080" y="3072384"/>
            <a:ext cx="1417320" cy="438912"/>
          </a:xfrm>
          <a:prstGeom prst="rect">
            <a:avLst/>
          </a:prstGeom>
          <a:noFill/>
          <a:ln/>
        </p:spPr>
        <p:txBody>
          <a:bodyPr wrap="square" lIns="25400" tIns="76200" rIns="76200" bIns="25400" rtlCol="0" anchor="ctr"/>
          <a:lstStyle/>
          <a:p>
            <a:pPr algn="r" indent="0" marL="0">
              <a:buNone/>
            </a:pPr>
            <a:r>
              <a:rPr lang="en-US" sz="950" b="1" dirty="0">
                <a:solidFill>
                  <a:srgbClr val="0B163C"/>
                </a:solidFill>
                <a:latin typeface="Montserrat" pitchFamily="34" charset="0"/>
                <a:ea typeface="Montserrat" pitchFamily="34" charset="-122"/>
                <a:cs typeface="Montserrat" pitchFamily="34" charset="-120"/>
              </a:rPr>
              <a:t>$2.8M</a:t>
            </a:r>
            <a:endParaRPr lang="en-US" sz="950" dirty="0"/>
          </a:p>
        </p:txBody>
      </p:sp>
      <p:sp>
        <p:nvSpPr>
          <p:cNvPr id="27" name="Shape 25"/>
          <p:cNvSpPr/>
          <p:nvPr/>
        </p:nvSpPr>
        <p:spPr>
          <a:xfrm>
            <a:off x="457200" y="3511296"/>
            <a:ext cx="3611880" cy="438912"/>
          </a:xfrm>
          <a:prstGeom prst="rect">
            <a:avLst/>
          </a:prstGeom>
          <a:solidFill>
            <a:srgbClr val="F4F2ED"/>
          </a:solidFill>
          <a:ln/>
        </p:spPr>
      </p:sp>
      <p:sp>
        <p:nvSpPr>
          <p:cNvPr id="28" name="Text 26"/>
          <p:cNvSpPr/>
          <p:nvPr/>
        </p:nvSpPr>
        <p:spPr>
          <a:xfrm>
            <a:off x="457200" y="3511296"/>
            <a:ext cx="361188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Marketing &amp; brokerage (~3%)</a:t>
            </a:r>
            <a:endParaRPr lang="en-US" sz="950" dirty="0"/>
          </a:p>
        </p:txBody>
      </p:sp>
      <p:sp>
        <p:nvSpPr>
          <p:cNvPr id="29" name="Shape 27"/>
          <p:cNvSpPr/>
          <p:nvPr/>
        </p:nvSpPr>
        <p:spPr>
          <a:xfrm>
            <a:off x="4069080" y="3511296"/>
            <a:ext cx="1417320" cy="438912"/>
          </a:xfrm>
          <a:prstGeom prst="rect">
            <a:avLst/>
          </a:prstGeom>
          <a:solidFill>
            <a:srgbClr val="F4F2ED"/>
          </a:solidFill>
          <a:ln/>
        </p:spPr>
      </p:sp>
      <p:sp>
        <p:nvSpPr>
          <p:cNvPr id="30" name="Text 28"/>
          <p:cNvSpPr/>
          <p:nvPr/>
        </p:nvSpPr>
        <p:spPr>
          <a:xfrm>
            <a:off x="4069080" y="3511296"/>
            <a:ext cx="1417320" cy="438912"/>
          </a:xfrm>
          <a:prstGeom prst="rect">
            <a:avLst/>
          </a:prstGeom>
          <a:noFill/>
          <a:ln/>
        </p:spPr>
        <p:txBody>
          <a:bodyPr wrap="square" lIns="25400" tIns="76200" rIns="76200" bIns="25400" rtlCol="0" anchor="ctr"/>
          <a:lstStyle/>
          <a:p>
            <a:pPr algn="r" indent="0" marL="0">
              <a:buNone/>
            </a:pPr>
            <a:r>
              <a:rPr lang="en-US" sz="950" b="1" dirty="0">
                <a:solidFill>
                  <a:srgbClr val="0B163C"/>
                </a:solidFill>
                <a:latin typeface="Montserrat" pitchFamily="34" charset="0"/>
                <a:ea typeface="Montserrat" pitchFamily="34" charset="-122"/>
                <a:cs typeface="Montserrat" pitchFamily="34" charset="-120"/>
              </a:rPr>
              <a:t>$1.3M</a:t>
            </a:r>
            <a:endParaRPr lang="en-US" sz="950" dirty="0"/>
          </a:p>
        </p:txBody>
      </p:sp>
      <p:sp>
        <p:nvSpPr>
          <p:cNvPr id="31" name="Shape 29"/>
          <p:cNvSpPr/>
          <p:nvPr/>
        </p:nvSpPr>
        <p:spPr>
          <a:xfrm>
            <a:off x="457200" y="3950208"/>
            <a:ext cx="3611880" cy="438912"/>
          </a:xfrm>
          <a:prstGeom prst="rect">
            <a:avLst/>
          </a:prstGeom>
          <a:solidFill>
            <a:srgbClr val="FFFFFF"/>
          </a:solidFill>
          <a:ln/>
        </p:spPr>
      </p:sp>
      <p:sp>
        <p:nvSpPr>
          <p:cNvPr id="32" name="Text 30"/>
          <p:cNvSpPr/>
          <p:nvPr/>
        </p:nvSpPr>
        <p:spPr>
          <a:xfrm>
            <a:off x="457200" y="3950208"/>
            <a:ext cx="361188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Contingency (7% of hard)</a:t>
            </a:r>
            <a:endParaRPr lang="en-US" sz="950" dirty="0"/>
          </a:p>
        </p:txBody>
      </p:sp>
      <p:sp>
        <p:nvSpPr>
          <p:cNvPr id="33" name="Shape 31"/>
          <p:cNvSpPr/>
          <p:nvPr/>
        </p:nvSpPr>
        <p:spPr>
          <a:xfrm>
            <a:off x="4069080" y="3950208"/>
            <a:ext cx="1417320" cy="438912"/>
          </a:xfrm>
          <a:prstGeom prst="rect">
            <a:avLst/>
          </a:prstGeom>
          <a:solidFill>
            <a:srgbClr val="FFFFFF"/>
          </a:solidFill>
          <a:ln/>
        </p:spPr>
      </p:sp>
      <p:sp>
        <p:nvSpPr>
          <p:cNvPr id="34" name="Text 32"/>
          <p:cNvSpPr/>
          <p:nvPr/>
        </p:nvSpPr>
        <p:spPr>
          <a:xfrm>
            <a:off x="4069080" y="3950208"/>
            <a:ext cx="1417320" cy="438912"/>
          </a:xfrm>
          <a:prstGeom prst="rect">
            <a:avLst/>
          </a:prstGeom>
          <a:noFill/>
          <a:ln/>
        </p:spPr>
        <p:txBody>
          <a:bodyPr wrap="square" lIns="25400" tIns="76200" rIns="76200" bIns="25400" rtlCol="0" anchor="ctr"/>
          <a:lstStyle/>
          <a:p>
            <a:pPr algn="r" indent="0" marL="0">
              <a:buNone/>
            </a:pPr>
            <a:r>
              <a:rPr lang="en-US" sz="950" b="1" dirty="0">
                <a:solidFill>
                  <a:srgbClr val="0B163C"/>
                </a:solidFill>
                <a:latin typeface="Montserrat" pitchFamily="34" charset="0"/>
                <a:ea typeface="Montserrat" pitchFamily="34" charset="-122"/>
                <a:cs typeface="Montserrat" pitchFamily="34" charset="-120"/>
              </a:rPr>
              <a:t>$1.2M</a:t>
            </a:r>
            <a:endParaRPr lang="en-US" sz="950" dirty="0"/>
          </a:p>
        </p:txBody>
      </p:sp>
      <p:sp>
        <p:nvSpPr>
          <p:cNvPr id="35" name="Shape 33"/>
          <p:cNvSpPr/>
          <p:nvPr/>
        </p:nvSpPr>
        <p:spPr>
          <a:xfrm>
            <a:off x="457200" y="4389120"/>
            <a:ext cx="3611880" cy="438912"/>
          </a:xfrm>
          <a:prstGeom prst="rect">
            <a:avLst/>
          </a:prstGeom>
          <a:solidFill>
            <a:srgbClr val="F4F2ED"/>
          </a:solidFill>
          <a:ln/>
        </p:spPr>
      </p:sp>
      <p:sp>
        <p:nvSpPr>
          <p:cNvPr id="36" name="Text 34"/>
          <p:cNvSpPr/>
          <p:nvPr/>
        </p:nvSpPr>
        <p:spPr>
          <a:xfrm>
            <a:off x="457200" y="4389120"/>
            <a:ext cx="361188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Financing / interest carry</a:t>
            </a:r>
            <a:endParaRPr lang="en-US" sz="950" dirty="0"/>
          </a:p>
        </p:txBody>
      </p:sp>
      <p:sp>
        <p:nvSpPr>
          <p:cNvPr id="37" name="Shape 35"/>
          <p:cNvSpPr/>
          <p:nvPr/>
        </p:nvSpPr>
        <p:spPr>
          <a:xfrm>
            <a:off x="4069080" y="4389120"/>
            <a:ext cx="1417320" cy="438912"/>
          </a:xfrm>
          <a:prstGeom prst="rect">
            <a:avLst/>
          </a:prstGeom>
          <a:solidFill>
            <a:srgbClr val="F4F2ED"/>
          </a:solidFill>
          <a:ln/>
        </p:spPr>
      </p:sp>
      <p:sp>
        <p:nvSpPr>
          <p:cNvPr id="38" name="Text 36"/>
          <p:cNvSpPr/>
          <p:nvPr/>
        </p:nvSpPr>
        <p:spPr>
          <a:xfrm>
            <a:off x="4069080" y="4389120"/>
            <a:ext cx="1417320" cy="438912"/>
          </a:xfrm>
          <a:prstGeom prst="rect">
            <a:avLst/>
          </a:prstGeom>
          <a:noFill/>
          <a:ln/>
        </p:spPr>
        <p:txBody>
          <a:bodyPr wrap="square" lIns="25400" tIns="76200" rIns="76200" bIns="25400" rtlCol="0" anchor="ctr"/>
          <a:lstStyle/>
          <a:p>
            <a:pPr algn="r" indent="0" marL="0">
              <a:buNone/>
            </a:pPr>
            <a:r>
              <a:rPr lang="en-US" sz="950" b="1" dirty="0">
                <a:solidFill>
                  <a:srgbClr val="0B163C"/>
                </a:solidFill>
                <a:latin typeface="Montserrat" pitchFamily="34" charset="0"/>
                <a:ea typeface="Montserrat" pitchFamily="34" charset="-122"/>
                <a:cs typeface="Montserrat" pitchFamily="34" charset="-120"/>
              </a:rPr>
              <a:t>$1.4M</a:t>
            </a:r>
            <a:endParaRPr lang="en-US" sz="950" dirty="0"/>
          </a:p>
        </p:txBody>
      </p:sp>
      <p:sp>
        <p:nvSpPr>
          <p:cNvPr id="39" name="Shape 37"/>
          <p:cNvSpPr/>
          <p:nvPr/>
        </p:nvSpPr>
        <p:spPr>
          <a:xfrm>
            <a:off x="457200" y="4828032"/>
            <a:ext cx="3611880" cy="438912"/>
          </a:xfrm>
          <a:prstGeom prst="rect">
            <a:avLst/>
          </a:prstGeom>
          <a:solidFill>
            <a:srgbClr val="FFFFFF"/>
          </a:solidFill>
          <a:ln/>
        </p:spPr>
      </p:sp>
      <p:sp>
        <p:nvSpPr>
          <p:cNvPr id="40" name="Text 38"/>
          <p:cNvSpPr/>
          <p:nvPr/>
        </p:nvSpPr>
        <p:spPr>
          <a:xfrm>
            <a:off x="457200" y="4828032"/>
            <a:ext cx="3611880" cy="438912"/>
          </a:xfrm>
          <a:prstGeom prst="rect">
            <a:avLst/>
          </a:prstGeom>
          <a:noFill/>
          <a:ln/>
        </p:spPr>
        <p:txBody>
          <a:bodyPr wrap="square" lIns="25400" tIns="76200" rIns="76200" bIns="25400" rtlCol="0" anchor="ctr"/>
          <a:lstStyle/>
          <a:p>
            <a:pPr algn="l" indent="0" marL="0">
              <a:buNone/>
            </a:pPr>
            <a:r>
              <a:rPr lang="en-US" sz="950" b="1" dirty="0">
                <a:solidFill>
                  <a:srgbClr val="0B163C"/>
                </a:solidFill>
                <a:latin typeface="Montserrat" pitchFamily="34" charset="0"/>
                <a:ea typeface="Montserrat" pitchFamily="34" charset="-122"/>
                <a:cs typeface="Montserrat" pitchFamily="34" charset="-120"/>
              </a:rPr>
              <a:t>TOTAL PROJECT COST</a:t>
            </a:r>
            <a:endParaRPr lang="en-US" sz="950" dirty="0"/>
          </a:p>
        </p:txBody>
      </p:sp>
      <p:sp>
        <p:nvSpPr>
          <p:cNvPr id="41" name="Shape 39"/>
          <p:cNvSpPr/>
          <p:nvPr/>
        </p:nvSpPr>
        <p:spPr>
          <a:xfrm>
            <a:off x="4069080" y="4828032"/>
            <a:ext cx="1417320" cy="438912"/>
          </a:xfrm>
          <a:prstGeom prst="rect">
            <a:avLst/>
          </a:prstGeom>
          <a:solidFill>
            <a:srgbClr val="FFFFFF"/>
          </a:solidFill>
          <a:ln/>
        </p:spPr>
      </p:sp>
      <p:sp>
        <p:nvSpPr>
          <p:cNvPr id="42" name="Text 40"/>
          <p:cNvSpPr/>
          <p:nvPr/>
        </p:nvSpPr>
        <p:spPr>
          <a:xfrm>
            <a:off x="4069080" y="4828032"/>
            <a:ext cx="1417320" cy="438912"/>
          </a:xfrm>
          <a:prstGeom prst="rect">
            <a:avLst/>
          </a:prstGeom>
          <a:noFill/>
          <a:ln/>
        </p:spPr>
        <p:txBody>
          <a:bodyPr wrap="square" lIns="25400" tIns="76200" rIns="76200" bIns="25400" rtlCol="0" anchor="ctr"/>
          <a:lstStyle/>
          <a:p>
            <a:pPr algn="r" indent="0" marL="0">
              <a:buNone/>
            </a:pPr>
            <a:r>
              <a:rPr lang="en-US" sz="950" b="1" dirty="0">
                <a:solidFill>
                  <a:srgbClr val="3A243A"/>
                </a:solidFill>
                <a:latin typeface="Montserrat" pitchFamily="34" charset="0"/>
                <a:ea typeface="Montserrat" pitchFamily="34" charset="-122"/>
                <a:cs typeface="Montserrat" pitchFamily="34" charset="-120"/>
              </a:rPr>
              <a:t>$27.5M</a:t>
            </a:r>
            <a:endParaRPr lang="en-US" sz="950" dirty="0"/>
          </a:p>
        </p:txBody>
      </p:sp>
      <p:sp>
        <p:nvSpPr>
          <p:cNvPr id="43" name="Shape 41"/>
          <p:cNvSpPr/>
          <p:nvPr/>
        </p:nvSpPr>
        <p:spPr>
          <a:xfrm>
            <a:off x="5577840" y="1828800"/>
            <a:ext cx="1874520" cy="365760"/>
          </a:xfrm>
          <a:prstGeom prst="rect">
            <a:avLst/>
          </a:prstGeom>
          <a:solidFill>
            <a:srgbClr val="0B163C"/>
          </a:solidFill>
          <a:ln/>
        </p:spPr>
      </p:sp>
      <p:sp>
        <p:nvSpPr>
          <p:cNvPr id="44" name="Text 42"/>
          <p:cNvSpPr/>
          <p:nvPr/>
        </p:nvSpPr>
        <p:spPr>
          <a:xfrm>
            <a:off x="5577840" y="1828800"/>
            <a:ext cx="1874520"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SOURCES OF CAPITAL</a:t>
            </a:r>
            <a:endParaRPr lang="en-US" sz="900" dirty="0"/>
          </a:p>
        </p:txBody>
      </p:sp>
      <p:sp>
        <p:nvSpPr>
          <p:cNvPr id="45" name="Shape 43"/>
          <p:cNvSpPr/>
          <p:nvPr/>
        </p:nvSpPr>
        <p:spPr>
          <a:xfrm>
            <a:off x="7452360" y="1828800"/>
            <a:ext cx="960120" cy="365760"/>
          </a:xfrm>
          <a:prstGeom prst="rect">
            <a:avLst/>
          </a:prstGeom>
          <a:solidFill>
            <a:srgbClr val="0B163C"/>
          </a:solidFill>
          <a:ln/>
        </p:spPr>
      </p:sp>
      <p:sp>
        <p:nvSpPr>
          <p:cNvPr id="46" name="Text 44"/>
          <p:cNvSpPr/>
          <p:nvPr/>
        </p:nvSpPr>
        <p:spPr>
          <a:xfrm>
            <a:off x="7452360" y="1828800"/>
            <a:ext cx="960120" cy="365760"/>
          </a:xfrm>
          <a:prstGeom prst="rect">
            <a:avLst/>
          </a:prstGeom>
          <a:noFill/>
          <a:ln/>
        </p:spPr>
        <p:txBody>
          <a:bodyPr wrap="square" lIns="25400" tIns="76200" rIns="76200" bIns="25400" rtlCol="0" anchor="ctr"/>
          <a:lstStyle/>
          <a:p>
            <a:pPr algn="r" indent="0" marL="0">
              <a:buNone/>
            </a:pPr>
            <a:endParaRPr lang="en-US" sz="900" dirty="0"/>
          </a:p>
        </p:txBody>
      </p:sp>
      <p:sp>
        <p:nvSpPr>
          <p:cNvPr id="47" name="Shape 45"/>
          <p:cNvSpPr/>
          <p:nvPr/>
        </p:nvSpPr>
        <p:spPr>
          <a:xfrm>
            <a:off x="5577840" y="2194560"/>
            <a:ext cx="1874520" cy="438912"/>
          </a:xfrm>
          <a:prstGeom prst="rect">
            <a:avLst/>
          </a:prstGeom>
          <a:solidFill>
            <a:srgbClr val="FFFFFF"/>
          </a:solidFill>
          <a:ln/>
        </p:spPr>
      </p:sp>
      <p:sp>
        <p:nvSpPr>
          <p:cNvPr id="48" name="Text 46"/>
          <p:cNvSpPr/>
          <p:nvPr/>
        </p:nvSpPr>
        <p:spPr>
          <a:xfrm>
            <a:off x="5577840" y="2194560"/>
            <a:ext cx="187452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Development loan (70% LTC)</a:t>
            </a:r>
            <a:endParaRPr lang="en-US" sz="950" dirty="0"/>
          </a:p>
        </p:txBody>
      </p:sp>
      <p:sp>
        <p:nvSpPr>
          <p:cNvPr id="49" name="Shape 47"/>
          <p:cNvSpPr/>
          <p:nvPr/>
        </p:nvSpPr>
        <p:spPr>
          <a:xfrm>
            <a:off x="7452360" y="2194560"/>
            <a:ext cx="960120" cy="438912"/>
          </a:xfrm>
          <a:prstGeom prst="rect">
            <a:avLst/>
          </a:prstGeom>
          <a:solidFill>
            <a:srgbClr val="FFFFFF"/>
          </a:solidFill>
          <a:ln/>
        </p:spPr>
      </p:sp>
      <p:sp>
        <p:nvSpPr>
          <p:cNvPr id="50" name="Text 48"/>
          <p:cNvSpPr/>
          <p:nvPr/>
        </p:nvSpPr>
        <p:spPr>
          <a:xfrm>
            <a:off x="7452360" y="2194560"/>
            <a:ext cx="960120" cy="438912"/>
          </a:xfrm>
          <a:prstGeom prst="rect">
            <a:avLst/>
          </a:prstGeom>
          <a:noFill/>
          <a:ln/>
        </p:spPr>
        <p:txBody>
          <a:bodyPr wrap="square" lIns="25400" tIns="76200" rIns="76200" bIns="25400" rtlCol="0" anchor="ctr"/>
          <a:lstStyle/>
          <a:p>
            <a:pPr algn="r" indent="0" marL="0">
              <a:buNone/>
            </a:pPr>
            <a:r>
              <a:rPr lang="en-US" sz="950" b="1" dirty="0">
                <a:solidFill>
                  <a:srgbClr val="0B163C"/>
                </a:solidFill>
                <a:latin typeface="Montserrat" pitchFamily="34" charset="0"/>
                <a:ea typeface="Montserrat" pitchFamily="34" charset="-122"/>
                <a:cs typeface="Montserrat" pitchFamily="34" charset="-120"/>
              </a:rPr>
              <a:t>$19.25M</a:t>
            </a:r>
            <a:endParaRPr lang="en-US" sz="950" dirty="0"/>
          </a:p>
        </p:txBody>
      </p:sp>
      <p:sp>
        <p:nvSpPr>
          <p:cNvPr id="51" name="Shape 49"/>
          <p:cNvSpPr/>
          <p:nvPr/>
        </p:nvSpPr>
        <p:spPr>
          <a:xfrm>
            <a:off x="5577840" y="2633472"/>
            <a:ext cx="1874520" cy="438912"/>
          </a:xfrm>
          <a:prstGeom prst="rect">
            <a:avLst/>
          </a:prstGeom>
          <a:solidFill>
            <a:srgbClr val="F4F2ED"/>
          </a:solidFill>
          <a:ln/>
        </p:spPr>
      </p:sp>
      <p:sp>
        <p:nvSpPr>
          <p:cNvPr id="52" name="Text 50"/>
          <p:cNvSpPr/>
          <p:nvPr/>
        </p:nvSpPr>
        <p:spPr>
          <a:xfrm>
            <a:off x="5577840" y="2633472"/>
            <a:ext cx="187452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Land equity (H6)</a:t>
            </a:r>
            <a:endParaRPr lang="en-US" sz="950" dirty="0"/>
          </a:p>
        </p:txBody>
      </p:sp>
      <p:sp>
        <p:nvSpPr>
          <p:cNvPr id="53" name="Shape 51"/>
          <p:cNvSpPr/>
          <p:nvPr/>
        </p:nvSpPr>
        <p:spPr>
          <a:xfrm>
            <a:off x="7452360" y="2633472"/>
            <a:ext cx="960120" cy="438912"/>
          </a:xfrm>
          <a:prstGeom prst="rect">
            <a:avLst/>
          </a:prstGeom>
          <a:solidFill>
            <a:srgbClr val="F4F2ED"/>
          </a:solidFill>
          <a:ln/>
        </p:spPr>
      </p:sp>
      <p:sp>
        <p:nvSpPr>
          <p:cNvPr id="54" name="Text 52"/>
          <p:cNvSpPr/>
          <p:nvPr/>
        </p:nvSpPr>
        <p:spPr>
          <a:xfrm>
            <a:off x="7452360" y="2633472"/>
            <a:ext cx="960120" cy="438912"/>
          </a:xfrm>
          <a:prstGeom prst="rect">
            <a:avLst/>
          </a:prstGeom>
          <a:noFill/>
          <a:ln/>
        </p:spPr>
        <p:txBody>
          <a:bodyPr wrap="square" lIns="25400" tIns="76200" rIns="76200" bIns="25400" rtlCol="0" anchor="ctr"/>
          <a:lstStyle/>
          <a:p>
            <a:pPr algn="r" indent="0" marL="0">
              <a:buNone/>
            </a:pPr>
            <a:r>
              <a:rPr lang="en-US" sz="950" b="1" dirty="0">
                <a:solidFill>
                  <a:srgbClr val="0B163C"/>
                </a:solidFill>
                <a:latin typeface="Montserrat" pitchFamily="34" charset="0"/>
                <a:ea typeface="Montserrat" pitchFamily="34" charset="-122"/>
                <a:cs typeface="Montserrat" pitchFamily="34" charset="-120"/>
              </a:rPr>
              <a:t>$4.0M</a:t>
            </a:r>
            <a:endParaRPr lang="en-US" sz="950" dirty="0"/>
          </a:p>
        </p:txBody>
      </p:sp>
      <p:sp>
        <p:nvSpPr>
          <p:cNvPr id="55" name="Shape 53"/>
          <p:cNvSpPr/>
          <p:nvPr/>
        </p:nvSpPr>
        <p:spPr>
          <a:xfrm>
            <a:off x="5577840" y="3072384"/>
            <a:ext cx="1874520" cy="438912"/>
          </a:xfrm>
          <a:prstGeom prst="rect">
            <a:avLst/>
          </a:prstGeom>
          <a:solidFill>
            <a:srgbClr val="FFFFFF"/>
          </a:solidFill>
          <a:ln/>
        </p:spPr>
      </p:sp>
      <p:sp>
        <p:nvSpPr>
          <p:cNvPr id="56" name="Text 54"/>
          <p:cNvSpPr/>
          <p:nvPr/>
        </p:nvSpPr>
        <p:spPr>
          <a:xfrm>
            <a:off x="5577840" y="3072384"/>
            <a:ext cx="187452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Cash equity (JAL + LP)</a:t>
            </a:r>
            <a:endParaRPr lang="en-US" sz="950" dirty="0"/>
          </a:p>
        </p:txBody>
      </p:sp>
      <p:sp>
        <p:nvSpPr>
          <p:cNvPr id="57" name="Shape 55"/>
          <p:cNvSpPr/>
          <p:nvPr/>
        </p:nvSpPr>
        <p:spPr>
          <a:xfrm>
            <a:off x="7452360" y="3072384"/>
            <a:ext cx="960120" cy="438912"/>
          </a:xfrm>
          <a:prstGeom prst="rect">
            <a:avLst/>
          </a:prstGeom>
          <a:solidFill>
            <a:srgbClr val="FFFFFF"/>
          </a:solidFill>
          <a:ln/>
        </p:spPr>
      </p:sp>
      <p:sp>
        <p:nvSpPr>
          <p:cNvPr id="58" name="Text 56"/>
          <p:cNvSpPr/>
          <p:nvPr/>
        </p:nvSpPr>
        <p:spPr>
          <a:xfrm>
            <a:off x="7452360" y="3072384"/>
            <a:ext cx="960120" cy="438912"/>
          </a:xfrm>
          <a:prstGeom prst="rect">
            <a:avLst/>
          </a:prstGeom>
          <a:noFill/>
          <a:ln/>
        </p:spPr>
        <p:txBody>
          <a:bodyPr wrap="square" lIns="25400" tIns="76200" rIns="76200" bIns="25400" rtlCol="0" anchor="ctr"/>
          <a:lstStyle/>
          <a:p>
            <a:pPr algn="r" indent="0" marL="0">
              <a:buNone/>
            </a:pPr>
            <a:r>
              <a:rPr lang="en-US" sz="950" b="1" dirty="0">
                <a:solidFill>
                  <a:srgbClr val="0B163C"/>
                </a:solidFill>
                <a:latin typeface="Montserrat" pitchFamily="34" charset="0"/>
                <a:ea typeface="Montserrat" pitchFamily="34" charset="-122"/>
                <a:cs typeface="Montserrat" pitchFamily="34" charset="-120"/>
              </a:rPr>
              <a:t>$4.25M</a:t>
            </a:r>
            <a:endParaRPr lang="en-US" sz="950" dirty="0"/>
          </a:p>
        </p:txBody>
      </p:sp>
      <p:sp>
        <p:nvSpPr>
          <p:cNvPr id="59" name="Shape 57"/>
          <p:cNvSpPr/>
          <p:nvPr/>
        </p:nvSpPr>
        <p:spPr>
          <a:xfrm>
            <a:off x="5577840" y="3511296"/>
            <a:ext cx="1874520" cy="438912"/>
          </a:xfrm>
          <a:prstGeom prst="rect">
            <a:avLst/>
          </a:prstGeom>
          <a:solidFill>
            <a:srgbClr val="F4F2ED"/>
          </a:solidFill>
          <a:ln/>
        </p:spPr>
      </p:sp>
      <p:sp>
        <p:nvSpPr>
          <p:cNvPr id="60" name="Text 58"/>
          <p:cNvSpPr/>
          <p:nvPr/>
        </p:nvSpPr>
        <p:spPr>
          <a:xfrm>
            <a:off x="5577840" y="3511296"/>
            <a:ext cx="1874520" cy="438912"/>
          </a:xfrm>
          <a:prstGeom prst="rect">
            <a:avLst/>
          </a:prstGeom>
          <a:noFill/>
          <a:ln/>
        </p:spPr>
        <p:txBody>
          <a:bodyPr wrap="square" lIns="25400" tIns="76200" rIns="76200" bIns="25400" rtlCol="0" anchor="ctr"/>
          <a:lstStyle/>
          <a:p>
            <a:pPr algn="l" indent="0" marL="0">
              <a:buNone/>
            </a:pPr>
            <a:r>
              <a:rPr lang="en-US" sz="950" b="1" dirty="0">
                <a:solidFill>
                  <a:srgbClr val="0B163C"/>
                </a:solidFill>
                <a:latin typeface="Montserrat" pitchFamily="34" charset="0"/>
                <a:ea typeface="Montserrat" pitchFamily="34" charset="-122"/>
                <a:cs typeface="Montserrat" pitchFamily="34" charset="-120"/>
              </a:rPr>
              <a:t>TOTAL</a:t>
            </a:r>
            <a:endParaRPr lang="en-US" sz="950" dirty="0"/>
          </a:p>
        </p:txBody>
      </p:sp>
      <p:sp>
        <p:nvSpPr>
          <p:cNvPr id="61" name="Shape 59"/>
          <p:cNvSpPr/>
          <p:nvPr/>
        </p:nvSpPr>
        <p:spPr>
          <a:xfrm>
            <a:off x="7452360" y="3511296"/>
            <a:ext cx="960120" cy="438912"/>
          </a:xfrm>
          <a:prstGeom prst="rect">
            <a:avLst/>
          </a:prstGeom>
          <a:solidFill>
            <a:srgbClr val="F4F2ED"/>
          </a:solidFill>
          <a:ln/>
        </p:spPr>
      </p:sp>
      <p:sp>
        <p:nvSpPr>
          <p:cNvPr id="62" name="Text 60"/>
          <p:cNvSpPr/>
          <p:nvPr/>
        </p:nvSpPr>
        <p:spPr>
          <a:xfrm>
            <a:off x="7452360" y="3511296"/>
            <a:ext cx="960120" cy="438912"/>
          </a:xfrm>
          <a:prstGeom prst="rect">
            <a:avLst/>
          </a:prstGeom>
          <a:noFill/>
          <a:ln/>
        </p:spPr>
        <p:txBody>
          <a:bodyPr wrap="square" lIns="25400" tIns="76200" rIns="76200" bIns="25400" rtlCol="0" anchor="ctr"/>
          <a:lstStyle/>
          <a:p>
            <a:pPr algn="r" indent="0" marL="0">
              <a:buNone/>
            </a:pPr>
            <a:r>
              <a:rPr lang="en-US" sz="950" b="1" dirty="0">
                <a:solidFill>
                  <a:srgbClr val="3A243A"/>
                </a:solidFill>
                <a:latin typeface="Montserrat" pitchFamily="34" charset="0"/>
                <a:ea typeface="Montserrat" pitchFamily="34" charset="-122"/>
                <a:cs typeface="Montserrat" pitchFamily="34" charset="-120"/>
              </a:rPr>
              <a:t>$27.5M</a:t>
            </a:r>
            <a:endParaRPr lang="en-US" sz="950" dirty="0"/>
          </a:p>
        </p:txBody>
      </p:sp>
      <p:sp>
        <p:nvSpPr>
          <p:cNvPr id="63" name="Shape 61"/>
          <p:cNvSpPr/>
          <p:nvPr/>
        </p:nvSpPr>
        <p:spPr>
          <a:xfrm>
            <a:off x="5577840" y="3977640"/>
            <a:ext cx="2834640" cy="1289304"/>
          </a:xfrm>
          <a:prstGeom prst="rect">
            <a:avLst/>
          </a:prstGeom>
          <a:solidFill>
            <a:srgbClr val="0B163C"/>
          </a:solidFill>
          <a:ln/>
        </p:spPr>
      </p:sp>
      <p:sp>
        <p:nvSpPr>
          <p:cNvPr id="64" name="Shape 62"/>
          <p:cNvSpPr/>
          <p:nvPr/>
        </p:nvSpPr>
        <p:spPr>
          <a:xfrm>
            <a:off x="5577840" y="3977640"/>
            <a:ext cx="91440" cy="1289304"/>
          </a:xfrm>
          <a:prstGeom prst="rect">
            <a:avLst/>
          </a:prstGeom>
          <a:solidFill>
            <a:srgbClr val="3A243A"/>
          </a:solidFill>
          <a:ln/>
        </p:spPr>
      </p:sp>
      <p:sp>
        <p:nvSpPr>
          <p:cNvPr id="65" name="Text 63"/>
          <p:cNvSpPr/>
          <p:nvPr/>
        </p:nvSpPr>
        <p:spPr>
          <a:xfrm>
            <a:off x="5779008" y="4069080"/>
            <a:ext cx="2560320" cy="228600"/>
          </a:xfrm>
          <a:prstGeom prst="rect">
            <a:avLst/>
          </a:prstGeom>
          <a:noFill/>
          <a:ln/>
        </p:spPr>
        <p:txBody>
          <a:bodyPr wrap="square" lIns="0" tIns="0" rIns="0" bIns="0" rtlCol="0" anchor="ctr"/>
          <a:lstStyle/>
          <a:p>
            <a:pPr algn="l" indent="0" marL="0">
              <a:buNone/>
            </a:pPr>
            <a:r>
              <a:rPr lang="en-US" sz="850" b="1" spc="200" kern="0" dirty="0">
                <a:solidFill>
                  <a:srgbClr val="C4B8C4"/>
                </a:solidFill>
                <a:latin typeface="Montserrat" pitchFamily="34" charset="0"/>
                <a:ea typeface="Montserrat" pitchFamily="34" charset="-122"/>
                <a:cs typeface="Montserrat" pitchFamily="34" charset="-120"/>
              </a:rPr>
              <a:t>KEY ASSUMPTIONS</a:t>
            </a:r>
            <a:endParaRPr lang="en-US" sz="850" dirty="0"/>
          </a:p>
        </p:txBody>
      </p:sp>
      <p:sp>
        <p:nvSpPr>
          <p:cNvPr id="66" name="Text 64"/>
          <p:cNvSpPr/>
          <p:nvPr/>
        </p:nvSpPr>
        <p:spPr>
          <a:xfrm>
            <a:off x="5779008" y="4315968"/>
            <a:ext cx="2542032" cy="914400"/>
          </a:xfrm>
          <a:prstGeom prst="rect">
            <a:avLst/>
          </a:prstGeom>
          <a:noFill/>
          <a:ln/>
        </p:spPr>
        <p:txBody>
          <a:bodyPr wrap="square" lIns="0" tIns="0" rIns="0" bIns="0" rtlCol="0" anchor="t"/>
          <a:lstStyle/>
          <a:p>
            <a:pPr algn="l" indent="0" marL="0">
              <a:lnSpc>
                <a:spcPts val="1150"/>
              </a:lnSpc>
              <a:buNone/>
            </a:pPr>
            <a:r>
              <a:rPr lang="en-US" sz="850" dirty="0">
                <a:solidFill>
                  <a:srgbClr val="F4F2ED"/>
                </a:solidFill>
                <a:latin typeface="DM Sans" pitchFamily="34" charset="0"/>
                <a:ea typeface="DM Sans" pitchFamily="34" charset="-122"/>
                <a:cs typeface="DM Sans" pitchFamily="34" charset="-120"/>
              </a:rPr>
              <a:t>$150K finished lot  ·  280 lots  ·  we fund the horizontal ($60K/lot)  ·  70% LTC loan  ·  8% pref + tiered promote (see waterfall)</a:t>
            </a:r>
            <a:endParaRPr lang="en-US" sz="850" dirty="0"/>
          </a:p>
        </p:txBody>
      </p:sp>
      <p:sp>
        <p:nvSpPr>
          <p:cNvPr id="67" name="Shape 65"/>
          <p:cNvSpPr/>
          <p:nvPr/>
        </p:nvSpPr>
        <p:spPr>
          <a:xfrm>
            <a:off x="8503920" y="1828800"/>
            <a:ext cx="3227832" cy="3438144"/>
          </a:xfrm>
          <a:prstGeom prst="rect">
            <a:avLst/>
          </a:prstGeom>
          <a:solidFill>
            <a:srgbClr val="0B163C"/>
          </a:solidFill>
          <a:ln/>
        </p:spPr>
      </p:sp>
      <p:sp>
        <p:nvSpPr>
          <p:cNvPr id="68" name="Shape 66"/>
          <p:cNvSpPr/>
          <p:nvPr/>
        </p:nvSpPr>
        <p:spPr>
          <a:xfrm>
            <a:off x="8503920" y="1828800"/>
            <a:ext cx="109728" cy="3438144"/>
          </a:xfrm>
          <a:prstGeom prst="rect">
            <a:avLst/>
          </a:prstGeom>
          <a:solidFill>
            <a:srgbClr val="3A243A"/>
          </a:solidFill>
          <a:ln/>
        </p:spPr>
      </p:sp>
      <p:sp>
        <p:nvSpPr>
          <p:cNvPr id="69" name="Text 67"/>
          <p:cNvSpPr/>
          <p:nvPr/>
        </p:nvSpPr>
        <p:spPr>
          <a:xfrm>
            <a:off x="8732520" y="1947672"/>
            <a:ext cx="2926080" cy="274320"/>
          </a:xfrm>
          <a:prstGeom prst="rect">
            <a:avLst/>
          </a:prstGeom>
          <a:noFill/>
          <a:ln/>
        </p:spPr>
        <p:txBody>
          <a:bodyPr wrap="square" lIns="0" tIns="0" rIns="0" bIns="0" rtlCol="0" anchor="ctr"/>
          <a:lstStyle/>
          <a:p>
            <a:pPr algn="l" indent="0" marL="0">
              <a:buNone/>
            </a:pPr>
            <a:r>
              <a:rPr lang="en-US" sz="1000" b="1" spc="300" kern="0" dirty="0">
                <a:solidFill>
                  <a:srgbClr val="C4B8C4"/>
                </a:solidFill>
                <a:latin typeface="Montserrat" pitchFamily="34" charset="0"/>
                <a:ea typeface="Montserrat" pitchFamily="34" charset="-122"/>
                <a:cs typeface="Montserrat" pitchFamily="34" charset="-120"/>
              </a:rPr>
              <a:t>RETURNS</a:t>
            </a:r>
            <a:endParaRPr lang="en-US" sz="1000" dirty="0"/>
          </a:p>
        </p:txBody>
      </p:sp>
      <p:sp>
        <p:nvSpPr>
          <p:cNvPr id="70" name="Text 68"/>
          <p:cNvSpPr/>
          <p:nvPr/>
        </p:nvSpPr>
        <p:spPr>
          <a:xfrm>
            <a:off x="8732520" y="2286000"/>
            <a:ext cx="2834640" cy="292608"/>
          </a:xfrm>
          <a:prstGeom prst="rect">
            <a:avLst/>
          </a:prstGeom>
          <a:noFill/>
          <a:ln/>
        </p:spPr>
        <p:txBody>
          <a:bodyPr wrap="square" lIns="0" tIns="0" rIns="0" bIns="0" rtlCol="0" anchor="ctr"/>
          <a:lstStyle/>
          <a:p>
            <a:pPr algn="l" indent="0" marL="0">
              <a:buNone/>
            </a:pPr>
            <a:r>
              <a:rPr lang="en-US" sz="1700" b="1" dirty="0">
                <a:solidFill>
                  <a:srgbClr val="FFFFFF"/>
                </a:solidFill>
                <a:latin typeface="Montserrat" pitchFamily="34" charset="0"/>
                <a:ea typeface="Montserrat" pitchFamily="34" charset="-122"/>
                <a:cs typeface="Montserrat" pitchFamily="34" charset="-120"/>
              </a:rPr>
              <a:t>$42.0M</a:t>
            </a:r>
            <a:endParaRPr lang="en-US" sz="1700" dirty="0"/>
          </a:p>
        </p:txBody>
      </p:sp>
      <p:sp>
        <p:nvSpPr>
          <p:cNvPr id="71" name="Text 69"/>
          <p:cNvSpPr/>
          <p:nvPr/>
        </p:nvSpPr>
        <p:spPr>
          <a:xfrm>
            <a:off x="8732520" y="2569464"/>
            <a:ext cx="2834640" cy="201168"/>
          </a:xfrm>
          <a:prstGeom prst="rect">
            <a:avLst/>
          </a:prstGeom>
          <a:noFill/>
          <a:ln/>
        </p:spPr>
        <p:txBody>
          <a:bodyPr wrap="square" lIns="0" tIns="0" rIns="0" bIns="0" rtlCol="0" anchor="ctr"/>
          <a:lstStyle/>
          <a:p>
            <a:pPr algn="l" indent="0" marL="0">
              <a:buNone/>
            </a:pPr>
            <a:r>
              <a:rPr lang="en-US" sz="850" dirty="0">
                <a:solidFill>
                  <a:srgbClr val="C4B8C4"/>
                </a:solidFill>
                <a:latin typeface="DM Sans" pitchFamily="34" charset="0"/>
                <a:ea typeface="DM Sans" pitchFamily="34" charset="-122"/>
                <a:cs typeface="DM Sans" pitchFamily="34" charset="-120"/>
              </a:rPr>
              <a:t>Gross lot revenue</a:t>
            </a:r>
            <a:endParaRPr lang="en-US" sz="850" dirty="0"/>
          </a:p>
        </p:txBody>
      </p:sp>
      <p:sp>
        <p:nvSpPr>
          <p:cNvPr id="72" name="Text 70"/>
          <p:cNvSpPr/>
          <p:nvPr/>
        </p:nvSpPr>
        <p:spPr>
          <a:xfrm>
            <a:off x="8732520" y="2862072"/>
            <a:ext cx="2834640" cy="292608"/>
          </a:xfrm>
          <a:prstGeom prst="rect">
            <a:avLst/>
          </a:prstGeom>
          <a:noFill/>
          <a:ln/>
        </p:spPr>
        <p:txBody>
          <a:bodyPr wrap="square" lIns="0" tIns="0" rIns="0" bIns="0" rtlCol="0" anchor="ctr"/>
          <a:lstStyle/>
          <a:p>
            <a:pPr algn="l" indent="0" marL="0">
              <a:buNone/>
            </a:pPr>
            <a:r>
              <a:rPr lang="en-US" sz="1700" b="1" dirty="0">
                <a:solidFill>
                  <a:srgbClr val="FFFFFF"/>
                </a:solidFill>
                <a:latin typeface="Montserrat" pitchFamily="34" charset="0"/>
                <a:ea typeface="Montserrat" pitchFamily="34" charset="-122"/>
                <a:cs typeface="Montserrat" pitchFamily="34" charset="-120"/>
              </a:rPr>
              <a:t>$14.5M</a:t>
            </a:r>
            <a:endParaRPr lang="en-US" sz="1700" dirty="0"/>
          </a:p>
        </p:txBody>
      </p:sp>
      <p:sp>
        <p:nvSpPr>
          <p:cNvPr id="73" name="Text 71"/>
          <p:cNvSpPr/>
          <p:nvPr/>
        </p:nvSpPr>
        <p:spPr>
          <a:xfrm>
            <a:off x="8732520" y="3145536"/>
            <a:ext cx="2834640" cy="201168"/>
          </a:xfrm>
          <a:prstGeom prst="rect">
            <a:avLst/>
          </a:prstGeom>
          <a:noFill/>
          <a:ln/>
        </p:spPr>
        <p:txBody>
          <a:bodyPr wrap="square" lIns="0" tIns="0" rIns="0" bIns="0" rtlCol="0" anchor="ctr"/>
          <a:lstStyle/>
          <a:p>
            <a:pPr algn="l" indent="0" marL="0">
              <a:buNone/>
            </a:pPr>
            <a:r>
              <a:rPr lang="en-US" sz="850" dirty="0">
                <a:solidFill>
                  <a:srgbClr val="C4B8C4"/>
                </a:solidFill>
                <a:latin typeface="DM Sans" pitchFamily="34" charset="0"/>
                <a:ea typeface="DM Sans" pitchFamily="34" charset="-122"/>
                <a:cs typeface="DM Sans" pitchFamily="34" charset="-120"/>
              </a:rPr>
              <a:t>Net development profit</a:t>
            </a:r>
            <a:endParaRPr lang="en-US" sz="850" dirty="0"/>
          </a:p>
        </p:txBody>
      </p:sp>
      <p:sp>
        <p:nvSpPr>
          <p:cNvPr id="74" name="Text 72"/>
          <p:cNvSpPr/>
          <p:nvPr/>
        </p:nvSpPr>
        <p:spPr>
          <a:xfrm>
            <a:off x="8732520" y="3438144"/>
            <a:ext cx="2834640" cy="292608"/>
          </a:xfrm>
          <a:prstGeom prst="rect">
            <a:avLst/>
          </a:prstGeom>
          <a:noFill/>
          <a:ln/>
        </p:spPr>
        <p:txBody>
          <a:bodyPr wrap="square" lIns="0" tIns="0" rIns="0" bIns="0" rtlCol="0" anchor="ctr"/>
          <a:lstStyle/>
          <a:p>
            <a:pPr algn="l" indent="0" marL="0">
              <a:buNone/>
            </a:pPr>
            <a:r>
              <a:rPr lang="en-US" sz="1700" b="1" dirty="0">
                <a:solidFill>
                  <a:srgbClr val="FFFFFF"/>
                </a:solidFill>
                <a:latin typeface="Montserrat" pitchFamily="34" charset="0"/>
                <a:ea typeface="Montserrat" pitchFamily="34" charset="-122"/>
                <a:cs typeface="Montserrat" pitchFamily="34" charset="-120"/>
              </a:rPr>
              <a:t>~2.8×</a:t>
            </a:r>
            <a:endParaRPr lang="en-US" sz="1700" dirty="0"/>
          </a:p>
        </p:txBody>
      </p:sp>
      <p:sp>
        <p:nvSpPr>
          <p:cNvPr id="75" name="Text 73"/>
          <p:cNvSpPr/>
          <p:nvPr/>
        </p:nvSpPr>
        <p:spPr>
          <a:xfrm>
            <a:off x="8732520" y="3721608"/>
            <a:ext cx="2834640" cy="201168"/>
          </a:xfrm>
          <a:prstGeom prst="rect">
            <a:avLst/>
          </a:prstGeom>
          <a:noFill/>
          <a:ln/>
        </p:spPr>
        <p:txBody>
          <a:bodyPr wrap="square" lIns="0" tIns="0" rIns="0" bIns="0" rtlCol="0" anchor="ctr"/>
          <a:lstStyle/>
          <a:p>
            <a:pPr algn="l" indent="0" marL="0">
              <a:buNone/>
            </a:pPr>
            <a:r>
              <a:rPr lang="en-US" sz="850" dirty="0">
                <a:solidFill>
                  <a:srgbClr val="C4B8C4"/>
                </a:solidFill>
                <a:latin typeface="DM Sans" pitchFamily="34" charset="0"/>
                <a:ea typeface="DM Sans" pitchFamily="34" charset="-122"/>
                <a:cs typeface="DM Sans" pitchFamily="34" charset="-120"/>
              </a:rPr>
              <a:t>Project equity multiple</a:t>
            </a:r>
            <a:endParaRPr lang="en-US" sz="850" dirty="0"/>
          </a:p>
        </p:txBody>
      </p:sp>
      <p:sp>
        <p:nvSpPr>
          <p:cNvPr id="76" name="Text 74"/>
          <p:cNvSpPr/>
          <p:nvPr/>
        </p:nvSpPr>
        <p:spPr>
          <a:xfrm>
            <a:off x="8732520" y="4014216"/>
            <a:ext cx="2834640" cy="292608"/>
          </a:xfrm>
          <a:prstGeom prst="rect">
            <a:avLst/>
          </a:prstGeom>
          <a:noFill/>
          <a:ln/>
        </p:spPr>
        <p:txBody>
          <a:bodyPr wrap="square" lIns="0" tIns="0" rIns="0" bIns="0" rtlCol="0" anchor="ctr"/>
          <a:lstStyle/>
          <a:p>
            <a:pPr algn="l" indent="0" marL="0">
              <a:buNone/>
            </a:pPr>
            <a:r>
              <a:rPr lang="en-US" sz="1700" b="1" dirty="0">
                <a:solidFill>
                  <a:srgbClr val="FFFFFF"/>
                </a:solidFill>
                <a:latin typeface="Montserrat" pitchFamily="34" charset="0"/>
                <a:ea typeface="Montserrat" pitchFamily="34" charset="-122"/>
                <a:cs typeface="Montserrat" pitchFamily="34" charset="-120"/>
              </a:rPr>
              <a:t>~39%</a:t>
            </a:r>
            <a:endParaRPr lang="en-US" sz="1700" dirty="0"/>
          </a:p>
        </p:txBody>
      </p:sp>
      <p:sp>
        <p:nvSpPr>
          <p:cNvPr id="77" name="Text 75"/>
          <p:cNvSpPr/>
          <p:nvPr/>
        </p:nvSpPr>
        <p:spPr>
          <a:xfrm>
            <a:off x="8732520" y="4297680"/>
            <a:ext cx="2834640" cy="201168"/>
          </a:xfrm>
          <a:prstGeom prst="rect">
            <a:avLst/>
          </a:prstGeom>
          <a:noFill/>
          <a:ln/>
        </p:spPr>
        <p:txBody>
          <a:bodyPr wrap="square" lIns="0" tIns="0" rIns="0" bIns="0" rtlCol="0" anchor="ctr"/>
          <a:lstStyle/>
          <a:p>
            <a:pPr algn="l" indent="0" marL="0">
              <a:buNone/>
            </a:pPr>
            <a:r>
              <a:rPr lang="en-US" sz="850" dirty="0">
                <a:solidFill>
                  <a:srgbClr val="C4B8C4"/>
                </a:solidFill>
                <a:latin typeface="DM Sans" pitchFamily="34" charset="0"/>
                <a:ea typeface="DM Sans" pitchFamily="34" charset="-122"/>
                <a:cs typeface="DM Sans" pitchFamily="34" charset="-120"/>
              </a:rPr>
              <a:t>Project IRR (levered)</a:t>
            </a:r>
            <a:endParaRPr lang="en-US" sz="850" dirty="0"/>
          </a:p>
        </p:txBody>
      </p:sp>
      <p:sp>
        <p:nvSpPr>
          <p:cNvPr id="78" name="Text 76"/>
          <p:cNvSpPr/>
          <p:nvPr/>
        </p:nvSpPr>
        <p:spPr>
          <a:xfrm>
            <a:off x="8732520" y="4590288"/>
            <a:ext cx="2834640" cy="292608"/>
          </a:xfrm>
          <a:prstGeom prst="rect">
            <a:avLst/>
          </a:prstGeom>
          <a:noFill/>
          <a:ln/>
        </p:spPr>
        <p:txBody>
          <a:bodyPr wrap="square" lIns="0" tIns="0" rIns="0" bIns="0" rtlCol="0" anchor="ctr"/>
          <a:lstStyle/>
          <a:p>
            <a:pPr algn="l" indent="0" marL="0">
              <a:buNone/>
            </a:pPr>
            <a:r>
              <a:rPr lang="en-US" sz="1700" b="1" dirty="0">
                <a:solidFill>
                  <a:srgbClr val="FFFFFF"/>
                </a:solidFill>
                <a:latin typeface="Montserrat" pitchFamily="34" charset="0"/>
                <a:ea typeface="Montserrat" pitchFamily="34" charset="-122"/>
                <a:cs typeface="Montserrat" pitchFamily="34" charset="-120"/>
              </a:rPr>
              <a:t>~33%</a:t>
            </a:r>
            <a:endParaRPr lang="en-US" sz="1700" dirty="0"/>
          </a:p>
        </p:txBody>
      </p:sp>
      <p:sp>
        <p:nvSpPr>
          <p:cNvPr id="79" name="Text 77"/>
          <p:cNvSpPr/>
          <p:nvPr/>
        </p:nvSpPr>
        <p:spPr>
          <a:xfrm>
            <a:off x="8732520" y="4873752"/>
            <a:ext cx="2834640" cy="201168"/>
          </a:xfrm>
          <a:prstGeom prst="rect">
            <a:avLst/>
          </a:prstGeom>
          <a:noFill/>
          <a:ln/>
        </p:spPr>
        <p:txBody>
          <a:bodyPr wrap="square" lIns="0" tIns="0" rIns="0" bIns="0" rtlCol="0" anchor="ctr"/>
          <a:lstStyle/>
          <a:p>
            <a:pPr algn="l" indent="0" marL="0">
              <a:buNone/>
            </a:pPr>
            <a:r>
              <a:rPr lang="en-US" sz="850" dirty="0">
                <a:solidFill>
                  <a:srgbClr val="C4B8C4"/>
                </a:solidFill>
                <a:latin typeface="DM Sans" pitchFamily="34" charset="0"/>
                <a:ea typeface="DM Sans" pitchFamily="34" charset="-122"/>
                <a:cs typeface="DM Sans" pitchFamily="34" charset="-120"/>
              </a:rPr>
              <a:t>LP IRR (after promote)</a:t>
            </a:r>
            <a:endParaRPr lang="en-US" sz="850" dirty="0"/>
          </a:p>
        </p:txBody>
      </p:sp>
      <p:sp>
        <p:nvSpPr>
          <p:cNvPr id="80" name="Shape 78"/>
          <p:cNvSpPr/>
          <p:nvPr/>
        </p:nvSpPr>
        <p:spPr>
          <a:xfrm>
            <a:off x="457200" y="5440680"/>
            <a:ext cx="11274552" cy="411480"/>
          </a:xfrm>
          <a:prstGeom prst="rect">
            <a:avLst/>
          </a:prstGeom>
          <a:solidFill>
            <a:srgbClr val="3A243A"/>
          </a:solidFill>
          <a:ln/>
        </p:spPr>
      </p:sp>
      <p:sp>
        <p:nvSpPr>
          <p:cNvPr id="81" name="Text 79"/>
          <p:cNvSpPr/>
          <p:nvPr/>
        </p:nvSpPr>
        <p:spPr>
          <a:xfrm>
            <a:off x="640080" y="5440680"/>
            <a:ext cx="10908792" cy="411480"/>
          </a:xfrm>
          <a:prstGeom prst="rect">
            <a:avLst/>
          </a:prstGeom>
          <a:noFill/>
          <a:ln/>
        </p:spPr>
        <p:txBody>
          <a:bodyPr wrap="square" lIns="0" tIns="0" rIns="0" bIns="0" rtlCol="0" anchor="ctr"/>
          <a:lstStyle/>
          <a:p>
            <a:pPr algn="ctr" indent="0" marL="0">
              <a:buNone/>
            </a:pPr>
            <a:r>
              <a:rPr lang="en-US" sz="1050" b="1" dirty="0">
                <a:solidFill>
                  <a:srgbClr val="FFFFFF"/>
                </a:solidFill>
                <a:latin typeface="DM Sans" pitchFamily="34" charset="0"/>
                <a:ea typeface="DM Sans" pitchFamily="34" charset="-122"/>
                <a:cs typeface="DM Sans" pitchFamily="34" charset="-120"/>
              </a:rPr>
              <a:t>Illustrative: ~$14.5M profit on ~$27.5M cost — 70% LTC → ~2.8× equity, ~39% levered (33% LP after promote). We deliver finished lots; builders just build.</a:t>
            </a:r>
            <a:endParaRPr lang="en-US" sz="1050" dirty="0"/>
          </a:p>
        </p:txBody>
      </p:sp>
      <p:sp>
        <p:nvSpPr>
          <p:cNvPr id="82" name="Text 80"/>
          <p:cNvSpPr/>
          <p:nvPr/>
        </p:nvSpPr>
        <p:spPr>
          <a:xfrm>
            <a:off x="457200" y="6016752"/>
            <a:ext cx="11274552" cy="237744"/>
          </a:xfrm>
          <a:prstGeom prst="rect">
            <a:avLst/>
          </a:prstGeom>
          <a:noFill/>
          <a:ln/>
        </p:spPr>
        <p:txBody>
          <a:bodyPr wrap="square" lIns="0" tIns="0" rIns="0" bIns="0" rtlCol="0" anchor="ctr"/>
          <a:lstStyle/>
          <a:p>
            <a:pPr algn="l" indent="0" marL="0">
              <a:buNone/>
            </a:pPr>
            <a:r>
              <a:rPr lang="en-US" sz="750" dirty="0">
                <a:solidFill>
                  <a:srgbClr val="6B5A6B"/>
                </a:solidFill>
                <a:latin typeface="DM Sans" pitchFamily="34" charset="0"/>
                <a:ea typeface="DM Sans" pitchFamily="34" charset="-122"/>
                <a:cs typeface="DM Sans" pitchFamily="34" charset="-120"/>
              </a:rPr>
              <a:t>Illustrative pro forma for discussion only — basis and sources on the following slide; figures subject to confirmation.</a:t>
            </a:r>
            <a:endParaRPr lang="en-US" sz="7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11 / 20</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PRO FORMA  ·  BASIS &amp; SOURCES</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What the pro forma assumes — and why.</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Every input, its value, and the reasoning. Market figures are from public sources; deal-specific figures (acreage, land basis, density) are to be confirmed in diligence.</a:t>
            </a:r>
            <a:endParaRPr lang="en-US" sz="1300" dirty="0"/>
          </a:p>
        </p:txBody>
      </p:sp>
      <p:sp>
        <p:nvSpPr>
          <p:cNvPr id="11" name="Shape 9"/>
          <p:cNvSpPr/>
          <p:nvPr/>
        </p:nvSpPr>
        <p:spPr>
          <a:xfrm>
            <a:off x="457200" y="1920240"/>
            <a:ext cx="2651760" cy="365760"/>
          </a:xfrm>
          <a:prstGeom prst="rect">
            <a:avLst/>
          </a:prstGeom>
          <a:solidFill>
            <a:srgbClr val="0B163C"/>
          </a:solidFill>
          <a:ln/>
        </p:spPr>
      </p:sp>
      <p:sp>
        <p:nvSpPr>
          <p:cNvPr id="12" name="Text 10"/>
          <p:cNvSpPr/>
          <p:nvPr/>
        </p:nvSpPr>
        <p:spPr>
          <a:xfrm>
            <a:off x="457200" y="1920240"/>
            <a:ext cx="2651760"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Assumption</a:t>
            </a:r>
            <a:endParaRPr lang="en-US" sz="900" dirty="0"/>
          </a:p>
        </p:txBody>
      </p:sp>
      <p:sp>
        <p:nvSpPr>
          <p:cNvPr id="13" name="Shape 11"/>
          <p:cNvSpPr/>
          <p:nvPr/>
        </p:nvSpPr>
        <p:spPr>
          <a:xfrm>
            <a:off x="3108960" y="1920240"/>
            <a:ext cx="1554480" cy="365760"/>
          </a:xfrm>
          <a:prstGeom prst="rect">
            <a:avLst/>
          </a:prstGeom>
          <a:solidFill>
            <a:srgbClr val="0B163C"/>
          </a:solidFill>
          <a:ln/>
        </p:spPr>
      </p:sp>
      <p:sp>
        <p:nvSpPr>
          <p:cNvPr id="14" name="Text 12"/>
          <p:cNvSpPr/>
          <p:nvPr/>
        </p:nvSpPr>
        <p:spPr>
          <a:xfrm>
            <a:off x="3108960" y="1920240"/>
            <a:ext cx="1554480" cy="365760"/>
          </a:xfrm>
          <a:prstGeom prst="rect">
            <a:avLst/>
          </a:prstGeom>
          <a:noFill/>
          <a:ln/>
        </p:spPr>
        <p:txBody>
          <a:bodyPr wrap="square" lIns="25400" tIns="76200" rIns="76200" bIns="25400" rtlCol="0" anchor="ctr"/>
          <a:lstStyle/>
          <a:p>
            <a:pPr algn="ctr" indent="0" marL="0">
              <a:buNone/>
            </a:pPr>
            <a:r>
              <a:rPr lang="en-US" sz="900" b="1" dirty="0">
                <a:solidFill>
                  <a:srgbClr val="FFFFFF"/>
                </a:solidFill>
                <a:latin typeface="Montserrat" pitchFamily="34" charset="0"/>
                <a:ea typeface="Montserrat" pitchFamily="34" charset="-122"/>
                <a:cs typeface="Montserrat" pitchFamily="34" charset="-120"/>
              </a:rPr>
              <a:t>Value</a:t>
            </a:r>
            <a:endParaRPr lang="en-US" sz="900" dirty="0"/>
          </a:p>
        </p:txBody>
      </p:sp>
      <p:sp>
        <p:nvSpPr>
          <p:cNvPr id="15" name="Shape 13"/>
          <p:cNvSpPr/>
          <p:nvPr/>
        </p:nvSpPr>
        <p:spPr>
          <a:xfrm>
            <a:off x="4663440" y="1920240"/>
            <a:ext cx="7068312" cy="365760"/>
          </a:xfrm>
          <a:prstGeom prst="rect">
            <a:avLst/>
          </a:prstGeom>
          <a:solidFill>
            <a:srgbClr val="0B163C"/>
          </a:solidFill>
          <a:ln/>
        </p:spPr>
      </p:sp>
      <p:sp>
        <p:nvSpPr>
          <p:cNvPr id="16" name="Text 14"/>
          <p:cNvSpPr/>
          <p:nvPr/>
        </p:nvSpPr>
        <p:spPr>
          <a:xfrm>
            <a:off x="4663440" y="1920240"/>
            <a:ext cx="7068312"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Basis / reasoning</a:t>
            </a:r>
            <a:endParaRPr lang="en-US" sz="900" dirty="0"/>
          </a:p>
        </p:txBody>
      </p:sp>
      <p:sp>
        <p:nvSpPr>
          <p:cNvPr id="17" name="Shape 15"/>
          <p:cNvSpPr/>
          <p:nvPr/>
        </p:nvSpPr>
        <p:spPr>
          <a:xfrm>
            <a:off x="457200" y="2286000"/>
            <a:ext cx="2651760" cy="438912"/>
          </a:xfrm>
          <a:prstGeom prst="rect">
            <a:avLst/>
          </a:prstGeom>
          <a:solidFill>
            <a:srgbClr val="FFFFFF"/>
          </a:solidFill>
          <a:ln/>
        </p:spPr>
      </p:sp>
      <p:sp>
        <p:nvSpPr>
          <p:cNvPr id="18" name="Text 16"/>
          <p:cNvSpPr/>
          <p:nvPr/>
        </p:nvSpPr>
        <p:spPr>
          <a:xfrm>
            <a:off x="457200" y="2286000"/>
            <a:ext cx="2651760" cy="438912"/>
          </a:xfrm>
          <a:prstGeom prst="rect">
            <a:avLst/>
          </a:prstGeom>
          <a:noFill/>
          <a:ln/>
        </p:spPr>
        <p:txBody>
          <a:bodyPr wrap="square" lIns="25400" tIns="76200" rIns="76200" bIns="25400" rtlCol="0" anchor="ctr"/>
          <a:lstStyle/>
          <a:p>
            <a:pPr algn="l" indent="0" marL="0">
              <a:buNone/>
            </a:pPr>
            <a:r>
              <a:rPr lang="en-US" sz="950" b="1" dirty="0">
                <a:solidFill>
                  <a:srgbClr val="0B163C"/>
                </a:solidFill>
                <a:latin typeface="Montserrat" pitchFamily="34" charset="0"/>
                <a:ea typeface="Montserrat" pitchFamily="34" charset="-122"/>
                <a:cs typeface="Montserrat" pitchFamily="34" charset="-120"/>
              </a:rPr>
              <a:t>Net developable acreage</a:t>
            </a:r>
            <a:endParaRPr lang="en-US" sz="950" dirty="0"/>
          </a:p>
        </p:txBody>
      </p:sp>
      <p:sp>
        <p:nvSpPr>
          <p:cNvPr id="19" name="Shape 17"/>
          <p:cNvSpPr/>
          <p:nvPr/>
        </p:nvSpPr>
        <p:spPr>
          <a:xfrm>
            <a:off x="3108960" y="2286000"/>
            <a:ext cx="1554480" cy="438912"/>
          </a:xfrm>
          <a:prstGeom prst="rect">
            <a:avLst/>
          </a:prstGeom>
          <a:solidFill>
            <a:srgbClr val="FFFFFF"/>
          </a:solidFill>
          <a:ln/>
        </p:spPr>
      </p:sp>
      <p:sp>
        <p:nvSpPr>
          <p:cNvPr id="20" name="Text 18"/>
          <p:cNvSpPr/>
          <p:nvPr/>
        </p:nvSpPr>
        <p:spPr>
          <a:xfrm>
            <a:off x="3108960" y="2286000"/>
            <a:ext cx="1554480" cy="438912"/>
          </a:xfrm>
          <a:prstGeom prst="rect">
            <a:avLst/>
          </a:prstGeom>
          <a:noFill/>
          <a:ln/>
        </p:spPr>
        <p:txBody>
          <a:bodyPr wrap="square" lIns="25400" tIns="76200" rIns="76200" bIns="25400" rtlCol="0" anchor="ctr"/>
          <a:lstStyle/>
          <a:p>
            <a:pPr algn="ctr" indent="0" marL="0">
              <a:buNone/>
            </a:pPr>
            <a:r>
              <a:rPr lang="en-US" sz="950" b="1" dirty="0">
                <a:solidFill>
                  <a:srgbClr val="3A243A"/>
                </a:solidFill>
                <a:latin typeface="Montserrat" pitchFamily="34" charset="0"/>
                <a:ea typeface="Montserrat" pitchFamily="34" charset="-122"/>
                <a:cs typeface="Montserrat" pitchFamily="34" charset="-120"/>
              </a:rPr>
              <a:t>~140 ac</a:t>
            </a:r>
            <a:endParaRPr lang="en-US" sz="950" dirty="0"/>
          </a:p>
        </p:txBody>
      </p:sp>
      <p:sp>
        <p:nvSpPr>
          <p:cNvPr id="21" name="Shape 19"/>
          <p:cNvSpPr/>
          <p:nvPr/>
        </p:nvSpPr>
        <p:spPr>
          <a:xfrm>
            <a:off x="4663440" y="2286000"/>
            <a:ext cx="7068312" cy="438912"/>
          </a:xfrm>
          <a:prstGeom prst="rect">
            <a:avLst/>
          </a:prstGeom>
          <a:solidFill>
            <a:srgbClr val="FFFFFF"/>
          </a:solidFill>
          <a:ln/>
        </p:spPr>
      </p:sp>
      <p:sp>
        <p:nvSpPr>
          <p:cNvPr id="22" name="Text 20"/>
          <p:cNvSpPr/>
          <p:nvPr/>
        </p:nvSpPr>
        <p:spPr>
          <a:xfrm>
            <a:off x="4663440" y="2286000"/>
            <a:ext cx="7068312" cy="438912"/>
          </a:xfrm>
          <a:prstGeom prst="rect">
            <a:avLst/>
          </a:prstGeom>
          <a:noFill/>
          <a:ln/>
        </p:spPr>
        <p:txBody>
          <a:bodyPr wrap="square" lIns="25400" tIns="76200" rIns="76200" bIns="25400" rtlCol="0" anchor="ctr"/>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700 gross − 198 conservation − ~300 golf − ~60 Critical Area; survey to confirm</a:t>
            </a:r>
            <a:endParaRPr lang="en-US" sz="900" dirty="0"/>
          </a:p>
        </p:txBody>
      </p:sp>
      <p:sp>
        <p:nvSpPr>
          <p:cNvPr id="23" name="Shape 21"/>
          <p:cNvSpPr/>
          <p:nvPr/>
        </p:nvSpPr>
        <p:spPr>
          <a:xfrm>
            <a:off x="457200" y="2724912"/>
            <a:ext cx="2651760" cy="438912"/>
          </a:xfrm>
          <a:prstGeom prst="rect">
            <a:avLst/>
          </a:prstGeom>
          <a:solidFill>
            <a:srgbClr val="F4F2ED"/>
          </a:solidFill>
          <a:ln/>
        </p:spPr>
      </p:sp>
      <p:sp>
        <p:nvSpPr>
          <p:cNvPr id="24" name="Text 22"/>
          <p:cNvSpPr/>
          <p:nvPr/>
        </p:nvSpPr>
        <p:spPr>
          <a:xfrm>
            <a:off x="457200" y="2724912"/>
            <a:ext cx="2651760" cy="438912"/>
          </a:xfrm>
          <a:prstGeom prst="rect">
            <a:avLst/>
          </a:prstGeom>
          <a:noFill/>
          <a:ln/>
        </p:spPr>
        <p:txBody>
          <a:bodyPr wrap="square" lIns="25400" tIns="76200" rIns="76200" bIns="25400" rtlCol="0" anchor="ctr"/>
          <a:lstStyle/>
          <a:p>
            <a:pPr algn="l" indent="0" marL="0">
              <a:buNone/>
            </a:pPr>
            <a:r>
              <a:rPr lang="en-US" sz="950" b="1" dirty="0">
                <a:solidFill>
                  <a:srgbClr val="0B163C"/>
                </a:solidFill>
                <a:latin typeface="Montserrat" pitchFamily="34" charset="0"/>
                <a:ea typeface="Montserrat" pitchFamily="34" charset="-122"/>
                <a:cs typeface="Montserrat" pitchFamily="34" charset="-120"/>
              </a:rPr>
              <a:t>Lot density</a:t>
            </a:r>
            <a:endParaRPr lang="en-US" sz="950" dirty="0"/>
          </a:p>
        </p:txBody>
      </p:sp>
      <p:sp>
        <p:nvSpPr>
          <p:cNvPr id="25" name="Shape 23"/>
          <p:cNvSpPr/>
          <p:nvPr/>
        </p:nvSpPr>
        <p:spPr>
          <a:xfrm>
            <a:off x="3108960" y="2724912"/>
            <a:ext cx="1554480" cy="438912"/>
          </a:xfrm>
          <a:prstGeom prst="rect">
            <a:avLst/>
          </a:prstGeom>
          <a:solidFill>
            <a:srgbClr val="F4F2ED"/>
          </a:solidFill>
          <a:ln/>
        </p:spPr>
      </p:sp>
      <p:sp>
        <p:nvSpPr>
          <p:cNvPr id="26" name="Text 24"/>
          <p:cNvSpPr/>
          <p:nvPr/>
        </p:nvSpPr>
        <p:spPr>
          <a:xfrm>
            <a:off x="3108960" y="2724912"/>
            <a:ext cx="1554480" cy="438912"/>
          </a:xfrm>
          <a:prstGeom prst="rect">
            <a:avLst/>
          </a:prstGeom>
          <a:noFill/>
          <a:ln/>
        </p:spPr>
        <p:txBody>
          <a:bodyPr wrap="square" lIns="25400" tIns="76200" rIns="76200" bIns="25400" rtlCol="0" anchor="ctr"/>
          <a:lstStyle/>
          <a:p>
            <a:pPr algn="ctr" indent="0" marL="0">
              <a:buNone/>
            </a:pPr>
            <a:r>
              <a:rPr lang="en-US" sz="950" b="1" dirty="0">
                <a:solidFill>
                  <a:srgbClr val="3A243A"/>
                </a:solidFill>
                <a:latin typeface="Montserrat" pitchFamily="34" charset="0"/>
                <a:ea typeface="Montserrat" pitchFamily="34" charset="-122"/>
                <a:cs typeface="Montserrat" pitchFamily="34" charset="-120"/>
              </a:rPr>
              <a:t>~2.0 / ac</a:t>
            </a:r>
            <a:endParaRPr lang="en-US" sz="950" dirty="0"/>
          </a:p>
        </p:txBody>
      </p:sp>
      <p:sp>
        <p:nvSpPr>
          <p:cNvPr id="27" name="Shape 25"/>
          <p:cNvSpPr/>
          <p:nvPr/>
        </p:nvSpPr>
        <p:spPr>
          <a:xfrm>
            <a:off x="4663440" y="2724912"/>
            <a:ext cx="7068312" cy="438912"/>
          </a:xfrm>
          <a:prstGeom prst="rect">
            <a:avLst/>
          </a:prstGeom>
          <a:solidFill>
            <a:srgbClr val="F4F2ED"/>
          </a:solidFill>
          <a:ln/>
        </p:spPr>
      </p:sp>
      <p:sp>
        <p:nvSpPr>
          <p:cNvPr id="28" name="Text 26"/>
          <p:cNvSpPr/>
          <p:nvPr/>
        </p:nvSpPr>
        <p:spPr>
          <a:xfrm>
            <a:off x="4663440" y="2724912"/>
            <a:ext cx="7068312" cy="438912"/>
          </a:xfrm>
          <a:prstGeom prst="rect">
            <a:avLst/>
          </a:prstGeom>
          <a:noFill/>
          <a:ln/>
        </p:spPr>
        <p:txBody>
          <a:bodyPr wrap="square" lIns="25400" tIns="76200" rIns="76200" bIns="25400" rtlCol="0" anchor="ctr"/>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Blended for the developable (non-Critical-Area) land; Queen Anne's County zoning to confirm</a:t>
            </a:r>
            <a:endParaRPr lang="en-US" sz="900" dirty="0"/>
          </a:p>
        </p:txBody>
      </p:sp>
      <p:sp>
        <p:nvSpPr>
          <p:cNvPr id="29" name="Shape 27"/>
          <p:cNvSpPr/>
          <p:nvPr/>
        </p:nvSpPr>
        <p:spPr>
          <a:xfrm>
            <a:off x="457200" y="3163824"/>
            <a:ext cx="2651760" cy="438912"/>
          </a:xfrm>
          <a:prstGeom prst="rect">
            <a:avLst/>
          </a:prstGeom>
          <a:solidFill>
            <a:srgbClr val="FFFFFF"/>
          </a:solidFill>
          <a:ln/>
        </p:spPr>
      </p:sp>
      <p:sp>
        <p:nvSpPr>
          <p:cNvPr id="30" name="Text 28"/>
          <p:cNvSpPr/>
          <p:nvPr/>
        </p:nvSpPr>
        <p:spPr>
          <a:xfrm>
            <a:off x="457200" y="3163824"/>
            <a:ext cx="2651760" cy="438912"/>
          </a:xfrm>
          <a:prstGeom prst="rect">
            <a:avLst/>
          </a:prstGeom>
          <a:noFill/>
          <a:ln/>
        </p:spPr>
        <p:txBody>
          <a:bodyPr wrap="square" lIns="25400" tIns="76200" rIns="76200" bIns="25400" rtlCol="0" anchor="ctr"/>
          <a:lstStyle/>
          <a:p>
            <a:pPr algn="l" indent="0" marL="0">
              <a:buNone/>
            </a:pPr>
            <a:r>
              <a:rPr lang="en-US" sz="950" b="1" dirty="0">
                <a:solidFill>
                  <a:srgbClr val="0B163C"/>
                </a:solidFill>
                <a:latin typeface="Montserrat" pitchFamily="34" charset="0"/>
                <a:ea typeface="Montserrat" pitchFamily="34" charset="-122"/>
                <a:cs typeface="Montserrat" pitchFamily="34" charset="-120"/>
              </a:rPr>
              <a:t>Finished lot price</a:t>
            </a:r>
            <a:endParaRPr lang="en-US" sz="950" dirty="0"/>
          </a:p>
        </p:txBody>
      </p:sp>
      <p:sp>
        <p:nvSpPr>
          <p:cNvPr id="31" name="Shape 29"/>
          <p:cNvSpPr/>
          <p:nvPr/>
        </p:nvSpPr>
        <p:spPr>
          <a:xfrm>
            <a:off x="3108960" y="3163824"/>
            <a:ext cx="1554480" cy="438912"/>
          </a:xfrm>
          <a:prstGeom prst="rect">
            <a:avLst/>
          </a:prstGeom>
          <a:solidFill>
            <a:srgbClr val="FFFFFF"/>
          </a:solidFill>
          <a:ln/>
        </p:spPr>
      </p:sp>
      <p:sp>
        <p:nvSpPr>
          <p:cNvPr id="32" name="Text 30"/>
          <p:cNvSpPr/>
          <p:nvPr/>
        </p:nvSpPr>
        <p:spPr>
          <a:xfrm>
            <a:off x="3108960" y="3163824"/>
            <a:ext cx="1554480" cy="438912"/>
          </a:xfrm>
          <a:prstGeom prst="rect">
            <a:avLst/>
          </a:prstGeom>
          <a:noFill/>
          <a:ln/>
        </p:spPr>
        <p:txBody>
          <a:bodyPr wrap="square" lIns="25400" tIns="76200" rIns="76200" bIns="25400" rtlCol="0" anchor="ctr"/>
          <a:lstStyle/>
          <a:p>
            <a:pPr algn="ctr" indent="0" marL="0">
              <a:buNone/>
            </a:pPr>
            <a:r>
              <a:rPr lang="en-US" sz="950" b="1" dirty="0">
                <a:solidFill>
                  <a:srgbClr val="3A243A"/>
                </a:solidFill>
                <a:latin typeface="Montserrat" pitchFamily="34" charset="0"/>
                <a:ea typeface="Montserrat" pitchFamily="34" charset="-122"/>
                <a:cs typeface="Montserrat" pitchFamily="34" charset="-120"/>
              </a:rPr>
              <a:t>$150K</a:t>
            </a:r>
            <a:endParaRPr lang="en-US" sz="950" dirty="0"/>
          </a:p>
        </p:txBody>
      </p:sp>
      <p:sp>
        <p:nvSpPr>
          <p:cNvPr id="33" name="Shape 31"/>
          <p:cNvSpPr/>
          <p:nvPr/>
        </p:nvSpPr>
        <p:spPr>
          <a:xfrm>
            <a:off x="4663440" y="3163824"/>
            <a:ext cx="7068312" cy="438912"/>
          </a:xfrm>
          <a:prstGeom prst="rect">
            <a:avLst/>
          </a:prstGeom>
          <a:solidFill>
            <a:srgbClr val="FFFFFF"/>
          </a:solidFill>
          <a:ln/>
        </p:spPr>
      </p:sp>
      <p:sp>
        <p:nvSpPr>
          <p:cNvPr id="34" name="Text 32"/>
          <p:cNvSpPr/>
          <p:nvPr/>
        </p:nvSpPr>
        <p:spPr>
          <a:xfrm>
            <a:off x="4663440" y="3163824"/>
            <a:ext cx="7068312" cy="438912"/>
          </a:xfrm>
          <a:prstGeom prst="rect">
            <a:avLst/>
          </a:prstGeom>
          <a:noFill/>
          <a:ln/>
        </p:spPr>
        <p:txBody>
          <a:bodyPr wrap="square" lIns="25400" tIns="76200" rIns="76200" bIns="25400" rtlCol="0" anchor="ctr"/>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Conservative — QAC building lots average ~$237K; new homes $600–705K (lot ≈ 24% of home)</a:t>
            </a:r>
            <a:endParaRPr lang="en-US" sz="900" dirty="0"/>
          </a:p>
        </p:txBody>
      </p:sp>
      <p:sp>
        <p:nvSpPr>
          <p:cNvPr id="35" name="Shape 33"/>
          <p:cNvSpPr/>
          <p:nvPr/>
        </p:nvSpPr>
        <p:spPr>
          <a:xfrm>
            <a:off x="457200" y="3602736"/>
            <a:ext cx="2651760" cy="438912"/>
          </a:xfrm>
          <a:prstGeom prst="rect">
            <a:avLst/>
          </a:prstGeom>
          <a:solidFill>
            <a:srgbClr val="F4F2ED"/>
          </a:solidFill>
          <a:ln/>
        </p:spPr>
      </p:sp>
      <p:sp>
        <p:nvSpPr>
          <p:cNvPr id="36" name="Text 34"/>
          <p:cNvSpPr/>
          <p:nvPr/>
        </p:nvSpPr>
        <p:spPr>
          <a:xfrm>
            <a:off x="457200" y="3602736"/>
            <a:ext cx="2651760" cy="438912"/>
          </a:xfrm>
          <a:prstGeom prst="rect">
            <a:avLst/>
          </a:prstGeom>
          <a:noFill/>
          <a:ln/>
        </p:spPr>
        <p:txBody>
          <a:bodyPr wrap="square" lIns="25400" tIns="76200" rIns="76200" bIns="25400" rtlCol="0" anchor="ctr"/>
          <a:lstStyle/>
          <a:p>
            <a:pPr algn="l" indent="0" marL="0">
              <a:buNone/>
            </a:pPr>
            <a:r>
              <a:rPr lang="en-US" sz="950" b="1" dirty="0">
                <a:solidFill>
                  <a:srgbClr val="0B163C"/>
                </a:solidFill>
                <a:latin typeface="Montserrat" pitchFamily="34" charset="0"/>
                <a:ea typeface="Montserrat" pitchFamily="34" charset="-122"/>
                <a:cs typeface="Montserrat" pitchFamily="34" charset="-120"/>
              </a:rPr>
              <a:t>Horizontal site development</a:t>
            </a:r>
            <a:endParaRPr lang="en-US" sz="950" dirty="0"/>
          </a:p>
        </p:txBody>
      </p:sp>
      <p:sp>
        <p:nvSpPr>
          <p:cNvPr id="37" name="Shape 35"/>
          <p:cNvSpPr/>
          <p:nvPr/>
        </p:nvSpPr>
        <p:spPr>
          <a:xfrm>
            <a:off x="3108960" y="3602736"/>
            <a:ext cx="1554480" cy="438912"/>
          </a:xfrm>
          <a:prstGeom prst="rect">
            <a:avLst/>
          </a:prstGeom>
          <a:solidFill>
            <a:srgbClr val="F4F2ED"/>
          </a:solidFill>
          <a:ln/>
        </p:spPr>
      </p:sp>
      <p:sp>
        <p:nvSpPr>
          <p:cNvPr id="38" name="Text 36"/>
          <p:cNvSpPr/>
          <p:nvPr/>
        </p:nvSpPr>
        <p:spPr>
          <a:xfrm>
            <a:off x="3108960" y="3602736"/>
            <a:ext cx="1554480" cy="438912"/>
          </a:xfrm>
          <a:prstGeom prst="rect">
            <a:avLst/>
          </a:prstGeom>
          <a:noFill/>
          <a:ln/>
        </p:spPr>
        <p:txBody>
          <a:bodyPr wrap="square" lIns="25400" tIns="76200" rIns="76200" bIns="25400" rtlCol="0" anchor="ctr"/>
          <a:lstStyle/>
          <a:p>
            <a:pPr algn="ctr" indent="0" marL="0">
              <a:buNone/>
            </a:pPr>
            <a:r>
              <a:rPr lang="en-US" sz="950" b="1" dirty="0">
                <a:solidFill>
                  <a:srgbClr val="3A243A"/>
                </a:solidFill>
                <a:latin typeface="Montserrat" pitchFamily="34" charset="0"/>
                <a:ea typeface="Montserrat" pitchFamily="34" charset="-122"/>
                <a:cs typeface="Montserrat" pitchFamily="34" charset="-120"/>
              </a:rPr>
              <a:t>$60K / lot</a:t>
            </a:r>
            <a:endParaRPr lang="en-US" sz="950" dirty="0"/>
          </a:p>
        </p:txBody>
      </p:sp>
      <p:sp>
        <p:nvSpPr>
          <p:cNvPr id="39" name="Shape 37"/>
          <p:cNvSpPr/>
          <p:nvPr/>
        </p:nvSpPr>
        <p:spPr>
          <a:xfrm>
            <a:off x="4663440" y="3602736"/>
            <a:ext cx="7068312" cy="438912"/>
          </a:xfrm>
          <a:prstGeom prst="rect">
            <a:avLst/>
          </a:prstGeom>
          <a:solidFill>
            <a:srgbClr val="F4F2ED"/>
          </a:solidFill>
          <a:ln/>
        </p:spPr>
      </p:sp>
      <p:sp>
        <p:nvSpPr>
          <p:cNvPr id="40" name="Text 38"/>
          <p:cNvSpPr/>
          <p:nvPr/>
        </p:nvSpPr>
        <p:spPr>
          <a:xfrm>
            <a:off x="4663440" y="3602736"/>
            <a:ext cx="7068312" cy="438912"/>
          </a:xfrm>
          <a:prstGeom prst="rect">
            <a:avLst/>
          </a:prstGeom>
          <a:noFill/>
          <a:ln/>
        </p:spPr>
        <p:txBody>
          <a:bodyPr wrap="square" lIns="25400" tIns="76200" rIns="76200" bIns="25400" rtlCol="0" anchor="ctr"/>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JV-funded — roads, sewer, utilities; national benchmark $50–150K / acre</a:t>
            </a:r>
            <a:endParaRPr lang="en-US" sz="900" dirty="0"/>
          </a:p>
        </p:txBody>
      </p:sp>
      <p:sp>
        <p:nvSpPr>
          <p:cNvPr id="41" name="Shape 39"/>
          <p:cNvSpPr/>
          <p:nvPr/>
        </p:nvSpPr>
        <p:spPr>
          <a:xfrm>
            <a:off x="457200" y="4041648"/>
            <a:ext cx="2651760" cy="438912"/>
          </a:xfrm>
          <a:prstGeom prst="rect">
            <a:avLst/>
          </a:prstGeom>
          <a:solidFill>
            <a:srgbClr val="FFFFFF"/>
          </a:solidFill>
          <a:ln/>
        </p:spPr>
      </p:sp>
      <p:sp>
        <p:nvSpPr>
          <p:cNvPr id="42" name="Text 40"/>
          <p:cNvSpPr/>
          <p:nvPr/>
        </p:nvSpPr>
        <p:spPr>
          <a:xfrm>
            <a:off x="457200" y="4041648"/>
            <a:ext cx="2651760" cy="438912"/>
          </a:xfrm>
          <a:prstGeom prst="rect">
            <a:avLst/>
          </a:prstGeom>
          <a:noFill/>
          <a:ln/>
        </p:spPr>
        <p:txBody>
          <a:bodyPr wrap="square" lIns="25400" tIns="76200" rIns="76200" bIns="25400" rtlCol="0" anchor="ctr"/>
          <a:lstStyle/>
          <a:p>
            <a:pPr algn="l" indent="0" marL="0">
              <a:buNone/>
            </a:pPr>
            <a:r>
              <a:rPr lang="en-US" sz="950" b="1" dirty="0">
                <a:solidFill>
                  <a:srgbClr val="0B163C"/>
                </a:solidFill>
                <a:latin typeface="Montserrat" pitchFamily="34" charset="0"/>
                <a:ea typeface="Montserrat" pitchFamily="34" charset="-122"/>
                <a:cs typeface="Montserrat" pitchFamily="34" charset="-120"/>
              </a:rPr>
              <a:t>Soft costs</a:t>
            </a:r>
            <a:endParaRPr lang="en-US" sz="950" dirty="0"/>
          </a:p>
        </p:txBody>
      </p:sp>
      <p:sp>
        <p:nvSpPr>
          <p:cNvPr id="43" name="Shape 41"/>
          <p:cNvSpPr/>
          <p:nvPr/>
        </p:nvSpPr>
        <p:spPr>
          <a:xfrm>
            <a:off x="3108960" y="4041648"/>
            <a:ext cx="1554480" cy="438912"/>
          </a:xfrm>
          <a:prstGeom prst="rect">
            <a:avLst/>
          </a:prstGeom>
          <a:solidFill>
            <a:srgbClr val="FFFFFF"/>
          </a:solidFill>
          <a:ln/>
        </p:spPr>
      </p:sp>
      <p:sp>
        <p:nvSpPr>
          <p:cNvPr id="44" name="Text 42"/>
          <p:cNvSpPr/>
          <p:nvPr/>
        </p:nvSpPr>
        <p:spPr>
          <a:xfrm>
            <a:off x="3108960" y="4041648"/>
            <a:ext cx="1554480" cy="438912"/>
          </a:xfrm>
          <a:prstGeom prst="rect">
            <a:avLst/>
          </a:prstGeom>
          <a:noFill/>
          <a:ln/>
        </p:spPr>
        <p:txBody>
          <a:bodyPr wrap="square" lIns="25400" tIns="76200" rIns="76200" bIns="25400" rtlCol="0" anchor="ctr"/>
          <a:lstStyle/>
          <a:p>
            <a:pPr algn="ctr" indent="0" marL="0">
              <a:buNone/>
            </a:pPr>
            <a:r>
              <a:rPr lang="en-US" sz="950" b="1" dirty="0">
                <a:solidFill>
                  <a:srgbClr val="3A243A"/>
                </a:solidFill>
                <a:latin typeface="Montserrat" pitchFamily="34" charset="0"/>
                <a:ea typeface="Montserrat" pitchFamily="34" charset="-122"/>
                <a:cs typeface="Montserrat" pitchFamily="34" charset="-120"/>
              </a:rPr>
              <a:t>~$2.8M</a:t>
            </a:r>
            <a:endParaRPr lang="en-US" sz="950" dirty="0"/>
          </a:p>
        </p:txBody>
      </p:sp>
      <p:sp>
        <p:nvSpPr>
          <p:cNvPr id="45" name="Shape 43"/>
          <p:cNvSpPr/>
          <p:nvPr/>
        </p:nvSpPr>
        <p:spPr>
          <a:xfrm>
            <a:off x="4663440" y="4041648"/>
            <a:ext cx="7068312" cy="438912"/>
          </a:xfrm>
          <a:prstGeom prst="rect">
            <a:avLst/>
          </a:prstGeom>
          <a:solidFill>
            <a:srgbClr val="FFFFFF"/>
          </a:solidFill>
          <a:ln/>
        </p:spPr>
      </p:sp>
      <p:sp>
        <p:nvSpPr>
          <p:cNvPr id="46" name="Text 44"/>
          <p:cNvSpPr/>
          <p:nvPr/>
        </p:nvSpPr>
        <p:spPr>
          <a:xfrm>
            <a:off x="4663440" y="4041648"/>
            <a:ext cx="7068312" cy="438912"/>
          </a:xfrm>
          <a:prstGeom prst="rect">
            <a:avLst/>
          </a:prstGeom>
          <a:noFill/>
          <a:ln/>
        </p:spPr>
        <p:txBody>
          <a:bodyPr wrap="square" lIns="25400" tIns="76200" rIns="76200" bIns="25400" rtlCol="0" anchor="ctr"/>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Entitlement, civil &amp; environmental, legal / zoning and management</a:t>
            </a:r>
            <a:endParaRPr lang="en-US" sz="900" dirty="0"/>
          </a:p>
        </p:txBody>
      </p:sp>
      <p:sp>
        <p:nvSpPr>
          <p:cNvPr id="47" name="Shape 45"/>
          <p:cNvSpPr/>
          <p:nvPr/>
        </p:nvSpPr>
        <p:spPr>
          <a:xfrm>
            <a:off x="457200" y="4480560"/>
            <a:ext cx="2651760" cy="438912"/>
          </a:xfrm>
          <a:prstGeom prst="rect">
            <a:avLst/>
          </a:prstGeom>
          <a:solidFill>
            <a:srgbClr val="F4F2ED"/>
          </a:solidFill>
          <a:ln/>
        </p:spPr>
      </p:sp>
      <p:sp>
        <p:nvSpPr>
          <p:cNvPr id="48" name="Text 46"/>
          <p:cNvSpPr/>
          <p:nvPr/>
        </p:nvSpPr>
        <p:spPr>
          <a:xfrm>
            <a:off x="457200" y="4480560"/>
            <a:ext cx="2651760" cy="438912"/>
          </a:xfrm>
          <a:prstGeom prst="rect">
            <a:avLst/>
          </a:prstGeom>
          <a:noFill/>
          <a:ln/>
        </p:spPr>
        <p:txBody>
          <a:bodyPr wrap="square" lIns="25400" tIns="76200" rIns="76200" bIns="25400" rtlCol="0" anchor="ctr"/>
          <a:lstStyle/>
          <a:p>
            <a:pPr algn="l" indent="0" marL="0">
              <a:buNone/>
            </a:pPr>
            <a:r>
              <a:rPr lang="en-US" sz="950" b="1" dirty="0">
                <a:solidFill>
                  <a:srgbClr val="0B163C"/>
                </a:solidFill>
                <a:latin typeface="Montserrat" pitchFamily="34" charset="0"/>
                <a:ea typeface="Montserrat" pitchFamily="34" charset="-122"/>
                <a:cs typeface="Montserrat" pitchFamily="34" charset="-120"/>
              </a:rPr>
              <a:t>Development loan</a:t>
            </a:r>
            <a:endParaRPr lang="en-US" sz="950" dirty="0"/>
          </a:p>
        </p:txBody>
      </p:sp>
      <p:sp>
        <p:nvSpPr>
          <p:cNvPr id="49" name="Shape 47"/>
          <p:cNvSpPr/>
          <p:nvPr/>
        </p:nvSpPr>
        <p:spPr>
          <a:xfrm>
            <a:off x="3108960" y="4480560"/>
            <a:ext cx="1554480" cy="438912"/>
          </a:xfrm>
          <a:prstGeom prst="rect">
            <a:avLst/>
          </a:prstGeom>
          <a:solidFill>
            <a:srgbClr val="F4F2ED"/>
          </a:solidFill>
          <a:ln/>
        </p:spPr>
      </p:sp>
      <p:sp>
        <p:nvSpPr>
          <p:cNvPr id="50" name="Text 48"/>
          <p:cNvSpPr/>
          <p:nvPr/>
        </p:nvSpPr>
        <p:spPr>
          <a:xfrm>
            <a:off x="3108960" y="4480560"/>
            <a:ext cx="1554480" cy="438912"/>
          </a:xfrm>
          <a:prstGeom prst="rect">
            <a:avLst/>
          </a:prstGeom>
          <a:noFill/>
          <a:ln/>
        </p:spPr>
        <p:txBody>
          <a:bodyPr wrap="square" lIns="25400" tIns="76200" rIns="76200" bIns="25400" rtlCol="0" anchor="ctr"/>
          <a:lstStyle/>
          <a:p>
            <a:pPr algn="ctr" indent="0" marL="0">
              <a:buNone/>
            </a:pPr>
            <a:r>
              <a:rPr lang="en-US" sz="950" b="1" dirty="0">
                <a:solidFill>
                  <a:srgbClr val="3A243A"/>
                </a:solidFill>
                <a:latin typeface="Montserrat" pitchFamily="34" charset="0"/>
                <a:ea typeface="Montserrat" pitchFamily="34" charset="-122"/>
                <a:cs typeface="Montserrat" pitchFamily="34" charset="-120"/>
              </a:rPr>
              <a:t>~60% LTC</a:t>
            </a:r>
            <a:endParaRPr lang="en-US" sz="950" dirty="0"/>
          </a:p>
        </p:txBody>
      </p:sp>
      <p:sp>
        <p:nvSpPr>
          <p:cNvPr id="51" name="Shape 49"/>
          <p:cNvSpPr/>
          <p:nvPr/>
        </p:nvSpPr>
        <p:spPr>
          <a:xfrm>
            <a:off x="4663440" y="4480560"/>
            <a:ext cx="7068312" cy="438912"/>
          </a:xfrm>
          <a:prstGeom prst="rect">
            <a:avLst/>
          </a:prstGeom>
          <a:solidFill>
            <a:srgbClr val="F4F2ED"/>
          </a:solidFill>
          <a:ln/>
        </p:spPr>
      </p:sp>
      <p:sp>
        <p:nvSpPr>
          <p:cNvPr id="52" name="Text 50"/>
          <p:cNvSpPr/>
          <p:nvPr/>
        </p:nvSpPr>
        <p:spPr>
          <a:xfrm>
            <a:off x="4663440" y="4480560"/>
            <a:ext cx="7068312" cy="438912"/>
          </a:xfrm>
          <a:prstGeom prst="rect">
            <a:avLst/>
          </a:prstGeom>
          <a:noFill/>
          <a:ln/>
        </p:spPr>
        <p:txBody>
          <a:bodyPr wrap="square" lIns="25400" tIns="76200" rIns="76200" bIns="25400" rtlCol="0" anchor="ctr"/>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Standard land-development / A&amp;D financing on the horizontal</a:t>
            </a:r>
            <a:endParaRPr lang="en-US" sz="900" dirty="0"/>
          </a:p>
        </p:txBody>
      </p:sp>
      <p:sp>
        <p:nvSpPr>
          <p:cNvPr id="53" name="Shape 51"/>
          <p:cNvSpPr/>
          <p:nvPr/>
        </p:nvSpPr>
        <p:spPr>
          <a:xfrm>
            <a:off x="457200" y="4919472"/>
            <a:ext cx="2651760" cy="438912"/>
          </a:xfrm>
          <a:prstGeom prst="rect">
            <a:avLst/>
          </a:prstGeom>
          <a:solidFill>
            <a:srgbClr val="FFFFFF"/>
          </a:solidFill>
          <a:ln/>
        </p:spPr>
      </p:sp>
      <p:sp>
        <p:nvSpPr>
          <p:cNvPr id="54" name="Text 52"/>
          <p:cNvSpPr/>
          <p:nvPr/>
        </p:nvSpPr>
        <p:spPr>
          <a:xfrm>
            <a:off x="457200" y="4919472"/>
            <a:ext cx="2651760" cy="438912"/>
          </a:xfrm>
          <a:prstGeom prst="rect">
            <a:avLst/>
          </a:prstGeom>
          <a:noFill/>
          <a:ln/>
        </p:spPr>
        <p:txBody>
          <a:bodyPr wrap="square" lIns="25400" tIns="76200" rIns="76200" bIns="25400" rtlCol="0" anchor="ctr"/>
          <a:lstStyle/>
          <a:p>
            <a:pPr algn="l" indent="0" marL="0">
              <a:buNone/>
            </a:pPr>
            <a:r>
              <a:rPr lang="en-US" sz="950" b="1" dirty="0">
                <a:solidFill>
                  <a:srgbClr val="0B163C"/>
                </a:solidFill>
                <a:latin typeface="Montserrat" pitchFamily="34" charset="0"/>
                <a:ea typeface="Montserrat" pitchFamily="34" charset="-122"/>
                <a:cs typeface="Montserrat" pitchFamily="34" charset="-120"/>
              </a:rPr>
              <a:t>Land basis (contributed)</a:t>
            </a:r>
            <a:endParaRPr lang="en-US" sz="950" dirty="0"/>
          </a:p>
        </p:txBody>
      </p:sp>
      <p:sp>
        <p:nvSpPr>
          <p:cNvPr id="55" name="Shape 53"/>
          <p:cNvSpPr/>
          <p:nvPr/>
        </p:nvSpPr>
        <p:spPr>
          <a:xfrm>
            <a:off x="3108960" y="4919472"/>
            <a:ext cx="1554480" cy="438912"/>
          </a:xfrm>
          <a:prstGeom prst="rect">
            <a:avLst/>
          </a:prstGeom>
          <a:solidFill>
            <a:srgbClr val="FFFFFF"/>
          </a:solidFill>
          <a:ln/>
        </p:spPr>
      </p:sp>
      <p:sp>
        <p:nvSpPr>
          <p:cNvPr id="56" name="Text 54"/>
          <p:cNvSpPr/>
          <p:nvPr/>
        </p:nvSpPr>
        <p:spPr>
          <a:xfrm>
            <a:off x="3108960" y="4919472"/>
            <a:ext cx="1554480" cy="438912"/>
          </a:xfrm>
          <a:prstGeom prst="rect">
            <a:avLst/>
          </a:prstGeom>
          <a:noFill/>
          <a:ln/>
        </p:spPr>
        <p:txBody>
          <a:bodyPr wrap="square" lIns="25400" tIns="76200" rIns="76200" bIns="25400" rtlCol="0" anchor="ctr"/>
          <a:lstStyle/>
          <a:p>
            <a:pPr algn="ctr" indent="0" marL="0">
              <a:buNone/>
            </a:pPr>
            <a:r>
              <a:rPr lang="en-US" sz="950" b="1" dirty="0">
                <a:solidFill>
                  <a:srgbClr val="3A243A"/>
                </a:solidFill>
                <a:latin typeface="Montserrat" pitchFamily="34" charset="0"/>
                <a:ea typeface="Montserrat" pitchFamily="34" charset="-122"/>
                <a:cs typeface="Montserrat" pitchFamily="34" charset="-120"/>
              </a:rPr>
              <a:t>~$4.0M</a:t>
            </a:r>
            <a:endParaRPr lang="en-US" sz="950" dirty="0"/>
          </a:p>
        </p:txBody>
      </p:sp>
      <p:sp>
        <p:nvSpPr>
          <p:cNvPr id="57" name="Shape 55"/>
          <p:cNvSpPr/>
          <p:nvPr/>
        </p:nvSpPr>
        <p:spPr>
          <a:xfrm>
            <a:off x="4663440" y="4919472"/>
            <a:ext cx="7068312" cy="438912"/>
          </a:xfrm>
          <a:prstGeom prst="rect">
            <a:avLst/>
          </a:prstGeom>
          <a:solidFill>
            <a:srgbClr val="FFFFFF"/>
          </a:solidFill>
          <a:ln/>
        </p:spPr>
      </p:sp>
      <p:sp>
        <p:nvSpPr>
          <p:cNvPr id="58" name="Text 56"/>
          <p:cNvSpPr/>
          <p:nvPr/>
        </p:nvSpPr>
        <p:spPr>
          <a:xfrm>
            <a:off x="4663440" y="4919472"/>
            <a:ext cx="7068312" cy="438912"/>
          </a:xfrm>
          <a:prstGeom prst="rect">
            <a:avLst/>
          </a:prstGeom>
          <a:noFill/>
          <a:ln/>
        </p:spPr>
        <p:txBody>
          <a:bodyPr wrap="square" lIns="25400" tIns="76200" rIns="76200" bIns="25400" rtlCol="0" anchor="ctr"/>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Allocated from the $25M H6 purchase (~$29K / ac); joint appraisal to set</a:t>
            </a:r>
            <a:endParaRPr lang="en-US" sz="900" dirty="0"/>
          </a:p>
        </p:txBody>
      </p:sp>
      <p:sp>
        <p:nvSpPr>
          <p:cNvPr id="59" name="Shape 57"/>
          <p:cNvSpPr/>
          <p:nvPr/>
        </p:nvSpPr>
        <p:spPr>
          <a:xfrm>
            <a:off x="457200" y="5358384"/>
            <a:ext cx="2651760" cy="438912"/>
          </a:xfrm>
          <a:prstGeom prst="rect">
            <a:avLst/>
          </a:prstGeom>
          <a:solidFill>
            <a:srgbClr val="F4F2ED"/>
          </a:solidFill>
          <a:ln/>
        </p:spPr>
      </p:sp>
      <p:sp>
        <p:nvSpPr>
          <p:cNvPr id="60" name="Text 58"/>
          <p:cNvSpPr/>
          <p:nvPr/>
        </p:nvSpPr>
        <p:spPr>
          <a:xfrm>
            <a:off x="457200" y="5358384"/>
            <a:ext cx="2651760" cy="438912"/>
          </a:xfrm>
          <a:prstGeom prst="rect">
            <a:avLst/>
          </a:prstGeom>
          <a:noFill/>
          <a:ln/>
        </p:spPr>
        <p:txBody>
          <a:bodyPr wrap="square" lIns="25400" tIns="76200" rIns="76200" bIns="25400" rtlCol="0" anchor="ctr"/>
          <a:lstStyle/>
          <a:p>
            <a:pPr algn="l" indent="0" marL="0">
              <a:buNone/>
            </a:pPr>
            <a:r>
              <a:rPr lang="en-US" sz="950" b="1" dirty="0">
                <a:solidFill>
                  <a:srgbClr val="0B163C"/>
                </a:solidFill>
                <a:latin typeface="Montserrat" pitchFamily="34" charset="0"/>
                <a:ea typeface="Montserrat" pitchFamily="34" charset="-122"/>
                <a:cs typeface="Montserrat" pitchFamily="34" charset="-120"/>
              </a:rPr>
              <a:t>Waterfall</a:t>
            </a:r>
            <a:endParaRPr lang="en-US" sz="950" dirty="0"/>
          </a:p>
        </p:txBody>
      </p:sp>
      <p:sp>
        <p:nvSpPr>
          <p:cNvPr id="61" name="Shape 59"/>
          <p:cNvSpPr/>
          <p:nvPr/>
        </p:nvSpPr>
        <p:spPr>
          <a:xfrm>
            <a:off x="3108960" y="5358384"/>
            <a:ext cx="1554480" cy="438912"/>
          </a:xfrm>
          <a:prstGeom prst="rect">
            <a:avLst/>
          </a:prstGeom>
          <a:solidFill>
            <a:srgbClr val="F4F2ED"/>
          </a:solidFill>
          <a:ln/>
        </p:spPr>
      </p:sp>
      <p:sp>
        <p:nvSpPr>
          <p:cNvPr id="62" name="Text 60"/>
          <p:cNvSpPr/>
          <p:nvPr/>
        </p:nvSpPr>
        <p:spPr>
          <a:xfrm>
            <a:off x="3108960" y="5358384"/>
            <a:ext cx="1554480" cy="438912"/>
          </a:xfrm>
          <a:prstGeom prst="rect">
            <a:avLst/>
          </a:prstGeom>
          <a:noFill/>
          <a:ln/>
        </p:spPr>
        <p:txBody>
          <a:bodyPr wrap="square" lIns="25400" tIns="76200" rIns="76200" bIns="25400" rtlCol="0" anchor="ctr"/>
          <a:lstStyle/>
          <a:p>
            <a:pPr algn="ctr" indent="0" marL="0">
              <a:buNone/>
            </a:pPr>
            <a:r>
              <a:rPr lang="en-US" sz="950" b="1" dirty="0">
                <a:solidFill>
                  <a:srgbClr val="3A243A"/>
                </a:solidFill>
                <a:latin typeface="Montserrat" pitchFamily="34" charset="0"/>
                <a:ea typeface="Montserrat" pitchFamily="34" charset="-122"/>
                <a:cs typeface="Montserrat" pitchFamily="34" charset="-120"/>
              </a:rPr>
              <a:t>8% pref · co-GP</a:t>
            </a:r>
            <a:endParaRPr lang="en-US" sz="950" dirty="0"/>
          </a:p>
        </p:txBody>
      </p:sp>
      <p:sp>
        <p:nvSpPr>
          <p:cNvPr id="63" name="Shape 61"/>
          <p:cNvSpPr/>
          <p:nvPr/>
        </p:nvSpPr>
        <p:spPr>
          <a:xfrm>
            <a:off x="4663440" y="5358384"/>
            <a:ext cx="7068312" cy="438912"/>
          </a:xfrm>
          <a:prstGeom prst="rect">
            <a:avLst/>
          </a:prstGeom>
          <a:solidFill>
            <a:srgbClr val="F4F2ED"/>
          </a:solidFill>
          <a:ln/>
        </p:spPr>
      </p:sp>
      <p:sp>
        <p:nvSpPr>
          <p:cNvPr id="64" name="Text 62"/>
          <p:cNvSpPr/>
          <p:nvPr/>
        </p:nvSpPr>
        <p:spPr>
          <a:xfrm>
            <a:off x="4663440" y="5358384"/>
            <a:ext cx="7068312" cy="438912"/>
          </a:xfrm>
          <a:prstGeom prst="rect">
            <a:avLst/>
          </a:prstGeom>
          <a:noFill/>
          <a:ln/>
        </p:spPr>
        <p:txBody>
          <a:bodyPr wrap="square" lIns="25400" tIns="76200" rIns="76200" bIns="25400" rtlCol="0" anchor="ctr"/>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Standard JV promote structure — for discussion</a:t>
            </a:r>
            <a:endParaRPr lang="en-US" sz="900" dirty="0"/>
          </a:p>
        </p:txBody>
      </p:sp>
      <p:sp>
        <p:nvSpPr>
          <p:cNvPr id="65" name="Text 63"/>
          <p:cNvSpPr/>
          <p:nvPr/>
        </p:nvSpPr>
        <p:spPr>
          <a:xfrm>
            <a:off x="457200" y="6035040"/>
            <a:ext cx="11274552" cy="237744"/>
          </a:xfrm>
          <a:prstGeom prst="rect">
            <a:avLst/>
          </a:prstGeom>
          <a:noFill/>
          <a:ln/>
        </p:spPr>
        <p:txBody>
          <a:bodyPr wrap="square" lIns="0" tIns="0" rIns="0" bIns="0" rtlCol="0" anchor="ctr"/>
          <a:lstStyle/>
          <a:p>
            <a:pPr algn="l" indent="0" marL="0">
              <a:buNone/>
            </a:pPr>
            <a:r>
              <a:rPr lang="en-US" sz="700" b="1" dirty="0">
                <a:solidFill>
                  <a:srgbClr val="6B5A6B"/>
                </a:solidFill>
                <a:latin typeface="DM Sans" pitchFamily="34" charset="0"/>
                <a:ea typeface="DM Sans" pitchFamily="34" charset="-122"/>
                <a:cs typeface="DM Sans" pitchFamily="34" charset="-120"/>
              </a:rPr>
              <a:t>Sources (own research; subject to change &amp; confirmation):  </a:t>
            </a:r>
            <a:pPr algn="l" indent="0" marL="0">
              <a:buNone/>
            </a:pPr>
            <a:r>
              <a:rPr lang="en-US" sz="700" u="sng" dirty="0">
                <a:solidFill>
                  <a:srgbClr val="3A243A"/>
                </a:solidFill>
                <a:latin typeface="DM Sans" pitchFamily="34" charset="0"/>
                <a:ea typeface="DM Sans" pitchFamily="34" charset="-122"/>
                <a:cs typeface="DM Sans" pitchFamily="34" charset="-120"/>
                <a:hlinkClick r:id="rId1" invalidUrl="" action="" tgtFrame="" tooltip="Land.com — QAC lots" history="1" highlightClick="0" endSnd="0">
                  <a:extLst>
                    <a:ext uri="{A12FA001-AC4F-418D-AE19-62706E023703}">
                      <ahyp:hlinkClr xmlns:ahyp="http://schemas.microsoft.com/office/drawing/2018/hyperlinkcolor" val="tx"/>
                    </a:ext>
                  </a:extLst>
                </a:hlinkClick>
              </a:rPr>
              <a:t>Land.com — QAC lots</a:t>
            </a:r>
            <a:pPr algn="l" indent="0" marL="0">
              <a:buNone/>
            </a:pPr>
            <a:r>
              <a:rPr lang="en-US" sz="700" dirty="0">
                <a:solidFill>
                  <a:srgbClr val="C4B8C4"/>
                </a:solidFill>
                <a:latin typeface="DM Sans" pitchFamily="34" charset="0"/>
                <a:ea typeface="DM Sans" pitchFamily="34" charset="-122"/>
                <a:cs typeface="DM Sans" pitchFamily="34" charset="-120"/>
              </a:rPr>
              <a:t>    ·    </a:t>
            </a:r>
            <a:pPr algn="l" indent="0" marL="0">
              <a:buNone/>
            </a:pPr>
            <a:r>
              <a:rPr lang="en-US" sz="700" u="sng" dirty="0">
                <a:solidFill>
                  <a:srgbClr val="3A243A"/>
                </a:solidFill>
                <a:latin typeface="DM Sans" pitchFamily="34" charset="0"/>
                <a:ea typeface="DM Sans" pitchFamily="34" charset="-122"/>
                <a:cs typeface="DM Sans" pitchFamily="34" charset="-120"/>
                <a:hlinkClick r:id="rId2" invalidUrl="" action="" tgtFrame="" tooltip="Zillow — QAC new homes" history="1" highlightClick="0" endSnd="0">
                  <a:extLst>
                    <a:ext uri="{A12FA001-AC4F-418D-AE19-62706E023703}">
                      <ahyp:hlinkClr xmlns:ahyp="http://schemas.microsoft.com/office/drawing/2018/hyperlinkcolor" val="tx"/>
                    </a:ext>
                  </a:extLst>
                </a:hlinkClick>
              </a:rPr>
              <a:t>Zillow — QAC new homes</a:t>
            </a:r>
            <a:pPr algn="l" indent="0" marL="0">
              <a:buNone/>
            </a:pPr>
            <a:r>
              <a:rPr lang="en-US" sz="700" dirty="0">
                <a:solidFill>
                  <a:srgbClr val="C4B8C4"/>
                </a:solidFill>
                <a:latin typeface="DM Sans" pitchFamily="34" charset="0"/>
                <a:ea typeface="DM Sans" pitchFamily="34" charset="-122"/>
                <a:cs typeface="DM Sans" pitchFamily="34" charset="-120"/>
              </a:rPr>
              <a:t>    ·    </a:t>
            </a:r>
            <a:pPr algn="l" indent="0" marL="0">
              <a:buNone/>
            </a:pPr>
            <a:r>
              <a:rPr lang="en-US" sz="700" u="sng" dirty="0">
                <a:solidFill>
                  <a:srgbClr val="3A243A"/>
                </a:solidFill>
                <a:latin typeface="DM Sans" pitchFamily="34" charset="0"/>
                <a:ea typeface="DM Sans" pitchFamily="34" charset="-122"/>
                <a:cs typeface="DM Sans" pitchFamily="34" charset="-120"/>
                <a:hlinkClick r:id="rId3" invalidUrl="" action="" tgtFrame="" tooltip="HomeGuide — land dev cost" history="1" highlightClick="0" endSnd="0">
                  <a:extLst>
                    <a:ext uri="{A12FA001-AC4F-418D-AE19-62706E023703}">
                      <ahyp:hlinkClr xmlns:ahyp="http://schemas.microsoft.com/office/drawing/2018/hyperlinkcolor" val="tx"/>
                    </a:ext>
                  </a:extLst>
                </a:hlinkClick>
              </a:rPr>
              <a:t>HomeGuide — land dev cost</a:t>
            </a:r>
            <a:pPr algn="l" indent="0" marL="0">
              <a:buNone/>
            </a:pPr>
            <a:r>
              <a:rPr lang="en-US" sz="700" dirty="0">
                <a:solidFill>
                  <a:srgbClr val="C4B8C4"/>
                </a:solidFill>
                <a:latin typeface="DM Sans" pitchFamily="34" charset="0"/>
                <a:ea typeface="DM Sans" pitchFamily="34" charset="-122"/>
                <a:cs typeface="DM Sans" pitchFamily="34" charset="-120"/>
              </a:rPr>
              <a:t>    ·    </a:t>
            </a:r>
            <a:pPr algn="l" indent="0" marL="0">
              <a:buNone/>
            </a:pPr>
            <a:r>
              <a:rPr lang="en-US" sz="700" u="sng" dirty="0">
                <a:solidFill>
                  <a:srgbClr val="3A243A"/>
                </a:solidFill>
                <a:latin typeface="DM Sans" pitchFamily="34" charset="0"/>
                <a:ea typeface="DM Sans" pitchFamily="34" charset="-122"/>
                <a:cs typeface="DM Sans" pitchFamily="34" charset="-120"/>
                <a:hlinkClick r:id="rId4" invalidUrl="" action="" tgtFrame="" tooltip="Club + Resort Business" history="1" highlightClick="0" endSnd="0">
                  <a:extLst>
                    <a:ext uri="{A12FA001-AC4F-418D-AE19-62706E023703}">
                      <ahyp:hlinkClr xmlns:ahyp="http://schemas.microsoft.com/office/drawing/2018/hyperlinkcolor" val="tx"/>
                    </a:ext>
                  </a:extLst>
                </a:hlinkClick>
              </a:rPr>
              <a:t>Club + Resort Business</a:t>
            </a:r>
            <a:endParaRPr lang="en-US" sz="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12 / 20</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RETURNS WATERFALL  ·  PHASE 1</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How the LP IRR is built.</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A market structure: 8% preferred return, then a tiered promote. The LP funds 90% of the equity and nets ~33% after the promote — clearing the 30% target; JAL's GP earns the carried interest.</a:t>
            </a:r>
            <a:endParaRPr lang="en-US" sz="1300" dirty="0"/>
          </a:p>
        </p:txBody>
      </p:sp>
      <p:sp>
        <p:nvSpPr>
          <p:cNvPr id="11" name="Shape 9"/>
          <p:cNvSpPr/>
          <p:nvPr/>
        </p:nvSpPr>
        <p:spPr>
          <a:xfrm>
            <a:off x="457200" y="1920240"/>
            <a:ext cx="3657600" cy="365760"/>
          </a:xfrm>
          <a:prstGeom prst="rect">
            <a:avLst/>
          </a:prstGeom>
          <a:solidFill>
            <a:srgbClr val="0B163C"/>
          </a:solidFill>
          <a:ln/>
        </p:spPr>
      </p:sp>
      <p:sp>
        <p:nvSpPr>
          <p:cNvPr id="12" name="Text 10"/>
          <p:cNvSpPr/>
          <p:nvPr/>
        </p:nvSpPr>
        <p:spPr>
          <a:xfrm>
            <a:off x="457200" y="1920240"/>
            <a:ext cx="3657600"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PROMOTE WATERFALL</a:t>
            </a:r>
            <a:endParaRPr lang="en-US" sz="900" dirty="0"/>
          </a:p>
        </p:txBody>
      </p:sp>
      <p:sp>
        <p:nvSpPr>
          <p:cNvPr id="13" name="Shape 11"/>
          <p:cNvSpPr/>
          <p:nvPr/>
        </p:nvSpPr>
        <p:spPr>
          <a:xfrm>
            <a:off x="4114800" y="1920240"/>
            <a:ext cx="1828800" cy="365760"/>
          </a:xfrm>
          <a:prstGeom prst="rect">
            <a:avLst/>
          </a:prstGeom>
          <a:solidFill>
            <a:srgbClr val="0B163C"/>
          </a:solidFill>
          <a:ln/>
        </p:spPr>
      </p:sp>
      <p:sp>
        <p:nvSpPr>
          <p:cNvPr id="14" name="Text 12"/>
          <p:cNvSpPr/>
          <p:nvPr/>
        </p:nvSpPr>
        <p:spPr>
          <a:xfrm>
            <a:off x="4114800" y="1920240"/>
            <a:ext cx="1828800" cy="365760"/>
          </a:xfrm>
          <a:prstGeom prst="rect">
            <a:avLst/>
          </a:prstGeom>
          <a:noFill/>
          <a:ln/>
        </p:spPr>
        <p:txBody>
          <a:bodyPr wrap="square" lIns="25400" tIns="76200" rIns="76200" bIns="25400" rtlCol="0" anchor="ctr"/>
          <a:lstStyle/>
          <a:p>
            <a:pPr algn="ctr" indent="0" marL="0">
              <a:buNone/>
            </a:pPr>
            <a:r>
              <a:rPr lang="en-US" sz="900" b="1" dirty="0">
                <a:solidFill>
                  <a:srgbClr val="FFFFFF"/>
                </a:solidFill>
                <a:latin typeface="Montserrat" pitchFamily="34" charset="0"/>
                <a:ea typeface="Montserrat" pitchFamily="34" charset="-122"/>
                <a:cs typeface="Montserrat" pitchFamily="34" charset="-120"/>
              </a:rPr>
              <a:t>LP / GP</a:t>
            </a:r>
            <a:endParaRPr lang="en-US" sz="900" dirty="0"/>
          </a:p>
        </p:txBody>
      </p:sp>
      <p:sp>
        <p:nvSpPr>
          <p:cNvPr id="15" name="Shape 13"/>
          <p:cNvSpPr/>
          <p:nvPr/>
        </p:nvSpPr>
        <p:spPr>
          <a:xfrm>
            <a:off x="457200" y="2286000"/>
            <a:ext cx="3657600" cy="548640"/>
          </a:xfrm>
          <a:prstGeom prst="rect">
            <a:avLst/>
          </a:prstGeom>
          <a:solidFill>
            <a:srgbClr val="FFFFFF"/>
          </a:solidFill>
          <a:ln/>
        </p:spPr>
      </p:sp>
      <p:sp>
        <p:nvSpPr>
          <p:cNvPr id="16" name="Text 14"/>
          <p:cNvSpPr/>
          <p:nvPr/>
        </p:nvSpPr>
        <p:spPr>
          <a:xfrm>
            <a:off x="457200" y="2286000"/>
            <a:ext cx="3657600" cy="548640"/>
          </a:xfrm>
          <a:prstGeom prst="rect">
            <a:avLst/>
          </a:prstGeom>
          <a:noFill/>
          <a:ln/>
        </p:spPr>
        <p:txBody>
          <a:bodyPr wrap="square" lIns="25400" tIns="76200" rIns="76200" bIns="25400" rtlCol="0" anchor="ctr"/>
          <a:lstStyle/>
          <a:p>
            <a:pPr algn="l" indent="0" marL="0">
              <a:lnSpc>
                <a:spcPts val="1100"/>
              </a:lnSpc>
              <a:buNone/>
            </a:pPr>
            <a:r>
              <a:rPr lang="en-US" sz="950" b="1" dirty="0">
                <a:solidFill>
                  <a:srgbClr val="0B163C"/>
                </a:solidFill>
                <a:latin typeface="Montserrat" pitchFamily="34" charset="0"/>
                <a:ea typeface="Montserrat" pitchFamily="34" charset="-122"/>
                <a:cs typeface="Montserrat" pitchFamily="34" charset="-120"/>
              </a:rPr>
              <a:t>1 · Return of capital + 8% pref</a:t>
            </a:r>
            <a:endParaRPr lang="en-US" sz="950" dirty="0"/>
          </a:p>
        </p:txBody>
      </p:sp>
      <p:sp>
        <p:nvSpPr>
          <p:cNvPr id="17" name="Shape 15"/>
          <p:cNvSpPr/>
          <p:nvPr/>
        </p:nvSpPr>
        <p:spPr>
          <a:xfrm>
            <a:off x="4114800" y="2286000"/>
            <a:ext cx="1828800" cy="548640"/>
          </a:xfrm>
          <a:prstGeom prst="rect">
            <a:avLst/>
          </a:prstGeom>
          <a:solidFill>
            <a:srgbClr val="FFFFFF"/>
          </a:solidFill>
          <a:ln/>
        </p:spPr>
      </p:sp>
      <p:sp>
        <p:nvSpPr>
          <p:cNvPr id="18" name="Text 16"/>
          <p:cNvSpPr/>
          <p:nvPr/>
        </p:nvSpPr>
        <p:spPr>
          <a:xfrm>
            <a:off x="4114800" y="2286000"/>
            <a:ext cx="1828800" cy="548640"/>
          </a:xfrm>
          <a:prstGeom prst="rect">
            <a:avLst/>
          </a:prstGeom>
          <a:noFill/>
          <a:ln/>
        </p:spPr>
        <p:txBody>
          <a:bodyPr wrap="square" lIns="25400" tIns="76200" rIns="76200" bIns="25400" rtlCol="0" anchor="ctr"/>
          <a:lstStyle/>
          <a:p>
            <a:pPr algn="ctr" indent="0" marL="0">
              <a:buNone/>
            </a:pPr>
            <a:r>
              <a:rPr lang="en-US" sz="1000" b="1" dirty="0">
                <a:solidFill>
                  <a:srgbClr val="3A243A"/>
                </a:solidFill>
                <a:latin typeface="Montserrat" pitchFamily="34" charset="0"/>
                <a:ea typeface="Montserrat" pitchFamily="34" charset="-122"/>
                <a:cs typeface="Montserrat" pitchFamily="34" charset="-120"/>
              </a:rPr>
              <a:t>90 / 10</a:t>
            </a:r>
            <a:endParaRPr lang="en-US" sz="1000" dirty="0"/>
          </a:p>
        </p:txBody>
      </p:sp>
      <p:sp>
        <p:nvSpPr>
          <p:cNvPr id="19" name="Shape 17"/>
          <p:cNvSpPr/>
          <p:nvPr/>
        </p:nvSpPr>
        <p:spPr>
          <a:xfrm>
            <a:off x="457200" y="2834640"/>
            <a:ext cx="3657600" cy="548640"/>
          </a:xfrm>
          <a:prstGeom prst="rect">
            <a:avLst/>
          </a:prstGeom>
          <a:solidFill>
            <a:srgbClr val="F4F2ED"/>
          </a:solidFill>
          <a:ln/>
        </p:spPr>
      </p:sp>
      <p:sp>
        <p:nvSpPr>
          <p:cNvPr id="20" name="Text 18"/>
          <p:cNvSpPr/>
          <p:nvPr/>
        </p:nvSpPr>
        <p:spPr>
          <a:xfrm>
            <a:off x="457200" y="2834640"/>
            <a:ext cx="3657600" cy="548640"/>
          </a:xfrm>
          <a:prstGeom prst="rect">
            <a:avLst/>
          </a:prstGeom>
          <a:noFill/>
          <a:ln/>
        </p:spPr>
        <p:txBody>
          <a:bodyPr wrap="square" lIns="25400" tIns="76200" rIns="76200" bIns="25400" rtlCol="0" anchor="ctr"/>
          <a:lstStyle/>
          <a:p>
            <a:pPr algn="l" indent="0" marL="0">
              <a:lnSpc>
                <a:spcPts val="1100"/>
              </a:lnSpc>
              <a:buNone/>
            </a:pPr>
            <a:r>
              <a:rPr lang="en-US" sz="950" b="1" dirty="0">
                <a:solidFill>
                  <a:srgbClr val="0B163C"/>
                </a:solidFill>
                <a:latin typeface="Montserrat" pitchFamily="34" charset="0"/>
                <a:ea typeface="Montserrat" pitchFamily="34" charset="-122"/>
                <a:cs typeface="Montserrat" pitchFamily="34" charset="-120"/>
              </a:rPr>
              <a:t>2 · Promote — to a 15% LP IRR</a:t>
            </a:r>
            <a:endParaRPr lang="en-US" sz="950" dirty="0"/>
          </a:p>
        </p:txBody>
      </p:sp>
      <p:sp>
        <p:nvSpPr>
          <p:cNvPr id="21" name="Shape 19"/>
          <p:cNvSpPr/>
          <p:nvPr/>
        </p:nvSpPr>
        <p:spPr>
          <a:xfrm>
            <a:off x="4114800" y="2834640"/>
            <a:ext cx="1828800" cy="548640"/>
          </a:xfrm>
          <a:prstGeom prst="rect">
            <a:avLst/>
          </a:prstGeom>
          <a:solidFill>
            <a:srgbClr val="F4F2ED"/>
          </a:solidFill>
          <a:ln/>
        </p:spPr>
      </p:sp>
      <p:sp>
        <p:nvSpPr>
          <p:cNvPr id="22" name="Text 20"/>
          <p:cNvSpPr/>
          <p:nvPr/>
        </p:nvSpPr>
        <p:spPr>
          <a:xfrm>
            <a:off x="4114800" y="2834640"/>
            <a:ext cx="1828800" cy="548640"/>
          </a:xfrm>
          <a:prstGeom prst="rect">
            <a:avLst/>
          </a:prstGeom>
          <a:noFill/>
          <a:ln/>
        </p:spPr>
        <p:txBody>
          <a:bodyPr wrap="square" lIns="25400" tIns="76200" rIns="76200" bIns="25400" rtlCol="0" anchor="ctr"/>
          <a:lstStyle/>
          <a:p>
            <a:pPr algn="ctr" indent="0" marL="0">
              <a:buNone/>
            </a:pPr>
            <a:r>
              <a:rPr lang="en-US" sz="1000" b="1" dirty="0">
                <a:solidFill>
                  <a:srgbClr val="3A243A"/>
                </a:solidFill>
                <a:latin typeface="Montserrat" pitchFamily="34" charset="0"/>
                <a:ea typeface="Montserrat" pitchFamily="34" charset="-122"/>
                <a:cs typeface="Montserrat" pitchFamily="34" charset="-120"/>
              </a:rPr>
              <a:t>80 / 20</a:t>
            </a:r>
            <a:endParaRPr lang="en-US" sz="1000" dirty="0"/>
          </a:p>
        </p:txBody>
      </p:sp>
      <p:sp>
        <p:nvSpPr>
          <p:cNvPr id="23" name="Shape 21"/>
          <p:cNvSpPr/>
          <p:nvPr/>
        </p:nvSpPr>
        <p:spPr>
          <a:xfrm>
            <a:off x="457200" y="3383280"/>
            <a:ext cx="3657600" cy="548640"/>
          </a:xfrm>
          <a:prstGeom prst="rect">
            <a:avLst/>
          </a:prstGeom>
          <a:solidFill>
            <a:srgbClr val="FFFFFF"/>
          </a:solidFill>
          <a:ln/>
        </p:spPr>
      </p:sp>
      <p:sp>
        <p:nvSpPr>
          <p:cNvPr id="24" name="Text 22"/>
          <p:cNvSpPr/>
          <p:nvPr/>
        </p:nvSpPr>
        <p:spPr>
          <a:xfrm>
            <a:off x="457200" y="3383280"/>
            <a:ext cx="3657600" cy="548640"/>
          </a:xfrm>
          <a:prstGeom prst="rect">
            <a:avLst/>
          </a:prstGeom>
          <a:noFill/>
          <a:ln/>
        </p:spPr>
        <p:txBody>
          <a:bodyPr wrap="square" lIns="25400" tIns="76200" rIns="76200" bIns="25400" rtlCol="0" anchor="ctr"/>
          <a:lstStyle/>
          <a:p>
            <a:pPr algn="l" indent="0" marL="0">
              <a:lnSpc>
                <a:spcPts val="1100"/>
              </a:lnSpc>
              <a:buNone/>
            </a:pPr>
            <a:r>
              <a:rPr lang="en-US" sz="950" b="1" dirty="0">
                <a:solidFill>
                  <a:srgbClr val="0B163C"/>
                </a:solidFill>
                <a:latin typeface="Montserrat" pitchFamily="34" charset="0"/>
                <a:ea typeface="Montserrat" pitchFamily="34" charset="-122"/>
                <a:cs typeface="Montserrat" pitchFamily="34" charset="-120"/>
              </a:rPr>
              <a:t>3 · Promote — 15% to 20% LP IRR</a:t>
            </a:r>
            <a:endParaRPr lang="en-US" sz="950" dirty="0"/>
          </a:p>
        </p:txBody>
      </p:sp>
      <p:sp>
        <p:nvSpPr>
          <p:cNvPr id="25" name="Shape 23"/>
          <p:cNvSpPr/>
          <p:nvPr/>
        </p:nvSpPr>
        <p:spPr>
          <a:xfrm>
            <a:off x="4114800" y="3383280"/>
            <a:ext cx="1828800" cy="548640"/>
          </a:xfrm>
          <a:prstGeom prst="rect">
            <a:avLst/>
          </a:prstGeom>
          <a:solidFill>
            <a:srgbClr val="FFFFFF"/>
          </a:solidFill>
          <a:ln/>
        </p:spPr>
      </p:sp>
      <p:sp>
        <p:nvSpPr>
          <p:cNvPr id="26" name="Text 24"/>
          <p:cNvSpPr/>
          <p:nvPr/>
        </p:nvSpPr>
        <p:spPr>
          <a:xfrm>
            <a:off x="4114800" y="3383280"/>
            <a:ext cx="1828800" cy="548640"/>
          </a:xfrm>
          <a:prstGeom prst="rect">
            <a:avLst/>
          </a:prstGeom>
          <a:noFill/>
          <a:ln/>
        </p:spPr>
        <p:txBody>
          <a:bodyPr wrap="square" lIns="25400" tIns="76200" rIns="76200" bIns="25400" rtlCol="0" anchor="ctr"/>
          <a:lstStyle/>
          <a:p>
            <a:pPr algn="ctr" indent="0" marL="0">
              <a:buNone/>
            </a:pPr>
            <a:r>
              <a:rPr lang="en-US" sz="1000" b="1" dirty="0">
                <a:solidFill>
                  <a:srgbClr val="3A243A"/>
                </a:solidFill>
                <a:latin typeface="Montserrat" pitchFamily="34" charset="0"/>
                <a:ea typeface="Montserrat" pitchFamily="34" charset="-122"/>
                <a:cs typeface="Montserrat" pitchFamily="34" charset="-120"/>
              </a:rPr>
              <a:t>70 / 30</a:t>
            </a:r>
            <a:endParaRPr lang="en-US" sz="1000" dirty="0"/>
          </a:p>
        </p:txBody>
      </p:sp>
      <p:sp>
        <p:nvSpPr>
          <p:cNvPr id="27" name="Shape 25"/>
          <p:cNvSpPr/>
          <p:nvPr/>
        </p:nvSpPr>
        <p:spPr>
          <a:xfrm>
            <a:off x="457200" y="3931920"/>
            <a:ext cx="3657600" cy="548640"/>
          </a:xfrm>
          <a:prstGeom prst="rect">
            <a:avLst/>
          </a:prstGeom>
          <a:solidFill>
            <a:srgbClr val="F4F2ED"/>
          </a:solidFill>
          <a:ln/>
        </p:spPr>
      </p:sp>
      <p:sp>
        <p:nvSpPr>
          <p:cNvPr id="28" name="Text 26"/>
          <p:cNvSpPr/>
          <p:nvPr/>
        </p:nvSpPr>
        <p:spPr>
          <a:xfrm>
            <a:off x="457200" y="3931920"/>
            <a:ext cx="3657600" cy="548640"/>
          </a:xfrm>
          <a:prstGeom prst="rect">
            <a:avLst/>
          </a:prstGeom>
          <a:noFill/>
          <a:ln/>
        </p:spPr>
        <p:txBody>
          <a:bodyPr wrap="square" lIns="25400" tIns="76200" rIns="76200" bIns="25400" rtlCol="0" anchor="ctr"/>
          <a:lstStyle/>
          <a:p>
            <a:pPr algn="l" indent="0" marL="0">
              <a:lnSpc>
                <a:spcPts val="1100"/>
              </a:lnSpc>
              <a:buNone/>
            </a:pPr>
            <a:r>
              <a:rPr lang="en-US" sz="950" b="1" dirty="0">
                <a:solidFill>
                  <a:srgbClr val="0B163C"/>
                </a:solidFill>
                <a:latin typeface="Montserrat" pitchFamily="34" charset="0"/>
                <a:ea typeface="Montserrat" pitchFamily="34" charset="-122"/>
                <a:cs typeface="Montserrat" pitchFamily="34" charset="-120"/>
              </a:rPr>
              <a:t>4 · Promote — above a 20% LP IRR</a:t>
            </a:r>
            <a:endParaRPr lang="en-US" sz="950" dirty="0"/>
          </a:p>
        </p:txBody>
      </p:sp>
      <p:sp>
        <p:nvSpPr>
          <p:cNvPr id="29" name="Shape 27"/>
          <p:cNvSpPr/>
          <p:nvPr/>
        </p:nvSpPr>
        <p:spPr>
          <a:xfrm>
            <a:off x="4114800" y="3931920"/>
            <a:ext cx="1828800" cy="548640"/>
          </a:xfrm>
          <a:prstGeom prst="rect">
            <a:avLst/>
          </a:prstGeom>
          <a:solidFill>
            <a:srgbClr val="F4F2ED"/>
          </a:solidFill>
          <a:ln/>
        </p:spPr>
      </p:sp>
      <p:sp>
        <p:nvSpPr>
          <p:cNvPr id="30" name="Text 28"/>
          <p:cNvSpPr/>
          <p:nvPr/>
        </p:nvSpPr>
        <p:spPr>
          <a:xfrm>
            <a:off x="4114800" y="3931920"/>
            <a:ext cx="1828800" cy="548640"/>
          </a:xfrm>
          <a:prstGeom prst="rect">
            <a:avLst/>
          </a:prstGeom>
          <a:noFill/>
          <a:ln/>
        </p:spPr>
        <p:txBody>
          <a:bodyPr wrap="square" lIns="25400" tIns="76200" rIns="76200" bIns="25400" rtlCol="0" anchor="ctr"/>
          <a:lstStyle/>
          <a:p>
            <a:pPr algn="ctr" indent="0" marL="0">
              <a:buNone/>
            </a:pPr>
            <a:r>
              <a:rPr lang="en-US" sz="1000" b="1" dirty="0">
                <a:solidFill>
                  <a:srgbClr val="3A243A"/>
                </a:solidFill>
                <a:latin typeface="Montserrat" pitchFamily="34" charset="0"/>
                <a:ea typeface="Montserrat" pitchFamily="34" charset="-122"/>
                <a:cs typeface="Montserrat" pitchFamily="34" charset="-120"/>
              </a:rPr>
              <a:t>60 / 40</a:t>
            </a:r>
            <a:endParaRPr lang="en-US" sz="1000" dirty="0"/>
          </a:p>
        </p:txBody>
      </p:sp>
      <p:sp>
        <p:nvSpPr>
          <p:cNvPr id="31" name="Shape 29"/>
          <p:cNvSpPr/>
          <p:nvPr/>
        </p:nvSpPr>
        <p:spPr>
          <a:xfrm>
            <a:off x="457200" y="4572000"/>
            <a:ext cx="5486400" cy="1280160"/>
          </a:xfrm>
          <a:prstGeom prst="rect">
            <a:avLst/>
          </a:prstGeom>
          <a:solidFill>
            <a:srgbClr val="0B163C"/>
          </a:solidFill>
          <a:ln/>
        </p:spPr>
      </p:sp>
      <p:sp>
        <p:nvSpPr>
          <p:cNvPr id="32" name="Shape 30"/>
          <p:cNvSpPr/>
          <p:nvPr/>
        </p:nvSpPr>
        <p:spPr>
          <a:xfrm>
            <a:off x="457200" y="4572000"/>
            <a:ext cx="91440" cy="1280160"/>
          </a:xfrm>
          <a:prstGeom prst="rect">
            <a:avLst/>
          </a:prstGeom>
          <a:solidFill>
            <a:srgbClr val="3A243A"/>
          </a:solidFill>
          <a:ln/>
        </p:spPr>
      </p:sp>
      <p:sp>
        <p:nvSpPr>
          <p:cNvPr id="33" name="Text 31"/>
          <p:cNvSpPr/>
          <p:nvPr/>
        </p:nvSpPr>
        <p:spPr>
          <a:xfrm>
            <a:off x="685800" y="4663440"/>
            <a:ext cx="5120640" cy="274320"/>
          </a:xfrm>
          <a:prstGeom prst="rect">
            <a:avLst/>
          </a:prstGeom>
          <a:noFill/>
          <a:ln/>
        </p:spPr>
        <p:txBody>
          <a:bodyPr wrap="square" lIns="0" tIns="0" rIns="0" bIns="0" rtlCol="0" anchor="ctr"/>
          <a:lstStyle/>
          <a:p>
            <a:pPr algn="l" indent="0" marL="0">
              <a:buNone/>
            </a:pPr>
            <a:r>
              <a:rPr lang="en-US" sz="900" b="1" spc="200" kern="0" dirty="0">
                <a:solidFill>
                  <a:srgbClr val="C4B8C4"/>
                </a:solidFill>
                <a:latin typeface="Montserrat" pitchFamily="34" charset="0"/>
                <a:ea typeface="Montserrat" pitchFamily="34" charset="-122"/>
                <a:cs typeface="Montserrat" pitchFamily="34" charset="-120"/>
              </a:rPr>
              <a:t>CAPITAL STACK  ·  70% LTC</a:t>
            </a:r>
            <a:endParaRPr lang="en-US" sz="900" dirty="0"/>
          </a:p>
        </p:txBody>
      </p:sp>
      <p:sp>
        <p:nvSpPr>
          <p:cNvPr id="34" name="Text 32"/>
          <p:cNvSpPr/>
          <p:nvPr/>
        </p:nvSpPr>
        <p:spPr>
          <a:xfrm>
            <a:off x="685800" y="4919472"/>
            <a:ext cx="5074920" cy="868680"/>
          </a:xfrm>
          <a:prstGeom prst="rect">
            <a:avLst/>
          </a:prstGeom>
          <a:noFill/>
          <a:ln/>
        </p:spPr>
        <p:txBody>
          <a:bodyPr wrap="square" lIns="0" tIns="0" rIns="0" bIns="0" rtlCol="0" anchor="t"/>
          <a:lstStyle/>
          <a:p>
            <a:pPr algn="l" indent="0" marL="0">
              <a:lnSpc>
                <a:spcPts val="1350"/>
              </a:lnSpc>
              <a:buNone/>
            </a:pPr>
            <a:r>
              <a:rPr lang="en-US" sz="1000" dirty="0">
                <a:solidFill>
                  <a:srgbClr val="F4F2ED"/>
                </a:solidFill>
                <a:latin typeface="DM Sans" pitchFamily="34" charset="0"/>
                <a:ea typeface="DM Sans" pitchFamily="34" charset="-122"/>
                <a:cs typeface="DM Sans" pitchFamily="34" charset="-120"/>
              </a:rPr>
              <a:t>$27.5M cost  =  $19.25M development loan (70%)  +  $8.25M equity.  Equity: LP 90% ($7.4M)  ·  GP / JAL 10% ($0.83M co-invest).</a:t>
            </a:r>
            <a:endParaRPr lang="en-US" sz="1000" dirty="0"/>
          </a:p>
        </p:txBody>
      </p:sp>
      <p:sp>
        <p:nvSpPr>
          <p:cNvPr id="35" name="Shape 33"/>
          <p:cNvSpPr/>
          <p:nvPr/>
        </p:nvSpPr>
        <p:spPr>
          <a:xfrm>
            <a:off x="6245352" y="1920240"/>
            <a:ext cx="5486400" cy="1810512"/>
          </a:xfrm>
          <a:prstGeom prst="rect">
            <a:avLst/>
          </a:prstGeom>
          <a:solidFill>
            <a:srgbClr val="0B163C"/>
          </a:solidFill>
          <a:ln/>
        </p:spPr>
      </p:sp>
      <p:sp>
        <p:nvSpPr>
          <p:cNvPr id="36" name="Shape 34"/>
          <p:cNvSpPr/>
          <p:nvPr/>
        </p:nvSpPr>
        <p:spPr>
          <a:xfrm>
            <a:off x="6245352" y="1920240"/>
            <a:ext cx="109728" cy="1810512"/>
          </a:xfrm>
          <a:prstGeom prst="rect">
            <a:avLst/>
          </a:prstGeom>
          <a:solidFill>
            <a:srgbClr val="3A243A"/>
          </a:solidFill>
          <a:ln/>
        </p:spPr>
      </p:sp>
      <p:sp>
        <p:nvSpPr>
          <p:cNvPr id="37" name="Text 35"/>
          <p:cNvSpPr/>
          <p:nvPr/>
        </p:nvSpPr>
        <p:spPr>
          <a:xfrm>
            <a:off x="6492240" y="2048256"/>
            <a:ext cx="5120640" cy="274320"/>
          </a:xfrm>
          <a:prstGeom prst="rect">
            <a:avLst/>
          </a:prstGeom>
          <a:noFill/>
          <a:ln/>
        </p:spPr>
        <p:txBody>
          <a:bodyPr wrap="square" lIns="0" tIns="0" rIns="0" bIns="0" rtlCol="0" anchor="ctr"/>
          <a:lstStyle/>
          <a:p>
            <a:pPr algn="l" indent="0" marL="0">
              <a:buNone/>
            </a:pPr>
            <a:r>
              <a:rPr lang="en-US" sz="1000" b="1" spc="150" kern="0" dirty="0">
                <a:solidFill>
                  <a:srgbClr val="C4B8C4"/>
                </a:solidFill>
                <a:latin typeface="Montserrat" pitchFamily="34" charset="0"/>
                <a:ea typeface="Montserrat" pitchFamily="34" charset="-122"/>
                <a:cs typeface="Montserrat" pitchFamily="34" charset="-120"/>
              </a:rPr>
              <a:t>LP — EQUITY INVESTORS  (90% of equity)</a:t>
            </a:r>
            <a:endParaRPr lang="en-US" sz="1000" dirty="0"/>
          </a:p>
        </p:txBody>
      </p:sp>
      <p:sp>
        <p:nvSpPr>
          <p:cNvPr id="38" name="Text 36"/>
          <p:cNvSpPr/>
          <p:nvPr/>
        </p:nvSpPr>
        <p:spPr>
          <a:xfrm>
            <a:off x="6492240" y="2331720"/>
            <a:ext cx="2286000" cy="777240"/>
          </a:xfrm>
          <a:prstGeom prst="rect">
            <a:avLst/>
          </a:prstGeom>
          <a:noFill/>
          <a:ln/>
        </p:spPr>
        <p:txBody>
          <a:bodyPr wrap="square" lIns="0" tIns="0" rIns="0" bIns="0" rtlCol="0" anchor="ctr"/>
          <a:lstStyle/>
          <a:p>
            <a:pPr algn="l" indent="0" marL="0">
              <a:buNone/>
            </a:pPr>
            <a:r>
              <a:rPr lang="en-US" sz="3800" b="1" dirty="0">
                <a:solidFill>
                  <a:srgbClr val="FFFFFF"/>
                </a:solidFill>
                <a:latin typeface="Montserrat" pitchFamily="34" charset="0"/>
                <a:ea typeface="Montserrat" pitchFamily="34" charset="-122"/>
                <a:cs typeface="Montserrat" pitchFamily="34" charset="-120"/>
              </a:rPr>
              <a:t>~33%</a:t>
            </a:r>
            <a:endParaRPr lang="en-US" sz="3800" dirty="0"/>
          </a:p>
        </p:txBody>
      </p:sp>
      <p:sp>
        <p:nvSpPr>
          <p:cNvPr id="39" name="Text 37"/>
          <p:cNvSpPr/>
          <p:nvPr/>
        </p:nvSpPr>
        <p:spPr>
          <a:xfrm>
            <a:off x="6492240" y="3127248"/>
            <a:ext cx="2286000" cy="457200"/>
          </a:xfrm>
          <a:prstGeom prst="rect">
            <a:avLst/>
          </a:prstGeom>
          <a:noFill/>
          <a:ln/>
        </p:spPr>
        <p:txBody>
          <a:bodyPr wrap="square" lIns="0" tIns="0" rIns="0" bIns="0" rtlCol="0" anchor="t"/>
          <a:lstStyle/>
          <a:p>
            <a:pPr algn="l" indent="0" marL="0">
              <a:lnSpc>
                <a:spcPts val="1200"/>
              </a:lnSpc>
              <a:buNone/>
            </a:pPr>
            <a:r>
              <a:rPr lang="en-US" sz="1000" dirty="0">
                <a:solidFill>
                  <a:srgbClr val="F4F2ED"/>
                </a:solidFill>
                <a:latin typeface="DM Sans" pitchFamily="34" charset="0"/>
                <a:ea typeface="DM Sans" pitchFamily="34" charset="-122"/>
                <a:cs typeface="DM Sans" pitchFamily="34" charset="-120"/>
              </a:rPr>
              <a:t>LP IRR</a:t>
            </a:r>
            <a:endParaRPr lang="en-US" sz="1000" dirty="0"/>
          </a:p>
          <a:p>
            <a:pPr algn="l" indent="0" marL="0">
              <a:lnSpc>
                <a:spcPts val="1200"/>
              </a:lnSpc>
              <a:buNone/>
            </a:pPr>
            <a:r>
              <a:rPr lang="en-US" sz="1000" dirty="0">
                <a:solidFill>
                  <a:srgbClr val="F4F2ED"/>
                </a:solidFill>
                <a:latin typeface="DM Sans" pitchFamily="34" charset="0"/>
                <a:ea typeface="DM Sans" pitchFamily="34" charset="-122"/>
                <a:cs typeface="DM Sans" pitchFamily="34" charset="-120"/>
              </a:rPr>
              <a:t>after promote</a:t>
            </a:r>
            <a:endParaRPr lang="en-US" sz="1000" dirty="0"/>
          </a:p>
        </p:txBody>
      </p:sp>
      <p:sp>
        <p:nvSpPr>
          <p:cNvPr id="40" name="Text 38"/>
          <p:cNvSpPr/>
          <p:nvPr/>
        </p:nvSpPr>
        <p:spPr>
          <a:xfrm>
            <a:off x="8869680" y="2395728"/>
            <a:ext cx="2743200" cy="1188720"/>
          </a:xfrm>
          <a:prstGeom prst="rect">
            <a:avLst/>
          </a:prstGeom>
          <a:noFill/>
          <a:ln/>
        </p:spPr>
        <p:txBody>
          <a:bodyPr wrap="square" lIns="0" tIns="0" rIns="0" bIns="0" rtlCol="0" anchor="ctr"/>
          <a:lstStyle/>
          <a:p>
            <a:pPr algn="l" indent="0" marL="0">
              <a:lnSpc>
                <a:spcPts val="1500"/>
              </a:lnSpc>
              <a:buNone/>
            </a:pPr>
            <a:r>
              <a:rPr lang="en-US" sz="1100" dirty="0">
                <a:solidFill>
                  <a:srgbClr val="F4F2ED"/>
                </a:solidFill>
                <a:latin typeface="DM Sans" pitchFamily="34" charset="0"/>
                <a:ea typeface="DM Sans" pitchFamily="34" charset="-122"/>
                <a:cs typeface="DM Sans" pitchFamily="34" charset="-120"/>
              </a:rPr>
              <a:t>$7.4M invested</a:t>
            </a:r>
            <a:endParaRPr lang="en-US" sz="1100" dirty="0"/>
          </a:p>
          <a:p>
            <a:pPr algn="l" indent="0" marL="0">
              <a:lnSpc>
                <a:spcPts val="1500"/>
              </a:lnSpc>
              <a:buNone/>
            </a:pPr>
            <a:r>
              <a:rPr lang="en-US" sz="1100" dirty="0">
                <a:solidFill>
                  <a:srgbClr val="F4F2ED"/>
                </a:solidFill>
                <a:latin typeface="DM Sans" pitchFamily="34" charset="0"/>
                <a:ea typeface="DM Sans" pitchFamily="34" charset="-122"/>
                <a:cs typeface="DM Sans" pitchFamily="34" charset="-120"/>
              </a:rPr>
              <a:t>→ $17.3M back</a:t>
            </a:r>
            <a:endParaRPr lang="en-US" sz="1100" dirty="0"/>
          </a:p>
          <a:p>
            <a:pPr algn="l" indent="0" marL="0">
              <a:lnSpc>
                <a:spcPts val="1500"/>
              </a:lnSpc>
              <a:buNone/>
            </a:pPr>
            <a:r>
              <a:rPr lang="en-US" sz="1100" dirty="0">
                <a:solidFill>
                  <a:srgbClr val="F4F2ED"/>
                </a:solidFill>
                <a:latin typeface="DM Sans" pitchFamily="34" charset="0"/>
                <a:ea typeface="DM Sans" pitchFamily="34" charset="-122"/>
                <a:cs typeface="DM Sans" pitchFamily="34" charset="-120"/>
              </a:rPr>
              <a:t>2.3× equity multiple</a:t>
            </a:r>
            <a:endParaRPr lang="en-US" sz="1100" dirty="0"/>
          </a:p>
        </p:txBody>
      </p:sp>
      <p:sp>
        <p:nvSpPr>
          <p:cNvPr id="41" name="Shape 39"/>
          <p:cNvSpPr/>
          <p:nvPr/>
        </p:nvSpPr>
        <p:spPr>
          <a:xfrm>
            <a:off x="6245352" y="3913632"/>
            <a:ext cx="5486400" cy="1810512"/>
          </a:xfrm>
          <a:prstGeom prst="rect">
            <a:avLst/>
          </a:prstGeom>
          <a:solidFill>
            <a:srgbClr val="FFFFFF"/>
          </a:solidFill>
          <a:ln w="9525">
            <a:solidFill>
              <a:srgbClr val="E6E1DB"/>
            </a:solidFill>
            <a:prstDash val="solid"/>
          </a:ln>
        </p:spPr>
      </p:sp>
      <p:sp>
        <p:nvSpPr>
          <p:cNvPr id="42" name="Text 40"/>
          <p:cNvSpPr/>
          <p:nvPr/>
        </p:nvSpPr>
        <p:spPr>
          <a:xfrm>
            <a:off x="6492240" y="4041648"/>
            <a:ext cx="5120640" cy="274320"/>
          </a:xfrm>
          <a:prstGeom prst="rect">
            <a:avLst/>
          </a:prstGeom>
          <a:noFill/>
          <a:ln/>
        </p:spPr>
        <p:txBody>
          <a:bodyPr wrap="square" lIns="0" tIns="0" rIns="0" bIns="0" rtlCol="0" anchor="ctr"/>
          <a:lstStyle/>
          <a:p>
            <a:pPr algn="l" indent="0" marL="0">
              <a:buNone/>
            </a:pPr>
            <a:r>
              <a:rPr lang="en-US" sz="1000" b="1" spc="150" kern="0" dirty="0">
                <a:solidFill>
                  <a:srgbClr val="3A243A"/>
                </a:solidFill>
                <a:latin typeface="Montserrat" pitchFamily="34" charset="0"/>
                <a:ea typeface="Montserrat" pitchFamily="34" charset="-122"/>
                <a:cs typeface="Montserrat" pitchFamily="34" charset="-120"/>
              </a:rPr>
              <a:t>GP — JAL  (10% co-invest + carried interest)</a:t>
            </a:r>
            <a:endParaRPr lang="en-US" sz="1000" dirty="0"/>
          </a:p>
        </p:txBody>
      </p:sp>
      <p:sp>
        <p:nvSpPr>
          <p:cNvPr id="43" name="Text 41"/>
          <p:cNvSpPr/>
          <p:nvPr/>
        </p:nvSpPr>
        <p:spPr>
          <a:xfrm>
            <a:off x="6492240" y="4325112"/>
            <a:ext cx="2377440" cy="731520"/>
          </a:xfrm>
          <a:prstGeom prst="rect">
            <a:avLst/>
          </a:prstGeom>
          <a:noFill/>
          <a:ln/>
        </p:spPr>
        <p:txBody>
          <a:bodyPr wrap="square" lIns="0" tIns="0" rIns="0" bIns="0" rtlCol="0" anchor="ctr"/>
          <a:lstStyle/>
          <a:p>
            <a:pPr algn="l" indent="0" marL="0">
              <a:buNone/>
            </a:pPr>
            <a:r>
              <a:rPr lang="en-US" sz="3200" b="1" dirty="0">
                <a:solidFill>
                  <a:srgbClr val="0B163C"/>
                </a:solidFill>
                <a:latin typeface="Montserrat" pitchFamily="34" charset="0"/>
                <a:ea typeface="Montserrat" pitchFamily="34" charset="-122"/>
                <a:cs typeface="Montserrat" pitchFamily="34" charset="-120"/>
              </a:rPr>
              <a:t>~$4.6M</a:t>
            </a:r>
            <a:endParaRPr lang="en-US" sz="3200" dirty="0"/>
          </a:p>
        </p:txBody>
      </p:sp>
      <p:sp>
        <p:nvSpPr>
          <p:cNvPr id="44" name="Text 42"/>
          <p:cNvSpPr/>
          <p:nvPr/>
        </p:nvSpPr>
        <p:spPr>
          <a:xfrm>
            <a:off x="6492240" y="5074920"/>
            <a:ext cx="2377440" cy="274320"/>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GP promote / carry</a:t>
            </a:r>
            <a:endParaRPr lang="en-US" sz="1000" dirty="0"/>
          </a:p>
        </p:txBody>
      </p:sp>
      <p:sp>
        <p:nvSpPr>
          <p:cNvPr id="45" name="Text 43"/>
          <p:cNvSpPr/>
          <p:nvPr/>
        </p:nvSpPr>
        <p:spPr>
          <a:xfrm>
            <a:off x="8869680" y="4370832"/>
            <a:ext cx="2743200" cy="1188720"/>
          </a:xfrm>
          <a:prstGeom prst="rect">
            <a:avLst/>
          </a:prstGeom>
          <a:noFill/>
          <a:ln/>
        </p:spPr>
        <p:txBody>
          <a:bodyPr wrap="square" lIns="0" tIns="0" rIns="0" bIns="0" rtlCol="0" anchor="ctr"/>
          <a:lstStyle/>
          <a:p>
            <a:pPr algn="l" indent="0" marL="0">
              <a:lnSpc>
                <a:spcPts val="1500"/>
              </a:lnSpc>
              <a:buNone/>
            </a:pPr>
            <a:r>
              <a:rPr lang="en-US" sz="1100" dirty="0">
                <a:solidFill>
                  <a:srgbClr val="6B5A6B"/>
                </a:solidFill>
                <a:latin typeface="DM Sans" pitchFamily="34" charset="0"/>
                <a:ea typeface="DM Sans" pitchFamily="34" charset="-122"/>
                <a:cs typeface="DM Sans" pitchFamily="34" charset="-120"/>
              </a:rPr>
              <a:t>$0.83M co-invest</a:t>
            </a:r>
            <a:endParaRPr lang="en-US" sz="1100" dirty="0"/>
          </a:p>
          <a:p>
            <a:pPr algn="l" indent="0" marL="0">
              <a:lnSpc>
                <a:spcPts val="1500"/>
              </a:lnSpc>
              <a:buNone/>
            </a:pPr>
            <a:r>
              <a:rPr lang="en-US" sz="1100" dirty="0">
                <a:solidFill>
                  <a:srgbClr val="6B5A6B"/>
                </a:solidFill>
                <a:latin typeface="DM Sans" pitchFamily="34" charset="0"/>
                <a:ea typeface="DM Sans" pitchFamily="34" charset="-122"/>
                <a:cs typeface="DM Sans" pitchFamily="34" charset="-120"/>
              </a:rPr>
              <a:t>→ $5.5M back</a:t>
            </a:r>
            <a:endParaRPr lang="en-US" sz="1100" dirty="0"/>
          </a:p>
          <a:p>
            <a:pPr algn="l" indent="0" marL="0">
              <a:lnSpc>
                <a:spcPts val="1500"/>
              </a:lnSpc>
              <a:buNone/>
            </a:pPr>
            <a:r>
              <a:rPr lang="en-US" sz="1100" dirty="0">
                <a:solidFill>
                  <a:srgbClr val="6B5A6B"/>
                </a:solidFill>
                <a:latin typeface="DM Sans" pitchFamily="34" charset="0"/>
                <a:ea typeface="DM Sans" pitchFamily="34" charset="-122"/>
                <a:cs typeface="DM Sans" pitchFamily="34" charset="-120"/>
              </a:rPr>
              <a:t>~75% GP IRR</a:t>
            </a:r>
            <a:endParaRPr lang="en-US" sz="1100" dirty="0"/>
          </a:p>
        </p:txBody>
      </p:sp>
      <p:sp>
        <p:nvSpPr>
          <p:cNvPr id="46" name="Shape 44"/>
          <p:cNvSpPr/>
          <p:nvPr/>
        </p:nvSpPr>
        <p:spPr>
          <a:xfrm>
            <a:off x="457200" y="5943600"/>
            <a:ext cx="11274552" cy="420624"/>
          </a:xfrm>
          <a:prstGeom prst="rect">
            <a:avLst/>
          </a:prstGeom>
          <a:solidFill>
            <a:srgbClr val="3A243A"/>
          </a:solidFill>
          <a:ln/>
        </p:spPr>
      </p:sp>
      <p:sp>
        <p:nvSpPr>
          <p:cNvPr id="47" name="Text 45"/>
          <p:cNvSpPr/>
          <p:nvPr/>
        </p:nvSpPr>
        <p:spPr>
          <a:xfrm>
            <a:off x="640080" y="5943600"/>
            <a:ext cx="10908792" cy="420624"/>
          </a:xfrm>
          <a:prstGeom prst="rect">
            <a:avLst/>
          </a:prstGeom>
          <a:noFill/>
          <a:ln/>
        </p:spPr>
        <p:txBody>
          <a:bodyPr wrap="square" lIns="0" tIns="0" rIns="0" bIns="0" rtlCol="0" anchor="ctr"/>
          <a:lstStyle/>
          <a:p>
            <a:pPr algn="ctr" indent="0" marL="0">
              <a:buNone/>
            </a:pPr>
            <a:r>
              <a:rPr lang="en-US" sz="1100" b="1" dirty="0">
                <a:solidFill>
                  <a:srgbClr val="FFFFFF"/>
                </a:solidFill>
                <a:latin typeface="DM Sans" pitchFamily="34" charset="0"/>
                <a:ea typeface="DM Sans" pitchFamily="34" charset="-122"/>
                <a:cs typeface="DM Sans" pitchFamily="34" charset="-120"/>
              </a:rPr>
              <a:t>Market 8% pref + tiered promote → the LP nets ~33% (past the 30% target); JAL earns ~$4.6M of carry.</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13 / 20</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LOT LIQUIDITY  ·  BUYER UNIVERSE</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A deep pool of lot buyers.</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Regional and national homebuilders are actively building across Queen Anne's County and the Eastern Shore. Entitled, finished lots trade readily — multiple credible takeout buyers let us run a competitive process and de-risk the exit.</a:t>
            </a:r>
            <a:endParaRPr lang="en-US" sz="1300" dirty="0"/>
          </a:p>
        </p:txBody>
      </p:sp>
      <p:sp>
        <p:nvSpPr>
          <p:cNvPr id="11" name="Shape 9"/>
          <p:cNvSpPr/>
          <p:nvPr/>
        </p:nvSpPr>
        <p:spPr>
          <a:xfrm>
            <a:off x="457200" y="1920240"/>
            <a:ext cx="2834640" cy="365760"/>
          </a:xfrm>
          <a:prstGeom prst="rect">
            <a:avLst/>
          </a:prstGeom>
          <a:solidFill>
            <a:srgbClr val="0B163C"/>
          </a:solidFill>
          <a:ln/>
        </p:spPr>
      </p:sp>
      <p:sp>
        <p:nvSpPr>
          <p:cNvPr id="12" name="Text 10"/>
          <p:cNvSpPr/>
          <p:nvPr/>
        </p:nvSpPr>
        <p:spPr>
          <a:xfrm>
            <a:off x="457200" y="1920240"/>
            <a:ext cx="2834640"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Builder</a:t>
            </a:r>
            <a:endParaRPr lang="en-US" sz="900" dirty="0"/>
          </a:p>
        </p:txBody>
      </p:sp>
      <p:sp>
        <p:nvSpPr>
          <p:cNvPr id="13" name="Shape 11"/>
          <p:cNvSpPr/>
          <p:nvPr/>
        </p:nvSpPr>
        <p:spPr>
          <a:xfrm>
            <a:off x="3291840" y="1920240"/>
            <a:ext cx="2103120" cy="365760"/>
          </a:xfrm>
          <a:prstGeom prst="rect">
            <a:avLst/>
          </a:prstGeom>
          <a:solidFill>
            <a:srgbClr val="0B163C"/>
          </a:solidFill>
          <a:ln/>
        </p:spPr>
      </p:sp>
      <p:sp>
        <p:nvSpPr>
          <p:cNvPr id="14" name="Text 12"/>
          <p:cNvSpPr/>
          <p:nvPr/>
        </p:nvSpPr>
        <p:spPr>
          <a:xfrm>
            <a:off x="3291840" y="1920240"/>
            <a:ext cx="2103120" cy="365760"/>
          </a:xfrm>
          <a:prstGeom prst="rect">
            <a:avLst/>
          </a:prstGeom>
          <a:noFill/>
          <a:ln/>
        </p:spPr>
        <p:txBody>
          <a:bodyPr wrap="square" lIns="25400" tIns="76200" rIns="76200" bIns="25400" rtlCol="0" anchor="ctr"/>
          <a:lstStyle/>
          <a:p>
            <a:pPr algn="ctr" indent="0" marL="0">
              <a:buNone/>
            </a:pPr>
            <a:r>
              <a:rPr lang="en-US" sz="900" b="1" dirty="0">
                <a:solidFill>
                  <a:srgbClr val="FFFFFF"/>
                </a:solidFill>
                <a:latin typeface="Montserrat" pitchFamily="34" charset="0"/>
                <a:ea typeface="Montserrat" pitchFamily="34" charset="-122"/>
                <a:cs typeface="Montserrat" pitchFamily="34" charset="-120"/>
              </a:rPr>
              <a:t>Reach</a:t>
            </a:r>
            <a:endParaRPr lang="en-US" sz="900" dirty="0"/>
          </a:p>
        </p:txBody>
      </p:sp>
      <p:sp>
        <p:nvSpPr>
          <p:cNvPr id="15" name="Shape 13"/>
          <p:cNvSpPr/>
          <p:nvPr/>
        </p:nvSpPr>
        <p:spPr>
          <a:xfrm>
            <a:off x="5394960" y="1920240"/>
            <a:ext cx="6336792" cy="365760"/>
          </a:xfrm>
          <a:prstGeom prst="rect">
            <a:avLst/>
          </a:prstGeom>
          <a:solidFill>
            <a:srgbClr val="0B163C"/>
          </a:solidFill>
          <a:ln/>
        </p:spPr>
      </p:sp>
      <p:sp>
        <p:nvSpPr>
          <p:cNvPr id="16" name="Text 14"/>
          <p:cNvSpPr/>
          <p:nvPr/>
        </p:nvSpPr>
        <p:spPr>
          <a:xfrm>
            <a:off x="5394960" y="1920240"/>
            <a:ext cx="6336792"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Footprint / relevance</a:t>
            </a:r>
            <a:endParaRPr lang="en-US" sz="900" dirty="0"/>
          </a:p>
        </p:txBody>
      </p:sp>
      <p:sp>
        <p:nvSpPr>
          <p:cNvPr id="17" name="Shape 15"/>
          <p:cNvSpPr/>
          <p:nvPr/>
        </p:nvSpPr>
        <p:spPr>
          <a:xfrm>
            <a:off x="457200" y="2286000"/>
            <a:ext cx="2834640" cy="420624"/>
          </a:xfrm>
          <a:prstGeom prst="rect">
            <a:avLst/>
          </a:prstGeom>
          <a:solidFill>
            <a:srgbClr val="FFFFFF"/>
          </a:solidFill>
          <a:ln/>
        </p:spPr>
      </p:sp>
      <p:sp>
        <p:nvSpPr>
          <p:cNvPr id="18" name="Text 16"/>
          <p:cNvSpPr/>
          <p:nvPr/>
        </p:nvSpPr>
        <p:spPr>
          <a:xfrm>
            <a:off x="457200" y="2286000"/>
            <a:ext cx="2834640" cy="420624"/>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NVR / Ryan Homes</a:t>
            </a:r>
            <a:endParaRPr lang="en-US" sz="1000" dirty="0"/>
          </a:p>
        </p:txBody>
      </p:sp>
      <p:sp>
        <p:nvSpPr>
          <p:cNvPr id="19" name="Shape 17"/>
          <p:cNvSpPr/>
          <p:nvPr/>
        </p:nvSpPr>
        <p:spPr>
          <a:xfrm>
            <a:off x="3291840" y="2286000"/>
            <a:ext cx="2103120" cy="420624"/>
          </a:xfrm>
          <a:prstGeom prst="rect">
            <a:avLst/>
          </a:prstGeom>
          <a:solidFill>
            <a:srgbClr val="FFFFFF"/>
          </a:solidFill>
          <a:ln/>
        </p:spPr>
      </p:sp>
      <p:sp>
        <p:nvSpPr>
          <p:cNvPr id="20" name="Text 18"/>
          <p:cNvSpPr/>
          <p:nvPr/>
        </p:nvSpPr>
        <p:spPr>
          <a:xfrm>
            <a:off x="3291840" y="2286000"/>
            <a:ext cx="2103120" cy="420624"/>
          </a:xfrm>
          <a:prstGeom prst="rect">
            <a:avLst/>
          </a:prstGeom>
          <a:noFill/>
          <a:ln/>
        </p:spPr>
        <p:txBody>
          <a:bodyPr wrap="square" lIns="25400" tIns="76200" rIns="76200" bIns="25400" rtlCol="0" anchor="ctr"/>
          <a:lstStyle/>
          <a:p>
            <a:pPr algn="ctr" indent="0" marL="0">
              <a:buNone/>
            </a:pPr>
            <a:r>
              <a:rPr lang="en-US" sz="900" b="1" dirty="0">
                <a:solidFill>
                  <a:srgbClr val="3A243A"/>
                </a:solidFill>
                <a:latin typeface="Montserrat" pitchFamily="34" charset="0"/>
                <a:ea typeface="Montserrat" pitchFamily="34" charset="-122"/>
                <a:cs typeface="Montserrat" pitchFamily="34" charset="-120"/>
              </a:rPr>
              <a:t>National · public</a:t>
            </a:r>
            <a:endParaRPr lang="en-US" sz="900" dirty="0"/>
          </a:p>
        </p:txBody>
      </p:sp>
      <p:sp>
        <p:nvSpPr>
          <p:cNvPr id="21" name="Shape 19"/>
          <p:cNvSpPr/>
          <p:nvPr/>
        </p:nvSpPr>
        <p:spPr>
          <a:xfrm>
            <a:off x="5394960" y="2286000"/>
            <a:ext cx="6336792" cy="420624"/>
          </a:xfrm>
          <a:prstGeom prst="rect">
            <a:avLst/>
          </a:prstGeom>
          <a:solidFill>
            <a:srgbClr val="FFFFFF"/>
          </a:solidFill>
          <a:ln/>
        </p:spPr>
      </p:sp>
      <p:sp>
        <p:nvSpPr>
          <p:cNvPr id="22" name="Text 20"/>
          <p:cNvSpPr/>
          <p:nvPr/>
        </p:nvSpPr>
        <p:spPr>
          <a:xfrm>
            <a:off x="5394960" y="2286000"/>
            <a:ext cx="6336792" cy="420624"/>
          </a:xfrm>
          <a:prstGeom prst="rect">
            <a:avLst/>
          </a:prstGeom>
          <a:noFill/>
          <a:ln/>
        </p:spPr>
        <p:txBody>
          <a:bodyPr wrap="square" lIns="25400" tIns="76200" rIns="76200" bIns="25400" rtlCol="0" anchor="ctr"/>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Largest builder in Maryland; routine acquirer of finished / entitled lots</a:t>
            </a:r>
            <a:endParaRPr lang="en-US" sz="900" dirty="0"/>
          </a:p>
        </p:txBody>
      </p:sp>
      <p:sp>
        <p:nvSpPr>
          <p:cNvPr id="23" name="Shape 21"/>
          <p:cNvSpPr/>
          <p:nvPr/>
        </p:nvSpPr>
        <p:spPr>
          <a:xfrm>
            <a:off x="457200" y="2706624"/>
            <a:ext cx="2834640" cy="420624"/>
          </a:xfrm>
          <a:prstGeom prst="rect">
            <a:avLst/>
          </a:prstGeom>
          <a:solidFill>
            <a:srgbClr val="F4F2ED"/>
          </a:solidFill>
          <a:ln/>
        </p:spPr>
      </p:sp>
      <p:sp>
        <p:nvSpPr>
          <p:cNvPr id="24" name="Text 22"/>
          <p:cNvSpPr/>
          <p:nvPr/>
        </p:nvSpPr>
        <p:spPr>
          <a:xfrm>
            <a:off x="457200" y="2706624"/>
            <a:ext cx="2834640" cy="420624"/>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D.R. Horton</a:t>
            </a:r>
            <a:endParaRPr lang="en-US" sz="1000" dirty="0"/>
          </a:p>
        </p:txBody>
      </p:sp>
      <p:sp>
        <p:nvSpPr>
          <p:cNvPr id="25" name="Shape 23"/>
          <p:cNvSpPr/>
          <p:nvPr/>
        </p:nvSpPr>
        <p:spPr>
          <a:xfrm>
            <a:off x="3291840" y="2706624"/>
            <a:ext cx="2103120" cy="420624"/>
          </a:xfrm>
          <a:prstGeom prst="rect">
            <a:avLst/>
          </a:prstGeom>
          <a:solidFill>
            <a:srgbClr val="F4F2ED"/>
          </a:solidFill>
          <a:ln/>
        </p:spPr>
      </p:sp>
      <p:sp>
        <p:nvSpPr>
          <p:cNvPr id="26" name="Text 24"/>
          <p:cNvSpPr/>
          <p:nvPr/>
        </p:nvSpPr>
        <p:spPr>
          <a:xfrm>
            <a:off x="3291840" y="2706624"/>
            <a:ext cx="2103120" cy="420624"/>
          </a:xfrm>
          <a:prstGeom prst="rect">
            <a:avLst/>
          </a:prstGeom>
          <a:noFill/>
          <a:ln/>
        </p:spPr>
        <p:txBody>
          <a:bodyPr wrap="square" lIns="25400" tIns="76200" rIns="76200" bIns="25400" rtlCol="0" anchor="ctr"/>
          <a:lstStyle/>
          <a:p>
            <a:pPr algn="ctr" indent="0" marL="0">
              <a:buNone/>
            </a:pPr>
            <a:r>
              <a:rPr lang="en-US" sz="900" b="1" dirty="0">
                <a:solidFill>
                  <a:srgbClr val="3A243A"/>
                </a:solidFill>
                <a:latin typeface="Montserrat" pitchFamily="34" charset="0"/>
                <a:ea typeface="Montserrat" pitchFamily="34" charset="-122"/>
                <a:cs typeface="Montserrat" pitchFamily="34" charset="-120"/>
              </a:rPr>
              <a:t>National · public</a:t>
            </a:r>
            <a:endParaRPr lang="en-US" sz="900" dirty="0"/>
          </a:p>
        </p:txBody>
      </p:sp>
      <p:sp>
        <p:nvSpPr>
          <p:cNvPr id="27" name="Shape 25"/>
          <p:cNvSpPr/>
          <p:nvPr/>
        </p:nvSpPr>
        <p:spPr>
          <a:xfrm>
            <a:off x="5394960" y="2706624"/>
            <a:ext cx="6336792" cy="420624"/>
          </a:xfrm>
          <a:prstGeom prst="rect">
            <a:avLst/>
          </a:prstGeom>
          <a:solidFill>
            <a:srgbClr val="F4F2ED"/>
          </a:solidFill>
          <a:ln/>
        </p:spPr>
      </p:sp>
      <p:sp>
        <p:nvSpPr>
          <p:cNvPr id="28" name="Text 26"/>
          <p:cNvSpPr/>
          <p:nvPr/>
        </p:nvSpPr>
        <p:spPr>
          <a:xfrm>
            <a:off x="5394960" y="2706624"/>
            <a:ext cx="6336792" cy="420624"/>
          </a:xfrm>
          <a:prstGeom prst="rect">
            <a:avLst/>
          </a:prstGeom>
          <a:noFill/>
          <a:ln/>
        </p:spPr>
        <p:txBody>
          <a:bodyPr wrap="square" lIns="25400" tIns="76200" rIns="76200" bIns="25400" rtlCol="0" anchor="ctr"/>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#1 U.S. homebuilder; active Maryland operations</a:t>
            </a:r>
            <a:endParaRPr lang="en-US" sz="900" dirty="0"/>
          </a:p>
        </p:txBody>
      </p:sp>
      <p:sp>
        <p:nvSpPr>
          <p:cNvPr id="29" name="Shape 27"/>
          <p:cNvSpPr/>
          <p:nvPr/>
        </p:nvSpPr>
        <p:spPr>
          <a:xfrm>
            <a:off x="457200" y="3127248"/>
            <a:ext cx="2834640" cy="420624"/>
          </a:xfrm>
          <a:prstGeom prst="rect">
            <a:avLst/>
          </a:prstGeom>
          <a:solidFill>
            <a:srgbClr val="FFFFFF"/>
          </a:solidFill>
          <a:ln/>
        </p:spPr>
      </p:sp>
      <p:sp>
        <p:nvSpPr>
          <p:cNvPr id="30" name="Text 28"/>
          <p:cNvSpPr/>
          <p:nvPr/>
        </p:nvSpPr>
        <p:spPr>
          <a:xfrm>
            <a:off x="457200" y="3127248"/>
            <a:ext cx="2834640" cy="420624"/>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Lennar</a:t>
            </a:r>
            <a:endParaRPr lang="en-US" sz="1000" dirty="0"/>
          </a:p>
        </p:txBody>
      </p:sp>
      <p:sp>
        <p:nvSpPr>
          <p:cNvPr id="31" name="Shape 29"/>
          <p:cNvSpPr/>
          <p:nvPr/>
        </p:nvSpPr>
        <p:spPr>
          <a:xfrm>
            <a:off x="3291840" y="3127248"/>
            <a:ext cx="2103120" cy="420624"/>
          </a:xfrm>
          <a:prstGeom prst="rect">
            <a:avLst/>
          </a:prstGeom>
          <a:solidFill>
            <a:srgbClr val="FFFFFF"/>
          </a:solidFill>
          <a:ln/>
        </p:spPr>
      </p:sp>
      <p:sp>
        <p:nvSpPr>
          <p:cNvPr id="32" name="Text 30"/>
          <p:cNvSpPr/>
          <p:nvPr/>
        </p:nvSpPr>
        <p:spPr>
          <a:xfrm>
            <a:off x="3291840" y="3127248"/>
            <a:ext cx="2103120" cy="420624"/>
          </a:xfrm>
          <a:prstGeom prst="rect">
            <a:avLst/>
          </a:prstGeom>
          <a:noFill/>
          <a:ln/>
        </p:spPr>
        <p:txBody>
          <a:bodyPr wrap="square" lIns="25400" tIns="76200" rIns="76200" bIns="25400" rtlCol="0" anchor="ctr"/>
          <a:lstStyle/>
          <a:p>
            <a:pPr algn="ctr" indent="0" marL="0">
              <a:buNone/>
            </a:pPr>
            <a:r>
              <a:rPr lang="en-US" sz="900" b="1" dirty="0">
                <a:solidFill>
                  <a:srgbClr val="3A243A"/>
                </a:solidFill>
                <a:latin typeface="Montserrat" pitchFamily="34" charset="0"/>
                <a:ea typeface="Montserrat" pitchFamily="34" charset="-122"/>
                <a:cs typeface="Montserrat" pitchFamily="34" charset="-120"/>
              </a:rPr>
              <a:t>National · public</a:t>
            </a:r>
            <a:endParaRPr lang="en-US" sz="900" dirty="0"/>
          </a:p>
        </p:txBody>
      </p:sp>
      <p:sp>
        <p:nvSpPr>
          <p:cNvPr id="33" name="Shape 31"/>
          <p:cNvSpPr/>
          <p:nvPr/>
        </p:nvSpPr>
        <p:spPr>
          <a:xfrm>
            <a:off x="5394960" y="3127248"/>
            <a:ext cx="6336792" cy="420624"/>
          </a:xfrm>
          <a:prstGeom prst="rect">
            <a:avLst/>
          </a:prstGeom>
          <a:solidFill>
            <a:srgbClr val="FFFFFF"/>
          </a:solidFill>
          <a:ln/>
        </p:spPr>
      </p:sp>
      <p:sp>
        <p:nvSpPr>
          <p:cNvPr id="34" name="Text 32"/>
          <p:cNvSpPr/>
          <p:nvPr/>
        </p:nvSpPr>
        <p:spPr>
          <a:xfrm>
            <a:off x="5394960" y="3127248"/>
            <a:ext cx="6336792" cy="420624"/>
          </a:xfrm>
          <a:prstGeom prst="rect">
            <a:avLst/>
          </a:prstGeom>
          <a:noFill/>
          <a:ln/>
        </p:spPr>
        <p:txBody>
          <a:bodyPr wrap="square" lIns="25400" tIns="76200" rIns="76200" bIns="25400" rtlCol="0" anchor="ctr"/>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Top-3 U.S. builder; Maryland division</a:t>
            </a:r>
            <a:endParaRPr lang="en-US" sz="900" dirty="0"/>
          </a:p>
        </p:txBody>
      </p:sp>
      <p:sp>
        <p:nvSpPr>
          <p:cNvPr id="35" name="Shape 33"/>
          <p:cNvSpPr/>
          <p:nvPr/>
        </p:nvSpPr>
        <p:spPr>
          <a:xfrm>
            <a:off x="457200" y="3547872"/>
            <a:ext cx="2834640" cy="420624"/>
          </a:xfrm>
          <a:prstGeom prst="rect">
            <a:avLst/>
          </a:prstGeom>
          <a:solidFill>
            <a:srgbClr val="F4F2ED"/>
          </a:solidFill>
          <a:ln/>
        </p:spPr>
      </p:sp>
      <p:sp>
        <p:nvSpPr>
          <p:cNvPr id="36" name="Text 34"/>
          <p:cNvSpPr/>
          <p:nvPr/>
        </p:nvSpPr>
        <p:spPr>
          <a:xfrm>
            <a:off x="457200" y="3547872"/>
            <a:ext cx="2834640" cy="420624"/>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Lacrosse Homes</a:t>
            </a:r>
            <a:endParaRPr lang="en-US" sz="1000" dirty="0"/>
          </a:p>
        </p:txBody>
      </p:sp>
      <p:sp>
        <p:nvSpPr>
          <p:cNvPr id="37" name="Shape 35"/>
          <p:cNvSpPr/>
          <p:nvPr/>
        </p:nvSpPr>
        <p:spPr>
          <a:xfrm>
            <a:off x="3291840" y="3547872"/>
            <a:ext cx="2103120" cy="420624"/>
          </a:xfrm>
          <a:prstGeom prst="rect">
            <a:avLst/>
          </a:prstGeom>
          <a:solidFill>
            <a:srgbClr val="F4F2ED"/>
          </a:solidFill>
          <a:ln/>
        </p:spPr>
      </p:sp>
      <p:sp>
        <p:nvSpPr>
          <p:cNvPr id="38" name="Text 36"/>
          <p:cNvSpPr/>
          <p:nvPr/>
        </p:nvSpPr>
        <p:spPr>
          <a:xfrm>
            <a:off x="3291840" y="3547872"/>
            <a:ext cx="2103120" cy="420624"/>
          </a:xfrm>
          <a:prstGeom prst="rect">
            <a:avLst/>
          </a:prstGeom>
          <a:noFill/>
          <a:ln/>
        </p:spPr>
        <p:txBody>
          <a:bodyPr wrap="square" lIns="25400" tIns="76200" rIns="76200" bIns="25400" rtlCol="0" anchor="ctr"/>
          <a:lstStyle/>
          <a:p>
            <a:pPr algn="ctr" indent="0" marL="0">
              <a:buNone/>
            </a:pPr>
            <a:r>
              <a:rPr lang="en-US" sz="900" b="1" dirty="0">
                <a:solidFill>
                  <a:srgbClr val="3A243A"/>
                </a:solidFill>
                <a:latin typeface="Montserrat" pitchFamily="34" charset="0"/>
                <a:ea typeface="Montserrat" pitchFamily="34" charset="-122"/>
                <a:cs typeface="Montserrat" pitchFamily="34" charset="-120"/>
              </a:rPr>
              <a:t>Regional</a:t>
            </a:r>
            <a:endParaRPr lang="en-US" sz="900" dirty="0"/>
          </a:p>
        </p:txBody>
      </p:sp>
      <p:sp>
        <p:nvSpPr>
          <p:cNvPr id="39" name="Shape 37"/>
          <p:cNvSpPr/>
          <p:nvPr/>
        </p:nvSpPr>
        <p:spPr>
          <a:xfrm>
            <a:off x="5394960" y="3547872"/>
            <a:ext cx="6336792" cy="420624"/>
          </a:xfrm>
          <a:prstGeom prst="rect">
            <a:avLst/>
          </a:prstGeom>
          <a:solidFill>
            <a:srgbClr val="F4F2ED"/>
          </a:solidFill>
          <a:ln/>
        </p:spPr>
      </p:sp>
      <p:sp>
        <p:nvSpPr>
          <p:cNvPr id="40" name="Text 38"/>
          <p:cNvSpPr/>
          <p:nvPr/>
        </p:nvSpPr>
        <p:spPr>
          <a:xfrm>
            <a:off x="5394960" y="3547872"/>
            <a:ext cx="6336792" cy="420624"/>
          </a:xfrm>
          <a:prstGeom prst="rect">
            <a:avLst/>
          </a:prstGeom>
          <a:noFill/>
          <a:ln/>
        </p:spPr>
        <p:txBody>
          <a:bodyPr wrap="square" lIns="25400" tIns="76200" rIns="76200" bIns="25400" rtlCol="0" anchor="ctr"/>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Centreville, Queen Anne's Co. — Meadow Creek, Kent Island Estates</a:t>
            </a:r>
            <a:endParaRPr lang="en-US" sz="900" dirty="0"/>
          </a:p>
        </p:txBody>
      </p:sp>
      <p:sp>
        <p:nvSpPr>
          <p:cNvPr id="41" name="Shape 39"/>
          <p:cNvSpPr/>
          <p:nvPr/>
        </p:nvSpPr>
        <p:spPr>
          <a:xfrm>
            <a:off x="457200" y="3968496"/>
            <a:ext cx="2834640" cy="420624"/>
          </a:xfrm>
          <a:prstGeom prst="rect">
            <a:avLst/>
          </a:prstGeom>
          <a:solidFill>
            <a:srgbClr val="FFFFFF"/>
          </a:solidFill>
          <a:ln/>
        </p:spPr>
      </p:sp>
      <p:sp>
        <p:nvSpPr>
          <p:cNvPr id="42" name="Text 40"/>
          <p:cNvSpPr/>
          <p:nvPr/>
        </p:nvSpPr>
        <p:spPr>
          <a:xfrm>
            <a:off x="457200" y="3968496"/>
            <a:ext cx="2834640" cy="420624"/>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Caruso Homes</a:t>
            </a:r>
            <a:endParaRPr lang="en-US" sz="1000" dirty="0"/>
          </a:p>
        </p:txBody>
      </p:sp>
      <p:sp>
        <p:nvSpPr>
          <p:cNvPr id="43" name="Shape 41"/>
          <p:cNvSpPr/>
          <p:nvPr/>
        </p:nvSpPr>
        <p:spPr>
          <a:xfrm>
            <a:off x="3291840" y="3968496"/>
            <a:ext cx="2103120" cy="420624"/>
          </a:xfrm>
          <a:prstGeom prst="rect">
            <a:avLst/>
          </a:prstGeom>
          <a:solidFill>
            <a:srgbClr val="FFFFFF"/>
          </a:solidFill>
          <a:ln/>
        </p:spPr>
      </p:sp>
      <p:sp>
        <p:nvSpPr>
          <p:cNvPr id="44" name="Text 42"/>
          <p:cNvSpPr/>
          <p:nvPr/>
        </p:nvSpPr>
        <p:spPr>
          <a:xfrm>
            <a:off x="3291840" y="3968496"/>
            <a:ext cx="2103120" cy="420624"/>
          </a:xfrm>
          <a:prstGeom prst="rect">
            <a:avLst/>
          </a:prstGeom>
          <a:noFill/>
          <a:ln/>
        </p:spPr>
        <p:txBody>
          <a:bodyPr wrap="square" lIns="25400" tIns="76200" rIns="76200" bIns="25400" rtlCol="0" anchor="ctr"/>
          <a:lstStyle/>
          <a:p>
            <a:pPr algn="ctr" indent="0" marL="0">
              <a:buNone/>
            </a:pPr>
            <a:r>
              <a:rPr lang="en-US" sz="900" b="1" dirty="0">
                <a:solidFill>
                  <a:srgbClr val="3A243A"/>
                </a:solidFill>
                <a:latin typeface="Montserrat" pitchFamily="34" charset="0"/>
                <a:ea typeface="Montserrat" pitchFamily="34" charset="-122"/>
                <a:cs typeface="Montserrat" pitchFamily="34" charset="-120"/>
              </a:rPr>
              <a:t>Regional</a:t>
            </a:r>
            <a:endParaRPr lang="en-US" sz="900" dirty="0"/>
          </a:p>
        </p:txBody>
      </p:sp>
      <p:sp>
        <p:nvSpPr>
          <p:cNvPr id="45" name="Shape 43"/>
          <p:cNvSpPr/>
          <p:nvPr/>
        </p:nvSpPr>
        <p:spPr>
          <a:xfrm>
            <a:off x="5394960" y="3968496"/>
            <a:ext cx="6336792" cy="420624"/>
          </a:xfrm>
          <a:prstGeom prst="rect">
            <a:avLst/>
          </a:prstGeom>
          <a:solidFill>
            <a:srgbClr val="FFFFFF"/>
          </a:solidFill>
          <a:ln/>
        </p:spPr>
      </p:sp>
      <p:sp>
        <p:nvSpPr>
          <p:cNvPr id="46" name="Text 44"/>
          <p:cNvSpPr/>
          <p:nvPr/>
        </p:nvSpPr>
        <p:spPr>
          <a:xfrm>
            <a:off x="5394960" y="3968496"/>
            <a:ext cx="6336792" cy="420624"/>
          </a:xfrm>
          <a:prstGeom prst="rect">
            <a:avLst/>
          </a:prstGeom>
          <a:noFill/>
          <a:ln/>
        </p:spPr>
        <p:txBody>
          <a:bodyPr wrap="square" lIns="25400" tIns="76200" rIns="76200" bIns="25400" rtlCol="0" anchor="ctr"/>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Eastern Shore communities + build-on-your-lot across Maryland</a:t>
            </a:r>
            <a:endParaRPr lang="en-US" sz="900" dirty="0"/>
          </a:p>
        </p:txBody>
      </p:sp>
      <p:sp>
        <p:nvSpPr>
          <p:cNvPr id="47" name="Shape 45"/>
          <p:cNvSpPr/>
          <p:nvPr/>
        </p:nvSpPr>
        <p:spPr>
          <a:xfrm>
            <a:off x="457200" y="4389120"/>
            <a:ext cx="2834640" cy="420624"/>
          </a:xfrm>
          <a:prstGeom prst="rect">
            <a:avLst/>
          </a:prstGeom>
          <a:solidFill>
            <a:srgbClr val="F4F2ED"/>
          </a:solidFill>
          <a:ln/>
        </p:spPr>
      </p:sp>
      <p:sp>
        <p:nvSpPr>
          <p:cNvPr id="48" name="Text 46"/>
          <p:cNvSpPr/>
          <p:nvPr/>
        </p:nvSpPr>
        <p:spPr>
          <a:xfrm>
            <a:off x="457200" y="4389120"/>
            <a:ext cx="2834640" cy="420624"/>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Gemcraft Homes</a:t>
            </a:r>
            <a:endParaRPr lang="en-US" sz="1000" dirty="0"/>
          </a:p>
        </p:txBody>
      </p:sp>
      <p:sp>
        <p:nvSpPr>
          <p:cNvPr id="49" name="Shape 47"/>
          <p:cNvSpPr/>
          <p:nvPr/>
        </p:nvSpPr>
        <p:spPr>
          <a:xfrm>
            <a:off x="3291840" y="4389120"/>
            <a:ext cx="2103120" cy="420624"/>
          </a:xfrm>
          <a:prstGeom prst="rect">
            <a:avLst/>
          </a:prstGeom>
          <a:solidFill>
            <a:srgbClr val="F4F2ED"/>
          </a:solidFill>
          <a:ln/>
        </p:spPr>
      </p:sp>
      <p:sp>
        <p:nvSpPr>
          <p:cNvPr id="50" name="Text 48"/>
          <p:cNvSpPr/>
          <p:nvPr/>
        </p:nvSpPr>
        <p:spPr>
          <a:xfrm>
            <a:off x="3291840" y="4389120"/>
            <a:ext cx="2103120" cy="420624"/>
          </a:xfrm>
          <a:prstGeom prst="rect">
            <a:avLst/>
          </a:prstGeom>
          <a:noFill/>
          <a:ln/>
        </p:spPr>
        <p:txBody>
          <a:bodyPr wrap="square" lIns="25400" tIns="76200" rIns="76200" bIns="25400" rtlCol="0" anchor="ctr"/>
          <a:lstStyle/>
          <a:p>
            <a:pPr algn="ctr" indent="0" marL="0">
              <a:buNone/>
            </a:pPr>
            <a:r>
              <a:rPr lang="en-US" sz="900" b="1" dirty="0">
                <a:solidFill>
                  <a:srgbClr val="3A243A"/>
                </a:solidFill>
                <a:latin typeface="Montserrat" pitchFamily="34" charset="0"/>
                <a:ea typeface="Montserrat" pitchFamily="34" charset="-122"/>
                <a:cs typeface="Montserrat" pitchFamily="34" charset="-120"/>
              </a:rPr>
              <a:t>Regional</a:t>
            </a:r>
            <a:endParaRPr lang="en-US" sz="900" dirty="0"/>
          </a:p>
        </p:txBody>
      </p:sp>
      <p:sp>
        <p:nvSpPr>
          <p:cNvPr id="51" name="Shape 49"/>
          <p:cNvSpPr/>
          <p:nvPr/>
        </p:nvSpPr>
        <p:spPr>
          <a:xfrm>
            <a:off x="5394960" y="4389120"/>
            <a:ext cx="6336792" cy="420624"/>
          </a:xfrm>
          <a:prstGeom prst="rect">
            <a:avLst/>
          </a:prstGeom>
          <a:solidFill>
            <a:srgbClr val="F4F2ED"/>
          </a:solidFill>
          <a:ln/>
        </p:spPr>
      </p:sp>
      <p:sp>
        <p:nvSpPr>
          <p:cNvPr id="52" name="Text 50"/>
          <p:cNvSpPr/>
          <p:nvPr/>
        </p:nvSpPr>
        <p:spPr>
          <a:xfrm>
            <a:off x="5394960" y="4389120"/>
            <a:ext cx="6336792" cy="420624"/>
          </a:xfrm>
          <a:prstGeom prst="rect">
            <a:avLst/>
          </a:prstGeom>
          <a:noFill/>
          <a:ln/>
        </p:spPr>
        <p:txBody>
          <a:bodyPr wrap="square" lIns="25400" tIns="76200" rIns="76200" bIns="25400" rtlCol="0" anchor="ctr"/>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Mid-Atlantic production builder (MD · DE · VA · PA)</a:t>
            </a:r>
            <a:endParaRPr lang="en-US" sz="900" dirty="0"/>
          </a:p>
        </p:txBody>
      </p:sp>
      <p:sp>
        <p:nvSpPr>
          <p:cNvPr id="53" name="Shape 51"/>
          <p:cNvSpPr/>
          <p:nvPr/>
        </p:nvSpPr>
        <p:spPr>
          <a:xfrm>
            <a:off x="457200" y="4809744"/>
            <a:ext cx="2834640" cy="420624"/>
          </a:xfrm>
          <a:prstGeom prst="rect">
            <a:avLst/>
          </a:prstGeom>
          <a:solidFill>
            <a:srgbClr val="FFFFFF"/>
          </a:solidFill>
          <a:ln/>
        </p:spPr>
      </p:sp>
      <p:sp>
        <p:nvSpPr>
          <p:cNvPr id="54" name="Text 52"/>
          <p:cNvSpPr/>
          <p:nvPr/>
        </p:nvSpPr>
        <p:spPr>
          <a:xfrm>
            <a:off x="457200" y="4809744"/>
            <a:ext cx="2834640" cy="420624"/>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Bay to Beach · Baldwin Homes</a:t>
            </a:r>
            <a:endParaRPr lang="en-US" sz="1000" dirty="0"/>
          </a:p>
        </p:txBody>
      </p:sp>
      <p:sp>
        <p:nvSpPr>
          <p:cNvPr id="55" name="Shape 53"/>
          <p:cNvSpPr/>
          <p:nvPr/>
        </p:nvSpPr>
        <p:spPr>
          <a:xfrm>
            <a:off x="3291840" y="4809744"/>
            <a:ext cx="2103120" cy="420624"/>
          </a:xfrm>
          <a:prstGeom prst="rect">
            <a:avLst/>
          </a:prstGeom>
          <a:solidFill>
            <a:srgbClr val="FFFFFF"/>
          </a:solidFill>
          <a:ln/>
        </p:spPr>
      </p:sp>
      <p:sp>
        <p:nvSpPr>
          <p:cNvPr id="56" name="Text 54"/>
          <p:cNvSpPr/>
          <p:nvPr/>
        </p:nvSpPr>
        <p:spPr>
          <a:xfrm>
            <a:off x="3291840" y="4809744"/>
            <a:ext cx="2103120" cy="420624"/>
          </a:xfrm>
          <a:prstGeom prst="rect">
            <a:avLst/>
          </a:prstGeom>
          <a:noFill/>
          <a:ln/>
        </p:spPr>
        <p:txBody>
          <a:bodyPr wrap="square" lIns="25400" tIns="76200" rIns="76200" bIns="25400" rtlCol="0" anchor="ctr"/>
          <a:lstStyle/>
          <a:p>
            <a:pPr algn="ctr" indent="0" marL="0">
              <a:buNone/>
            </a:pPr>
            <a:r>
              <a:rPr lang="en-US" sz="900" b="1" dirty="0">
                <a:solidFill>
                  <a:srgbClr val="3A243A"/>
                </a:solidFill>
                <a:latin typeface="Montserrat" pitchFamily="34" charset="0"/>
                <a:ea typeface="Montserrat" pitchFamily="34" charset="-122"/>
                <a:cs typeface="Montserrat" pitchFamily="34" charset="-120"/>
              </a:rPr>
              <a:t>Regional · custom</a:t>
            </a:r>
            <a:endParaRPr lang="en-US" sz="900" dirty="0"/>
          </a:p>
        </p:txBody>
      </p:sp>
      <p:sp>
        <p:nvSpPr>
          <p:cNvPr id="57" name="Shape 55"/>
          <p:cNvSpPr/>
          <p:nvPr/>
        </p:nvSpPr>
        <p:spPr>
          <a:xfrm>
            <a:off x="5394960" y="4809744"/>
            <a:ext cx="6336792" cy="420624"/>
          </a:xfrm>
          <a:prstGeom prst="rect">
            <a:avLst/>
          </a:prstGeom>
          <a:solidFill>
            <a:srgbClr val="FFFFFF"/>
          </a:solidFill>
          <a:ln/>
        </p:spPr>
      </p:sp>
      <p:sp>
        <p:nvSpPr>
          <p:cNvPr id="58" name="Text 56"/>
          <p:cNvSpPr/>
          <p:nvPr/>
        </p:nvSpPr>
        <p:spPr>
          <a:xfrm>
            <a:off x="5394960" y="4809744"/>
            <a:ext cx="6336792" cy="420624"/>
          </a:xfrm>
          <a:prstGeom prst="rect">
            <a:avLst/>
          </a:prstGeom>
          <a:noFill/>
          <a:ln/>
        </p:spPr>
        <p:txBody>
          <a:bodyPr wrap="square" lIns="25400" tIns="76200" rIns="76200" bIns="25400" rtlCol="0" anchor="ctr"/>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Eastern Shore custom / semi-custom builders</a:t>
            </a:r>
            <a:endParaRPr lang="en-US" sz="900" dirty="0"/>
          </a:p>
        </p:txBody>
      </p:sp>
      <p:sp>
        <p:nvSpPr>
          <p:cNvPr id="59" name="Shape 57"/>
          <p:cNvSpPr/>
          <p:nvPr/>
        </p:nvSpPr>
        <p:spPr>
          <a:xfrm>
            <a:off x="457200" y="5394960"/>
            <a:ext cx="11274552" cy="420624"/>
          </a:xfrm>
          <a:prstGeom prst="rect">
            <a:avLst/>
          </a:prstGeom>
          <a:solidFill>
            <a:srgbClr val="3A243A"/>
          </a:solidFill>
          <a:ln/>
        </p:spPr>
      </p:sp>
      <p:sp>
        <p:nvSpPr>
          <p:cNvPr id="60" name="Text 58"/>
          <p:cNvSpPr/>
          <p:nvPr/>
        </p:nvSpPr>
        <p:spPr>
          <a:xfrm>
            <a:off x="640080" y="5394960"/>
            <a:ext cx="10908792" cy="420624"/>
          </a:xfrm>
          <a:prstGeom prst="rect">
            <a:avLst/>
          </a:prstGeom>
          <a:noFill/>
          <a:ln/>
        </p:spPr>
        <p:txBody>
          <a:bodyPr wrap="square" lIns="0" tIns="0" rIns="0" bIns="0" rtlCol="0" anchor="ctr"/>
          <a:lstStyle/>
          <a:p>
            <a:pPr algn="ctr" indent="0" marL="0">
              <a:buNone/>
            </a:pPr>
            <a:r>
              <a:rPr lang="en-US" sz="1100" b="1" dirty="0">
                <a:solidFill>
                  <a:srgbClr val="FFFFFF"/>
                </a:solidFill>
                <a:latin typeface="DM Sans" pitchFamily="34" charset="0"/>
                <a:ea typeface="DM Sans" pitchFamily="34" charset="-122"/>
                <a:cs typeface="DM Sans" pitchFamily="34" charset="-120"/>
              </a:rPr>
              <a:t>Multiple well-capitalized buyers = a liquid exit — phased lot takedowns or a bulk sale, marketed competitively.</a:t>
            </a:r>
            <a:endParaRPr lang="en-US" sz="1100" dirty="0"/>
          </a:p>
        </p:txBody>
      </p:sp>
      <p:sp>
        <p:nvSpPr>
          <p:cNvPr id="61" name="Text 59"/>
          <p:cNvSpPr/>
          <p:nvPr/>
        </p:nvSpPr>
        <p:spPr>
          <a:xfrm>
            <a:off x="457200" y="5989320"/>
            <a:ext cx="11274552" cy="237744"/>
          </a:xfrm>
          <a:prstGeom prst="rect">
            <a:avLst/>
          </a:prstGeom>
          <a:noFill/>
          <a:ln/>
        </p:spPr>
        <p:txBody>
          <a:bodyPr wrap="square" lIns="0" tIns="0" rIns="0" bIns="0" rtlCol="0" anchor="ctr"/>
          <a:lstStyle/>
          <a:p>
            <a:pPr algn="l" indent="0" marL="0">
              <a:buNone/>
            </a:pPr>
            <a:r>
              <a:rPr lang="en-US" sz="700" b="1" dirty="0">
                <a:solidFill>
                  <a:srgbClr val="6B5A6B"/>
                </a:solidFill>
                <a:latin typeface="DM Sans" pitchFamily="34" charset="0"/>
                <a:ea typeface="DM Sans" pitchFamily="34" charset="-122"/>
                <a:cs typeface="DM Sans" pitchFamily="34" charset="-120"/>
              </a:rPr>
              <a:t>Sources (own research; subject to change &amp; confirmation):  </a:t>
            </a:r>
            <a:pPr algn="l" indent="0" marL="0">
              <a:buNone/>
            </a:pPr>
            <a:r>
              <a:rPr lang="en-US" sz="700" u="sng" dirty="0">
                <a:solidFill>
                  <a:srgbClr val="3A243A"/>
                </a:solidFill>
                <a:latin typeface="DM Sans" pitchFamily="34" charset="0"/>
                <a:ea typeface="DM Sans" pitchFamily="34" charset="-122"/>
                <a:cs typeface="DM Sans" pitchFamily="34" charset="-120"/>
                <a:hlinkClick r:id="rId1" invalidUrl="" action="" tgtFrame="" tooltip="Lacrosse Homes (Centreville, QAC)" history="1" highlightClick="0" endSnd="0">
                  <a:extLst>
                    <a:ext uri="{A12FA001-AC4F-418D-AE19-62706E023703}">
                      <ahyp:hlinkClr xmlns:ahyp="http://schemas.microsoft.com/office/drawing/2018/hyperlinkcolor" val="tx"/>
                    </a:ext>
                  </a:extLst>
                </a:hlinkClick>
              </a:rPr>
              <a:t>Lacrosse Homes (Centreville, QAC)</a:t>
            </a:r>
            <a:pPr algn="l" indent="0" marL="0">
              <a:buNone/>
            </a:pPr>
            <a:r>
              <a:rPr lang="en-US" sz="700" dirty="0">
                <a:solidFill>
                  <a:srgbClr val="C4B8C4"/>
                </a:solidFill>
                <a:latin typeface="DM Sans" pitchFamily="34" charset="0"/>
                <a:ea typeface="DM Sans" pitchFamily="34" charset="-122"/>
                <a:cs typeface="DM Sans" pitchFamily="34" charset="-120"/>
              </a:rPr>
              <a:t>    ·    </a:t>
            </a:r>
            <a:pPr algn="l" indent="0" marL="0">
              <a:buNone/>
            </a:pPr>
            <a:r>
              <a:rPr lang="en-US" sz="700" u="sng" dirty="0">
                <a:solidFill>
                  <a:srgbClr val="3A243A"/>
                </a:solidFill>
                <a:latin typeface="DM Sans" pitchFamily="34" charset="0"/>
                <a:ea typeface="DM Sans" pitchFamily="34" charset="-122"/>
                <a:cs typeface="DM Sans" pitchFamily="34" charset="-120"/>
                <a:hlinkClick r:id="rId2" invalidUrl="" action="" tgtFrame="" tooltip="Caruso Homes" history="1" highlightClick="0" endSnd="0">
                  <a:extLst>
                    <a:ext uri="{A12FA001-AC4F-418D-AE19-62706E023703}">
                      <ahyp:hlinkClr xmlns:ahyp="http://schemas.microsoft.com/office/drawing/2018/hyperlinkcolor" val="tx"/>
                    </a:ext>
                  </a:extLst>
                </a:hlinkClick>
              </a:rPr>
              <a:t>Caruso Homes</a:t>
            </a:r>
            <a:pPr algn="l" indent="0" marL="0">
              <a:buNone/>
            </a:pPr>
            <a:r>
              <a:rPr lang="en-US" sz="700" dirty="0">
                <a:solidFill>
                  <a:srgbClr val="C4B8C4"/>
                </a:solidFill>
                <a:latin typeface="DM Sans" pitchFamily="34" charset="0"/>
                <a:ea typeface="DM Sans" pitchFamily="34" charset="-122"/>
                <a:cs typeface="DM Sans" pitchFamily="34" charset="-120"/>
              </a:rPr>
              <a:t>    ·    </a:t>
            </a:r>
            <a:pPr algn="l" indent="0" marL="0">
              <a:buNone/>
            </a:pPr>
            <a:r>
              <a:rPr lang="en-US" sz="700" u="sng" dirty="0">
                <a:solidFill>
                  <a:srgbClr val="3A243A"/>
                </a:solidFill>
                <a:latin typeface="DM Sans" pitchFamily="34" charset="0"/>
                <a:ea typeface="DM Sans" pitchFamily="34" charset="-122"/>
                <a:cs typeface="DM Sans" pitchFamily="34" charset="-120"/>
                <a:hlinkClick r:id="rId3" invalidUrl="" action="" tgtFrame="" tooltip="Gemcraft Homes" history="1" highlightClick="0" endSnd="0">
                  <a:extLst>
                    <a:ext uri="{A12FA001-AC4F-418D-AE19-62706E023703}">
                      <ahyp:hlinkClr xmlns:ahyp="http://schemas.microsoft.com/office/drawing/2018/hyperlinkcolor" val="tx"/>
                    </a:ext>
                  </a:extLst>
                </a:hlinkClick>
              </a:rPr>
              <a:t>Gemcraft Homes</a:t>
            </a:r>
            <a:pPr algn="l" indent="0" marL="0">
              <a:buNone/>
            </a:pPr>
            <a:r>
              <a:rPr lang="en-US" sz="700" dirty="0">
                <a:solidFill>
                  <a:srgbClr val="C4B8C4"/>
                </a:solidFill>
                <a:latin typeface="DM Sans" pitchFamily="34" charset="0"/>
                <a:ea typeface="DM Sans" pitchFamily="34" charset="-122"/>
                <a:cs typeface="DM Sans" pitchFamily="34" charset="-120"/>
              </a:rPr>
              <a:t>    ·    </a:t>
            </a:r>
            <a:pPr algn="l" indent="0" marL="0">
              <a:buNone/>
            </a:pPr>
            <a:r>
              <a:rPr lang="en-US" sz="700" u="sng" dirty="0">
                <a:solidFill>
                  <a:srgbClr val="3A243A"/>
                </a:solidFill>
                <a:latin typeface="DM Sans" pitchFamily="34" charset="0"/>
                <a:ea typeface="DM Sans" pitchFamily="34" charset="-122"/>
                <a:cs typeface="DM Sans" pitchFamily="34" charset="-120"/>
                <a:hlinkClick r:id="rId4" invalidUrl="" action="" tgtFrame="" tooltip="Zillow — MD new communities" history="1" highlightClick="0" endSnd="0">
                  <a:extLst>
                    <a:ext uri="{A12FA001-AC4F-418D-AE19-62706E023703}">
                      <ahyp:hlinkClr xmlns:ahyp="http://schemas.microsoft.com/office/drawing/2018/hyperlinkcolor" val="tx"/>
                    </a:ext>
                  </a:extLst>
                </a:hlinkClick>
              </a:rPr>
              <a:t>Zillow — MD new communities</a:t>
            </a:r>
            <a:endParaRPr lang="en-US" sz="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14 / 20</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PHASE 2  ·  HOSPITALITY  ·  ILLUSTRATIVE</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Phase 2 — add a hotel and restaurants.</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VIVÂMEE-led resort; JAL as capital partner. Held for income it yields ~8% / ~12% IRR — to clear a mid-to-high-20s return, build to core: the contributed land + VIVÂMEE's premium NOI create a development spread, captured by recapitalizing at stabilization (~Yr 4).</a:t>
            </a:r>
            <a:endParaRPr lang="en-US" sz="1300" dirty="0"/>
          </a:p>
        </p:txBody>
      </p:sp>
      <p:sp>
        <p:nvSpPr>
          <p:cNvPr id="11" name="Shape 9"/>
          <p:cNvSpPr/>
          <p:nvPr/>
        </p:nvSpPr>
        <p:spPr>
          <a:xfrm>
            <a:off x="457200" y="1828800"/>
            <a:ext cx="3611880" cy="365760"/>
          </a:xfrm>
          <a:prstGeom prst="rect">
            <a:avLst/>
          </a:prstGeom>
          <a:solidFill>
            <a:srgbClr val="0B163C"/>
          </a:solidFill>
          <a:ln/>
        </p:spPr>
      </p:sp>
      <p:sp>
        <p:nvSpPr>
          <p:cNvPr id="12" name="Text 10"/>
          <p:cNvSpPr/>
          <p:nvPr/>
        </p:nvSpPr>
        <p:spPr>
          <a:xfrm>
            <a:off x="457200" y="1828800"/>
            <a:ext cx="3611880"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DEVELOPMENT COST</a:t>
            </a:r>
            <a:endParaRPr lang="en-US" sz="900" dirty="0"/>
          </a:p>
        </p:txBody>
      </p:sp>
      <p:sp>
        <p:nvSpPr>
          <p:cNvPr id="13" name="Shape 11"/>
          <p:cNvSpPr/>
          <p:nvPr/>
        </p:nvSpPr>
        <p:spPr>
          <a:xfrm>
            <a:off x="4069080" y="1828800"/>
            <a:ext cx="1417320" cy="365760"/>
          </a:xfrm>
          <a:prstGeom prst="rect">
            <a:avLst/>
          </a:prstGeom>
          <a:solidFill>
            <a:srgbClr val="0B163C"/>
          </a:solidFill>
          <a:ln/>
        </p:spPr>
      </p:sp>
      <p:sp>
        <p:nvSpPr>
          <p:cNvPr id="14" name="Text 12"/>
          <p:cNvSpPr/>
          <p:nvPr/>
        </p:nvSpPr>
        <p:spPr>
          <a:xfrm>
            <a:off x="4069080" y="1828800"/>
            <a:ext cx="1417320" cy="365760"/>
          </a:xfrm>
          <a:prstGeom prst="rect">
            <a:avLst/>
          </a:prstGeom>
          <a:noFill/>
          <a:ln/>
        </p:spPr>
        <p:txBody>
          <a:bodyPr wrap="square" lIns="25400" tIns="76200" rIns="76200" bIns="25400" rtlCol="0" anchor="ctr"/>
          <a:lstStyle/>
          <a:p>
            <a:pPr algn="r" indent="0" marL="0">
              <a:buNone/>
            </a:pPr>
            <a:endParaRPr lang="en-US" sz="900" dirty="0"/>
          </a:p>
        </p:txBody>
      </p:sp>
      <p:sp>
        <p:nvSpPr>
          <p:cNvPr id="15" name="Shape 13"/>
          <p:cNvSpPr/>
          <p:nvPr/>
        </p:nvSpPr>
        <p:spPr>
          <a:xfrm>
            <a:off x="457200" y="2194560"/>
            <a:ext cx="3611880" cy="438912"/>
          </a:xfrm>
          <a:prstGeom prst="rect">
            <a:avLst/>
          </a:prstGeom>
          <a:solidFill>
            <a:srgbClr val="FFFFFF"/>
          </a:solidFill>
          <a:ln/>
        </p:spPr>
      </p:sp>
      <p:sp>
        <p:nvSpPr>
          <p:cNvPr id="16" name="Text 14"/>
          <p:cNvSpPr/>
          <p:nvPr/>
        </p:nvSpPr>
        <p:spPr>
          <a:xfrm>
            <a:off x="457200" y="2194560"/>
            <a:ext cx="361188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Hotel (100 keys × $325K)</a:t>
            </a:r>
            <a:endParaRPr lang="en-US" sz="950" dirty="0"/>
          </a:p>
        </p:txBody>
      </p:sp>
      <p:sp>
        <p:nvSpPr>
          <p:cNvPr id="17" name="Shape 15"/>
          <p:cNvSpPr/>
          <p:nvPr/>
        </p:nvSpPr>
        <p:spPr>
          <a:xfrm>
            <a:off x="4069080" y="2194560"/>
            <a:ext cx="1417320" cy="438912"/>
          </a:xfrm>
          <a:prstGeom prst="rect">
            <a:avLst/>
          </a:prstGeom>
          <a:solidFill>
            <a:srgbClr val="FFFFFF"/>
          </a:solidFill>
          <a:ln/>
        </p:spPr>
      </p:sp>
      <p:sp>
        <p:nvSpPr>
          <p:cNvPr id="18" name="Text 16"/>
          <p:cNvSpPr/>
          <p:nvPr/>
        </p:nvSpPr>
        <p:spPr>
          <a:xfrm>
            <a:off x="4069080" y="2194560"/>
            <a:ext cx="1417320" cy="438912"/>
          </a:xfrm>
          <a:prstGeom prst="rect">
            <a:avLst/>
          </a:prstGeom>
          <a:noFill/>
          <a:ln/>
        </p:spPr>
        <p:txBody>
          <a:bodyPr wrap="square" lIns="25400" tIns="76200" rIns="76200" bIns="25400" rtlCol="0" anchor="ctr"/>
          <a:lstStyle/>
          <a:p>
            <a:pPr algn="r" indent="0" marL="0">
              <a:buNone/>
            </a:pPr>
            <a:r>
              <a:rPr lang="en-US" sz="950" b="1" dirty="0">
                <a:solidFill>
                  <a:srgbClr val="0B163C"/>
                </a:solidFill>
                <a:latin typeface="Montserrat" pitchFamily="34" charset="0"/>
                <a:ea typeface="Montserrat" pitchFamily="34" charset="-122"/>
                <a:cs typeface="Montserrat" pitchFamily="34" charset="-120"/>
              </a:rPr>
              <a:t>$32.5M</a:t>
            </a:r>
            <a:endParaRPr lang="en-US" sz="950" dirty="0"/>
          </a:p>
        </p:txBody>
      </p:sp>
      <p:sp>
        <p:nvSpPr>
          <p:cNvPr id="19" name="Shape 17"/>
          <p:cNvSpPr/>
          <p:nvPr/>
        </p:nvSpPr>
        <p:spPr>
          <a:xfrm>
            <a:off x="457200" y="2633472"/>
            <a:ext cx="3611880" cy="438912"/>
          </a:xfrm>
          <a:prstGeom prst="rect">
            <a:avLst/>
          </a:prstGeom>
          <a:solidFill>
            <a:srgbClr val="F4F2ED"/>
          </a:solidFill>
          <a:ln/>
        </p:spPr>
      </p:sp>
      <p:sp>
        <p:nvSpPr>
          <p:cNvPr id="20" name="Text 18"/>
          <p:cNvSpPr/>
          <p:nvPr/>
        </p:nvSpPr>
        <p:spPr>
          <a:xfrm>
            <a:off x="457200" y="2633472"/>
            <a:ext cx="361188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Restaurants (16K SF × $550)</a:t>
            </a:r>
            <a:endParaRPr lang="en-US" sz="950" dirty="0"/>
          </a:p>
        </p:txBody>
      </p:sp>
      <p:sp>
        <p:nvSpPr>
          <p:cNvPr id="21" name="Shape 19"/>
          <p:cNvSpPr/>
          <p:nvPr/>
        </p:nvSpPr>
        <p:spPr>
          <a:xfrm>
            <a:off x="4069080" y="2633472"/>
            <a:ext cx="1417320" cy="438912"/>
          </a:xfrm>
          <a:prstGeom prst="rect">
            <a:avLst/>
          </a:prstGeom>
          <a:solidFill>
            <a:srgbClr val="F4F2ED"/>
          </a:solidFill>
          <a:ln/>
        </p:spPr>
      </p:sp>
      <p:sp>
        <p:nvSpPr>
          <p:cNvPr id="22" name="Text 20"/>
          <p:cNvSpPr/>
          <p:nvPr/>
        </p:nvSpPr>
        <p:spPr>
          <a:xfrm>
            <a:off x="4069080" y="2633472"/>
            <a:ext cx="1417320" cy="438912"/>
          </a:xfrm>
          <a:prstGeom prst="rect">
            <a:avLst/>
          </a:prstGeom>
          <a:noFill/>
          <a:ln/>
        </p:spPr>
        <p:txBody>
          <a:bodyPr wrap="square" lIns="25400" tIns="76200" rIns="76200" bIns="25400" rtlCol="0" anchor="ctr"/>
          <a:lstStyle/>
          <a:p>
            <a:pPr algn="r" indent="0" marL="0">
              <a:buNone/>
            </a:pPr>
            <a:r>
              <a:rPr lang="en-US" sz="950" b="1" dirty="0">
                <a:solidFill>
                  <a:srgbClr val="0B163C"/>
                </a:solidFill>
                <a:latin typeface="Montserrat" pitchFamily="34" charset="0"/>
                <a:ea typeface="Montserrat" pitchFamily="34" charset="-122"/>
                <a:cs typeface="Montserrat" pitchFamily="34" charset="-120"/>
              </a:rPr>
              <a:t>$8.8M</a:t>
            </a:r>
            <a:endParaRPr lang="en-US" sz="950" dirty="0"/>
          </a:p>
        </p:txBody>
      </p:sp>
      <p:sp>
        <p:nvSpPr>
          <p:cNvPr id="23" name="Shape 21"/>
          <p:cNvSpPr/>
          <p:nvPr/>
        </p:nvSpPr>
        <p:spPr>
          <a:xfrm>
            <a:off x="457200" y="3072384"/>
            <a:ext cx="3611880" cy="438912"/>
          </a:xfrm>
          <a:prstGeom prst="rect">
            <a:avLst/>
          </a:prstGeom>
          <a:solidFill>
            <a:srgbClr val="FFFFFF"/>
          </a:solidFill>
          <a:ln/>
        </p:spPr>
      </p:sp>
      <p:sp>
        <p:nvSpPr>
          <p:cNvPr id="24" name="Text 22"/>
          <p:cNvSpPr/>
          <p:nvPr/>
        </p:nvSpPr>
        <p:spPr>
          <a:xfrm>
            <a:off x="457200" y="3072384"/>
            <a:ext cx="361188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Land — hospitality parcel</a:t>
            </a:r>
            <a:endParaRPr lang="en-US" sz="950" dirty="0"/>
          </a:p>
        </p:txBody>
      </p:sp>
      <p:sp>
        <p:nvSpPr>
          <p:cNvPr id="25" name="Shape 23"/>
          <p:cNvSpPr/>
          <p:nvPr/>
        </p:nvSpPr>
        <p:spPr>
          <a:xfrm>
            <a:off x="4069080" y="3072384"/>
            <a:ext cx="1417320" cy="438912"/>
          </a:xfrm>
          <a:prstGeom prst="rect">
            <a:avLst/>
          </a:prstGeom>
          <a:solidFill>
            <a:srgbClr val="FFFFFF"/>
          </a:solidFill>
          <a:ln/>
        </p:spPr>
      </p:sp>
      <p:sp>
        <p:nvSpPr>
          <p:cNvPr id="26" name="Text 24"/>
          <p:cNvSpPr/>
          <p:nvPr/>
        </p:nvSpPr>
        <p:spPr>
          <a:xfrm>
            <a:off x="4069080" y="3072384"/>
            <a:ext cx="1417320" cy="438912"/>
          </a:xfrm>
          <a:prstGeom prst="rect">
            <a:avLst/>
          </a:prstGeom>
          <a:noFill/>
          <a:ln/>
        </p:spPr>
        <p:txBody>
          <a:bodyPr wrap="square" lIns="25400" tIns="76200" rIns="76200" bIns="25400" rtlCol="0" anchor="ctr"/>
          <a:lstStyle/>
          <a:p>
            <a:pPr algn="r" indent="0" marL="0">
              <a:buNone/>
            </a:pPr>
            <a:r>
              <a:rPr lang="en-US" sz="950" b="1" dirty="0">
                <a:solidFill>
                  <a:srgbClr val="0B163C"/>
                </a:solidFill>
                <a:latin typeface="Montserrat" pitchFamily="34" charset="0"/>
                <a:ea typeface="Montserrat" pitchFamily="34" charset="-122"/>
                <a:cs typeface="Montserrat" pitchFamily="34" charset="-120"/>
              </a:rPr>
              <a:t>$2.0M</a:t>
            </a:r>
            <a:endParaRPr lang="en-US" sz="950" dirty="0"/>
          </a:p>
        </p:txBody>
      </p:sp>
      <p:sp>
        <p:nvSpPr>
          <p:cNvPr id="27" name="Shape 25"/>
          <p:cNvSpPr/>
          <p:nvPr/>
        </p:nvSpPr>
        <p:spPr>
          <a:xfrm>
            <a:off x="457200" y="3511296"/>
            <a:ext cx="3611880" cy="438912"/>
          </a:xfrm>
          <a:prstGeom prst="rect">
            <a:avLst/>
          </a:prstGeom>
          <a:solidFill>
            <a:srgbClr val="F4F2ED"/>
          </a:solidFill>
          <a:ln/>
        </p:spPr>
      </p:sp>
      <p:sp>
        <p:nvSpPr>
          <p:cNvPr id="28" name="Text 26"/>
          <p:cNvSpPr/>
          <p:nvPr/>
        </p:nvSpPr>
        <p:spPr>
          <a:xfrm>
            <a:off x="457200" y="3511296"/>
            <a:ext cx="361188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Soft / FF&amp;E / pre-opening</a:t>
            </a:r>
            <a:endParaRPr lang="en-US" sz="950" dirty="0"/>
          </a:p>
        </p:txBody>
      </p:sp>
      <p:sp>
        <p:nvSpPr>
          <p:cNvPr id="29" name="Shape 27"/>
          <p:cNvSpPr/>
          <p:nvPr/>
        </p:nvSpPr>
        <p:spPr>
          <a:xfrm>
            <a:off x="4069080" y="3511296"/>
            <a:ext cx="1417320" cy="438912"/>
          </a:xfrm>
          <a:prstGeom prst="rect">
            <a:avLst/>
          </a:prstGeom>
          <a:solidFill>
            <a:srgbClr val="F4F2ED"/>
          </a:solidFill>
          <a:ln/>
        </p:spPr>
      </p:sp>
      <p:sp>
        <p:nvSpPr>
          <p:cNvPr id="30" name="Text 28"/>
          <p:cNvSpPr/>
          <p:nvPr/>
        </p:nvSpPr>
        <p:spPr>
          <a:xfrm>
            <a:off x="4069080" y="3511296"/>
            <a:ext cx="1417320" cy="438912"/>
          </a:xfrm>
          <a:prstGeom prst="rect">
            <a:avLst/>
          </a:prstGeom>
          <a:noFill/>
          <a:ln/>
        </p:spPr>
        <p:txBody>
          <a:bodyPr wrap="square" lIns="25400" tIns="76200" rIns="76200" bIns="25400" rtlCol="0" anchor="ctr"/>
          <a:lstStyle/>
          <a:p>
            <a:pPr algn="r" indent="0" marL="0">
              <a:buNone/>
            </a:pPr>
            <a:r>
              <a:rPr lang="en-US" sz="950" b="1" dirty="0">
                <a:solidFill>
                  <a:srgbClr val="0B163C"/>
                </a:solidFill>
                <a:latin typeface="Montserrat" pitchFamily="34" charset="0"/>
                <a:ea typeface="Montserrat" pitchFamily="34" charset="-122"/>
                <a:cs typeface="Montserrat" pitchFamily="34" charset="-120"/>
              </a:rPr>
              <a:t>$3.7M</a:t>
            </a:r>
            <a:endParaRPr lang="en-US" sz="950" dirty="0"/>
          </a:p>
        </p:txBody>
      </p:sp>
      <p:sp>
        <p:nvSpPr>
          <p:cNvPr id="31" name="Shape 29"/>
          <p:cNvSpPr/>
          <p:nvPr/>
        </p:nvSpPr>
        <p:spPr>
          <a:xfrm>
            <a:off x="457200" y="3950208"/>
            <a:ext cx="3611880" cy="438912"/>
          </a:xfrm>
          <a:prstGeom prst="rect">
            <a:avLst/>
          </a:prstGeom>
          <a:solidFill>
            <a:srgbClr val="FFFFFF"/>
          </a:solidFill>
          <a:ln/>
        </p:spPr>
      </p:sp>
      <p:sp>
        <p:nvSpPr>
          <p:cNvPr id="32" name="Text 30"/>
          <p:cNvSpPr/>
          <p:nvPr/>
        </p:nvSpPr>
        <p:spPr>
          <a:xfrm>
            <a:off x="457200" y="3950208"/>
            <a:ext cx="3611880" cy="438912"/>
          </a:xfrm>
          <a:prstGeom prst="rect">
            <a:avLst/>
          </a:prstGeom>
          <a:noFill/>
          <a:ln/>
        </p:spPr>
        <p:txBody>
          <a:bodyPr wrap="square" lIns="25400" tIns="76200" rIns="76200" bIns="25400" rtlCol="0" anchor="ctr"/>
          <a:lstStyle/>
          <a:p>
            <a:pPr algn="l" indent="0" marL="0">
              <a:buNone/>
            </a:pPr>
            <a:r>
              <a:rPr lang="en-US" sz="950" b="1" dirty="0">
                <a:solidFill>
                  <a:srgbClr val="0B163C"/>
                </a:solidFill>
                <a:latin typeface="Montserrat" pitchFamily="34" charset="0"/>
                <a:ea typeface="Montserrat" pitchFamily="34" charset="-122"/>
                <a:cs typeface="Montserrat" pitchFamily="34" charset="-120"/>
              </a:rPr>
              <a:t>TOTAL DEVELOPMENT COST</a:t>
            </a:r>
            <a:endParaRPr lang="en-US" sz="950" dirty="0"/>
          </a:p>
        </p:txBody>
      </p:sp>
      <p:sp>
        <p:nvSpPr>
          <p:cNvPr id="33" name="Shape 31"/>
          <p:cNvSpPr/>
          <p:nvPr/>
        </p:nvSpPr>
        <p:spPr>
          <a:xfrm>
            <a:off x="4069080" y="3950208"/>
            <a:ext cx="1417320" cy="438912"/>
          </a:xfrm>
          <a:prstGeom prst="rect">
            <a:avLst/>
          </a:prstGeom>
          <a:solidFill>
            <a:srgbClr val="FFFFFF"/>
          </a:solidFill>
          <a:ln/>
        </p:spPr>
      </p:sp>
      <p:sp>
        <p:nvSpPr>
          <p:cNvPr id="34" name="Text 32"/>
          <p:cNvSpPr/>
          <p:nvPr/>
        </p:nvSpPr>
        <p:spPr>
          <a:xfrm>
            <a:off x="4069080" y="3950208"/>
            <a:ext cx="1417320" cy="438912"/>
          </a:xfrm>
          <a:prstGeom prst="rect">
            <a:avLst/>
          </a:prstGeom>
          <a:noFill/>
          <a:ln/>
        </p:spPr>
        <p:txBody>
          <a:bodyPr wrap="square" lIns="25400" tIns="76200" rIns="76200" bIns="25400" rtlCol="0" anchor="ctr"/>
          <a:lstStyle/>
          <a:p>
            <a:pPr algn="r" indent="0" marL="0">
              <a:buNone/>
            </a:pPr>
            <a:r>
              <a:rPr lang="en-US" sz="950" b="1" dirty="0">
                <a:solidFill>
                  <a:srgbClr val="3A243A"/>
                </a:solidFill>
                <a:latin typeface="Montserrat" pitchFamily="34" charset="0"/>
                <a:ea typeface="Montserrat" pitchFamily="34" charset="-122"/>
                <a:cs typeface="Montserrat" pitchFamily="34" charset="-120"/>
              </a:rPr>
              <a:t>$47.0M</a:t>
            </a:r>
            <a:endParaRPr lang="en-US" sz="950" dirty="0"/>
          </a:p>
        </p:txBody>
      </p:sp>
      <p:sp>
        <p:nvSpPr>
          <p:cNvPr id="35" name="Shape 33"/>
          <p:cNvSpPr/>
          <p:nvPr/>
        </p:nvSpPr>
        <p:spPr>
          <a:xfrm>
            <a:off x="5577840" y="1828800"/>
            <a:ext cx="1783080" cy="365760"/>
          </a:xfrm>
          <a:prstGeom prst="rect">
            <a:avLst/>
          </a:prstGeom>
          <a:solidFill>
            <a:srgbClr val="0B163C"/>
          </a:solidFill>
          <a:ln/>
        </p:spPr>
      </p:sp>
      <p:sp>
        <p:nvSpPr>
          <p:cNvPr id="36" name="Text 34"/>
          <p:cNvSpPr/>
          <p:nvPr/>
        </p:nvSpPr>
        <p:spPr>
          <a:xfrm>
            <a:off x="5577840" y="1828800"/>
            <a:ext cx="1783080"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STABILIZED NOI</a:t>
            </a:r>
            <a:endParaRPr lang="en-US" sz="900" dirty="0"/>
          </a:p>
        </p:txBody>
      </p:sp>
      <p:sp>
        <p:nvSpPr>
          <p:cNvPr id="37" name="Shape 35"/>
          <p:cNvSpPr/>
          <p:nvPr/>
        </p:nvSpPr>
        <p:spPr>
          <a:xfrm>
            <a:off x="7360920" y="1828800"/>
            <a:ext cx="594360" cy="365760"/>
          </a:xfrm>
          <a:prstGeom prst="rect">
            <a:avLst/>
          </a:prstGeom>
          <a:solidFill>
            <a:srgbClr val="0B163C"/>
          </a:solidFill>
          <a:ln/>
        </p:spPr>
      </p:sp>
      <p:sp>
        <p:nvSpPr>
          <p:cNvPr id="38" name="Text 36"/>
          <p:cNvSpPr/>
          <p:nvPr/>
        </p:nvSpPr>
        <p:spPr>
          <a:xfrm>
            <a:off x="7360920" y="1828800"/>
            <a:ext cx="594360" cy="365760"/>
          </a:xfrm>
          <a:prstGeom prst="rect">
            <a:avLst/>
          </a:prstGeom>
          <a:noFill/>
          <a:ln/>
        </p:spPr>
        <p:txBody>
          <a:bodyPr wrap="square" lIns="25400" tIns="76200" rIns="76200" bIns="25400" rtlCol="0" anchor="ctr"/>
          <a:lstStyle/>
          <a:p>
            <a:pPr algn="r" indent="0" marL="0">
              <a:buNone/>
            </a:pPr>
            <a:endParaRPr lang="en-US" sz="900" dirty="0"/>
          </a:p>
        </p:txBody>
      </p:sp>
      <p:sp>
        <p:nvSpPr>
          <p:cNvPr id="39" name="Shape 37"/>
          <p:cNvSpPr/>
          <p:nvPr/>
        </p:nvSpPr>
        <p:spPr>
          <a:xfrm>
            <a:off x="7955280" y="1828800"/>
            <a:ext cx="457200" cy="365760"/>
          </a:xfrm>
          <a:prstGeom prst="rect">
            <a:avLst/>
          </a:prstGeom>
          <a:solidFill>
            <a:srgbClr val="0B163C"/>
          </a:solidFill>
          <a:ln/>
        </p:spPr>
      </p:sp>
      <p:sp>
        <p:nvSpPr>
          <p:cNvPr id="40" name="Text 38"/>
          <p:cNvSpPr/>
          <p:nvPr/>
        </p:nvSpPr>
        <p:spPr>
          <a:xfrm>
            <a:off x="7955280" y="1828800"/>
            <a:ext cx="457200" cy="365760"/>
          </a:xfrm>
          <a:prstGeom prst="rect">
            <a:avLst/>
          </a:prstGeom>
          <a:noFill/>
          <a:ln/>
        </p:spPr>
        <p:txBody>
          <a:bodyPr wrap="square" lIns="25400" tIns="76200" rIns="76200" bIns="25400" rtlCol="0" anchor="ctr"/>
          <a:lstStyle/>
          <a:p>
            <a:pPr algn="r" indent="0" marL="0">
              <a:buNone/>
            </a:pPr>
            <a:r>
              <a:rPr lang="en-US" sz="900" b="1" dirty="0">
                <a:solidFill>
                  <a:srgbClr val="FFFFFF"/>
                </a:solidFill>
                <a:latin typeface="Montserrat" pitchFamily="34" charset="0"/>
                <a:ea typeface="Montserrat" pitchFamily="34" charset="-122"/>
                <a:cs typeface="Montserrat" pitchFamily="34" charset="-120"/>
              </a:rPr>
              <a:t>YoC</a:t>
            </a:r>
            <a:endParaRPr lang="en-US" sz="900" dirty="0"/>
          </a:p>
        </p:txBody>
      </p:sp>
      <p:sp>
        <p:nvSpPr>
          <p:cNvPr id="41" name="Shape 39"/>
          <p:cNvSpPr/>
          <p:nvPr/>
        </p:nvSpPr>
        <p:spPr>
          <a:xfrm>
            <a:off x="5577840" y="2194560"/>
            <a:ext cx="1783080" cy="438912"/>
          </a:xfrm>
          <a:prstGeom prst="rect">
            <a:avLst/>
          </a:prstGeom>
          <a:solidFill>
            <a:srgbClr val="FFFFFF"/>
          </a:solidFill>
          <a:ln/>
        </p:spPr>
      </p:sp>
      <p:sp>
        <p:nvSpPr>
          <p:cNvPr id="42" name="Text 40"/>
          <p:cNvSpPr/>
          <p:nvPr/>
        </p:nvSpPr>
        <p:spPr>
          <a:xfrm>
            <a:off x="5577840" y="2194560"/>
            <a:ext cx="178308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Hotel NOI</a:t>
            </a:r>
            <a:endParaRPr lang="en-US" sz="950" dirty="0"/>
          </a:p>
        </p:txBody>
      </p:sp>
      <p:sp>
        <p:nvSpPr>
          <p:cNvPr id="43" name="Shape 41"/>
          <p:cNvSpPr/>
          <p:nvPr/>
        </p:nvSpPr>
        <p:spPr>
          <a:xfrm>
            <a:off x="7360920" y="2194560"/>
            <a:ext cx="594360" cy="438912"/>
          </a:xfrm>
          <a:prstGeom prst="rect">
            <a:avLst/>
          </a:prstGeom>
          <a:solidFill>
            <a:srgbClr val="FFFFFF"/>
          </a:solidFill>
          <a:ln/>
        </p:spPr>
      </p:sp>
      <p:sp>
        <p:nvSpPr>
          <p:cNvPr id="44" name="Text 42"/>
          <p:cNvSpPr/>
          <p:nvPr/>
        </p:nvSpPr>
        <p:spPr>
          <a:xfrm>
            <a:off x="7360920" y="2194560"/>
            <a:ext cx="594360" cy="438912"/>
          </a:xfrm>
          <a:prstGeom prst="rect">
            <a:avLst/>
          </a:prstGeom>
          <a:noFill/>
          <a:ln/>
        </p:spPr>
        <p:txBody>
          <a:bodyPr wrap="square" lIns="25400" tIns="76200" rIns="76200" bIns="25400" rtlCol="0" anchor="ctr"/>
          <a:lstStyle/>
          <a:p>
            <a:pPr algn="r" indent="0" marL="0">
              <a:buNone/>
            </a:pPr>
            <a:r>
              <a:rPr lang="en-US" sz="900" b="1" dirty="0">
                <a:solidFill>
                  <a:srgbClr val="3A243A"/>
                </a:solidFill>
                <a:latin typeface="Montserrat" pitchFamily="34" charset="0"/>
                <a:ea typeface="Montserrat" pitchFamily="34" charset="-122"/>
                <a:cs typeface="Montserrat" pitchFamily="34" charset="-120"/>
              </a:rPr>
              <a:t>$3.4M</a:t>
            </a:r>
            <a:endParaRPr lang="en-US" sz="900" dirty="0"/>
          </a:p>
        </p:txBody>
      </p:sp>
      <p:sp>
        <p:nvSpPr>
          <p:cNvPr id="45" name="Shape 43"/>
          <p:cNvSpPr/>
          <p:nvPr/>
        </p:nvSpPr>
        <p:spPr>
          <a:xfrm>
            <a:off x="7955280" y="2194560"/>
            <a:ext cx="457200" cy="438912"/>
          </a:xfrm>
          <a:prstGeom prst="rect">
            <a:avLst/>
          </a:prstGeom>
          <a:solidFill>
            <a:srgbClr val="FFFFFF"/>
          </a:solidFill>
          <a:ln/>
        </p:spPr>
      </p:sp>
      <p:sp>
        <p:nvSpPr>
          <p:cNvPr id="46" name="Text 44"/>
          <p:cNvSpPr/>
          <p:nvPr/>
        </p:nvSpPr>
        <p:spPr>
          <a:xfrm>
            <a:off x="7955280" y="2194560"/>
            <a:ext cx="457200" cy="438912"/>
          </a:xfrm>
          <a:prstGeom prst="rect">
            <a:avLst/>
          </a:prstGeom>
          <a:noFill/>
          <a:ln/>
        </p:spPr>
        <p:txBody>
          <a:bodyPr wrap="square" lIns="25400" tIns="76200" rIns="76200" bIns="2540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10%</a:t>
            </a:r>
            <a:endParaRPr lang="en-US" sz="800" dirty="0"/>
          </a:p>
        </p:txBody>
      </p:sp>
      <p:sp>
        <p:nvSpPr>
          <p:cNvPr id="47" name="Shape 45"/>
          <p:cNvSpPr/>
          <p:nvPr/>
        </p:nvSpPr>
        <p:spPr>
          <a:xfrm>
            <a:off x="5577840" y="2633472"/>
            <a:ext cx="1783080" cy="438912"/>
          </a:xfrm>
          <a:prstGeom prst="rect">
            <a:avLst/>
          </a:prstGeom>
          <a:solidFill>
            <a:srgbClr val="F4F2ED"/>
          </a:solidFill>
          <a:ln/>
        </p:spPr>
      </p:sp>
      <p:sp>
        <p:nvSpPr>
          <p:cNvPr id="48" name="Text 46"/>
          <p:cNvSpPr/>
          <p:nvPr/>
        </p:nvSpPr>
        <p:spPr>
          <a:xfrm>
            <a:off x="5577840" y="2633472"/>
            <a:ext cx="178308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Restaurant NOI</a:t>
            </a:r>
            <a:endParaRPr lang="en-US" sz="950" dirty="0"/>
          </a:p>
        </p:txBody>
      </p:sp>
      <p:sp>
        <p:nvSpPr>
          <p:cNvPr id="49" name="Shape 47"/>
          <p:cNvSpPr/>
          <p:nvPr/>
        </p:nvSpPr>
        <p:spPr>
          <a:xfrm>
            <a:off x="7360920" y="2633472"/>
            <a:ext cx="594360" cy="438912"/>
          </a:xfrm>
          <a:prstGeom prst="rect">
            <a:avLst/>
          </a:prstGeom>
          <a:solidFill>
            <a:srgbClr val="F4F2ED"/>
          </a:solidFill>
          <a:ln/>
        </p:spPr>
      </p:sp>
      <p:sp>
        <p:nvSpPr>
          <p:cNvPr id="50" name="Text 48"/>
          <p:cNvSpPr/>
          <p:nvPr/>
        </p:nvSpPr>
        <p:spPr>
          <a:xfrm>
            <a:off x="7360920" y="2633472"/>
            <a:ext cx="594360" cy="438912"/>
          </a:xfrm>
          <a:prstGeom prst="rect">
            <a:avLst/>
          </a:prstGeom>
          <a:noFill/>
          <a:ln/>
        </p:spPr>
        <p:txBody>
          <a:bodyPr wrap="square" lIns="25400" tIns="76200" rIns="76200" bIns="25400" rtlCol="0" anchor="ctr"/>
          <a:lstStyle/>
          <a:p>
            <a:pPr algn="r" indent="0" marL="0">
              <a:buNone/>
            </a:pPr>
            <a:r>
              <a:rPr lang="en-US" sz="900" b="1" dirty="0">
                <a:solidFill>
                  <a:srgbClr val="3A243A"/>
                </a:solidFill>
                <a:latin typeface="Montserrat" pitchFamily="34" charset="0"/>
                <a:ea typeface="Montserrat" pitchFamily="34" charset="-122"/>
                <a:cs typeface="Montserrat" pitchFamily="34" charset="-120"/>
              </a:rPr>
              <a:t>$1.2M</a:t>
            </a:r>
            <a:endParaRPr lang="en-US" sz="900" dirty="0"/>
          </a:p>
        </p:txBody>
      </p:sp>
      <p:sp>
        <p:nvSpPr>
          <p:cNvPr id="51" name="Shape 49"/>
          <p:cNvSpPr/>
          <p:nvPr/>
        </p:nvSpPr>
        <p:spPr>
          <a:xfrm>
            <a:off x="7955280" y="2633472"/>
            <a:ext cx="457200" cy="438912"/>
          </a:xfrm>
          <a:prstGeom prst="rect">
            <a:avLst/>
          </a:prstGeom>
          <a:solidFill>
            <a:srgbClr val="F4F2ED"/>
          </a:solidFill>
          <a:ln/>
        </p:spPr>
      </p:sp>
      <p:sp>
        <p:nvSpPr>
          <p:cNvPr id="52" name="Text 50"/>
          <p:cNvSpPr/>
          <p:nvPr/>
        </p:nvSpPr>
        <p:spPr>
          <a:xfrm>
            <a:off x="7955280" y="2633472"/>
            <a:ext cx="457200" cy="438912"/>
          </a:xfrm>
          <a:prstGeom prst="rect">
            <a:avLst/>
          </a:prstGeom>
          <a:noFill/>
          <a:ln/>
        </p:spPr>
        <p:txBody>
          <a:bodyPr wrap="square" lIns="25400" tIns="76200" rIns="76200" bIns="2540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14%</a:t>
            </a:r>
            <a:endParaRPr lang="en-US" sz="800" dirty="0"/>
          </a:p>
        </p:txBody>
      </p:sp>
      <p:sp>
        <p:nvSpPr>
          <p:cNvPr id="53" name="Shape 51"/>
          <p:cNvSpPr/>
          <p:nvPr/>
        </p:nvSpPr>
        <p:spPr>
          <a:xfrm>
            <a:off x="5577840" y="3072384"/>
            <a:ext cx="1783080" cy="438912"/>
          </a:xfrm>
          <a:prstGeom prst="rect">
            <a:avLst/>
          </a:prstGeom>
          <a:solidFill>
            <a:srgbClr val="FFFFFF"/>
          </a:solidFill>
          <a:ln/>
        </p:spPr>
      </p:sp>
      <p:sp>
        <p:nvSpPr>
          <p:cNvPr id="54" name="Text 52"/>
          <p:cNvSpPr/>
          <p:nvPr/>
        </p:nvSpPr>
        <p:spPr>
          <a:xfrm>
            <a:off x="5577840" y="3072384"/>
            <a:ext cx="1783080" cy="438912"/>
          </a:xfrm>
          <a:prstGeom prst="rect">
            <a:avLst/>
          </a:prstGeom>
          <a:noFill/>
          <a:ln/>
        </p:spPr>
        <p:txBody>
          <a:bodyPr wrap="square" lIns="25400" tIns="76200" rIns="76200" bIns="25400" rtlCol="0" anchor="ctr"/>
          <a:lstStyle/>
          <a:p>
            <a:pPr algn="l" indent="0" marL="0">
              <a:buNone/>
            </a:pPr>
            <a:r>
              <a:rPr lang="en-US" sz="950" b="1" dirty="0">
                <a:solidFill>
                  <a:srgbClr val="0B163C"/>
                </a:solidFill>
                <a:latin typeface="Montserrat" pitchFamily="34" charset="0"/>
                <a:ea typeface="Montserrat" pitchFamily="34" charset="-122"/>
                <a:cs typeface="Montserrat" pitchFamily="34" charset="-120"/>
              </a:rPr>
              <a:t>STABILIZED NOI</a:t>
            </a:r>
            <a:endParaRPr lang="en-US" sz="950" dirty="0"/>
          </a:p>
        </p:txBody>
      </p:sp>
      <p:sp>
        <p:nvSpPr>
          <p:cNvPr id="55" name="Shape 53"/>
          <p:cNvSpPr/>
          <p:nvPr/>
        </p:nvSpPr>
        <p:spPr>
          <a:xfrm>
            <a:off x="7360920" y="3072384"/>
            <a:ext cx="594360" cy="438912"/>
          </a:xfrm>
          <a:prstGeom prst="rect">
            <a:avLst/>
          </a:prstGeom>
          <a:solidFill>
            <a:srgbClr val="FFFFFF"/>
          </a:solidFill>
          <a:ln/>
        </p:spPr>
      </p:sp>
      <p:sp>
        <p:nvSpPr>
          <p:cNvPr id="56" name="Text 54"/>
          <p:cNvSpPr/>
          <p:nvPr/>
        </p:nvSpPr>
        <p:spPr>
          <a:xfrm>
            <a:off x="7360920" y="3072384"/>
            <a:ext cx="594360" cy="438912"/>
          </a:xfrm>
          <a:prstGeom prst="rect">
            <a:avLst/>
          </a:prstGeom>
          <a:noFill/>
          <a:ln/>
        </p:spPr>
        <p:txBody>
          <a:bodyPr wrap="square" lIns="25400" tIns="76200" rIns="76200" bIns="25400" rtlCol="0" anchor="ctr"/>
          <a:lstStyle/>
          <a:p>
            <a:pPr algn="r" indent="0" marL="0">
              <a:buNone/>
            </a:pPr>
            <a:r>
              <a:rPr lang="en-US" sz="900" b="1" dirty="0">
                <a:solidFill>
                  <a:srgbClr val="3A243A"/>
                </a:solidFill>
                <a:latin typeface="Montserrat" pitchFamily="34" charset="0"/>
                <a:ea typeface="Montserrat" pitchFamily="34" charset="-122"/>
                <a:cs typeface="Montserrat" pitchFamily="34" charset="-120"/>
              </a:rPr>
              <a:t>$4.7M</a:t>
            </a:r>
            <a:endParaRPr lang="en-US" sz="900" dirty="0"/>
          </a:p>
        </p:txBody>
      </p:sp>
      <p:sp>
        <p:nvSpPr>
          <p:cNvPr id="57" name="Shape 55"/>
          <p:cNvSpPr/>
          <p:nvPr/>
        </p:nvSpPr>
        <p:spPr>
          <a:xfrm>
            <a:off x="7955280" y="3072384"/>
            <a:ext cx="457200" cy="438912"/>
          </a:xfrm>
          <a:prstGeom prst="rect">
            <a:avLst/>
          </a:prstGeom>
          <a:solidFill>
            <a:srgbClr val="FFFFFF"/>
          </a:solidFill>
          <a:ln/>
        </p:spPr>
      </p:sp>
      <p:sp>
        <p:nvSpPr>
          <p:cNvPr id="58" name="Text 56"/>
          <p:cNvSpPr/>
          <p:nvPr/>
        </p:nvSpPr>
        <p:spPr>
          <a:xfrm>
            <a:off x="7955280" y="3072384"/>
            <a:ext cx="457200" cy="438912"/>
          </a:xfrm>
          <a:prstGeom prst="rect">
            <a:avLst/>
          </a:prstGeom>
          <a:noFill/>
          <a:ln/>
        </p:spPr>
        <p:txBody>
          <a:bodyPr wrap="square" lIns="25400" tIns="76200" rIns="76200" bIns="2540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9.9%</a:t>
            </a:r>
            <a:endParaRPr lang="en-US" sz="800" dirty="0"/>
          </a:p>
        </p:txBody>
      </p:sp>
      <p:sp>
        <p:nvSpPr>
          <p:cNvPr id="59" name="Shape 57"/>
          <p:cNvSpPr/>
          <p:nvPr/>
        </p:nvSpPr>
        <p:spPr>
          <a:xfrm>
            <a:off x="5577840" y="3584448"/>
            <a:ext cx="2834640" cy="1682496"/>
          </a:xfrm>
          <a:prstGeom prst="rect">
            <a:avLst/>
          </a:prstGeom>
          <a:solidFill>
            <a:srgbClr val="0B163C"/>
          </a:solidFill>
          <a:ln/>
        </p:spPr>
      </p:sp>
      <p:sp>
        <p:nvSpPr>
          <p:cNvPr id="60" name="Shape 58"/>
          <p:cNvSpPr/>
          <p:nvPr/>
        </p:nvSpPr>
        <p:spPr>
          <a:xfrm>
            <a:off x="5577840" y="3584448"/>
            <a:ext cx="91440" cy="1682496"/>
          </a:xfrm>
          <a:prstGeom prst="rect">
            <a:avLst/>
          </a:prstGeom>
          <a:solidFill>
            <a:srgbClr val="3A243A"/>
          </a:solidFill>
          <a:ln/>
        </p:spPr>
      </p:sp>
      <p:sp>
        <p:nvSpPr>
          <p:cNvPr id="61" name="Text 59"/>
          <p:cNvSpPr/>
          <p:nvPr/>
        </p:nvSpPr>
        <p:spPr>
          <a:xfrm>
            <a:off x="5779008" y="3675888"/>
            <a:ext cx="2560320" cy="228600"/>
          </a:xfrm>
          <a:prstGeom prst="rect">
            <a:avLst/>
          </a:prstGeom>
          <a:noFill/>
          <a:ln/>
        </p:spPr>
        <p:txBody>
          <a:bodyPr wrap="square" lIns="0" tIns="0" rIns="0" bIns="0" rtlCol="0" anchor="ctr"/>
          <a:lstStyle/>
          <a:p>
            <a:pPr algn="l" indent="0" marL="0">
              <a:buNone/>
            </a:pPr>
            <a:r>
              <a:rPr lang="en-US" sz="850" b="1" spc="200" kern="0" dirty="0">
                <a:solidFill>
                  <a:srgbClr val="C4B8C4"/>
                </a:solidFill>
                <a:latin typeface="Montserrat" pitchFamily="34" charset="0"/>
                <a:ea typeface="Montserrat" pitchFamily="34" charset="-122"/>
                <a:cs typeface="Montserrat" pitchFamily="34" charset="-120"/>
              </a:rPr>
              <a:t>KEY METRICS</a:t>
            </a:r>
            <a:endParaRPr lang="en-US" sz="850" dirty="0"/>
          </a:p>
        </p:txBody>
      </p:sp>
      <p:sp>
        <p:nvSpPr>
          <p:cNvPr id="62" name="Text 60"/>
          <p:cNvSpPr/>
          <p:nvPr/>
        </p:nvSpPr>
        <p:spPr>
          <a:xfrm>
            <a:off x="5779008" y="3931920"/>
            <a:ext cx="2542032" cy="1280160"/>
          </a:xfrm>
          <a:prstGeom prst="rect">
            <a:avLst/>
          </a:prstGeom>
          <a:noFill/>
          <a:ln/>
        </p:spPr>
        <p:txBody>
          <a:bodyPr wrap="square" lIns="0" tIns="0" rIns="0" bIns="0" rtlCol="0" anchor="t"/>
          <a:lstStyle/>
          <a:p>
            <a:pPr algn="l" indent="0" marL="0">
              <a:lnSpc>
                <a:spcPts val="1150"/>
              </a:lnSpc>
              <a:buNone/>
            </a:pPr>
            <a:r>
              <a:rPr lang="en-US" sz="850" dirty="0">
                <a:solidFill>
                  <a:srgbClr val="F4F2ED"/>
                </a:solidFill>
                <a:latin typeface="DM Sans" pitchFamily="34" charset="0"/>
                <a:ea typeface="DM Sans" pitchFamily="34" charset="-122"/>
                <a:cs typeface="DM Sans" pitchFamily="34" charset="-120"/>
              </a:rPr>
              <a:t>Build-to-core: recap / sell ~Yr 4  ·  7.5% exit cap → ~$62M  ·  65% LTC  ·  premium NOI (VIVÂMEE)  ·  ~2.4-pt development spread  ·  land contributed</a:t>
            </a:r>
            <a:endParaRPr lang="en-US" sz="850" dirty="0"/>
          </a:p>
        </p:txBody>
      </p:sp>
      <p:sp>
        <p:nvSpPr>
          <p:cNvPr id="63" name="Shape 61"/>
          <p:cNvSpPr/>
          <p:nvPr/>
        </p:nvSpPr>
        <p:spPr>
          <a:xfrm>
            <a:off x="8503920" y="1828800"/>
            <a:ext cx="3227832" cy="3438144"/>
          </a:xfrm>
          <a:prstGeom prst="rect">
            <a:avLst/>
          </a:prstGeom>
          <a:solidFill>
            <a:srgbClr val="0B163C"/>
          </a:solidFill>
          <a:ln/>
        </p:spPr>
      </p:sp>
      <p:sp>
        <p:nvSpPr>
          <p:cNvPr id="64" name="Shape 62"/>
          <p:cNvSpPr/>
          <p:nvPr/>
        </p:nvSpPr>
        <p:spPr>
          <a:xfrm>
            <a:off x="8503920" y="1828800"/>
            <a:ext cx="109728" cy="3438144"/>
          </a:xfrm>
          <a:prstGeom prst="rect">
            <a:avLst/>
          </a:prstGeom>
          <a:solidFill>
            <a:srgbClr val="3A243A"/>
          </a:solidFill>
          <a:ln/>
        </p:spPr>
      </p:sp>
      <p:sp>
        <p:nvSpPr>
          <p:cNvPr id="65" name="Text 63"/>
          <p:cNvSpPr/>
          <p:nvPr/>
        </p:nvSpPr>
        <p:spPr>
          <a:xfrm>
            <a:off x="8732520" y="1947672"/>
            <a:ext cx="2926080" cy="274320"/>
          </a:xfrm>
          <a:prstGeom prst="rect">
            <a:avLst/>
          </a:prstGeom>
          <a:noFill/>
          <a:ln/>
        </p:spPr>
        <p:txBody>
          <a:bodyPr wrap="square" lIns="0" tIns="0" rIns="0" bIns="0" rtlCol="0" anchor="ctr"/>
          <a:lstStyle/>
          <a:p>
            <a:pPr algn="l" indent="0" marL="0">
              <a:buNone/>
            </a:pPr>
            <a:r>
              <a:rPr lang="en-US" sz="1000" b="1" spc="300" kern="0" dirty="0">
                <a:solidFill>
                  <a:srgbClr val="C4B8C4"/>
                </a:solidFill>
                <a:latin typeface="Montserrat" pitchFamily="34" charset="0"/>
                <a:ea typeface="Montserrat" pitchFamily="34" charset="-122"/>
                <a:cs typeface="Montserrat" pitchFamily="34" charset="-120"/>
              </a:rPr>
              <a:t>RETURNS</a:t>
            </a:r>
            <a:endParaRPr lang="en-US" sz="1000" dirty="0"/>
          </a:p>
        </p:txBody>
      </p:sp>
      <p:sp>
        <p:nvSpPr>
          <p:cNvPr id="66" name="Text 64"/>
          <p:cNvSpPr/>
          <p:nvPr/>
        </p:nvSpPr>
        <p:spPr>
          <a:xfrm>
            <a:off x="8732520" y="2286000"/>
            <a:ext cx="2834640" cy="292608"/>
          </a:xfrm>
          <a:prstGeom prst="rect">
            <a:avLst/>
          </a:prstGeom>
          <a:noFill/>
          <a:ln/>
        </p:spPr>
        <p:txBody>
          <a:bodyPr wrap="square" lIns="0" tIns="0" rIns="0" bIns="0" rtlCol="0" anchor="ctr"/>
          <a:lstStyle/>
          <a:p>
            <a:pPr algn="l" indent="0" marL="0">
              <a:buNone/>
            </a:pPr>
            <a:r>
              <a:rPr lang="en-US" sz="1700" b="1" dirty="0">
                <a:solidFill>
                  <a:srgbClr val="FFFFFF"/>
                </a:solidFill>
                <a:latin typeface="Montserrat" pitchFamily="34" charset="0"/>
                <a:ea typeface="Montserrat" pitchFamily="34" charset="-122"/>
                <a:cs typeface="Montserrat" pitchFamily="34" charset="-120"/>
              </a:rPr>
              <a:t>$47.0M</a:t>
            </a:r>
            <a:endParaRPr lang="en-US" sz="1700" dirty="0"/>
          </a:p>
        </p:txBody>
      </p:sp>
      <p:sp>
        <p:nvSpPr>
          <p:cNvPr id="67" name="Text 65"/>
          <p:cNvSpPr/>
          <p:nvPr/>
        </p:nvSpPr>
        <p:spPr>
          <a:xfrm>
            <a:off x="8732520" y="2569464"/>
            <a:ext cx="2834640" cy="201168"/>
          </a:xfrm>
          <a:prstGeom prst="rect">
            <a:avLst/>
          </a:prstGeom>
          <a:noFill/>
          <a:ln/>
        </p:spPr>
        <p:txBody>
          <a:bodyPr wrap="square" lIns="0" tIns="0" rIns="0" bIns="0" rtlCol="0" anchor="ctr"/>
          <a:lstStyle/>
          <a:p>
            <a:pPr algn="l" indent="0" marL="0">
              <a:buNone/>
            </a:pPr>
            <a:r>
              <a:rPr lang="en-US" sz="850" dirty="0">
                <a:solidFill>
                  <a:srgbClr val="C4B8C4"/>
                </a:solidFill>
                <a:latin typeface="DM Sans" pitchFamily="34" charset="0"/>
                <a:ea typeface="DM Sans" pitchFamily="34" charset="-122"/>
                <a:cs typeface="DM Sans" pitchFamily="34" charset="-120"/>
              </a:rPr>
              <a:t>Total project cost</a:t>
            </a:r>
            <a:endParaRPr lang="en-US" sz="850" dirty="0"/>
          </a:p>
        </p:txBody>
      </p:sp>
      <p:sp>
        <p:nvSpPr>
          <p:cNvPr id="68" name="Text 66"/>
          <p:cNvSpPr/>
          <p:nvPr/>
        </p:nvSpPr>
        <p:spPr>
          <a:xfrm>
            <a:off x="8732520" y="2862072"/>
            <a:ext cx="2834640" cy="292608"/>
          </a:xfrm>
          <a:prstGeom prst="rect">
            <a:avLst/>
          </a:prstGeom>
          <a:noFill/>
          <a:ln/>
        </p:spPr>
        <p:txBody>
          <a:bodyPr wrap="square" lIns="0" tIns="0" rIns="0" bIns="0" rtlCol="0" anchor="ctr"/>
          <a:lstStyle/>
          <a:p>
            <a:pPr algn="l" indent="0" marL="0">
              <a:buNone/>
            </a:pPr>
            <a:r>
              <a:rPr lang="en-US" sz="1700" b="1" dirty="0">
                <a:solidFill>
                  <a:srgbClr val="FFFFFF"/>
                </a:solidFill>
                <a:latin typeface="Montserrat" pitchFamily="34" charset="0"/>
                <a:ea typeface="Montserrat" pitchFamily="34" charset="-122"/>
                <a:cs typeface="Montserrat" pitchFamily="34" charset="-120"/>
              </a:rPr>
              <a:t>$4.7M</a:t>
            </a:r>
            <a:endParaRPr lang="en-US" sz="1700" dirty="0"/>
          </a:p>
        </p:txBody>
      </p:sp>
      <p:sp>
        <p:nvSpPr>
          <p:cNvPr id="69" name="Text 67"/>
          <p:cNvSpPr/>
          <p:nvPr/>
        </p:nvSpPr>
        <p:spPr>
          <a:xfrm>
            <a:off x="8732520" y="3145536"/>
            <a:ext cx="2834640" cy="201168"/>
          </a:xfrm>
          <a:prstGeom prst="rect">
            <a:avLst/>
          </a:prstGeom>
          <a:noFill/>
          <a:ln/>
        </p:spPr>
        <p:txBody>
          <a:bodyPr wrap="square" lIns="0" tIns="0" rIns="0" bIns="0" rtlCol="0" anchor="ctr"/>
          <a:lstStyle/>
          <a:p>
            <a:pPr algn="l" indent="0" marL="0">
              <a:buNone/>
            </a:pPr>
            <a:r>
              <a:rPr lang="en-US" sz="850" dirty="0">
                <a:solidFill>
                  <a:srgbClr val="C4B8C4"/>
                </a:solidFill>
                <a:latin typeface="DM Sans" pitchFamily="34" charset="0"/>
                <a:ea typeface="DM Sans" pitchFamily="34" charset="-122"/>
                <a:cs typeface="DM Sans" pitchFamily="34" charset="-120"/>
              </a:rPr>
              <a:t>Stabilized NOI (premium)</a:t>
            </a:r>
            <a:endParaRPr lang="en-US" sz="850" dirty="0"/>
          </a:p>
        </p:txBody>
      </p:sp>
      <p:sp>
        <p:nvSpPr>
          <p:cNvPr id="70" name="Text 68"/>
          <p:cNvSpPr/>
          <p:nvPr/>
        </p:nvSpPr>
        <p:spPr>
          <a:xfrm>
            <a:off x="8732520" y="3438144"/>
            <a:ext cx="2834640" cy="292608"/>
          </a:xfrm>
          <a:prstGeom prst="rect">
            <a:avLst/>
          </a:prstGeom>
          <a:noFill/>
          <a:ln/>
        </p:spPr>
        <p:txBody>
          <a:bodyPr wrap="square" lIns="0" tIns="0" rIns="0" bIns="0" rtlCol="0" anchor="ctr"/>
          <a:lstStyle/>
          <a:p>
            <a:pPr algn="l" indent="0" marL="0">
              <a:buNone/>
            </a:pPr>
            <a:r>
              <a:rPr lang="en-US" sz="1700" b="1" dirty="0">
                <a:solidFill>
                  <a:srgbClr val="FFFFFF"/>
                </a:solidFill>
                <a:latin typeface="Montserrat" pitchFamily="34" charset="0"/>
                <a:ea typeface="Montserrat" pitchFamily="34" charset="-122"/>
                <a:cs typeface="Montserrat" pitchFamily="34" charset="-120"/>
              </a:rPr>
              <a:t>9.9%</a:t>
            </a:r>
            <a:endParaRPr lang="en-US" sz="1700" dirty="0"/>
          </a:p>
        </p:txBody>
      </p:sp>
      <p:sp>
        <p:nvSpPr>
          <p:cNvPr id="71" name="Text 69"/>
          <p:cNvSpPr/>
          <p:nvPr/>
        </p:nvSpPr>
        <p:spPr>
          <a:xfrm>
            <a:off x="8732520" y="3721608"/>
            <a:ext cx="2834640" cy="201168"/>
          </a:xfrm>
          <a:prstGeom prst="rect">
            <a:avLst/>
          </a:prstGeom>
          <a:noFill/>
          <a:ln/>
        </p:spPr>
        <p:txBody>
          <a:bodyPr wrap="square" lIns="0" tIns="0" rIns="0" bIns="0" rtlCol="0" anchor="ctr"/>
          <a:lstStyle/>
          <a:p>
            <a:pPr algn="l" indent="0" marL="0">
              <a:buNone/>
            </a:pPr>
            <a:r>
              <a:rPr lang="en-US" sz="850" dirty="0">
                <a:solidFill>
                  <a:srgbClr val="C4B8C4"/>
                </a:solidFill>
                <a:latin typeface="DM Sans" pitchFamily="34" charset="0"/>
                <a:ea typeface="DM Sans" pitchFamily="34" charset="-122"/>
                <a:cs typeface="DM Sans" pitchFamily="34" charset="-120"/>
              </a:rPr>
              <a:t>Yield on cost</a:t>
            </a:r>
            <a:endParaRPr lang="en-US" sz="850" dirty="0"/>
          </a:p>
        </p:txBody>
      </p:sp>
      <p:sp>
        <p:nvSpPr>
          <p:cNvPr id="72" name="Text 70"/>
          <p:cNvSpPr/>
          <p:nvPr/>
        </p:nvSpPr>
        <p:spPr>
          <a:xfrm>
            <a:off x="8732520" y="4014216"/>
            <a:ext cx="2834640" cy="292608"/>
          </a:xfrm>
          <a:prstGeom prst="rect">
            <a:avLst/>
          </a:prstGeom>
          <a:noFill/>
          <a:ln/>
        </p:spPr>
        <p:txBody>
          <a:bodyPr wrap="square" lIns="0" tIns="0" rIns="0" bIns="0" rtlCol="0" anchor="ctr"/>
          <a:lstStyle/>
          <a:p>
            <a:pPr algn="l" indent="0" marL="0">
              <a:buNone/>
            </a:pPr>
            <a:r>
              <a:rPr lang="en-US" sz="1700" b="1" dirty="0">
                <a:solidFill>
                  <a:srgbClr val="FFFFFF"/>
                </a:solidFill>
                <a:latin typeface="Montserrat" pitchFamily="34" charset="0"/>
                <a:ea typeface="Montserrat" pitchFamily="34" charset="-122"/>
                <a:cs typeface="Montserrat" pitchFamily="34" charset="-120"/>
              </a:rPr>
              <a:t>~2.3×</a:t>
            </a:r>
            <a:endParaRPr lang="en-US" sz="1700" dirty="0"/>
          </a:p>
        </p:txBody>
      </p:sp>
      <p:sp>
        <p:nvSpPr>
          <p:cNvPr id="73" name="Text 71"/>
          <p:cNvSpPr/>
          <p:nvPr/>
        </p:nvSpPr>
        <p:spPr>
          <a:xfrm>
            <a:off x="8732520" y="4297680"/>
            <a:ext cx="2834640" cy="201168"/>
          </a:xfrm>
          <a:prstGeom prst="rect">
            <a:avLst/>
          </a:prstGeom>
          <a:noFill/>
          <a:ln/>
        </p:spPr>
        <p:txBody>
          <a:bodyPr wrap="square" lIns="0" tIns="0" rIns="0" bIns="0" rtlCol="0" anchor="ctr"/>
          <a:lstStyle/>
          <a:p>
            <a:pPr algn="l" indent="0" marL="0">
              <a:buNone/>
            </a:pPr>
            <a:r>
              <a:rPr lang="en-US" sz="850" dirty="0">
                <a:solidFill>
                  <a:srgbClr val="C4B8C4"/>
                </a:solidFill>
                <a:latin typeface="DM Sans" pitchFamily="34" charset="0"/>
                <a:ea typeface="DM Sans" pitchFamily="34" charset="-122"/>
                <a:cs typeface="DM Sans" pitchFamily="34" charset="-120"/>
              </a:rPr>
              <a:t>Equity multiple (~4-yr)</a:t>
            </a:r>
            <a:endParaRPr lang="en-US" sz="850" dirty="0"/>
          </a:p>
        </p:txBody>
      </p:sp>
      <p:sp>
        <p:nvSpPr>
          <p:cNvPr id="74" name="Text 72"/>
          <p:cNvSpPr/>
          <p:nvPr/>
        </p:nvSpPr>
        <p:spPr>
          <a:xfrm>
            <a:off x="8732520" y="4590288"/>
            <a:ext cx="2834640" cy="292608"/>
          </a:xfrm>
          <a:prstGeom prst="rect">
            <a:avLst/>
          </a:prstGeom>
          <a:noFill/>
          <a:ln/>
        </p:spPr>
        <p:txBody>
          <a:bodyPr wrap="square" lIns="0" tIns="0" rIns="0" bIns="0" rtlCol="0" anchor="ctr"/>
          <a:lstStyle/>
          <a:p>
            <a:pPr algn="l" indent="0" marL="0">
              <a:buNone/>
            </a:pPr>
            <a:r>
              <a:rPr lang="en-US" sz="1700" b="1" dirty="0">
                <a:solidFill>
                  <a:srgbClr val="FFFFFF"/>
                </a:solidFill>
                <a:latin typeface="Montserrat" pitchFamily="34" charset="0"/>
                <a:ea typeface="Montserrat" pitchFamily="34" charset="-122"/>
                <a:cs typeface="Montserrat" pitchFamily="34" charset="-120"/>
              </a:rPr>
              <a:t>~28%</a:t>
            </a:r>
            <a:endParaRPr lang="en-US" sz="1700" dirty="0"/>
          </a:p>
        </p:txBody>
      </p:sp>
      <p:sp>
        <p:nvSpPr>
          <p:cNvPr id="75" name="Text 73"/>
          <p:cNvSpPr/>
          <p:nvPr/>
        </p:nvSpPr>
        <p:spPr>
          <a:xfrm>
            <a:off x="8732520" y="4873752"/>
            <a:ext cx="2834640" cy="201168"/>
          </a:xfrm>
          <a:prstGeom prst="rect">
            <a:avLst/>
          </a:prstGeom>
          <a:noFill/>
          <a:ln/>
        </p:spPr>
        <p:txBody>
          <a:bodyPr wrap="square" lIns="0" tIns="0" rIns="0" bIns="0" rtlCol="0" anchor="ctr"/>
          <a:lstStyle/>
          <a:p>
            <a:pPr algn="l" indent="0" marL="0">
              <a:buNone/>
            </a:pPr>
            <a:r>
              <a:rPr lang="en-US" sz="850" dirty="0">
                <a:solidFill>
                  <a:srgbClr val="C4B8C4"/>
                </a:solidFill>
                <a:latin typeface="DM Sans" pitchFamily="34" charset="0"/>
                <a:ea typeface="DM Sans" pitchFamily="34" charset="-122"/>
                <a:cs typeface="DM Sans" pitchFamily="34" charset="-120"/>
              </a:rPr>
              <a:t>Build-to-core IRR</a:t>
            </a:r>
            <a:endParaRPr lang="en-US" sz="850" dirty="0"/>
          </a:p>
        </p:txBody>
      </p:sp>
      <p:sp>
        <p:nvSpPr>
          <p:cNvPr id="76" name="Shape 74"/>
          <p:cNvSpPr/>
          <p:nvPr/>
        </p:nvSpPr>
        <p:spPr>
          <a:xfrm>
            <a:off x="457200" y="5440680"/>
            <a:ext cx="11274552" cy="411480"/>
          </a:xfrm>
          <a:prstGeom prst="rect">
            <a:avLst/>
          </a:prstGeom>
          <a:solidFill>
            <a:srgbClr val="3A243A"/>
          </a:solidFill>
          <a:ln/>
        </p:spPr>
      </p:sp>
      <p:sp>
        <p:nvSpPr>
          <p:cNvPr id="77" name="Text 75"/>
          <p:cNvSpPr/>
          <p:nvPr/>
        </p:nvSpPr>
        <p:spPr>
          <a:xfrm>
            <a:off x="640080" y="5440680"/>
            <a:ext cx="10908792" cy="411480"/>
          </a:xfrm>
          <a:prstGeom prst="rect">
            <a:avLst/>
          </a:prstGeom>
          <a:noFill/>
          <a:ln/>
        </p:spPr>
        <p:txBody>
          <a:bodyPr wrap="square" lIns="0" tIns="0" rIns="0" bIns="0" rtlCol="0" anchor="ctr"/>
          <a:lstStyle/>
          <a:p>
            <a:pPr algn="ctr" indent="0" marL="0">
              <a:buNone/>
            </a:pPr>
            <a:r>
              <a:rPr lang="en-US" sz="1050" b="1" dirty="0">
                <a:solidFill>
                  <a:srgbClr val="FFFFFF"/>
                </a:solidFill>
                <a:latin typeface="DM Sans" pitchFamily="34" charset="0"/>
                <a:ea typeface="DM Sans" pitchFamily="34" charset="-122"/>
                <a:cs typeface="DM Sans" pitchFamily="34" charset="-120"/>
              </a:rPr>
              <a:t>Built to core (recap at stabilization), the hotel clears ~28% IRR / ~2.3×. Held for income it's ~12% — the spread is the contributed land + VIVÂMEE's premium NOI.</a:t>
            </a:r>
            <a:endParaRPr lang="en-US" sz="1050" dirty="0"/>
          </a:p>
        </p:txBody>
      </p:sp>
      <p:sp>
        <p:nvSpPr>
          <p:cNvPr id="78" name="Text 76"/>
          <p:cNvSpPr/>
          <p:nvPr/>
        </p:nvSpPr>
        <p:spPr>
          <a:xfrm>
            <a:off x="457200" y="5989320"/>
            <a:ext cx="11274552" cy="237744"/>
          </a:xfrm>
          <a:prstGeom prst="rect">
            <a:avLst/>
          </a:prstGeom>
          <a:noFill/>
          <a:ln/>
        </p:spPr>
        <p:txBody>
          <a:bodyPr wrap="square" lIns="0" tIns="0" rIns="0" bIns="0" rtlCol="0" anchor="ctr"/>
          <a:lstStyle/>
          <a:p>
            <a:pPr algn="l" indent="0" marL="0">
              <a:buNone/>
            </a:pPr>
            <a:r>
              <a:rPr lang="en-US" sz="700" b="1" dirty="0">
                <a:solidFill>
                  <a:srgbClr val="6B5A6B"/>
                </a:solidFill>
                <a:latin typeface="DM Sans" pitchFamily="34" charset="0"/>
                <a:ea typeface="DM Sans" pitchFamily="34" charset="-122"/>
                <a:cs typeface="DM Sans" pitchFamily="34" charset="-120"/>
              </a:rPr>
              <a:t>Sources (own research; subject to change &amp; confirmation):  </a:t>
            </a:r>
            <a:pPr algn="l" indent="0" marL="0">
              <a:buNone/>
            </a:pPr>
            <a:r>
              <a:rPr lang="en-US" sz="700" u="sng" dirty="0">
                <a:solidFill>
                  <a:srgbClr val="3A243A"/>
                </a:solidFill>
                <a:latin typeface="DM Sans" pitchFamily="34" charset="0"/>
                <a:ea typeface="DM Sans" pitchFamily="34" charset="-122"/>
                <a:cs typeface="DM Sans" pitchFamily="34" charset="-120"/>
                <a:hlinkClick r:id="rId1" invalidUrl="" action="" tgtFrame="" tooltip="HVS — hotel dev cost 2025" history="1" highlightClick="0" endSnd="0">
                  <a:extLst>
                    <a:ext uri="{A12FA001-AC4F-418D-AE19-62706E023703}">
                      <ahyp:hlinkClr xmlns:ahyp="http://schemas.microsoft.com/office/drawing/2018/hyperlinkcolor" val="tx"/>
                    </a:ext>
                  </a:extLst>
                </a:hlinkClick>
              </a:rPr>
              <a:t>HVS — hotel dev cost 2025</a:t>
            </a:r>
            <a:pPr algn="l" indent="0" marL="0">
              <a:buNone/>
            </a:pPr>
            <a:r>
              <a:rPr lang="en-US" sz="700" dirty="0">
                <a:solidFill>
                  <a:srgbClr val="C4B8C4"/>
                </a:solidFill>
                <a:latin typeface="DM Sans" pitchFamily="34" charset="0"/>
                <a:ea typeface="DM Sans" pitchFamily="34" charset="-122"/>
                <a:cs typeface="DM Sans" pitchFamily="34" charset="-120"/>
              </a:rPr>
              <a:t>    ·    </a:t>
            </a:r>
            <a:pPr algn="l" indent="0" marL="0">
              <a:buNone/>
            </a:pPr>
            <a:r>
              <a:rPr lang="en-US" sz="700" u="sng" dirty="0">
                <a:solidFill>
                  <a:srgbClr val="3A243A"/>
                </a:solidFill>
                <a:latin typeface="DM Sans" pitchFamily="34" charset="0"/>
                <a:ea typeface="DM Sans" pitchFamily="34" charset="-122"/>
                <a:cs typeface="DM Sans" pitchFamily="34" charset="-120"/>
                <a:hlinkClick r:id="rId2" invalidUrl="" action="" tgtFrame="" tooltip="hotel cap rates 2025" history="1" highlightClick="0" endSnd="0">
                  <a:extLst>
                    <a:ext uri="{A12FA001-AC4F-418D-AE19-62706E023703}">
                      <ahyp:hlinkClr xmlns:ahyp="http://schemas.microsoft.com/office/drawing/2018/hyperlinkcolor" val="tx"/>
                    </a:ext>
                  </a:extLst>
                </a:hlinkClick>
              </a:rPr>
              <a:t>hotel cap rates 2025</a:t>
            </a:r>
            <a:pPr algn="l" indent="0" marL="0">
              <a:buNone/>
            </a:pPr>
            <a:r>
              <a:rPr lang="en-US" sz="700" dirty="0">
                <a:solidFill>
                  <a:srgbClr val="C4B8C4"/>
                </a:solidFill>
                <a:latin typeface="DM Sans" pitchFamily="34" charset="0"/>
                <a:ea typeface="DM Sans" pitchFamily="34" charset="-122"/>
                <a:cs typeface="DM Sans" pitchFamily="34" charset="-120"/>
              </a:rPr>
              <a:t>    ·    </a:t>
            </a:r>
            <a:pPr algn="l" indent="0" marL="0">
              <a:buNone/>
            </a:pPr>
            <a:r>
              <a:rPr lang="en-US" sz="700" u="sng" dirty="0">
                <a:solidFill>
                  <a:srgbClr val="3A243A"/>
                </a:solidFill>
                <a:latin typeface="DM Sans" pitchFamily="34" charset="0"/>
                <a:ea typeface="DM Sans" pitchFamily="34" charset="-122"/>
                <a:cs typeface="DM Sans" pitchFamily="34" charset="-120"/>
                <a:hlinkClick r:id="rId3" invalidUrl="" action="" tgtFrame="" tooltip="restaurant build cost" history="1" highlightClick="0" endSnd="0">
                  <a:extLst>
                    <a:ext uri="{A12FA001-AC4F-418D-AE19-62706E023703}">
                      <ahyp:hlinkClr xmlns:ahyp="http://schemas.microsoft.com/office/drawing/2018/hyperlinkcolor" val="tx"/>
                    </a:ext>
                  </a:extLst>
                </a:hlinkClick>
              </a:rPr>
              <a:t>restaurant build cost</a:t>
            </a:r>
            <a:endParaRPr lang="en-US" sz="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15 / 20</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CAPITAL ACCESS</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I bring the capital relationships.</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When a parcel does call for equity or debt — or to move faster — here's the access. Active mandates, not a paper Rolodex.</a:t>
            </a:r>
            <a:endParaRPr lang="en-US" sz="1300" dirty="0"/>
          </a:p>
        </p:txBody>
      </p:sp>
      <p:sp>
        <p:nvSpPr>
          <p:cNvPr id="11" name="Shape 9"/>
          <p:cNvSpPr/>
          <p:nvPr/>
        </p:nvSpPr>
        <p:spPr>
          <a:xfrm>
            <a:off x="457200" y="1874520"/>
            <a:ext cx="5486400" cy="868680"/>
          </a:xfrm>
          <a:prstGeom prst="rect">
            <a:avLst/>
          </a:prstGeom>
          <a:solidFill>
            <a:srgbClr val="FFFFFF"/>
          </a:solidFill>
          <a:ln w="9525">
            <a:solidFill>
              <a:srgbClr val="E6E1DB"/>
            </a:solidFill>
            <a:prstDash val="solid"/>
          </a:ln>
        </p:spPr>
      </p:sp>
      <p:sp>
        <p:nvSpPr>
          <p:cNvPr id="12" name="Text 10"/>
          <p:cNvSpPr/>
          <p:nvPr/>
        </p:nvSpPr>
        <p:spPr>
          <a:xfrm>
            <a:off x="640080" y="1965960"/>
            <a:ext cx="2011680" cy="685800"/>
          </a:xfrm>
          <a:prstGeom prst="rect">
            <a:avLst/>
          </a:prstGeom>
          <a:noFill/>
          <a:ln/>
        </p:spPr>
        <p:txBody>
          <a:bodyPr wrap="square" lIns="0" tIns="0" rIns="0" bIns="0" rtlCol="0" anchor="ctr"/>
          <a:lstStyle/>
          <a:p>
            <a:pPr algn="l" indent="0" marL="0">
              <a:buNone/>
            </a:pPr>
            <a:r>
              <a:rPr lang="en-US" sz="2700" b="1" dirty="0">
                <a:solidFill>
                  <a:srgbClr val="0B163C"/>
                </a:solidFill>
                <a:latin typeface="Montserrat" pitchFamily="34" charset="0"/>
                <a:ea typeface="Montserrat" pitchFamily="34" charset="-122"/>
                <a:cs typeface="Montserrat" pitchFamily="34" charset="-120"/>
              </a:rPr>
              <a:t>$15M</a:t>
            </a:r>
            <a:endParaRPr lang="en-US" sz="2700" dirty="0"/>
          </a:p>
        </p:txBody>
      </p:sp>
      <p:sp>
        <p:nvSpPr>
          <p:cNvPr id="13" name="Text 11"/>
          <p:cNvSpPr/>
          <p:nvPr/>
        </p:nvSpPr>
        <p:spPr>
          <a:xfrm>
            <a:off x="2651760" y="1984248"/>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Equity being raised now</a:t>
            </a:r>
            <a:endParaRPr lang="en-US" sz="1200" dirty="0"/>
          </a:p>
        </p:txBody>
      </p:sp>
      <p:sp>
        <p:nvSpPr>
          <p:cNvPr id="14" name="Text 12"/>
          <p:cNvSpPr/>
          <p:nvPr/>
        </p:nvSpPr>
        <p:spPr>
          <a:xfrm>
            <a:off x="2651760" y="2331720"/>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Houston retail — family-office capital, closing summer 2026</a:t>
            </a:r>
            <a:endParaRPr lang="en-US" sz="1000" dirty="0"/>
          </a:p>
        </p:txBody>
      </p:sp>
      <p:sp>
        <p:nvSpPr>
          <p:cNvPr id="15" name="Shape 13"/>
          <p:cNvSpPr/>
          <p:nvPr/>
        </p:nvSpPr>
        <p:spPr>
          <a:xfrm>
            <a:off x="457200" y="2852928"/>
            <a:ext cx="5486400" cy="868680"/>
          </a:xfrm>
          <a:prstGeom prst="rect">
            <a:avLst/>
          </a:prstGeom>
          <a:solidFill>
            <a:srgbClr val="FFFFFF"/>
          </a:solidFill>
          <a:ln w="9525">
            <a:solidFill>
              <a:srgbClr val="E6E1DB"/>
            </a:solidFill>
            <a:prstDash val="solid"/>
          </a:ln>
        </p:spPr>
      </p:sp>
      <p:sp>
        <p:nvSpPr>
          <p:cNvPr id="16" name="Text 14"/>
          <p:cNvSpPr/>
          <p:nvPr/>
        </p:nvSpPr>
        <p:spPr>
          <a:xfrm>
            <a:off x="640080" y="2944368"/>
            <a:ext cx="2011680" cy="685800"/>
          </a:xfrm>
          <a:prstGeom prst="rect">
            <a:avLst/>
          </a:prstGeom>
          <a:noFill/>
          <a:ln/>
        </p:spPr>
        <p:txBody>
          <a:bodyPr wrap="square" lIns="0" tIns="0" rIns="0" bIns="0" rtlCol="0" anchor="ctr"/>
          <a:lstStyle/>
          <a:p>
            <a:pPr algn="l" indent="0" marL="0">
              <a:buNone/>
            </a:pPr>
            <a:r>
              <a:rPr lang="en-US" sz="2700" b="1" dirty="0">
                <a:solidFill>
                  <a:srgbClr val="0B163C"/>
                </a:solidFill>
                <a:latin typeface="Montserrat" pitchFamily="34" charset="0"/>
                <a:ea typeface="Montserrat" pitchFamily="34" charset="-122"/>
                <a:cs typeface="Montserrat" pitchFamily="34" charset="-120"/>
              </a:rPr>
              <a:t>$19.5M</a:t>
            </a:r>
            <a:endParaRPr lang="en-US" sz="2700" dirty="0"/>
          </a:p>
        </p:txBody>
      </p:sp>
      <p:sp>
        <p:nvSpPr>
          <p:cNvPr id="17" name="Text 15"/>
          <p:cNvSpPr/>
          <p:nvPr/>
        </p:nvSpPr>
        <p:spPr>
          <a:xfrm>
            <a:off x="2651760" y="2962656"/>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Debt already secured</a:t>
            </a:r>
            <a:endParaRPr lang="en-US" sz="1200" dirty="0"/>
          </a:p>
        </p:txBody>
      </p:sp>
      <p:sp>
        <p:nvSpPr>
          <p:cNvPr id="18" name="Text 16"/>
          <p:cNvSpPr/>
          <p:nvPr/>
        </p:nvSpPr>
        <p:spPr>
          <a:xfrm>
            <a:off x="2651760" y="3310128"/>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Lender committed on the same transaction</a:t>
            </a:r>
            <a:endParaRPr lang="en-US" sz="1000" dirty="0"/>
          </a:p>
        </p:txBody>
      </p:sp>
      <p:sp>
        <p:nvSpPr>
          <p:cNvPr id="19" name="Shape 17"/>
          <p:cNvSpPr/>
          <p:nvPr/>
        </p:nvSpPr>
        <p:spPr>
          <a:xfrm>
            <a:off x="457200" y="3831336"/>
            <a:ext cx="5486400" cy="868680"/>
          </a:xfrm>
          <a:prstGeom prst="rect">
            <a:avLst/>
          </a:prstGeom>
          <a:solidFill>
            <a:srgbClr val="FFFFFF"/>
          </a:solidFill>
          <a:ln w="9525">
            <a:solidFill>
              <a:srgbClr val="E6E1DB"/>
            </a:solidFill>
            <a:prstDash val="solid"/>
          </a:ln>
        </p:spPr>
      </p:sp>
      <p:sp>
        <p:nvSpPr>
          <p:cNvPr id="20" name="Text 18"/>
          <p:cNvSpPr/>
          <p:nvPr/>
        </p:nvSpPr>
        <p:spPr>
          <a:xfrm>
            <a:off x="640080" y="3922776"/>
            <a:ext cx="2011680" cy="685800"/>
          </a:xfrm>
          <a:prstGeom prst="rect">
            <a:avLst/>
          </a:prstGeom>
          <a:noFill/>
          <a:ln/>
        </p:spPr>
        <p:txBody>
          <a:bodyPr wrap="square" lIns="0" tIns="0" rIns="0" bIns="0" rtlCol="0" anchor="ctr"/>
          <a:lstStyle/>
          <a:p>
            <a:pPr algn="l" indent="0" marL="0">
              <a:buNone/>
            </a:pPr>
            <a:r>
              <a:rPr lang="en-US" sz="2200" b="1" dirty="0">
                <a:solidFill>
                  <a:srgbClr val="0B163C"/>
                </a:solidFill>
                <a:latin typeface="Montserrat" pitchFamily="34" charset="0"/>
                <a:ea typeface="Montserrat" pitchFamily="34" charset="-122"/>
                <a:cs typeface="Montserrat" pitchFamily="34" charset="-120"/>
              </a:rPr>
              <a:t>Mid-20s%</a:t>
            </a:r>
            <a:endParaRPr lang="en-US" sz="2200" dirty="0"/>
          </a:p>
        </p:txBody>
      </p:sp>
      <p:sp>
        <p:nvSpPr>
          <p:cNvPr id="21" name="Text 19"/>
          <p:cNvSpPr/>
          <p:nvPr/>
        </p:nvSpPr>
        <p:spPr>
          <a:xfrm>
            <a:off x="2651760" y="3941064"/>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Target development IRR</a:t>
            </a:r>
            <a:endParaRPr lang="en-US" sz="1200" dirty="0"/>
          </a:p>
        </p:txBody>
      </p:sp>
      <p:sp>
        <p:nvSpPr>
          <p:cNvPr id="22" name="Text 20"/>
          <p:cNvSpPr/>
          <p:nvPr/>
        </p:nvSpPr>
        <p:spPr>
          <a:xfrm>
            <a:off x="2651760" y="4288536"/>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Investors expect mid-to-high 20s out-of-state</a:t>
            </a:r>
            <a:endParaRPr lang="en-US" sz="1000" dirty="0"/>
          </a:p>
        </p:txBody>
      </p:sp>
      <p:sp>
        <p:nvSpPr>
          <p:cNvPr id="23" name="Shape 21"/>
          <p:cNvSpPr/>
          <p:nvPr/>
        </p:nvSpPr>
        <p:spPr>
          <a:xfrm>
            <a:off x="457200" y="4809744"/>
            <a:ext cx="5486400" cy="868680"/>
          </a:xfrm>
          <a:prstGeom prst="rect">
            <a:avLst/>
          </a:prstGeom>
          <a:solidFill>
            <a:srgbClr val="FFFFFF"/>
          </a:solidFill>
          <a:ln w="9525">
            <a:solidFill>
              <a:srgbClr val="E6E1DB"/>
            </a:solidFill>
            <a:prstDash val="solid"/>
          </a:ln>
        </p:spPr>
      </p:sp>
      <p:sp>
        <p:nvSpPr>
          <p:cNvPr id="24" name="Text 22"/>
          <p:cNvSpPr/>
          <p:nvPr/>
        </p:nvSpPr>
        <p:spPr>
          <a:xfrm>
            <a:off x="640080" y="4901184"/>
            <a:ext cx="2011680" cy="685800"/>
          </a:xfrm>
          <a:prstGeom prst="rect">
            <a:avLst/>
          </a:prstGeom>
          <a:noFill/>
          <a:ln/>
        </p:spPr>
        <p:txBody>
          <a:bodyPr wrap="square" lIns="0" tIns="0" rIns="0" bIns="0" rtlCol="0" anchor="ctr"/>
          <a:lstStyle/>
          <a:p>
            <a:pPr algn="l" indent="0" marL="0">
              <a:buNone/>
            </a:pPr>
            <a:r>
              <a:rPr lang="en-US" sz="2700" b="1" dirty="0">
                <a:solidFill>
                  <a:srgbClr val="0B163C"/>
                </a:solidFill>
                <a:latin typeface="Montserrat" pitchFamily="34" charset="0"/>
                <a:ea typeface="Montserrat" pitchFamily="34" charset="-122"/>
                <a:cs typeface="Montserrat" pitchFamily="34" charset="-120"/>
              </a:rPr>
              <a:t>$6.1B</a:t>
            </a:r>
            <a:endParaRPr lang="en-US" sz="2700" dirty="0"/>
          </a:p>
        </p:txBody>
      </p:sp>
      <p:sp>
        <p:nvSpPr>
          <p:cNvPr id="25" name="Text 23"/>
          <p:cNvSpPr/>
          <p:nvPr/>
        </p:nvSpPr>
        <p:spPr>
          <a:xfrm>
            <a:off x="2651760" y="4919472"/>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Career transaction volume</a:t>
            </a:r>
            <a:endParaRPr lang="en-US" sz="1200" dirty="0"/>
          </a:p>
        </p:txBody>
      </p:sp>
      <p:sp>
        <p:nvSpPr>
          <p:cNvPr id="26" name="Text 24"/>
          <p:cNvSpPr/>
          <p:nvPr/>
        </p:nvSpPr>
        <p:spPr>
          <a:xfrm>
            <a:off x="2651760" y="5266944"/>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Across debt &amp; equity — Blackstone + Levcor</a:t>
            </a:r>
            <a:endParaRPr lang="en-US" sz="1000" dirty="0"/>
          </a:p>
        </p:txBody>
      </p:sp>
      <p:sp>
        <p:nvSpPr>
          <p:cNvPr id="27" name="Shape 25"/>
          <p:cNvSpPr/>
          <p:nvPr/>
        </p:nvSpPr>
        <p:spPr>
          <a:xfrm>
            <a:off x="6400800" y="1874520"/>
            <a:ext cx="5330952" cy="4114800"/>
          </a:xfrm>
          <a:prstGeom prst="rect">
            <a:avLst/>
          </a:prstGeom>
          <a:solidFill>
            <a:srgbClr val="0B163C"/>
          </a:solidFill>
          <a:ln/>
        </p:spPr>
      </p:sp>
      <p:sp>
        <p:nvSpPr>
          <p:cNvPr id="28" name="Shape 26"/>
          <p:cNvSpPr/>
          <p:nvPr/>
        </p:nvSpPr>
        <p:spPr>
          <a:xfrm>
            <a:off x="6400800" y="1874520"/>
            <a:ext cx="109728" cy="4114800"/>
          </a:xfrm>
          <a:prstGeom prst="rect">
            <a:avLst/>
          </a:prstGeom>
          <a:solidFill>
            <a:srgbClr val="3A243A"/>
          </a:solidFill>
          <a:ln/>
        </p:spPr>
      </p:sp>
      <p:sp>
        <p:nvSpPr>
          <p:cNvPr id="29" name="Text 27"/>
          <p:cNvSpPr/>
          <p:nvPr/>
        </p:nvSpPr>
        <p:spPr>
          <a:xfrm>
            <a:off x="6766560" y="2039112"/>
            <a:ext cx="4782312" cy="274320"/>
          </a:xfrm>
          <a:prstGeom prst="rect">
            <a:avLst/>
          </a:prstGeom>
          <a:noFill/>
          <a:ln/>
        </p:spPr>
        <p:txBody>
          <a:bodyPr wrap="square" lIns="0" tIns="0" rIns="0" bIns="0" rtlCol="0" anchor="ctr"/>
          <a:lstStyle/>
          <a:p>
            <a:pPr algn="l" indent="0" marL="0">
              <a:buNone/>
            </a:pPr>
            <a:r>
              <a:rPr lang="en-US" sz="1000" b="1" spc="400" kern="0" dirty="0">
                <a:solidFill>
                  <a:srgbClr val="C4B8C4"/>
                </a:solidFill>
                <a:latin typeface="Montserrat" pitchFamily="34" charset="0"/>
                <a:ea typeface="Montserrat" pitchFamily="34" charset="-122"/>
                <a:cs typeface="Montserrat" pitchFamily="34" charset="-120"/>
              </a:rPr>
              <a:t>THE NETWORK</a:t>
            </a:r>
            <a:endParaRPr lang="en-US" sz="1000" dirty="0"/>
          </a:p>
        </p:txBody>
      </p:sp>
      <p:sp>
        <p:nvSpPr>
          <p:cNvPr id="30" name="Text 28"/>
          <p:cNvSpPr/>
          <p:nvPr/>
        </p:nvSpPr>
        <p:spPr>
          <a:xfrm>
            <a:off x="6766560" y="2386584"/>
            <a:ext cx="4764024" cy="749808"/>
          </a:xfrm>
          <a:prstGeom prst="rect">
            <a:avLst/>
          </a:prstGeom>
          <a:noFill/>
          <a:ln/>
        </p:spPr>
        <p:txBody>
          <a:bodyPr wrap="square" lIns="0" tIns="0" rIns="0" bIns="0" rtlCol="0" anchor="ctr"/>
          <a:lstStyle/>
          <a:p>
            <a:pPr algn="l" indent="0" marL="0">
              <a:lnSpc>
                <a:spcPts val="1800"/>
              </a:lnSpc>
              <a:buNone/>
            </a:pPr>
            <a:r>
              <a:rPr lang="en-US" sz="1450" b="1" dirty="0">
                <a:solidFill>
                  <a:srgbClr val="FFFFFF"/>
                </a:solidFill>
                <a:latin typeface="Montserrat" pitchFamily="34" charset="0"/>
                <a:ea typeface="Montserrat" pitchFamily="34" charset="-122"/>
                <a:cs typeface="Montserrat" pitchFamily="34" charset="-120"/>
              </a:rPr>
              <a:t>Where I place capital — equity and debt.</a:t>
            </a:r>
            <a:endParaRPr lang="en-US" sz="1450" dirty="0"/>
          </a:p>
        </p:txBody>
      </p:sp>
      <p:sp>
        <p:nvSpPr>
          <p:cNvPr id="31" name="Text 29"/>
          <p:cNvSpPr/>
          <p:nvPr/>
        </p:nvSpPr>
        <p:spPr>
          <a:xfrm>
            <a:off x="6766560" y="324612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Family offices (Texas) — my core equity base; they'll travel for the right risk-adjusted return.</a:t>
            </a:r>
            <a:endParaRPr lang="en-US" sz="1000" dirty="0"/>
          </a:p>
        </p:txBody>
      </p:sp>
      <p:sp>
        <p:nvSpPr>
          <p:cNvPr id="32" name="Text 30"/>
          <p:cNvSpPr/>
          <p:nvPr/>
        </p:nvSpPr>
        <p:spPr>
          <a:xfrm>
            <a:off x="6766560" y="392049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Institutional equity — Angelo Gordon and peer private-equity relationships.</a:t>
            </a:r>
            <a:endParaRPr lang="en-US" sz="1000" dirty="0"/>
          </a:p>
        </p:txBody>
      </p:sp>
      <p:sp>
        <p:nvSpPr>
          <p:cNvPr id="33" name="Text 31"/>
          <p:cNvSpPr/>
          <p:nvPr/>
        </p:nvSpPr>
        <p:spPr>
          <a:xfrm>
            <a:off x="6766560" y="459486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National debt — Goldman Sachs (met two weeks ago; national platform, Dallas team) + specialty lenders.</a:t>
            </a:r>
            <a:endParaRPr lang="en-US" sz="1000" dirty="0"/>
          </a:p>
        </p:txBody>
      </p:sp>
      <p:sp>
        <p:nvSpPr>
          <p:cNvPr id="34" name="Text 32"/>
          <p:cNvSpPr/>
          <p:nvPr/>
        </p:nvSpPr>
        <p:spPr>
          <a:xfrm>
            <a:off x="6766560" y="526923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The bar for out-of-state development is mid-to-high-20s IRR — the fresh land basis helps clear it.</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16 / 20</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THE STRUCTURE</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A vehicle inside the H6 platform.</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Capital H6 owns the land. Spin the developable parcels into a land-development entity — H6 contributes the acreage as equity; JAL co-invests and runs entitlement, capital and lot sales alongside your team.</a:t>
            </a:r>
            <a:endParaRPr lang="en-US" sz="1300" dirty="0"/>
          </a:p>
        </p:txBody>
      </p:sp>
      <p:sp>
        <p:nvSpPr>
          <p:cNvPr id="11" name="Shape 9"/>
          <p:cNvSpPr/>
          <p:nvPr/>
        </p:nvSpPr>
        <p:spPr>
          <a:xfrm>
            <a:off x="457200" y="1783080"/>
            <a:ext cx="11274552" cy="786384"/>
          </a:xfrm>
          <a:prstGeom prst="rect">
            <a:avLst/>
          </a:prstGeom>
          <a:solidFill>
            <a:srgbClr val="0B163C"/>
          </a:solidFill>
          <a:ln/>
        </p:spPr>
      </p:sp>
      <p:sp>
        <p:nvSpPr>
          <p:cNvPr id="12" name="Shape 10"/>
          <p:cNvSpPr/>
          <p:nvPr/>
        </p:nvSpPr>
        <p:spPr>
          <a:xfrm>
            <a:off x="457200" y="1783080"/>
            <a:ext cx="109728" cy="786384"/>
          </a:xfrm>
          <a:prstGeom prst="rect">
            <a:avLst/>
          </a:prstGeom>
          <a:solidFill>
            <a:srgbClr val="3A243A"/>
          </a:solidFill>
          <a:ln/>
        </p:spPr>
      </p:sp>
      <p:sp>
        <p:nvSpPr>
          <p:cNvPr id="13" name="Text 11"/>
          <p:cNvSpPr/>
          <p:nvPr/>
        </p:nvSpPr>
        <p:spPr>
          <a:xfrm>
            <a:off x="777240" y="1883664"/>
            <a:ext cx="7955280" cy="365760"/>
          </a:xfrm>
          <a:prstGeom prst="rect">
            <a:avLst/>
          </a:prstGeom>
          <a:noFill/>
          <a:ln/>
        </p:spPr>
        <p:txBody>
          <a:bodyPr wrap="square" lIns="0" tIns="0" rIns="0" bIns="0" rtlCol="0" anchor="ctr"/>
          <a:lstStyle/>
          <a:p>
            <a:pPr algn="l" indent="0" marL="0">
              <a:buNone/>
            </a:pPr>
            <a:r>
              <a:rPr lang="en-US" sz="1600" b="1" dirty="0">
                <a:solidFill>
                  <a:srgbClr val="FFFFFF"/>
                </a:solidFill>
                <a:latin typeface="Montserrat" pitchFamily="34" charset="0"/>
                <a:ea typeface="Montserrat" pitchFamily="34" charset="-122"/>
                <a:cs typeface="Montserrat" pitchFamily="34" charset="-120"/>
              </a:rPr>
              <a:t>QUEENSTOWN HARBOR LAND PARTNERS, LLC</a:t>
            </a:r>
            <a:endParaRPr lang="en-US" sz="1600" dirty="0"/>
          </a:p>
        </p:txBody>
      </p:sp>
      <p:sp>
        <p:nvSpPr>
          <p:cNvPr id="14" name="Text 12"/>
          <p:cNvSpPr/>
          <p:nvPr/>
        </p:nvSpPr>
        <p:spPr>
          <a:xfrm>
            <a:off x="777240" y="2249424"/>
            <a:ext cx="7772400" cy="274320"/>
          </a:xfrm>
          <a:prstGeom prst="rect">
            <a:avLst/>
          </a:prstGeom>
          <a:noFill/>
          <a:ln/>
        </p:spPr>
        <p:txBody>
          <a:bodyPr wrap="square" lIns="0" tIns="0" rIns="0" bIns="0" rtlCol="0" anchor="ctr"/>
          <a:lstStyle/>
          <a:p>
            <a:pPr algn="l" indent="0" marL="0">
              <a:buNone/>
            </a:pPr>
            <a:r>
              <a:rPr lang="en-US" sz="1000" dirty="0">
                <a:solidFill>
                  <a:srgbClr val="C4B8C4"/>
                </a:solidFill>
                <a:latin typeface="DM Sans" pitchFamily="34" charset="0"/>
                <a:ea typeface="DM Sans" pitchFamily="34" charset="-122"/>
                <a:cs typeface="DM Sans" pitchFamily="34" charset="-120"/>
              </a:rPr>
              <a:t>Working name</a:t>
            </a:r>
            <a:endParaRPr lang="en-US" sz="1000" dirty="0"/>
          </a:p>
        </p:txBody>
      </p:sp>
      <p:sp>
        <p:nvSpPr>
          <p:cNvPr id="15" name="Text 13"/>
          <p:cNvSpPr/>
          <p:nvPr/>
        </p:nvSpPr>
        <p:spPr>
          <a:xfrm>
            <a:off x="8595360" y="1783080"/>
            <a:ext cx="3108960" cy="786384"/>
          </a:xfrm>
          <a:prstGeom prst="rect">
            <a:avLst/>
          </a:prstGeom>
          <a:noFill/>
          <a:ln/>
        </p:spPr>
        <p:txBody>
          <a:bodyPr wrap="square" lIns="25400" tIns="76200" rIns="127000" bIns="25400" rtlCol="0" anchor="ctr"/>
          <a:lstStyle/>
          <a:p>
            <a:pPr algn="r" indent="0" marL="0">
              <a:buNone/>
            </a:pPr>
            <a:r>
              <a:rPr lang="en-US" sz="1000" dirty="0">
                <a:solidFill>
                  <a:srgbClr val="C4B8C4"/>
                </a:solidFill>
                <a:latin typeface="DM Sans" pitchFamily="34" charset="0"/>
                <a:ea typeface="DM Sans" pitchFamily="34" charset="-122"/>
                <a:cs typeface="DM Sans" pitchFamily="34" charset="-120"/>
              </a:rPr>
              <a:t>Land-development vehicle under Capital H6</a:t>
            </a:r>
            <a:endParaRPr lang="en-US" sz="1000" dirty="0"/>
          </a:p>
        </p:txBody>
      </p:sp>
      <p:sp>
        <p:nvSpPr>
          <p:cNvPr id="16" name="Shape 14"/>
          <p:cNvSpPr/>
          <p:nvPr/>
        </p:nvSpPr>
        <p:spPr>
          <a:xfrm>
            <a:off x="457200" y="2743200"/>
            <a:ext cx="3593592" cy="2606040"/>
          </a:xfrm>
          <a:prstGeom prst="rect">
            <a:avLst/>
          </a:prstGeom>
          <a:solidFill>
            <a:srgbClr val="FFFFFF"/>
          </a:solidFill>
          <a:ln w="9525">
            <a:solidFill>
              <a:srgbClr val="E6E1DB"/>
            </a:solidFill>
            <a:prstDash val="solid"/>
          </a:ln>
        </p:spPr>
      </p:sp>
      <p:sp>
        <p:nvSpPr>
          <p:cNvPr id="17" name="Text 15"/>
          <p:cNvSpPr/>
          <p:nvPr/>
        </p:nvSpPr>
        <p:spPr>
          <a:xfrm>
            <a:off x="685800" y="2907792"/>
            <a:ext cx="3136392" cy="274320"/>
          </a:xfrm>
          <a:prstGeom prst="rect">
            <a:avLst/>
          </a:prstGeom>
          <a:noFill/>
          <a:ln/>
        </p:spPr>
        <p:txBody>
          <a:bodyPr wrap="square" lIns="0" tIns="0" rIns="0" bIns="0" rtlCol="0" anchor="ctr"/>
          <a:lstStyle/>
          <a:p>
            <a:pPr algn="l" indent="0" marL="0">
              <a:buNone/>
            </a:pPr>
            <a:r>
              <a:rPr lang="en-US" sz="1100" b="1" spc="200" kern="0" dirty="0">
                <a:solidFill>
                  <a:srgbClr val="3A243A"/>
                </a:solidFill>
                <a:latin typeface="Montserrat" pitchFamily="34" charset="0"/>
                <a:ea typeface="Montserrat" pitchFamily="34" charset="-122"/>
                <a:cs typeface="Montserrat" pitchFamily="34" charset="-120"/>
              </a:rPr>
              <a:t>LAND = EQUITY</a:t>
            </a:r>
            <a:endParaRPr lang="en-US" sz="1100" dirty="0"/>
          </a:p>
        </p:txBody>
      </p:sp>
      <p:sp>
        <p:nvSpPr>
          <p:cNvPr id="18" name="Text 16"/>
          <p:cNvSpPr/>
          <p:nvPr/>
        </p:nvSpPr>
        <p:spPr>
          <a:xfrm>
            <a:off x="685800" y="3200400"/>
            <a:ext cx="3136392" cy="548640"/>
          </a:xfrm>
          <a:prstGeom prst="rect">
            <a:avLst/>
          </a:prstGeom>
          <a:noFill/>
          <a:ln/>
        </p:spPr>
        <p:txBody>
          <a:bodyPr wrap="square" lIns="0" tIns="0" rIns="0" bIns="0" rtlCol="0" anchor="ctr"/>
          <a:lstStyle/>
          <a:p>
            <a:pPr algn="l" indent="0" marL="0">
              <a:buNone/>
            </a:pPr>
            <a:r>
              <a:rPr lang="en-US" sz="3000" b="1" dirty="0">
                <a:solidFill>
                  <a:srgbClr val="0B163C"/>
                </a:solidFill>
                <a:latin typeface="Montserrat" pitchFamily="34" charset="0"/>
                <a:ea typeface="Montserrat" pitchFamily="34" charset="-122"/>
                <a:cs typeface="Montserrat" pitchFamily="34" charset="-120"/>
              </a:rPr>
              <a:t>Owned</a:t>
            </a:r>
            <a:endParaRPr lang="en-US" sz="3000" dirty="0"/>
          </a:p>
        </p:txBody>
      </p:sp>
      <p:sp>
        <p:nvSpPr>
          <p:cNvPr id="19" name="Text 17"/>
          <p:cNvSpPr/>
          <p:nvPr/>
        </p:nvSpPr>
        <p:spPr>
          <a:xfrm>
            <a:off x="685800" y="3840480"/>
            <a:ext cx="3136392" cy="1371600"/>
          </a:xfrm>
          <a:prstGeom prst="rect">
            <a:avLst/>
          </a:prstGeom>
          <a:noFill/>
          <a:ln/>
        </p:spPr>
        <p:txBody>
          <a:bodyPr wrap="square" lIns="0" tIns="0" rIns="0" bIns="0" rtlCol="0" anchor="t"/>
          <a:lstStyle/>
          <a:p>
            <a:pPr algn="l" indent="0" marL="0">
              <a:lnSpc>
                <a:spcPts val="1400"/>
              </a:lnSpc>
              <a:buNone/>
            </a:pPr>
            <a:r>
              <a:rPr lang="en-US" sz="1050" dirty="0">
                <a:solidFill>
                  <a:srgbClr val="6B5A6B"/>
                </a:solidFill>
                <a:latin typeface="DM Sans" pitchFamily="34" charset="0"/>
                <a:ea typeface="DM Sans" pitchFamily="34" charset="-122"/>
                <a:cs typeface="DM Sans" pitchFamily="34" charset="-120"/>
              </a:rPr>
              <a:t>Developable acreage contributed by Capital H6 at appraised value — just acquired, at a low basis.</a:t>
            </a:r>
            <a:endParaRPr lang="en-US" sz="1050" dirty="0"/>
          </a:p>
        </p:txBody>
      </p:sp>
      <p:sp>
        <p:nvSpPr>
          <p:cNvPr id="20" name="Shape 18"/>
          <p:cNvSpPr/>
          <p:nvPr/>
        </p:nvSpPr>
        <p:spPr>
          <a:xfrm>
            <a:off x="4224528" y="2743200"/>
            <a:ext cx="3593592" cy="2606040"/>
          </a:xfrm>
          <a:prstGeom prst="rect">
            <a:avLst/>
          </a:prstGeom>
          <a:solidFill>
            <a:srgbClr val="FFFFFF"/>
          </a:solidFill>
          <a:ln w="9525">
            <a:solidFill>
              <a:srgbClr val="E6E1DB"/>
            </a:solidFill>
            <a:prstDash val="solid"/>
          </a:ln>
        </p:spPr>
      </p:sp>
      <p:sp>
        <p:nvSpPr>
          <p:cNvPr id="21" name="Text 19"/>
          <p:cNvSpPr/>
          <p:nvPr/>
        </p:nvSpPr>
        <p:spPr>
          <a:xfrm>
            <a:off x="4453128" y="2907792"/>
            <a:ext cx="3136392" cy="274320"/>
          </a:xfrm>
          <a:prstGeom prst="rect">
            <a:avLst/>
          </a:prstGeom>
          <a:noFill/>
          <a:ln/>
        </p:spPr>
        <p:txBody>
          <a:bodyPr wrap="square" lIns="0" tIns="0" rIns="0" bIns="0" rtlCol="0" anchor="ctr"/>
          <a:lstStyle/>
          <a:p>
            <a:pPr algn="l" indent="0" marL="0">
              <a:buNone/>
            </a:pPr>
            <a:r>
              <a:rPr lang="en-US" sz="1100" b="1" spc="200" kern="0" dirty="0">
                <a:solidFill>
                  <a:srgbClr val="3A243A"/>
                </a:solidFill>
                <a:latin typeface="Montserrat" pitchFamily="34" charset="0"/>
                <a:ea typeface="Montserrat" pitchFamily="34" charset="-122"/>
                <a:cs typeface="Montserrat" pitchFamily="34" charset="-120"/>
              </a:rPr>
              <a:t>CAPITAL STACK</a:t>
            </a:r>
            <a:endParaRPr lang="en-US" sz="1100" dirty="0"/>
          </a:p>
        </p:txBody>
      </p:sp>
      <p:sp>
        <p:nvSpPr>
          <p:cNvPr id="22" name="Text 20"/>
          <p:cNvSpPr/>
          <p:nvPr/>
        </p:nvSpPr>
        <p:spPr>
          <a:xfrm>
            <a:off x="4453128" y="3163824"/>
            <a:ext cx="3136392" cy="228600"/>
          </a:xfrm>
          <a:prstGeom prst="rect">
            <a:avLst/>
          </a:prstGeom>
          <a:noFill/>
          <a:ln/>
        </p:spPr>
        <p:txBody>
          <a:bodyPr wrap="square" lIns="0" tIns="0" rIns="0" bIns="0" rtlCol="0" anchor="ctr"/>
          <a:lstStyle/>
          <a:p>
            <a:pPr algn="l" indent="0" marL="0">
              <a:buNone/>
            </a:pPr>
            <a:r>
              <a:rPr lang="en-US" sz="900" dirty="0">
                <a:solidFill>
                  <a:srgbClr val="6B5A6B"/>
                </a:solidFill>
                <a:latin typeface="DM Sans" pitchFamily="34" charset="0"/>
                <a:ea typeface="DM Sans" pitchFamily="34" charset="-122"/>
                <a:cs typeface="DM Sans" pitchFamily="34" charset="-120"/>
              </a:rPr>
              <a:t>Illustrative</a:t>
            </a:r>
            <a:endParaRPr lang="en-US" sz="900" dirty="0"/>
          </a:p>
        </p:txBody>
      </p:sp>
      <p:sp>
        <p:nvSpPr>
          <p:cNvPr id="23" name="Text 21"/>
          <p:cNvSpPr/>
          <p:nvPr/>
        </p:nvSpPr>
        <p:spPr>
          <a:xfrm>
            <a:off x="4453128" y="3456432"/>
            <a:ext cx="2286000" cy="310896"/>
          </a:xfrm>
          <a:prstGeom prst="rect">
            <a:avLst/>
          </a:prstGeom>
          <a:noFill/>
          <a:ln/>
        </p:spPr>
        <p:txBody>
          <a:bodyPr wrap="square" lIns="0" tIns="0" rIns="0" bIns="0" rtlCol="0" anchor="ctr"/>
          <a:lstStyle/>
          <a:p>
            <a:pPr algn="l" indent="0" marL="0">
              <a:buNone/>
            </a:pPr>
            <a:r>
              <a:rPr lang="en-US" sz="1000" dirty="0">
                <a:solidFill>
                  <a:srgbClr val="0B163C"/>
                </a:solidFill>
                <a:latin typeface="DM Sans" pitchFamily="34" charset="0"/>
                <a:ea typeface="DM Sans" pitchFamily="34" charset="-122"/>
                <a:cs typeface="DM Sans" pitchFamily="34" charset="-120"/>
              </a:rPr>
              <a:t>Land equity (H6)</a:t>
            </a:r>
            <a:endParaRPr lang="en-US" sz="1000" dirty="0"/>
          </a:p>
        </p:txBody>
      </p:sp>
      <p:sp>
        <p:nvSpPr>
          <p:cNvPr id="24" name="Text 22"/>
          <p:cNvSpPr/>
          <p:nvPr/>
        </p:nvSpPr>
        <p:spPr>
          <a:xfrm>
            <a:off x="6601968" y="3456432"/>
            <a:ext cx="987552" cy="310896"/>
          </a:xfrm>
          <a:prstGeom prst="rect">
            <a:avLst/>
          </a:prstGeom>
          <a:noFill/>
          <a:ln/>
        </p:spPr>
        <p:txBody>
          <a:bodyPr wrap="square" lIns="0" tIns="0" rIns="0" bIns="0" rtlCol="0" anchor="ctr"/>
          <a:lstStyle/>
          <a:p>
            <a:pPr algn="r" indent="0" marL="0">
              <a:buNone/>
            </a:pPr>
            <a:r>
              <a:rPr lang="en-US" sz="950" b="1" dirty="0">
                <a:solidFill>
                  <a:srgbClr val="3A243A"/>
                </a:solidFill>
                <a:latin typeface="Montserrat" pitchFamily="34" charset="0"/>
                <a:ea typeface="Montserrat" pitchFamily="34" charset="-122"/>
                <a:cs typeface="Montserrat" pitchFamily="34" charset="-120"/>
              </a:rPr>
              <a:t>Contributed</a:t>
            </a:r>
            <a:endParaRPr lang="en-US" sz="950" dirty="0"/>
          </a:p>
        </p:txBody>
      </p:sp>
      <p:sp>
        <p:nvSpPr>
          <p:cNvPr id="25" name="Shape 23"/>
          <p:cNvSpPr/>
          <p:nvPr/>
        </p:nvSpPr>
        <p:spPr>
          <a:xfrm>
            <a:off x="4453128" y="3785616"/>
            <a:ext cx="3136392" cy="9144"/>
          </a:xfrm>
          <a:prstGeom prst="rect">
            <a:avLst/>
          </a:prstGeom>
          <a:solidFill>
            <a:srgbClr val="C4B8C4"/>
          </a:solidFill>
          <a:ln/>
        </p:spPr>
      </p:sp>
      <p:sp>
        <p:nvSpPr>
          <p:cNvPr id="26" name="Text 24"/>
          <p:cNvSpPr/>
          <p:nvPr/>
        </p:nvSpPr>
        <p:spPr>
          <a:xfrm>
            <a:off x="4453128" y="3959352"/>
            <a:ext cx="2286000" cy="310896"/>
          </a:xfrm>
          <a:prstGeom prst="rect">
            <a:avLst/>
          </a:prstGeom>
          <a:noFill/>
          <a:ln/>
        </p:spPr>
        <p:txBody>
          <a:bodyPr wrap="square" lIns="0" tIns="0" rIns="0" bIns="0" rtlCol="0" anchor="ctr"/>
          <a:lstStyle/>
          <a:p>
            <a:pPr algn="l" indent="0" marL="0">
              <a:buNone/>
            </a:pPr>
            <a:r>
              <a:rPr lang="en-US" sz="1000" dirty="0">
                <a:solidFill>
                  <a:srgbClr val="0B163C"/>
                </a:solidFill>
                <a:latin typeface="DM Sans" pitchFamily="34" charset="0"/>
                <a:ea typeface="DM Sans" pitchFamily="34" charset="-122"/>
                <a:cs typeface="DM Sans" pitchFamily="34" charset="-120"/>
              </a:rPr>
              <a:t>Builder-funded infra</a:t>
            </a:r>
            <a:endParaRPr lang="en-US" sz="1000" dirty="0"/>
          </a:p>
        </p:txBody>
      </p:sp>
      <p:sp>
        <p:nvSpPr>
          <p:cNvPr id="27" name="Text 25"/>
          <p:cNvSpPr/>
          <p:nvPr/>
        </p:nvSpPr>
        <p:spPr>
          <a:xfrm>
            <a:off x="6601968" y="3959352"/>
            <a:ext cx="987552" cy="310896"/>
          </a:xfrm>
          <a:prstGeom prst="rect">
            <a:avLst/>
          </a:prstGeom>
          <a:noFill/>
          <a:ln/>
        </p:spPr>
        <p:txBody>
          <a:bodyPr wrap="square" lIns="0" tIns="0" rIns="0" bIns="0" rtlCol="0" anchor="ctr"/>
          <a:lstStyle/>
          <a:p>
            <a:pPr algn="r" indent="0" marL="0">
              <a:buNone/>
            </a:pPr>
            <a:r>
              <a:rPr lang="en-US" sz="950" b="1" dirty="0">
                <a:solidFill>
                  <a:srgbClr val="3A243A"/>
                </a:solidFill>
                <a:latin typeface="Montserrat" pitchFamily="34" charset="0"/>
                <a:ea typeface="Montserrat" pitchFamily="34" charset="-122"/>
                <a:cs typeface="Montserrat" pitchFamily="34" charset="-120"/>
              </a:rPr>
              <a:t>Horizontal</a:t>
            </a:r>
            <a:endParaRPr lang="en-US" sz="950" dirty="0"/>
          </a:p>
        </p:txBody>
      </p:sp>
      <p:sp>
        <p:nvSpPr>
          <p:cNvPr id="28" name="Shape 26"/>
          <p:cNvSpPr/>
          <p:nvPr/>
        </p:nvSpPr>
        <p:spPr>
          <a:xfrm>
            <a:off x="4453128" y="4288536"/>
            <a:ext cx="3136392" cy="9144"/>
          </a:xfrm>
          <a:prstGeom prst="rect">
            <a:avLst/>
          </a:prstGeom>
          <a:solidFill>
            <a:srgbClr val="C4B8C4"/>
          </a:solidFill>
          <a:ln/>
        </p:spPr>
      </p:sp>
      <p:sp>
        <p:nvSpPr>
          <p:cNvPr id="29" name="Text 27"/>
          <p:cNvSpPr/>
          <p:nvPr/>
        </p:nvSpPr>
        <p:spPr>
          <a:xfrm>
            <a:off x="4453128" y="4462272"/>
            <a:ext cx="2286000" cy="310896"/>
          </a:xfrm>
          <a:prstGeom prst="rect">
            <a:avLst/>
          </a:prstGeom>
          <a:noFill/>
          <a:ln/>
        </p:spPr>
        <p:txBody>
          <a:bodyPr wrap="square" lIns="0" tIns="0" rIns="0" bIns="0" rtlCol="0" anchor="ctr"/>
          <a:lstStyle/>
          <a:p>
            <a:pPr algn="l" indent="0" marL="0">
              <a:buNone/>
            </a:pPr>
            <a:r>
              <a:rPr lang="en-US" sz="1000" dirty="0">
                <a:solidFill>
                  <a:srgbClr val="0B163C"/>
                </a:solidFill>
                <a:latin typeface="DM Sans" pitchFamily="34" charset="0"/>
                <a:ea typeface="DM Sans" pitchFamily="34" charset="-122"/>
                <a:cs typeface="DM Sans" pitchFamily="34" charset="-120"/>
              </a:rPr>
              <a:t>Cash equity (JAL + LP)</a:t>
            </a:r>
            <a:endParaRPr lang="en-US" sz="1000" dirty="0"/>
          </a:p>
        </p:txBody>
      </p:sp>
      <p:sp>
        <p:nvSpPr>
          <p:cNvPr id="30" name="Text 28"/>
          <p:cNvSpPr/>
          <p:nvPr/>
        </p:nvSpPr>
        <p:spPr>
          <a:xfrm>
            <a:off x="6601968" y="4462272"/>
            <a:ext cx="987552" cy="310896"/>
          </a:xfrm>
          <a:prstGeom prst="rect">
            <a:avLst/>
          </a:prstGeom>
          <a:noFill/>
          <a:ln/>
        </p:spPr>
        <p:txBody>
          <a:bodyPr wrap="square" lIns="0" tIns="0" rIns="0" bIns="0" rtlCol="0" anchor="ctr"/>
          <a:lstStyle/>
          <a:p>
            <a:pPr algn="r" indent="0" marL="0">
              <a:buNone/>
            </a:pPr>
            <a:r>
              <a:rPr lang="en-US" sz="950" b="1" dirty="0">
                <a:solidFill>
                  <a:srgbClr val="3A243A"/>
                </a:solidFill>
                <a:latin typeface="Montserrat" pitchFamily="34" charset="0"/>
                <a:ea typeface="Montserrat" pitchFamily="34" charset="-122"/>
                <a:cs typeface="Montserrat" pitchFamily="34" charset="-120"/>
              </a:rPr>
              <a:t>Soft costs</a:t>
            </a:r>
            <a:endParaRPr lang="en-US" sz="950" dirty="0"/>
          </a:p>
        </p:txBody>
      </p:sp>
      <p:sp>
        <p:nvSpPr>
          <p:cNvPr id="31" name="Shape 29"/>
          <p:cNvSpPr/>
          <p:nvPr/>
        </p:nvSpPr>
        <p:spPr>
          <a:xfrm>
            <a:off x="4453128" y="4791456"/>
            <a:ext cx="3136392" cy="9144"/>
          </a:xfrm>
          <a:prstGeom prst="rect">
            <a:avLst/>
          </a:prstGeom>
          <a:solidFill>
            <a:srgbClr val="C4B8C4"/>
          </a:solidFill>
          <a:ln/>
        </p:spPr>
      </p:sp>
      <p:sp>
        <p:nvSpPr>
          <p:cNvPr id="32" name="Shape 30"/>
          <p:cNvSpPr/>
          <p:nvPr/>
        </p:nvSpPr>
        <p:spPr>
          <a:xfrm>
            <a:off x="7991856" y="2743200"/>
            <a:ext cx="3593592" cy="2606040"/>
          </a:xfrm>
          <a:prstGeom prst="rect">
            <a:avLst/>
          </a:prstGeom>
          <a:solidFill>
            <a:srgbClr val="0B163C"/>
          </a:solidFill>
          <a:ln/>
        </p:spPr>
      </p:sp>
      <p:sp>
        <p:nvSpPr>
          <p:cNvPr id="33" name="Shape 31"/>
          <p:cNvSpPr/>
          <p:nvPr/>
        </p:nvSpPr>
        <p:spPr>
          <a:xfrm>
            <a:off x="7991856" y="2743200"/>
            <a:ext cx="91440" cy="2606040"/>
          </a:xfrm>
          <a:prstGeom prst="rect">
            <a:avLst/>
          </a:prstGeom>
          <a:solidFill>
            <a:srgbClr val="3A243A"/>
          </a:solidFill>
          <a:ln/>
        </p:spPr>
      </p:sp>
      <p:sp>
        <p:nvSpPr>
          <p:cNvPr id="34" name="Text 32"/>
          <p:cNvSpPr/>
          <p:nvPr/>
        </p:nvSpPr>
        <p:spPr>
          <a:xfrm>
            <a:off x="8220456" y="2907792"/>
            <a:ext cx="3136392" cy="274320"/>
          </a:xfrm>
          <a:prstGeom prst="rect">
            <a:avLst/>
          </a:prstGeom>
          <a:noFill/>
          <a:ln/>
        </p:spPr>
        <p:txBody>
          <a:bodyPr wrap="square" lIns="0" tIns="0" rIns="0" bIns="0" rtlCol="0" anchor="ctr"/>
          <a:lstStyle/>
          <a:p>
            <a:pPr algn="l" indent="0" marL="0">
              <a:buNone/>
            </a:pPr>
            <a:r>
              <a:rPr lang="en-US" sz="1100" b="1" spc="200" kern="0" dirty="0">
                <a:solidFill>
                  <a:srgbClr val="C4B8C4"/>
                </a:solidFill>
                <a:latin typeface="Montserrat" pitchFamily="34" charset="0"/>
                <a:ea typeface="Montserrat" pitchFamily="34" charset="-122"/>
                <a:cs typeface="Montserrat" pitchFamily="34" charset="-120"/>
              </a:rPr>
              <a:t>ROLES</a:t>
            </a:r>
            <a:endParaRPr lang="en-US" sz="1100" dirty="0"/>
          </a:p>
        </p:txBody>
      </p:sp>
      <p:sp>
        <p:nvSpPr>
          <p:cNvPr id="35" name="Text 33"/>
          <p:cNvSpPr/>
          <p:nvPr/>
        </p:nvSpPr>
        <p:spPr>
          <a:xfrm>
            <a:off x="8220456" y="3310128"/>
            <a:ext cx="3136392" cy="256032"/>
          </a:xfrm>
          <a:prstGeom prst="rect">
            <a:avLst/>
          </a:prstGeom>
          <a:noFill/>
          <a:ln/>
        </p:spPr>
        <p:txBody>
          <a:bodyPr wrap="square" lIns="0" tIns="0" rIns="0" bIns="0" rtlCol="0" anchor="ctr"/>
          <a:lstStyle/>
          <a:p>
            <a:pPr algn="l" indent="0" marL="0">
              <a:buNone/>
            </a:pPr>
            <a:r>
              <a:rPr lang="en-US" sz="1050" b="1" dirty="0">
                <a:solidFill>
                  <a:srgbClr val="FFFFFF"/>
                </a:solidFill>
                <a:latin typeface="Montserrat" pitchFamily="34" charset="0"/>
                <a:ea typeface="Montserrat" pitchFamily="34" charset="-122"/>
                <a:cs typeface="Montserrat" pitchFamily="34" charset="-120"/>
              </a:rPr>
              <a:t>Josh McCallen / VIVÂMEE</a:t>
            </a:r>
            <a:endParaRPr lang="en-US" sz="1050" dirty="0"/>
          </a:p>
        </p:txBody>
      </p:sp>
      <p:sp>
        <p:nvSpPr>
          <p:cNvPr id="36" name="Text 34"/>
          <p:cNvSpPr/>
          <p:nvPr/>
        </p:nvSpPr>
        <p:spPr>
          <a:xfrm>
            <a:off x="8220456" y="3557016"/>
            <a:ext cx="3136392" cy="310896"/>
          </a:xfrm>
          <a:prstGeom prst="rect">
            <a:avLst/>
          </a:prstGeom>
          <a:noFill/>
          <a:ln/>
        </p:spPr>
        <p:txBody>
          <a:bodyPr wrap="square" lIns="0" tIns="0" rIns="0" bIns="0" rtlCol="0" anchor="ctr"/>
          <a:lstStyle/>
          <a:p>
            <a:pPr algn="l" indent="0" marL="0">
              <a:lnSpc>
                <a:spcPts val="1100"/>
              </a:lnSpc>
              <a:buNone/>
            </a:pPr>
            <a:r>
              <a:rPr lang="en-US" sz="950" dirty="0">
                <a:solidFill>
                  <a:srgbClr val="F4F2ED"/>
                </a:solidFill>
                <a:latin typeface="DM Sans" pitchFamily="34" charset="0"/>
                <a:ea typeface="DM Sans" pitchFamily="34" charset="-122"/>
                <a:cs typeface="DM Sans" pitchFamily="34" charset="-120"/>
              </a:rPr>
              <a:t>Resort owner-operator</a:t>
            </a:r>
            <a:endParaRPr lang="en-US" sz="950" dirty="0"/>
          </a:p>
        </p:txBody>
      </p:sp>
      <p:sp>
        <p:nvSpPr>
          <p:cNvPr id="37" name="Text 35"/>
          <p:cNvSpPr/>
          <p:nvPr/>
        </p:nvSpPr>
        <p:spPr>
          <a:xfrm>
            <a:off x="8220456" y="3968496"/>
            <a:ext cx="3136392" cy="256032"/>
          </a:xfrm>
          <a:prstGeom prst="rect">
            <a:avLst/>
          </a:prstGeom>
          <a:noFill/>
          <a:ln/>
        </p:spPr>
        <p:txBody>
          <a:bodyPr wrap="square" lIns="0" tIns="0" rIns="0" bIns="0" rtlCol="0" anchor="ctr"/>
          <a:lstStyle/>
          <a:p>
            <a:pPr algn="l" indent="0" marL="0">
              <a:buNone/>
            </a:pPr>
            <a:r>
              <a:rPr lang="en-US" sz="1050" b="1" dirty="0">
                <a:solidFill>
                  <a:srgbClr val="FFFFFF"/>
                </a:solidFill>
                <a:latin typeface="Montserrat" pitchFamily="34" charset="0"/>
                <a:ea typeface="Montserrat" pitchFamily="34" charset="-122"/>
                <a:cs typeface="Montserrat" pitchFamily="34" charset="-120"/>
              </a:rPr>
              <a:t>Bob Connell / Capital H6</a:t>
            </a:r>
            <a:endParaRPr lang="en-US" sz="1050" dirty="0"/>
          </a:p>
        </p:txBody>
      </p:sp>
      <p:sp>
        <p:nvSpPr>
          <p:cNvPr id="38" name="Text 36"/>
          <p:cNvSpPr/>
          <p:nvPr/>
        </p:nvSpPr>
        <p:spPr>
          <a:xfrm>
            <a:off x="8220456" y="4215384"/>
            <a:ext cx="3136392" cy="310896"/>
          </a:xfrm>
          <a:prstGeom prst="rect">
            <a:avLst/>
          </a:prstGeom>
          <a:noFill/>
          <a:ln/>
        </p:spPr>
        <p:txBody>
          <a:bodyPr wrap="square" lIns="0" tIns="0" rIns="0" bIns="0" rtlCol="0" anchor="ctr"/>
          <a:lstStyle/>
          <a:p>
            <a:pPr algn="l" indent="0" marL="0">
              <a:lnSpc>
                <a:spcPts val="1100"/>
              </a:lnSpc>
              <a:buNone/>
            </a:pPr>
            <a:r>
              <a:rPr lang="en-US" sz="950" dirty="0">
                <a:solidFill>
                  <a:srgbClr val="F4F2ED"/>
                </a:solidFill>
                <a:latin typeface="DM Sans" pitchFamily="34" charset="0"/>
                <a:ea typeface="DM Sans" pitchFamily="34" charset="-122"/>
                <a:cs typeface="DM Sans" pitchFamily="34" charset="-120"/>
              </a:rPr>
              <a:t>Development lead (H6 GP)</a:t>
            </a:r>
            <a:endParaRPr lang="en-US" sz="950" dirty="0"/>
          </a:p>
        </p:txBody>
      </p:sp>
      <p:sp>
        <p:nvSpPr>
          <p:cNvPr id="39" name="Text 37"/>
          <p:cNvSpPr/>
          <p:nvPr/>
        </p:nvSpPr>
        <p:spPr>
          <a:xfrm>
            <a:off x="8220456" y="4626864"/>
            <a:ext cx="3136392" cy="256032"/>
          </a:xfrm>
          <a:prstGeom prst="rect">
            <a:avLst/>
          </a:prstGeom>
          <a:noFill/>
          <a:ln/>
        </p:spPr>
        <p:txBody>
          <a:bodyPr wrap="square" lIns="0" tIns="0" rIns="0" bIns="0" rtlCol="0" anchor="ctr"/>
          <a:lstStyle/>
          <a:p>
            <a:pPr algn="l" indent="0" marL="0">
              <a:buNone/>
            </a:pPr>
            <a:r>
              <a:rPr lang="en-US" sz="1050" b="1" dirty="0">
                <a:solidFill>
                  <a:srgbClr val="FFFFFF"/>
                </a:solidFill>
                <a:latin typeface="Montserrat" pitchFamily="34" charset="0"/>
                <a:ea typeface="Montserrat" pitchFamily="34" charset="-122"/>
                <a:cs typeface="Montserrat" pitchFamily="34" charset="-120"/>
              </a:rPr>
              <a:t>JAL Strategies</a:t>
            </a:r>
            <a:endParaRPr lang="en-US" sz="1050" dirty="0"/>
          </a:p>
        </p:txBody>
      </p:sp>
      <p:sp>
        <p:nvSpPr>
          <p:cNvPr id="40" name="Text 38"/>
          <p:cNvSpPr/>
          <p:nvPr/>
        </p:nvSpPr>
        <p:spPr>
          <a:xfrm>
            <a:off x="8220456" y="4873752"/>
            <a:ext cx="3136392" cy="310896"/>
          </a:xfrm>
          <a:prstGeom prst="rect">
            <a:avLst/>
          </a:prstGeom>
          <a:noFill/>
          <a:ln/>
        </p:spPr>
        <p:txBody>
          <a:bodyPr wrap="square" lIns="0" tIns="0" rIns="0" bIns="0" rtlCol="0" anchor="ctr"/>
          <a:lstStyle/>
          <a:p>
            <a:pPr algn="l" indent="0" marL="0">
              <a:lnSpc>
                <a:spcPts val="1100"/>
              </a:lnSpc>
              <a:buNone/>
            </a:pPr>
            <a:r>
              <a:rPr lang="en-US" sz="950" dirty="0">
                <a:solidFill>
                  <a:srgbClr val="F4F2ED"/>
                </a:solidFill>
                <a:latin typeface="DM Sans" pitchFamily="34" charset="0"/>
                <a:ea typeface="DM Sans" pitchFamily="34" charset="-122"/>
                <a:cs typeface="DM Sans" pitchFamily="34" charset="-120"/>
              </a:rPr>
              <a:t>Capital, entitlement &amp; sales — co-invests</a:t>
            </a:r>
            <a:endParaRPr lang="en-US" sz="950" dirty="0"/>
          </a:p>
        </p:txBody>
      </p:sp>
      <p:sp>
        <p:nvSpPr>
          <p:cNvPr id="41" name="Shape 39"/>
          <p:cNvSpPr/>
          <p:nvPr/>
        </p:nvSpPr>
        <p:spPr>
          <a:xfrm>
            <a:off x="457200" y="5943600"/>
            <a:ext cx="11274552" cy="420624"/>
          </a:xfrm>
          <a:prstGeom prst="rect">
            <a:avLst/>
          </a:prstGeom>
          <a:solidFill>
            <a:srgbClr val="3A243A"/>
          </a:solidFill>
          <a:ln/>
        </p:spPr>
      </p:sp>
      <p:sp>
        <p:nvSpPr>
          <p:cNvPr id="42" name="Text 40"/>
          <p:cNvSpPr/>
          <p:nvPr/>
        </p:nvSpPr>
        <p:spPr>
          <a:xfrm>
            <a:off x="640080" y="5943600"/>
            <a:ext cx="10908792" cy="420624"/>
          </a:xfrm>
          <a:prstGeom prst="rect">
            <a:avLst/>
          </a:prstGeom>
          <a:noFill/>
          <a:ln/>
        </p:spPr>
        <p:txBody>
          <a:bodyPr wrap="square" lIns="0" tIns="0" rIns="0" bIns="0" rtlCol="0" anchor="ctr"/>
          <a:lstStyle/>
          <a:p>
            <a:pPr algn="ctr" indent="0" marL="0">
              <a:buNone/>
            </a:pPr>
            <a:r>
              <a:rPr lang="en-US" sz="1100" b="1" dirty="0">
                <a:solidFill>
                  <a:srgbClr val="FFFFFF"/>
                </a:solidFill>
                <a:latin typeface="DM Sans" pitchFamily="34" charset="0"/>
                <a:ea typeface="DM Sans" pitchFamily="34" charset="-122"/>
                <a:cs typeface="DM Sans" pitchFamily="34" charset="-120"/>
              </a:rPr>
              <a:t>JAL takes skin in the game — co-investing alongside, not just advising.</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17 / 20</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ENGAGEMENT  ·  FOR DISCUSSION</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How I'd want to be engaged.</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You asked how I'd like to be comped. My preference matches yours — a small base to fund the work, then real alignment on the value we create. For discussion only.</a:t>
            </a:r>
            <a:endParaRPr lang="en-US" sz="1300" dirty="0"/>
          </a:p>
        </p:txBody>
      </p:sp>
      <p:sp>
        <p:nvSpPr>
          <p:cNvPr id="11" name="Shape 9"/>
          <p:cNvSpPr/>
          <p:nvPr/>
        </p:nvSpPr>
        <p:spPr>
          <a:xfrm>
            <a:off x="457200" y="1783080"/>
            <a:ext cx="11274552" cy="868680"/>
          </a:xfrm>
          <a:prstGeom prst="rect">
            <a:avLst/>
          </a:prstGeom>
          <a:solidFill>
            <a:srgbClr val="0B163C"/>
          </a:solidFill>
          <a:ln/>
        </p:spPr>
      </p:sp>
      <p:sp>
        <p:nvSpPr>
          <p:cNvPr id="12" name="Shape 10"/>
          <p:cNvSpPr/>
          <p:nvPr/>
        </p:nvSpPr>
        <p:spPr>
          <a:xfrm>
            <a:off x="457200" y="1783080"/>
            <a:ext cx="109728" cy="868680"/>
          </a:xfrm>
          <a:prstGeom prst="rect">
            <a:avLst/>
          </a:prstGeom>
          <a:solidFill>
            <a:srgbClr val="3A243A"/>
          </a:solidFill>
          <a:ln/>
        </p:spPr>
      </p:sp>
      <p:sp>
        <p:nvSpPr>
          <p:cNvPr id="13" name="Text 11"/>
          <p:cNvSpPr/>
          <p:nvPr/>
        </p:nvSpPr>
        <p:spPr>
          <a:xfrm>
            <a:off x="777240" y="1847088"/>
            <a:ext cx="2743200" cy="731520"/>
          </a:xfrm>
          <a:prstGeom prst="rect">
            <a:avLst/>
          </a:prstGeom>
          <a:noFill/>
          <a:ln/>
        </p:spPr>
        <p:txBody>
          <a:bodyPr wrap="square" lIns="0" tIns="0" rIns="0" bIns="0" rtlCol="0" anchor="ctr"/>
          <a:lstStyle/>
          <a:p>
            <a:pPr algn="l" indent="0" marL="0">
              <a:buNone/>
            </a:pPr>
            <a:r>
              <a:rPr lang="en-US" sz="3000" b="1" dirty="0">
                <a:solidFill>
                  <a:srgbClr val="C4B8C4"/>
                </a:solidFill>
                <a:latin typeface="Montserrat" pitchFamily="34" charset="0"/>
                <a:ea typeface="Montserrat" pitchFamily="34" charset="-122"/>
                <a:cs typeface="Montserrat" pitchFamily="34" charset="-120"/>
              </a:rPr>
              <a:t>Hybrid</a:t>
            </a:r>
            <a:endParaRPr lang="en-US" sz="3000" dirty="0"/>
          </a:p>
        </p:txBody>
      </p:sp>
      <p:sp>
        <p:nvSpPr>
          <p:cNvPr id="14" name="Text 12"/>
          <p:cNvSpPr/>
          <p:nvPr/>
        </p:nvSpPr>
        <p:spPr>
          <a:xfrm>
            <a:off x="3291840" y="1883664"/>
            <a:ext cx="5349240" cy="365760"/>
          </a:xfrm>
          <a:prstGeom prst="rect">
            <a:avLst/>
          </a:prstGeom>
          <a:noFill/>
          <a:ln/>
        </p:spPr>
        <p:txBody>
          <a:bodyPr wrap="square" lIns="0" tIns="0" rIns="0" bIns="0" rtlCol="0" anchor="ctr"/>
          <a:lstStyle/>
          <a:p>
            <a:pPr algn="l" indent="0" marL="0">
              <a:buNone/>
            </a:pPr>
            <a:r>
              <a:rPr lang="en-US" sz="1350" b="1" dirty="0">
                <a:solidFill>
                  <a:srgbClr val="FFFFFF"/>
                </a:solidFill>
                <a:latin typeface="Montserrat" pitchFamily="34" charset="0"/>
                <a:ea typeface="Montserrat" pitchFamily="34" charset="-122"/>
                <a:cs typeface="Montserrat" pitchFamily="34" charset="-120"/>
              </a:rPr>
              <a:t>$15K/mo + expenses, then success fees + carry</a:t>
            </a:r>
            <a:endParaRPr lang="en-US" sz="1350" dirty="0"/>
          </a:p>
        </p:txBody>
      </p:sp>
      <p:sp>
        <p:nvSpPr>
          <p:cNvPr id="15" name="Text 13"/>
          <p:cNvSpPr/>
          <p:nvPr/>
        </p:nvSpPr>
        <p:spPr>
          <a:xfrm>
            <a:off x="3291840" y="2249424"/>
            <a:ext cx="5349240" cy="320040"/>
          </a:xfrm>
          <a:prstGeom prst="rect">
            <a:avLst/>
          </a:prstGeom>
          <a:noFill/>
          <a:ln/>
        </p:spPr>
        <p:txBody>
          <a:bodyPr wrap="square" lIns="0" tIns="0" rIns="0" bIns="0" rtlCol="0" anchor="ctr"/>
          <a:lstStyle/>
          <a:p>
            <a:pPr algn="l" indent="0" marL="0">
              <a:buNone/>
            </a:pPr>
            <a:r>
              <a:rPr lang="en-US" sz="1000" dirty="0">
                <a:solidFill>
                  <a:srgbClr val="F4F2ED"/>
                </a:solidFill>
                <a:latin typeface="DM Sans" pitchFamily="34" charset="0"/>
                <a:ea typeface="DM Sans" pitchFamily="34" charset="-122"/>
                <a:cs typeface="DM Sans" pitchFamily="34" charset="-120"/>
              </a:rPr>
              <a:t>Aligned to lot-sale value created — not a flat consulting check.</a:t>
            </a:r>
            <a:endParaRPr lang="en-US" sz="1000" dirty="0"/>
          </a:p>
        </p:txBody>
      </p:sp>
      <p:sp>
        <p:nvSpPr>
          <p:cNvPr id="16" name="Text 14"/>
          <p:cNvSpPr/>
          <p:nvPr/>
        </p:nvSpPr>
        <p:spPr>
          <a:xfrm>
            <a:off x="8778240" y="1783080"/>
            <a:ext cx="2953512" cy="868680"/>
          </a:xfrm>
          <a:prstGeom prst="rect">
            <a:avLst/>
          </a:prstGeom>
          <a:noFill/>
          <a:ln/>
        </p:spPr>
        <p:txBody>
          <a:bodyPr wrap="square" lIns="25400" tIns="76200" rIns="127000" bIns="25400" rtlCol="0" anchor="ctr"/>
          <a:lstStyle/>
          <a:p>
            <a:pPr algn="r" indent="0" marL="0">
              <a:lnSpc>
                <a:spcPts val="1500"/>
              </a:lnSpc>
              <a:buNone/>
            </a:pPr>
            <a:r>
              <a:rPr lang="en-US" sz="1300" b="1" dirty="0">
                <a:solidFill>
                  <a:srgbClr val="8C9BB5"/>
                </a:solidFill>
                <a:latin typeface="Montserrat" pitchFamily="34" charset="0"/>
                <a:ea typeface="Montserrat" pitchFamily="34" charset="-122"/>
                <a:cs typeface="Montserrat" pitchFamily="34" charset="-120"/>
              </a:rPr>
              <a:t>Skin in</a:t>
            </a:r>
            <a:endParaRPr lang="en-US" sz="1300" dirty="0"/>
          </a:p>
          <a:p>
            <a:pPr algn="r" indent="0" marL="0">
              <a:lnSpc>
                <a:spcPts val="1500"/>
              </a:lnSpc>
              <a:buNone/>
            </a:pPr>
            <a:r>
              <a:rPr lang="en-US" sz="1300" b="1" dirty="0">
                <a:solidFill>
                  <a:srgbClr val="8C9BB5"/>
                </a:solidFill>
                <a:latin typeface="Montserrat" pitchFamily="34" charset="0"/>
                <a:ea typeface="Montserrat" pitchFamily="34" charset="-122"/>
                <a:cs typeface="Montserrat" pitchFamily="34" charset="-120"/>
              </a:rPr>
              <a:t>the game</a:t>
            </a:r>
            <a:endParaRPr lang="en-US" sz="1300" dirty="0"/>
          </a:p>
        </p:txBody>
      </p:sp>
      <p:sp>
        <p:nvSpPr>
          <p:cNvPr id="17" name="Shape 15"/>
          <p:cNvSpPr/>
          <p:nvPr/>
        </p:nvSpPr>
        <p:spPr>
          <a:xfrm>
            <a:off x="457200" y="2852928"/>
            <a:ext cx="3108960" cy="365760"/>
          </a:xfrm>
          <a:prstGeom prst="rect">
            <a:avLst/>
          </a:prstGeom>
          <a:solidFill>
            <a:srgbClr val="0B163C"/>
          </a:solidFill>
          <a:ln/>
        </p:spPr>
      </p:sp>
      <p:sp>
        <p:nvSpPr>
          <p:cNvPr id="18" name="Text 16"/>
          <p:cNvSpPr/>
          <p:nvPr/>
        </p:nvSpPr>
        <p:spPr>
          <a:xfrm>
            <a:off x="457200" y="2852928"/>
            <a:ext cx="3108960"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Component</a:t>
            </a:r>
            <a:endParaRPr lang="en-US" sz="900" dirty="0"/>
          </a:p>
        </p:txBody>
      </p:sp>
      <p:sp>
        <p:nvSpPr>
          <p:cNvPr id="19" name="Shape 17"/>
          <p:cNvSpPr/>
          <p:nvPr/>
        </p:nvSpPr>
        <p:spPr>
          <a:xfrm>
            <a:off x="3566160" y="2852928"/>
            <a:ext cx="2743200" cy="365760"/>
          </a:xfrm>
          <a:prstGeom prst="rect">
            <a:avLst/>
          </a:prstGeom>
          <a:solidFill>
            <a:srgbClr val="0B163C"/>
          </a:solidFill>
          <a:ln/>
        </p:spPr>
      </p:sp>
      <p:sp>
        <p:nvSpPr>
          <p:cNvPr id="20" name="Text 18"/>
          <p:cNvSpPr/>
          <p:nvPr/>
        </p:nvSpPr>
        <p:spPr>
          <a:xfrm>
            <a:off x="3566160" y="2852928"/>
            <a:ext cx="2743200" cy="365760"/>
          </a:xfrm>
          <a:prstGeom prst="rect">
            <a:avLst/>
          </a:prstGeom>
          <a:noFill/>
          <a:ln/>
        </p:spPr>
        <p:txBody>
          <a:bodyPr wrap="square" lIns="25400" tIns="76200" rIns="76200" bIns="25400" rtlCol="0" anchor="ctr"/>
          <a:lstStyle/>
          <a:p>
            <a:pPr algn="ctr" indent="0" marL="0">
              <a:buNone/>
            </a:pPr>
            <a:r>
              <a:rPr lang="en-US" sz="900" b="1" dirty="0">
                <a:solidFill>
                  <a:srgbClr val="FFFFFF"/>
                </a:solidFill>
                <a:latin typeface="Montserrat" pitchFamily="34" charset="0"/>
                <a:ea typeface="Montserrat" pitchFamily="34" charset="-122"/>
                <a:cs typeface="Montserrat" pitchFamily="34" charset="-120"/>
              </a:rPr>
              <a:t>Terms</a:t>
            </a:r>
            <a:endParaRPr lang="en-US" sz="900" dirty="0"/>
          </a:p>
        </p:txBody>
      </p:sp>
      <p:sp>
        <p:nvSpPr>
          <p:cNvPr id="21" name="Shape 19"/>
          <p:cNvSpPr/>
          <p:nvPr/>
        </p:nvSpPr>
        <p:spPr>
          <a:xfrm>
            <a:off x="6309360" y="2852928"/>
            <a:ext cx="5422392" cy="365760"/>
          </a:xfrm>
          <a:prstGeom prst="rect">
            <a:avLst/>
          </a:prstGeom>
          <a:solidFill>
            <a:srgbClr val="0B163C"/>
          </a:solidFill>
          <a:ln/>
        </p:spPr>
      </p:sp>
      <p:sp>
        <p:nvSpPr>
          <p:cNvPr id="22" name="Text 20"/>
          <p:cNvSpPr/>
          <p:nvPr/>
        </p:nvSpPr>
        <p:spPr>
          <a:xfrm>
            <a:off x="6309360" y="2852928"/>
            <a:ext cx="5422392"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What it covers</a:t>
            </a:r>
            <a:endParaRPr lang="en-US" sz="900" dirty="0"/>
          </a:p>
        </p:txBody>
      </p:sp>
      <p:sp>
        <p:nvSpPr>
          <p:cNvPr id="23" name="Shape 21"/>
          <p:cNvSpPr/>
          <p:nvPr/>
        </p:nvSpPr>
        <p:spPr>
          <a:xfrm>
            <a:off x="457200" y="3218688"/>
            <a:ext cx="3108960" cy="640080"/>
          </a:xfrm>
          <a:prstGeom prst="rect">
            <a:avLst/>
          </a:prstGeom>
          <a:solidFill>
            <a:srgbClr val="FFFFFF"/>
          </a:solidFill>
          <a:ln/>
        </p:spPr>
      </p:sp>
      <p:sp>
        <p:nvSpPr>
          <p:cNvPr id="24" name="Text 22"/>
          <p:cNvSpPr/>
          <p:nvPr/>
        </p:nvSpPr>
        <p:spPr>
          <a:xfrm>
            <a:off x="457200" y="3218688"/>
            <a:ext cx="3108960" cy="640080"/>
          </a:xfrm>
          <a:prstGeom prst="rect">
            <a:avLst/>
          </a:prstGeom>
          <a:noFill/>
          <a:ln/>
        </p:spPr>
        <p:txBody>
          <a:bodyPr wrap="square" lIns="25400" tIns="76200" rIns="76200" bIns="25400" rtlCol="0" anchor="ctr"/>
          <a:lstStyle/>
          <a:p>
            <a:pPr algn="l" indent="0" marL="0">
              <a:buNone/>
            </a:pPr>
            <a:r>
              <a:rPr lang="en-US" sz="1100" b="1" dirty="0">
                <a:solidFill>
                  <a:srgbClr val="0B163C"/>
                </a:solidFill>
                <a:latin typeface="Montserrat" pitchFamily="34" charset="0"/>
                <a:ea typeface="Montserrat" pitchFamily="34" charset="-122"/>
                <a:cs typeface="Montserrat" pitchFamily="34" charset="-120"/>
              </a:rPr>
              <a:t>Advisory retainer</a:t>
            </a:r>
            <a:endParaRPr lang="en-US" sz="1100" dirty="0"/>
          </a:p>
        </p:txBody>
      </p:sp>
      <p:sp>
        <p:nvSpPr>
          <p:cNvPr id="25" name="Shape 23"/>
          <p:cNvSpPr/>
          <p:nvPr/>
        </p:nvSpPr>
        <p:spPr>
          <a:xfrm>
            <a:off x="3566160" y="3218688"/>
            <a:ext cx="2743200" cy="640080"/>
          </a:xfrm>
          <a:prstGeom prst="rect">
            <a:avLst/>
          </a:prstGeom>
          <a:solidFill>
            <a:srgbClr val="FFFFFF"/>
          </a:solidFill>
          <a:ln/>
        </p:spPr>
      </p:sp>
      <p:sp>
        <p:nvSpPr>
          <p:cNvPr id="26" name="Text 24"/>
          <p:cNvSpPr/>
          <p:nvPr/>
        </p:nvSpPr>
        <p:spPr>
          <a:xfrm>
            <a:off x="3566160" y="3218688"/>
            <a:ext cx="2743200" cy="640080"/>
          </a:xfrm>
          <a:prstGeom prst="rect">
            <a:avLst/>
          </a:prstGeom>
          <a:noFill/>
          <a:ln/>
        </p:spPr>
        <p:txBody>
          <a:bodyPr wrap="square" lIns="25400" tIns="76200" rIns="76200" bIns="25400" rtlCol="0" anchor="ctr"/>
          <a:lstStyle/>
          <a:p>
            <a:pPr algn="ctr" indent="0" marL="0">
              <a:buNone/>
            </a:pPr>
            <a:r>
              <a:rPr lang="en-US" sz="1100" b="1" dirty="0">
                <a:solidFill>
                  <a:srgbClr val="3A243A"/>
                </a:solidFill>
                <a:latin typeface="Montserrat" pitchFamily="34" charset="0"/>
                <a:ea typeface="Montserrat" pitchFamily="34" charset="-122"/>
                <a:cs typeface="Montserrat" pitchFamily="34" charset="-120"/>
              </a:rPr>
              <a:t>$15K / mo</a:t>
            </a:r>
            <a:endParaRPr lang="en-US" sz="1100" dirty="0"/>
          </a:p>
        </p:txBody>
      </p:sp>
      <p:sp>
        <p:nvSpPr>
          <p:cNvPr id="27" name="Shape 25"/>
          <p:cNvSpPr/>
          <p:nvPr/>
        </p:nvSpPr>
        <p:spPr>
          <a:xfrm>
            <a:off x="6309360" y="3218688"/>
            <a:ext cx="5422392" cy="640080"/>
          </a:xfrm>
          <a:prstGeom prst="rect">
            <a:avLst/>
          </a:prstGeom>
          <a:solidFill>
            <a:srgbClr val="FFFFFF"/>
          </a:solidFill>
          <a:ln/>
        </p:spPr>
      </p:sp>
      <p:sp>
        <p:nvSpPr>
          <p:cNvPr id="28" name="Text 26"/>
          <p:cNvSpPr/>
          <p:nvPr/>
        </p:nvSpPr>
        <p:spPr>
          <a:xfrm>
            <a:off x="6309360" y="3218688"/>
            <a:ext cx="5422392" cy="640080"/>
          </a:xfrm>
          <a:prstGeom prst="rect">
            <a:avLst/>
          </a:prstGeom>
          <a:noFill/>
          <a:ln/>
        </p:spPr>
        <p:txBody>
          <a:bodyPr wrap="square" lIns="25400" tIns="76200" rIns="76200" bIns="25400" rtlCol="0" anchor="ctr"/>
          <a:lstStyle/>
          <a:p>
            <a:pPr algn="l" indent="0" marL="0">
              <a:lnSpc>
                <a:spcPts val="1200"/>
              </a:lnSpc>
              <a:buNone/>
            </a:pPr>
            <a:r>
              <a:rPr lang="en-US" sz="950" dirty="0">
                <a:solidFill>
                  <a:srgbClr val="6B5A6B"/>
                </a:solidFill>
                <a:latin typeface="DM Sans" pitchFamily="34" charset="0"/>
                <a:ea typeface="DM Sans" pitchFamily="34" charset="-122"/>
                <a:cs typeface="DM Sans" pitchFamily="34" charset="-120"/>
              </a:rPr>
              <a:t>Funds entitlement, underwriting &amp; capital sourcing during an initial term; creditable against success fees</a:t>
            </a:r>
            <a:endParaRPr lang="en-US" sz="950" dirty="0"/>
          </a:p>
        </p:txBody>
      </p:sp>
      <p:sp>
        <p:nvSpPr>
          <p:cNvPr id="29" name="Shape 27"/>
          <p:cNvSpPr/>
          <p:nvPr/>
        </p:nvSpPr>
        <p:spPr>
          <a:xfrm>
            <a:off x="457200" y="3858768"/>
            <a:ext cx="3108960" cy="640080"/>
          </a:xfrm>
          <a:prstGeom prst="rect">
            <a:avLst/>
          </a:prstGeom>
          <a:solidFill>
            <a:srgbClr val="F4F2ED"/>
          </a:solidFill>
          <a:ln/>
        </p:spPr>
      </p:sp>
      <p:sp>
        <p:nvSpPr>
          <p:cNvPr id="30" name="Text 28"/>
          <p:cNvSpPr/>
          <p:nvPr/>
        </p:nvSpPr>
        <p:spPr>
          <a:xfrm>
            <a:off x="457200" y="3858768"/>
            <a:ext cx="3108960" cy="640080"/>
          </a:xfrm>
          <a:prstGeom prst="rect">
            <a:avLst/>
          </a:prstGeom>
          <a:noFill/>
          <a:ln/>
        </p:spPr>
        <p:txBody>
          <a:bodyPr wrap="square" lIns="25400" tIns="76200" rIns="76200" bIns="25400" rtlCol="0" anchor="ctr"/>
          <a:lstStyle/>
          <a:p>
            <a:pPr algn="l" indent="0" marL="0">
              <a:buNone/>
            </a:pPr>
            <a:r>
              <a:rPr lang="en-US" sz="1100" b="1" dirty="0">
                <a:solidFill>
                  <a:srgbClr val="0B163C"/>
                </a:solidFill>
                <a:latin typeface="Montserrat" pitchFamily="34" charset="0"/>
                <a:ea typeface="Montserrat" pitchFamily="34" charset="-122"/>
                <a:cs typeface="Montserrat" pitchFamily="34" charset="-120"/>
              </a:rPr>
              <a:t>Expenses</a:t>
            </a:r>
            <a:endParaRPr lang="en-US" sz="1100" dirty="0"/>
          </a:p>
        </p:txBody>
      </p:sp>
      <p:sp>
        <p:nvSpPr>
          <p:cNvPr id="31" name="Shape 29"/>
          <p:cNvSpPr/>
          <p:nvPr/>
        </p:nvSpPr>
        <p:spPr>
          <a:xfrm>
            <a:off x="3566160" y="3858768"/>
            <a:ext cx="2743200" cy="640080"/>
          </a:xfrm>
          <a:prstGeom prst="rect">
            <a:avLst/>
          </a:prstGeom>
          <a:solidFill>
            <a:srgbClr val="F4F2ED"/>
          </a:solidFill>
          <a:ln/>
        </p:spPr>
      </p:sp>
      <p:sp>
        <p:nvSpPr>
          <p:cNvPr id="32" name="Text 30"/>
          <p:cNvSpPr/>
          <p:nvPr/>
        </p:nvSpPr>
        <p:spPr>
          <a:xfrm>
            <a:off x="3566160" y="3858768"/>
            <a:ext cx="2743200" cy="640080"/>
          </a:xfrm>
          <a:prstGeom prst="rect">
            <a:avLst/>
          </a:prstGeom>
          <a:noFill/>
          <a:ln/>
        </p:spPr>
        <p:txBody>
          <a:bodyPr wrap="square" lIns="25400" tIns="76200" rIns="76200" bIns="25400" rtlCol="0" anchor="ctr"/>
          <a:lstStyle/>
          <a:p>
            <a:pPr algn="ctr" indent="0" marL="0">
              <a:buNone/>
            </a:pPr>
            <a:r>
              <a:rPr lang="en-US" sz="1100" b="1" dirty="0">
                <a:solidFill>
                  <a:srgbClr val="3A243A"/>
                </a:solidFill>
                <a:latin typeface="Montserrat" pitchFamily="34" charset="0"/>
                <a:ea typeface="Montserrat" pitchFamily="34" charset="-122"/>
                <a:cs typeface="Montserrat" pitchFamily="34" charset="-120"/>
              </a:rPr>
              <a:t>Reimbursed at cost</a:t>
            </a:r>
            <a:endParaRPr lang="en-US" sz="1100" dirty="0"/>
          </a:p>
        </p:txBody>
      </p:sp>
      <p:sp>
        <p:nvSpPr>
          <p:cNvPr id="33" name="Shape 31"/>
          <p:cNvSpPr/>
          <p:nvPr/>
        </p:nvSpPr>
        <p:spPr>
          <a:xfrm>
            <a:off x="6309360" y="3858768"/>
            <a:ext cx="5422392" cy="640080"/>
          </a:xfrm>
          <a:prstGeom prst="rect">
            <a:avLst/>
          </a:prstGeom>
          <a:solidFill>
            <a:srgbClr val="F4F2ED"/>
          </a:solidFill>
          <a:ln/>
        </p:spPr>
      </p:sp>
      <p:sp>
        <p:nvSpPr>
          <p:cNvPr id="34" name="Text 32"/>
          <p:cNvSpPr/>
          <p:nvPr/>
        </p:nvSpPr>
        <p:spPr>
          <a:xfrm>
            <a:off x="6309360" y="3858768"/>
            <a:ext cx="5422392" cy="640080"/>
          </a:xfrm>
          <a:prstGeom prst="rect">
            <a:avLst/>
          </a:prstGeom>
          <a:noFill/>
          <a:ln/>
        </p:spPr>
        <p:txBody>
          <a:bodyPr wrap="square" lIns="25400" tIns="76200" rIns="76200" bIns="25400" rtlCol="0" anchor="ctr"/>
          <a:lstStyle/>
          <a:p>
            <a:pPr algn="l" indent="0" marL="0">
              <a:lnSpc>
                <a:spcPts val="1200"/>
              </a:lnSpc>
              <a:buNone/>
            </a:pPr>
            <a:r>
              <a:rPr lang="en-US" sz="950" dirty="0">
                <a:solidFill>
                  <a:srgbClr val="6B5A6B"/>
                </a:solidFill>
                <a:latin typeface="DM Sans" pitchFamily="34" charset="0"/>
                <a:ea typeface="DM Sans" pitchFamily="34" charset="-122"/>
                <a:cs typeface="DM Sans" pitchFamily="34" charset="-120"/>
              </a:rPr>
              <a:t>Travel, survey, market &amp; entitlement studies — billed separately, not netted from fees</a:t>
            </a:r>
            <a:endParaRPr lang="en-US" sz="950" dirty="0"/>
          </a:p>
        </p:txBody>
      </p:sp>
      <p:sp>
        <p:nvSpPr>
          <p:cNvPr id="35" name="Shape 33"/>
          <p:cNvSpPr/>
          <p:nvPr/>
        </p:nvSpPr>
        <p:spPr>
          <a:xfrm>
            <a:off x="457200" y="4498848"/>
            <a:ext cx="3108960" cy="640080"/>
          </a:xfrm>
          <a:prstGeom prst="rect">
            <a:avLst/>
          </a:prstGeom>
          <a:solidFill>
            <a:srgbClr val="FFFFFF"/>
          </a:solidFill>
          <a:ln/>
        </p:spPr>
      </p:sp>
      <p:sp>
        <p:nvSpPr>
          <p:cNvPr id="36" name="Text 34"/>
          <p:cNvSpPr/>
          <p:nvPr/>
        </p:nvSpPr>
        <p:spPr>
          <a:xfrm>
            <a:off x="457200" y="4498848"/>
            <a:ext cx="3108960" cy="640080"/>
          </a:xfrm>
          <a:prstGeom prst="rect">
            <a:avLst/>
          </a:prstGeom>
          <a:noFill/>
          <a:ln/>
        </p:spPr>
        <p:txBody>
          <a:bodyPr wrap="square" lIns="25400" tIns="76200" rIns="76200" bIns="25400" rtlCol="0" anchor="ctr"/>
          <a:lstStyle/>
          <a:p>
            <a:pPr algn="l" indent="0" marL="0">
              <a:buNone/>
            </a:pPr>
            <a:r>
              <a:rPr lang="en-US" sz="1100" b="1" dirty="0">
                <a:solidFill>
                  <a:srgbClr val="0B163C"/>
                </a:solidFill>
                <a:latin typeface="Montserrat" pitchFamily="34" charset="0"/>
                <a:ea typeface="Montserrat" pitchFamily="34" charset="-122"/>
                <a:cs typeface="Montserrat" pitchFamily="34" charset="-120"/>
              </a:rPr>
              <a:t>Capital placement fee</a:t>
            </a:r>
            <a:endParaRPr lang="en-US" sz="1100" dirty="0"/>
          </a:p>
        </p:txBody>
      </p:sp>
      <p:sp>
        <p:nvSpPr>
          <p:cNvPr id="37" name="Shape 35"/>
          <p:cNvSpPr/>
          <p:nvPr/>
        </p:nvSpPr>
        <p:spPr>
          <a:xfrm>
            <a:off x="3566160" y="4498848"/>
            <a:ext cx="2743200" cy="640080"/>
          </a:xfrm>
          <a:prstGeom prst="rect">
            <a:avLst/>
          </a:prstGeom>
          <a:solidFill>
            <a:srgbClr val="FFFFFF"/>
          </a:solidFill>
          <a:ln/>
        </p:spPr>
      </p:sp>
      <p:sp>
        <p:nvSpPr>
          <p:cNvPr id="38" name="Text 36"/>
          <p:cNvSpPr/>
          <p:nvPr/>
        </p:nvSpPr>
        <p:spPr>
          <a:xfrm>
            <a:off x="3566160" y="4498848"/>
            <a:ext cx="2743200" cy="640080"/>
          </a:xfrm>
          <a:prstGeom prst="rect">
            <a:avLst/>
          </a:prstGeom>
          <a:noFill/>
          <a:ln/>
        </p:spPr>
        <p:txBody>
          <a:bodyPr wrap="square" lIns="25400" tIns="76200" rIns="76200" bIns="25400" rtlCol="0" anchor="ctr"/>
          <a:lstStyle/>
          <a:p>
            <a:pPr algn="ctr" indent="0" marL="0">
              <a:buNone/>
            </a:pPr>
            <a:r>
              <a:rPr lang="en-US" sz="1100" b="1" dirty="0">
                <a:solidFill>
                  <a:srgbClr val="3A243A"/>
                </a:solidFill>
                <a:latin typeface="Montserrat" pitchFamily="34" charset="0"/>
                <a:ea typeface="Montserrat" pitchFamily="34" charset="-122"/>
                <a:cs typeface="Montserrat" pitchFamily="34" charset="-120"/>
              </a:rPr>
              <a:t>1% debt · 2–3% equity</a:t>
            </a:r>
            <a:endParaRPr lang="en-US" sz="1100" dirty="0"/>
          </a:p>
        </p:txBody>
      </p:sp>
      <p:sp>
        <p:nvSpPr>
          <p:cNvPr id="39" name="Shape 37"/>
          <p:cNvSpPr/>
          <p:nvPr/>
        </p:nvSpPr>
        <p:spPr>
          <a:xfrm>
            <a:off x="6309360" y="4498848"/>
            <a:ext cx="5422392" cy="640080"/>
          </a:xfrm>
          <a:prstGeom prst="rect">
            <a:avLst/>
          </a:prstGeom>
          <a:solidFill>
            <a:srgbClr val="FFFFFF"/>
          </a:solidFill>
          <a:ln/>
        </p:spPr>
      </p:sp>
      <p:sp>
        <p:nvSpPr>
          <p:cNvPr id="40" name="Text 38"/>
          <p:cNvSpPr/>
          <p:nvPr/>
        </p:nvSpPr>
        <p:spPr>
          <a:xfrm>
            <a:off x="6309360" y="4498848"/>
            <a:ext cx="5422392" cy="640080"/>
          </a:xfrm>
          <a:prstGeom prst="rect">
            <a:avLst/>
          </a:prstGeom>
          <a:noFill/>
          <a:ln/>
        </p:spPr>
        <p:txBody>
          <a:bodyPr wrap="square" lIns="25400" tIns="76200" rIns="76200" bIns="25400" rtlCol="0" anchor="ctr"/>
          <a:lstStyle/>
          <a:p>
            <a:pPr algn="l" indent="0" marL="0">
              <a:lnSpc>
                <a:spcPts val="1200"/>
              </a:lnSpc>
              <a:buNone/>
            </a:pPr>
            <a:r>
              <a:rPr lang="en-US" sz="950" dirty="0">
                <a:solidFill>
                  <a:srgbClr val="6B5A6B"/>
                </a:solidFill>
                <a:latin typeface="DM Sans" pitchFamily="34" charset="0"/>
                <a:ea typeface="DM Sans" pitchFamily="34" charset="-122"/>
                <a:cs typeface="DM Sans" pitchFamily="34" charset="-120"/>
              </a:rPr>
              <a:t>Success fee if and when we place debt or equity for a parcel</a:t>
            </a:r>
            <a:endParaRPr lang="en-US" sz="950" dirty="0"/>
          </a:p>
        </p:txBody>
      </p:sp>
      <p:sp>
        <p:nvSpPr>
          <p:cNvPr id="41" name="Shape 39"/>
          <p:cNvSpPr/>
          <p:nvPr/>
        </p:nvSpPr>
        <p:spPr>
          <a:xfrm>
            <a:off x="457200" y="5138928"/>
            <a:ext cx="3108960" cy="640080"/>
          </a:xfrm>
          <a:prstGeom prst="rect">
            <a:avLst/>
          </a:prstGeom>
          <a:solidFill>
            <a:srgbClr val="F4F2ED"/>
          </a:solidFill>
          <a:ln/>
        </p:spPr>
      </p:sp>
      <p:sp>
        <p:nvSpPr>
          <p:cNvPr id="42" name="Text 40"/>
          <p:cNvSpPr/>
          <p:nvPr/>
        </p:nvSpPr>
        <p:spPr>
          <a:xfrm>
            <a:off x="457200" y="5138928"/>
            <a:ext cx="3108960" cy="640080"/>
          </a:xfrm>
          <a:prstGeom prst="rect">
            <a:avLst/>
          </a:prstGeom>
          <a:noFill/>
          <a:ln/>
        </p:spPr>
        <p:txBody>
          <a:bodyPr wrap="square" lIns="25400" tIns="76200" rIns="76200" bIns="25400" rtlCol="0" anchor="ctr"/>
          <a:lstStyle/>
          <a:p>
            <a:pPr algn="l" indent="0" marL="0">
              <a:buNone/>
            </a:pPr>
            <a:r>
              <a:rPr lang="en-US" sz="1100" b="1" dirty="0">
                <a:solidFill>
                  <a:srgbClr val="0B163C"/>
                </a:solidFill>
                <a:latin typeface="Montserrat" pitchFamily="34" charset="0"/>
                <a:ea typeface="Montserrat" pitchFamily="34" charset="-122"/>
                <a:cs typeface="Montserrat" pitchFamily="34" charset="-120"/>
              </a:rPr>
              <a:t>Carried interest</a:t>
            </a:r>
            <a:endParaRPr lang="en-US" sz="1100" dirty="0"/>
          </a:p>
        </p:txBody>
      </p:sp>
      <p:sp>
        <p:nvSpPr>
          <p:cNvPr id="43" name="Shape 41"/>
          <p:cNvSpPr/>
          <p:nvPr/>
        </p:nvSpPr>
        <p:spPr>
          <a:xfrm>
            <a:off x="3566160" y="5138928"/>
            <a:ext cx="2743200" cy="640080"/>
          </a:xfrm>
          <a:prstGeom prst="rect">
            <a:avLst/>
          </a:prstGeom>
          <a:solidFill>
            <a:srgbClr val="F4F2ED"/>
          </a:solidFill>
          <a:ln/>
        </p:spPr>
      </p:sp>
      <p:sp>
        <p:nvSpPr>
          <p:cNvPr id="44" name="Text 42"/>
          <p:cNvSpPr/>
          <p:nvPr/>
        </p:nvSpPr>
        <p:spPr>
          <a:xfrm>
            <a:off x="3566160" y="5138928"/>
            <a:ext cx="2743200" cy="640080"/>
          </a:xfrm>
          <a:prstGeom prst="rect">
            <a:avLst/>
          </a:prstGeom>
          <a:noFill/>
          <a:ln/>
        </p:spPr>
        <p:txBody>
          <a:bodyPr wrap="square" lIns="25400" tIns="76200" rIns="76200" bIns="25400" rtlCol="0" anchor="ctr"/>
          <a:lstStyle/>
          <a:p>
            <a:pPr algn="ctr" indent="0" marL="0">
              <a:buNone/>
            </a:pPr>
            <a:r>
              <a:rPr lang="en-US" sz="1100" b="1" dirty="0">
                <a:solidFill>
                  <a:srgbClr val="3A243A"/>
                </a:solidFill>
                <a:latin typeface="Montserrat" pitchFamily="34" charset="0"/>
                <a:ea typeface="Montserrat" pitchFamily="34" charset="-122"/>
                <a:cs typeface="Montserrat" pitchFamily="34" charset="-120"/>
              </a:rPr>
              <a:t>Co-GP promote</a:t>
            </a:r>
            <a:endParaRPr lang="en-US" sz="1100" dirty="0"/>
          </a:p>
        </p:txBody>
      </p:sp>
      <p:sp>
        <p:nvSpPr>
          <p:cNvPr id="45" name="Shape 43"/>
          <p:cNvSpPr/>
          <p:nvPr/>
        </p:nvSpPr>
        <p:spPr>
          <a:xfrm>
            <a:off x="6309360" y="5138928"/>
            <a:ext cx="5422392" cy="640080"/>
          </a:xfrm>
          <a:prstGeom prst="rect">
            <a:avLst/>
          </a:prstGeom>
          <a:solidFill>
            <a:srgbClr val="F4F2ED"/>
          </a:solidFill>
          <a:ln/>
        </p:spPr>
      </p:sp>
      <p:sp>
        <p:nvSpPr>
          <p:cNvPr id="46" name="Text 44"/>
          <p:cNvSpPr/>
          <p:nvPr/>
        </p:nvSpPr>
        <p:spPr>
          <a:xfrm>
            <a:off x="6309360" y="5138928"/>
            <a:ext cx="5422392" cy="640080"/>
          </a:xfrm>
          <a:prstGeom prst="rect">
            <a:avLst/>
          </a:prstGeom>
          <a:noFill/>
          <a:ln/>
        </p:spPr>
        <p:txBody>
          <a:bodyPr wrap="square" lIns="25400" tIns="76200" rIns="76200" bIns="25400" rtlCol="0" anchor="ctr"/>
          <a:lstStyle/>
          <a:p>
            <a:pPr algn="l" indent="0" marL="0">
              <a:lnSpc>
                <a:spcPts val="1200"/>
              </a:lnSpc>
              <a:buNone/>
            </a:pPr>
            <a:r>
              <a:rPr lang="en-US" sz="950" dirty="0">
                <a:solidFill>
                  <a:srgbClr val="6B5A6B"/>
                </a:solidFill>
                <a:latin typeface="DM Sans" pitchFamily="34" charset="0"/>
                <a:ea typeface="DM Sans" pitchFamily="34" charset="-122"/>
                <a:cs typeface="DM Sans" pitchFamily="34" charset="-120"/>
              </a:rPr>
              <a:t>Share of value created on lot sales; JAL co-invests its own capital alongside</a:t>
            </a:r>
            <a:endParaRPr lang="en-US" sz="950" dirty="0"/>
          </a:p>
        </p:txBody>
      </p:sp>
      <p:sp>
        <p:nvSpPr>
          <p:cNvPr id="47" name="Shape 45"/>
          <p:cNvSpPr/>
          <p:nvPr/>
        </p:nvSpPr>
        <p:spPr>
          <a:xfrm>
            <a:off x="457200" y="5943600"/>
            <a:ext cx="11274552" cy="420624"/>
          </a:xfrm>
          <a:prstGeom prst="rect">
            <a:avLst/>
          </a:prstGeom>
          <a:solidFill>
            <a:srgbClr val="3A243A"/>
          </a:solidFill>
          <a:ln/>
        </p:spPr>
      </p:sp>
      <p:sp>
        <p:nvSpPr>
          <p:cNvPr id="48" name="Text 46"/>
          <p:cNvSpPr/>
          <p:nvPr/>
        </p:nvSpPr>
        <p:spPr>
          <a:xfrm>
            <a:off x="640080" y="5943600"/>
            <a:ext cx="10908792" cy="420624"/>
          </a:xfrm>
          <a:prstGeom prst="rect">
            <a:avLst/>
          </a:prstGeom>
          <a:noFill/>
          <a:ln/>
        </p:spPr>
        <p:txBody>
          <a:bodyPr wrap="square" lIns="0" tIns="0" rIns="0" bIns="0" rtlCol="0" anchor="ctr"/>
          <a:lstStyle/>
          <a:p>
            <a:pPr algn="ctr" indent="0" marL="0">
              <a:buNone/>
            </a:pPr>
            <a:r>
              <a:rPr lang="en-US" sz="1100" b="1" dirty="0">
                <a:solidFill>
                  <a:srgbClr val="FFFFFF"/>
                </a:solidFill>
                <a:latin typeface="DM Sans" pitchFamily="34" charset="0"/>
                <a:ea typeface="DM Sans" pitchFamily="34" charset="-122"/>
                <a:cs typeface="DM Sans" pitchFamily="34" charset="-120"/>
              </a:rPr>
              <a:t>The structure flexes to the deal — the point is alignment: I win when you win.</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18 / 20</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WHY JAL AS YOUR PARTNER</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Pedigree. Relationships. Operator.</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Institutional capital-markets pedigree, an active investor network, and hands-on development &amp; asset-management experience.</a:t>
            </a:r>
            <a:endParaRPr lang="en-US" sz="1300" dirty="0"/>
          </a:p>
        </p:txBody>
      </p:sp>
      <p:sp>
        <p:nvSpPr>
          <p:cNvPr id="11" name="Shape 9"/>
          <p:cNvSpPr/>
          <p:nvPr/>
        </p:nvSpPr>
        <p:spPr>
          <a:xfrm>
            <a:off x="457200" y="1691640"/>
            <a:ext cx="4572000" cy="4343400"/>
          </a:xfrm>
          <a:prstGeom prst="rect">
            <a:avLst/>
          </a:prstGeom>
          <a:solidFill>
            <a:srgbClr val="0B163C"/>
          </a:solidFill>
          <a:ln/>
        </p:spPr>
      </p:sp>
      <p:sp>
        <p:nvSpPr>
          <p:cNvPr id="12" name="Shape 10"/>
          <p:cNvSpPr/>
          <p:nvPr/>
        </p:nvSpPr>
        <p:spPr>
          <a:xfrm>
            <a:off x="457200" y="1691640"/>
            <a:ext cx="109728" cy="4343400"/>
          </a:xfrm>
          <a:prstGeom prst="rect">
            <a:avLst/>
          </a:prstGeom>
          <a:solidFill>
            <a:srgbClr val="3A243A"/>
          </a:solidFill>
          <a:ln/>
        </p:spPr>
      </p:sp>
      <p:sp>
        <p:nvSpPr>
          <p:cNvPr id="13" name="Text 11"/>
          <p:cNvSpPr/>
          <p:nvPr/>
        </p:nvSpPr>
        <p:spPr>
          <a:xfrm>
            <a:off x="731520" y="1856232"/>
            <a:ext cx="4114800" cy="274320"/>
          </a:xfrm>
          <a:prstGeom prst="rect">
            <a:avLst/>
          </a:prstGeom>
          <a:noFill/>
          <a:ln/>
        </p:spPr>
        <p:txBody>
          <a:bodyPr wrap="square" lIns="0" tIns="0" rIns="0" bIns="0" rtlCol="0" anchor="ctr"/>
          <a:lstStyle/>
          <a:p>
            <a:pPr algn="l" indent="0" marL="0">
              <a:buNone/>
            </a:pPr>
            <a:r>
              <a:rPr lang="en-US" sz="1000" b="1" spc="400" kern="0" dirty="0">
                <a:solidFill>
                  <a:srgbClr val="C4B8C4"/>
                </a:solidFill>
                <a:latin typeface="Montserrat" pitchFamily="34" charset="0"/>
                <a:ea typeface="Montserrat" pitchFamily="34" charset="-122"/>
                <a:cs typeface="Montserrat" pitchFamily="34" charset="-120"/>
              </a:rPr>
              <a:t>JUSTIN A. LEVINE</a:t>
            </a:r>
            <a:endParaRPr lang="en-US" sz="1000" dirty="0"/>
          </a:p>
        </p:txBody>
      </p:sp>
      <p:sp>
        <p:nvSpPr>
          <p:cNvPr id="14" name="Text 12"/>
          <p:cNvSpPr/>
          <p:nvPr/>
        </p:nvSpPr>
        <p:spPr>
          <a:xfrm>
            <a:off x="731520" y="2157984"/>
            <a:ext cx="4114800" cy="457200"/>
          </a:xfrm>
          <a:prstGeom prst="rect">
            <a:avLst/>
          </a:prstGeom>
          <a:noFill/>
          <a:ln/>
        </p:spPr>
        <p:txBody>
          <a:bodyPr wrap="square" lIns="0" tIns="0" rIns="0" bIns="0" rtlCol="0" anchor="ctr"/>
          <a:lstStyle/>
          <a:p>
            <a:pPr algn="l" indent="0" marL="0">
              <a:buNone/>
            </a:pPr>
            <a:r>
              <a:rPr lang="en-US" sz="1900" b="1" dirty="0">
                <a:solidFill>
                  <a:srgbClr val="FFFFFF"/>
                </a:solidFill>
                <a:latin typeface="Montserrat" pitchFamily="34" charset="0"/>
                <a:ea typeface="Montserrat" pitchFamily="34" charset="-122"/>
                <a:cs typeface="Montserrat" pitchFamily="34" charset="-120"/>
              </a:rPr>
              <a:t>Founder &amp; CEO, JAL Strategies</a:t>
            </a:r>
            <a:endParaRPr lang="en-US" sz="1900" dirty="0"/>
          </a:p>
        </p:txBody>
      </p:sp>
      <p:sp>
        <p:nvSpPr>
          <p:cNvPr id="15" name="Text 13"/>
          <p:cNvSpPr/>
          <p:nvPr/>
        </p:nvSpPr>
        <p:spPr>
          <a:xfrm>
            <a:off x="731520" y="2743200"/>
            <a:ext cx="1874520" cy="502920"/>
          </a:xfrm>
          <a:prstGeom prst="rect">
            <a:avLst/>
          </a:prstGeom>
          <a:noFill/>
          <a:ln/>
        </p:spPr>
        <p:txBody>
          <a:bodyPr wrap="square" lIns="0" tIns="0" rIns="0" bIns="0" rtlCol="0" anchor="ctr"/>
          <a:lstStyle/>
          <a:p>
            <a:pPr algn="l" indent="0" marL="0">
              <a:buNone/>
            </a:pPr>
            <a:r>
              <a:rPr lang="en-US" sz="2100" b="1" dirty="0">
                <a:solidFill>
                  <a:srgbClr val="8C9BB5"/>
                </a:solidFill>
                <a:latin typeface="Montserrat" pitchFamily="34" charset="0"/>
                <a:ea typeface="Montserrat" pitchFamily="34" charset="-122"/>
                <a:cs typeface="Montserrat" pitchFamily="34" charset="-120"/>
              </a:rPr>
              <a:t>$6.1B</a:t>
            </a:r>
            <a:endParaRPr lang="en-US" sz="2100" dirty="0"/>
          </a:p>
        </p:txBody>
      </p:sp>
      <p:sp>
        <p:nvSpPr>
          <p:cNvPr id="16" name="Text 14"/>
          <p:cNvSpPr/>
          <p:nvPr/>
        </p:nvSpPr>
        <p:spPr>
          <a:xfrm>
            <a:off x="2606040" y="2770632"/>
            <a:ext cx="2240280" cy="658368"/>
          </a:xfrm>
          <a:prstGeom prst="rect">
            <a:avLst/>
          </a:prstGeom>
          <a:noFill/>
          <a:ln/>
        </p:spPr>
        <p:txBody>
          <a:bodyPr wrap="square" lIns="0" tIns="0" rIns="0" bIns="0" rtlCol="0" anchor="ctr"/>
          <a:lstStyle/>
          <a:p>
            <a:pPr algn="l" indent="0" marL="0">
              <a:lnSpc>
                <a:spcPts val="1150"/>
              </a:lnSpc>
              <a:buNone/>
            </a:pPr>
            <a:r>
              <a:rPr lang="en-US" sz="900" dirty="0">
                <a:solidFill>
                  <a:srgbClr val="F4F2ED"/>
                </a:solidFill>
                <a:latin typeface="DM Sans" pitchFamily="34" charset="0"/>
                <a:ea typeface="DM Sans" pitchFamily="34" charset="-122"/>
                <a:cs typeface="DM Sans" pitchFamily="34" charset="-120"/>
              </a:rPr>
              <a:t>career transaction volume ($5.5B Blackstone + $600M Levcor)</a:t>
            </a:r>
            <a:endParaRPr lang="en-US" sz="900" dirty="0"/>
          </a:p>
        </p:txBody>
      </p:sp>
      <p:sp>
        <p:nvSpPr>
          <p:cNvPr id="17" name="Text 15"/>
          <p:cNvSpPr/>
          <p:nvPr/>
        </p:nvSpPr>
        <p:spPr>
          <a:xfrm>
            <a:off x="731520" y="3520440"/>
            <a:ext cx="1874520" cy="502920"/>
          </a:xfrm>
          <a:prstGeom prst="rect">
            <a:avLst/>
          </a:prstGeom>
          <a:noFill/>
          <a:ln/>
        </p:spPr>
        <p:txBody>
          <a:bodyPr wrap="square" lIns="0" tIns="0" rIns="0" bIns="0" rtlCol="0" anchor="ctr"/>
          <a:lstStyle/>
          <a:p>
            <a:pPr algn="l" indent="0" marL="0">
              <a:buNone/>
            </a:pPr>
            <a:r>
              <a:rPr lang="en-US" sz="2100" b="1" dirty="0">
                <a:solidFill>
                  <a:srgbClr val="8C9BB5"/>
                </a:solidFill>
                <a:latin typeface="Montserrat" pitchFamily="34" charset="0"/>
                <a:ea typeface="Montserrat" pitchFamily="34" charset="-122"/>
                <a:cs typeface="Montserrat" pitchFamily="34" charset="-120"/>
              </a:rPr>
              <a:t>$600M</a:t>
            </a:r>
            <a:endParaRPr lang="en-US" sz="2100" dirty="0"/>
          </a:p>
        </p:txBody>
      </p:sp>
      <p:sp>
        <p:nvSpPr>
          <p:cNvPr id="18" name="Text 16"/>
          <p:cNvSpPr/>
          <p:nvPr/>
        </p:nvSpPr>
        <p:spPr>
          <a:xfrm>
            <a:off x="2606040" y="3547872"/>
            <a:ext cx="2240280" cy="658368"/>
          </a:xfrm>
          <a:prstGeom prst="rect">
            <a:avLst/>
          </a:prstGeom>
          <a:noFill/>
          <a:ln/>
        </p:spPr>
        <p:txBody>
          <a:bodyPr wrap="square" lIns="0" tIns="0" rIns="0" bIns="0" rtlCol="0" anchor="ctr"/>
          <a:lstStyle/>
          <a:p>
            <a:pPr algn="l" indent="0" marL="0">
              <a:lnSpc>
                <a:spcPts val="1150"/>
              </a:lnSpc>
              <a:buNone/>
            </a:pPr>
            <a:r>
              <a:rPr lang="en-US" sz="900" dirty="0">
                <a:solidFill>
                  <a:srgbClr val="F4F2ED"/>
                </a:solidFill>
                <a:latin typeface="DM Sans" pitchFamily="34" charset="0"/>
                <a:ea typeface="DM Sans" pitchFamily="34" charset="-122"/>
                <a:cs typeface="DM Sans" pitchFamily="34" charset="-120"/>
              </a:rPr>
              <a:t>debt + equity allocated across 26 CRE deals at Levcor</a:t>
            </a:r>
            <a:endParaRPr lang="en-US" sz="900" dirty="0"/>
          </a:p>
        </p:txBody>
      </p:sp>
      <p:sp>
        <p:nvSpPr>
          <p:cNvPr id="19" name="Text 17"/>
          <p:cNvSpPr/>
          <p:nvPr/>
        </p:nvSpPr>
        <p:spPr>
          <a:xfrm>
            <a:off x="731520" y="4297680"/>
            <a:ext cx="1874520" cy="502920"/>
          </a:xfrm>
          <a:prstGeom prst="rect">
            <a:avLst/>
          </a:prstGeom>
          <a:noFill/>
          <a:ln/>
        </p:spPr>
        <p:txBody>
          <a:bodyPr wrap="square" lIns="0" tIns="0" rIns="0" bIns="0" rtlCol="0" anchor="ctr"/>
          <a:lstStyle/>
          <a:p>
            <a:pPr algn="l" indent="0" marL="0">
              <a:buNone/>
            </a:pPr>
            <a:r>
              <a:rPr lang="en-US" sz="2100" b="1" dirty="0">
                <a:solidFill>
                  <a:srgbClr val="8C9BB5"/>
                </a:solidFill>
                <a:latin typeface="Montserrat" pitchFamily="34" charset="0"/>
                <a:ea typeface="Montserrat" pitchFamily="34" charset="-122"/>
                <a:cs typeface="Montserrat" pitchFamily="34" charset="-120"/>
              </a:rPr>
              <a:t>3.9M SF</a:t>
            </a:r>
            <a:endParaRPr lang="en-US" sz="2100" dirty="0"/>
          </a:p>
        </p:txBody>
      </p:sp>
      <p:sp>
        <p:nvSpPr>
          <p:cNvPr id="20" name="Text 18"/>
          <p:cNvSpPr/>
          <p:nvPr/>
        </p:nvSpPr>
        <p:spPr>
          <a:xfrm>
            <a:off x="2606040" y="4325112"/>
            <a:ext cx="2240280" cy="658368"/>
          </a:xfrm>
          <a:prstGeom prst="rect">
            <a:avLst/>
          </a:prstGeom>
          <a:noFill/>
          <a:ln/>
        </p:spPr>
        <p:txBody>
          <a:bodyPr wrap="square" lIns="0" tIns="0" rIns="0" bIns="0" rtlCol="0" anchor="ctr"/>
          <a:lstStyle/>
          <a:p>
            <a:pPr algn="l" indent="0" marL="0">
              <a:lnSpc>
                <a:spcPts val="1150"/>
              </a:lnSpc>
              <a:buNone/>
            </a:pPr>
            <a:r>
              <a:rPr lang="en-US" sz="900" dirty="0">
                <a:solidFill>
                  <a:srgbClr val="F4F2ED"/>
                </a:solidFill>
                <a:latin typeface="DM Sans" pitchFamily="34" charset="0"/>
                <a:ea typeface="DM Sans" pitchFamily="34" charset="-122"/>
                <a:cs typeface="DM Sans" pitchFamily="34" charset="-120"/>
              </a:rPr>
              <a:t>TX + NC retail managed at Levcor (2014–2025)</a:t>
            </a:r>
            <a:endParaRPr lang="en-US" sz="900" dirty="0"/>
          </a:p>
        </p:txBody>
      </p:sp>
      <p:sp>
        <p:nvSpPr>
          <p:cNvPr id="21" name="Text 19"/>
          <p:cNvSpPr/>
          <p:nvPr/>
        </p:nvSpPr>
        <p:spPr>
          <a:xfrm>
            <a:off x="731520" y="5074920"/>
            <a:ext cx="1874520" cy="502920"/>
          </a:xfrm>
          <a:prstGeom prst="rect">
            <a:avLst/>
          </a:prstGeom>
          <a:noFill/>
          <a:ln/>
        </p:spPr>
        <p:txBody>
          <a:bodyPr wrap="square" lIns="0" tIns="0" rIns="0" bIns="0" rtlCol="0" anchor="ctr"/>
          <a:lstStyle/>
          <a:p>
            <a:pPr algn="l" indent="0" marL="0">
              <a:buNone/>
            </a:pPr>
            <a:r>
              <a:rPr lang="en-US" sz="2100" b="1" dirty="0">
                <a:solidFill>
                  <a:srgbClr val="8C9BB5"/>
                </a:solidFill>
                <a:latin typeface="Montserrat" pitchFamily="34" charset="0"/>
                <a:ea typeface="Montserrat" pitchFamily="34" charset="-122"/>
                <a:cs typeface="Montserrat" pitchFamily="34" charset="-120"/>
              </a:rPr>
              <a:t>20+ years</a:t>
            </a:r>
            <a:endParaRPr lang="en-US" sz="2100" dirty="0"/>
          </a:p>
        </p:txBody>
      </p:sp>
      <p:sp>
        <p:nvSpPr>
          <p:cNvPr id="22" name="Text 20"/>
          <p:cNvSpPr/>
          <p:nvPr/>
        </p:nvSpPr>
        <p:spPr>
          <a:xfrm>
            <a:off x="2606040" y="5102352"/>
            <a:ext cx="2240280" cy="658368"/>
          </a:xfrm>
          <a:prstGeom prst="rect">
            <a:avLst/>
          </a:prstGeom>
          <a:noFill/>
          <a:ln/>
        </p:spPr>
        <p:txBody>
          <a:bodyPr wrap="square" lIns="0" tIns="0" rIns="0" bIns="0" rtlCol="0" anchor="ctr"/>
          <a:lstStyle/>
          <a:p>
            <a:pPr algn="l" indent="0" marL="0">
              <a:lnSpc>
                <a:spcPts val="1150"/>
              </a:lnSpc>
              <a:buNone/>
            </a:pPr>
            <a:r>
              <a:rPr lang="en-US" sz="900" dirty="0">
                <a:solidFill>
                  <a:srgbClr val="F4F2ED"/>
                </a:solidFill>
                <a:latin typeface="DM Sans" pitchFamily="34" charset="0"/>
                <a:ea typeface="DM Sans" pitchFamily="34" charset="-122"/>
                <a:cs typeface="DM Sans" pitchFamily="34" charset="-120"/>
              </a:rPr>
              <a:t>CRE operating, capital markets &amp; asset management</a:t>
            </a:r>
            <a:endParaRPr lang="en-US" sz="900" dirty="0"/>
          </a:p>
        </p:txBody>
      </p:sp>
      <p:sp>
        <p:nvSpPr>
          <p:cNvPr id="23" name="Shape 21"/>
          <p:cNvSpPr/>
          <p:nvPr/>
        </p:nvSpPr>
        <p:spPr>
          <a:xfrm>
            <a:off x="5303520" y="1691640"/>
            <a:ext cx="6428232" cy="4343400"/>
          </a:xfrm>
          <a:prstGeom prst="rect">
            <a:avLst/>
          </a:prstGeom>
          <a:solidFill>
            <a:srgbClr val="FFFFFF"/>
          </a:solidFill>
          <a:ln w="9525">
            <a:solidFill>
              <a:srgbClr val="E6E1DB"/>
            </a:solidFill>
            <a:prstDash val="solid"/>
          </a:ln>
        </p:spPr>
      </p:sp>
      <p:sp>
        <p:nvSpPr>
          <p:cNvPr id="24" name="Text 22"/>
          <p:cNvSpPr/>
          <p:nvPr/>
        </p:nvSpPr>
        <p:spPr>
          <a:xfrm>
            <a:off x="5532120" y="1856232"/>
            <a:ext cx="6035040" cy="274320"/>
          </a:xfrm>
          <a:prstGeom prst="rect">
            <a:avLst/>
          </a:prstGeom>
          <a:noFill/>
          <a:ln/>
        </p:spPr>
        <p:txBody>
          <a:bodyPr wrap="square" lIns="0" tIns="0" rIns="0" bIns="0" rtlCol="0" anchor="ctr"/>
          <a:lstStyle/>
          <a:p>
            <a:pPr algn="l" indent="0" marL="0">
              <a:buNone/>
            </a:pPr>
            <a:r>
              <a:rPr lang="en-US" sz="1000" b="1" spc="300" kern="0" dirty="0">
                <a:solidFill>
                  <a:srgbClr val="3A243A"/>
                </a:solidFill>
                <a:latin typeface="Montserrat" pitchFamily="34" charset="0"/>
                <a:ea typeface="Montserrat" pitchFamily="34" charset="-122"/>
                <a:cs typeface="Montserrat" pitchFamily="34" charset="-120"/>
              </a:rPr>
              <a:t>CAREER ARC</a:t>
            </a:r>
            <a:endParaRPr lang="en-US" sz="1000" dirty="0"/>
          </a:p>
        </p:txBody>
      </p:sp>
      <p:sp>
        <p:nvSpPr>
          <p:cNvPr id="25" name="Text 23"/>
          <p:cNvSpPr/>
          <p:nvPr/>
        </p:nvSpPr>
        <p:spPr>
          <a:xfrm>
            <a:off x="5532120" y="2194560"/>
            <a:ext cx="5989320" cy="256032"/>
          </a:xfrm>
          <a:prstGeom prst="rect">
            <a:avLst/>
          </a:prstGeom>
          <a:noFill/>
          <a:ln/>
        </p:spPr>
        <p:txBody>
          <a:bodyPr wrap="square" lIns="0" tIns="0" rIns="0" bIns="0" rtlCol="0" anchor="ctr"/>
          <a:lstStyle/>
          <a:p>
            <a:pPr algn="l" indent="0" marL="0">
              <a:buNone/>
            </a:pPr>
            <a:r>
              <a:rPr lang="en-US" sz="1000" b="1" spc="100" kern="0" dirty="0">
                <a:solidFill>
                  <a:srgbClr val="0B163C"/>
                </a:solidFill>
                <a:latin typeface="Montserrat" pitchFamily="34" charset="0"/>
                <a:ea typeface="Montserrat" pitchFamily="34" charset="-122"/>
                <a:cs typeface="Montserrat" pitchFamily="34" charset="-120"/>
              </a:rPr>
              <a:t>LEVCOR, INC.</a:t>
            </a:r>
            <a:endParaRPr lang="en-US" sz="1000" dirty="0"/>
          </a:p>
        </p:txBody>
      </p:sp>
      <p:sp>
        <p:nvSpPr>
          <p:cNvPr id="26" name="Text 24"/>
          <p:cNvSpPr/>
          <p:nvPr/>
        </p:nvSpPr>
        <p:spPr>
          <a:xfrm>
            <a:off x="5532120" y="2450592"/>
            <a:ext cx="5989320" cy="457200"/>
          </a:xfrm>
          <a:prstGeom prst="rect">
            <a:avLst/>
          </a:prstGeom>
          <a:noFill/>
          <a:ln/>
        </p:spPr>
        <p:txBody>
          <a:bodyPr wrap="square" lIns="0" tIns="0" rIns="0" bIns="0" rtlCol="0" anchor="t"/>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President 2024–2025; CIO 2021–2024; VP 2014–2021. $600M / 3.9M SF TX + NC retail portfolio; realized 4.13x / 16.1% IRR on six dispositions.</a:t>
            </a:r>
            <a:endParaRPr lang="en-US" sz="900" dirty="0"/>
          </a:p>
        </p:txBody>
      </p:sp>
      <p:sp>
        <p:nvSpPr>
          <p:cNvPr id="27" name="Shape 25"/>
          <p:cNvSpPr/>
          <p:nvPr/>
        </p:nvSpPr>
        <p:spPr>
          <a:xfrm>
            <a:off x="5532120" y="2907792"/>
            <a:ext cx="5989320" cy="9144"/>
          </a:xfrm>
          <a:prstGeom prst="rect">
            <a:avLst/>
          </a:prstGeom>
          <a:solidFill>
            <a:srgbClr val="C4B8C4"/>
          </a:solidFill>
          <a:ln/>
        </p:spPr>
      </p:sp>
      <p:sp>
        <p:nvSpPr>
          <p:cNvPr id="28" name="Text 26"/>
          <p:cNvSpPr/>
          <p:nvPr/>
        </p:nvSpPr>
        <p:spPr>
          <a:xfrm>
            <a:off x="5532120" y="2962656"/>
            <a:ext cx="5989320" cy="256032"/>
          </a:xfrm>
          <a:prstGeom prst="rect">
            <a:avLst/>
          </a:prstGeom>
          <a:noFill/>
          <a:ln/>
        </p:spPr>
        <p:txBody>
          <a:bodyPr wrap="square" lIns="0" tIns="0" rIns="0" bIns="0" rtlCol="0" anchor="ctr"/>
          <a:lstStyle/>
          <a:p>
            <a:pPr algn="l" indent="0" marL="0">
              <a:buNone/>
            </a:pPr>
            <a:r>
              <a:rPr lang="en-US" sz="1000" b="1" spc="100" kern="0" dirty="0">
                <a:solidFill>
                  <a:srgbClr val="0B163C"/>
                </a:solidFill>
                <a:latin typeface="Montserrat" pitchFamily="34" charset="0"/>
                <a:ea typeface="Montserrat" pitchFamily="34" charset="-122"/>
                <a:cs typeface="Montserrat" pitchFamily="34" charset="-120"/>
              </a:rPr>
              <a:t>THE BLACKSTONE GROUP</a:t>
            </a:r>
            <a:endParaRPr lang="en-US" sz="1000" dirty="0"/>
          </a:p>
        </p:txBody>
      </p:sp>
      <p:sp>
        <p:nvSpPr>
          <p:cNvPr id="29" name="Text 27"/>
          <p:cNvSpPr/>
          <p:nvPr/>
        </p:nvSpPr>
        <p:spPr>
          <a:xfrm>
            <a:off x="5532120" y="3218688"/>
            <a:ext cx="5989320" cy="457200"/>
          </a:xfrm>
          <a:prstGeom prst="rect">
            <a:avLst/>
          </a:prstGeom>
          <a:noFill/>
          <a:ln/>
        </p:spPr>
        <p:txBody>
          <a:bodyPr wrap="square" lIns="0" tIns="0" rIns="0" bIns="0" rtlCol="0" anchor="t"/>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Analyst / Associate 2006–2011, NYC. Capital raising for U.S., Asia &amp; India funds; $2.5B raised; ~$5.5B aggregate transaction volume.</a:t>
            </a:r>
            <a:endParaRPr lang="en-US" sz="900" dirty="0"/>
          </a:p>
        </p:txBody>
      </p:sp>
      <p:sp>
        <p:nvSpPr>
          <p:cNvPr id="30" name="Shape 28"/>
          <p:cNvSpPr/>
          <p:nvPr/>
        </p:nvSpPr>
        <p:spPr>
          <a:xfrm>
            <a:off x="5532120" y="3675888"/>
            <a:ext cx="5989320" cy="9144"/>
          </a:xfrm>
          <a:prstGeom prst="rect">
            <a:avLst/>
          </a:prstGeom>
          <a:solidFill>
            <a:srgbClr val="C4B8C4"/>
          </a:solidFill>
          <a:ln/>
        </p:spPr>
      </p:sp>
      <p:sp>
        <p:nvSpPr>
          <p:cNvPr id="31" name="Text 29"/>
          <p:cNvSpPr/>
          <p:nvPr/>
        </p:nvSpPr>
        <p:spPr>
          <a:xfrm>
            <a:off x="5532120" y="3730752"/>
            <a:ext cx="5989320" cy="256032"/>
          </a:xfrm>
          <a:prstGeom prst="rect">
            <a:avLst/>
          </a:prstGeom>
          <a:noFill/>
          <a:ln/>
        </p:spPr>
        <p:txBody>
          <a:bodyPr wrap="square" lIns="0" tIns="0" rIns="0" bIns="0" rtlCol="0" anchor="ctr"/>
          <a:lstStyle/>
          <a:p>
            <a:pPr algn="l" indent="0" marL="0">
              <a:buNone/>
            </a:pPr>
            <a:r>
              <a:rPr lang="en-US" sz="1000" b="1" spc="100" kern="0" dirty="0">
                <a:solidFill>
                  <a:srgbClr val="0B163C"/>
                </a:solidFill>
                <a:latin typeface="Montserrat" pitchFamily="34" charset="0"/>
                <a:ea typeface="Montserrat" pitchFamily="34" charset="-122"/>
                <a:cs typeface="Montserrat" pitchFamily="34" charset="-120"/>
              </a:rPr>
              <a:t>JAL-JCP REAL ESTATE</a:t>
            </a:r>
            <a:endParaRPr lang="en-US" sz="1000" dirty="0"/>
          </a:p>
        </p:txBody>
      </p:sp>
      <p:sp>
        <p:nvSpPr>
          <p:cNvPr id="32" name="Text 30"/>
          <p:cNvSpPr/>
          <p:nvPr/>
        </p:nvSpPr>
        <p:spPr>
          <a:xfrm>
            <a:off x="5532120" y="3986784"/>
            <a:ext cx="5989320" cy="457200"/>
          </a:xfrm>
          <a:prstGeom prst="rect">
            <a:avLst/>
          </a:prstGeom>
          <a:noFill/>
          <a:ln/>
        </p:spPr>
        <p:txBody>
          <a:bodyPr wrap="square" lIns="0" tIns="0" rIns="0" bIns="0" rtlCol="0" anchor="t"/>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Co-Founder. Partnership with JCP Investment Management ($250M+ AUM, SEC-registered). Below-replacement-cost unanchored strip centers.</a:t>
            </a:r>
            <a:endParaRPr lang="en-US" sz="900" dirty="0"/>
          </a:p>
        </p:txBody>
      </p:sp>
      <p:sp>
        <p:nvSpPr>
          <p:cNvPr id="33" name="Shape 31"/>
          <p:cNvSpPr/>
          <p:nvPr/>
        </p:nvSpPr>
        <p:spPr>
          <a:xfrm>
            <a:off x="5532120" y="4443984"/>
            <a:ext cx="5989320" cy="9144"/>
          </a:xfrm>
          <a:prstGeom prst="rect">
            <a:avLst/>
          </a:prstGeom>
          <a:solidFill>
            <a:srgbClr val="C4B8C4"/>
          </a:solidFill>
          <a:ln/>
        </p:spPr>
      </p:sp>
      <p:sp>
        <p:nvSpPr>
          <p:cNvPr id="34" name="Text 32"/>
          <p:cNvSpPr/>
          <p:nvPr/>
        </p:nvSpPr>
        <p:spPr>
          <a:xfrm>
            <a:off x="5532120" y="4498848"/>
            <a:ext cx="5989320" cy="256032"/>
          </a:xfrm>
          <a:prstGeom prst="rect">
            <a:avLst/>
          </a:prstGeom>
          <a:noFill/>
          <a:ln/>
        </p:spPr>
        <p:txBody>
          <a:bodyPr wrap="square" lIns="0" tIns="0" rIns="0" bIns="0" rtlCol="0" anchor="ctr"/>
          <a:lstStyle/>
          <a:p>
            <a:pPr algn="l" indent="0" marL="0">
              <a:buNone/>
            </a:pPr>
            <a:r>
              <a:rPr lang="en-US" sz="1000" b="1" spc="100" kern="0" dirty="0">
                <a:solidFill>
                  <a:srgbClr val="0B163C"/>
                </a:solidFill>
                <a:latin typeface="Montserrat" pitchFamily="34" charset="0"/>
                <a:ea typeface="Montserrat" pitchFamily="34" charset="-122"/>
                <a:cs typeface="Montserrat" pitchFamily="34" charset="-120"/>
              </a:rPr>
              <a:t>ULI HOUSTON</a:t>
            </a:r>
            <a:endParaRPr lang="en-US" sz="1000" dirty="0"/>
          </a:p>
        </p:txBody>
      </p:sp>
      <p:sp>
        <p:nvSpPr>
          <p:cNvPr id="35" name="Text 33"/>
          <p:cNvSpPr/>
          <p:nvPr/>
        </p:nvSpPr>
        <p:spPr>
          <a:xfrm>
            <a:off x="5532120" y="4754880"/>
            <a:ext cx="5989320" cy="457200"/>
          </a:xfrm>
          <a:prstGeom prst="rect">
            <a:avLst/>
          </a:prstGeom>
          <a:noFill/>
          <a:ln/>
        </p:spPr>
        <p:txBody>
          <a:bodyPr wrap="square" lIns="0" tIns="0" rIns="0" bIns="0" rtlCol="0" anchor="t"/>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Chair, District Council Management Committee 2022–2024. ULI Americas Mixed-Use &amp; Retail Councils. Member since 2015.</a:t>
            </a:r>
            <a:endParaRPr lang="en-US" sz="900" dirty="0"/>
          </a:p>
        </p:txBody>
      </p:sp>
      <p:sp>
        <p:nvSpPr>
          <p:cNvPr id="36" name="Shape 34"/>
          <p:cNvSpPr/>
          <p:nvPr/>
        </p:nvSpPr>
        <p:spPr>
          <a:xfrm>
            <a:off x="5532120" y="5212080"/>
            <a:ext cx="5989320" cy="9144"/>
          </a:xfrm>
          <a:prstGeom prst="rect">
            <a:avLst/>
          </a:prstGeom>
          <a:solidFill>
            <a:srgbClr val="C4B8C4"/>
          </a:solidFill>
          <a:ln/>
        </p:spPr>
      </p:sp>
      <p:sp>
        <p:nvSpPr>
          <p:cNvPr id="37" name="Text 35"/>
          <p:cNvSpPr/>
          <p:nvPr/>
        </p:nvSpPr>
        <p:spPr>
          <a:xfrm>
            <a:off x="5532120" y="5266944"/>
            <a:ext cx="5989320" cy="256032"/>
          </a:xfrm>
          <a:prstGeom prst="rect">
            <a:avLst/>
          </a:prstGeom>
          <a:noFill/>
          <a:ln/>
        </p:spPr>
        <p:txBody>
          <a:bodyPr wrap="square" lIns="0" tIns="0" rIns="0" bIns="0" rtlCol="0" anchor="ctr"/>
          <a:lstStyle/>
          <a:p>
            <a:pPr algn="l" indent="0" marL="0">
              <a:buNone/>
            </a:pPr>
            <a:r>
              <a:rPr lang="en-US" sz="1000" b="1" spc="100" kern="0" dirty="0">
                <a:solidFill>
                  <a:srgbClr val="0B163C"/>
                </a:solidFill>
                <a:latin typeface="Montserrat" pitchFamily="34" charset="0"/>
                <a:ea typeface="Montserrat" pitchFamily="34" charset="-122"/>
                <a:cs typeface="Montserrat" pitchFamily="34" charset="-120"/>
              </a:rPr>
              <a:t>EDUCATION</a:t>
            </a:r>
            <a:endParaRPr lang="en-US" sz="1000" dirty="0"/>
          </a:p>
        </p:txBody>
      </p:sp>
      <p:sp>
        <p:nvSpPr>
          <p:cNvPr id="38" name="Text 36"/>
          <p:cNvSpPr/>
          <p:nvPr/>
        </p:nvSpPr>
        <p:spPr>
          <a:xfrm>
            <a:off x="5532120" y="5522976"/>
            <a:ext cx="5989320" cy="457200"/>
          </a:xfrm>
          <a:prstGeom prst="rect">
            <a:avLst/>
          </a:prstGeom>
          <a:noFill/>
          <a:ln/>
        </p:spPr>
        <p:txBody>
          <a:bodyPr wrap="square" lIns="0" tIns="0" rIns="0" bIns="0" rtlCol="0" anchor="t"/>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M.B.A., The Wharton School, University of Pennsylvania. B.S. Economics + Communication Studies, Northwestern University.</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19 / 20</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THE PATH</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From this call to a signed mandate.</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Light and fast to start — diligence now, an in-person while I'm in the Northeast in July, then a defined engagement on the first parcels.</a:t>
            </a:r>
            <a:endParaRPr lang="en-US" sz="1300" dirty="0"/>
          </a:p>
        </p:txBody>
      </p:sp>
      <p:sp>
        <p:nvSpPr>
          <p:cNvPr id="11" name="Shape 9"/>
          <p:cNvSpPr/>
          <p:nvPr/>
        </p:nvSpPr>
        <p:spPr>
          <a:xfrm>
            <a:off x="457200" y="1783080"/>
            <a:ext cx="3630168" cy="969264"/>
          </a:xfrm>
          <a:prstGeom prst="rect">
            <a:avLst/>
          </a:prstGeom>
          <a:solidFill>
            <a:srgbClr val="0B163C"/>
          </a:solidFill>
          <a:ln/>
        </p:spPr>
      </p:sp>
      <p:sp>
        <p:nvSpPr>
          <p:cNvPr id="12" name="Shape 10"/>
          <p:cNvSpPr/>
          <p:nvPr/>
        </p:nvSpPr>
        <p:spPr>
          <a:xfrm>
            <a:off x="457200" y="1783080"/>
            <a:ext cx="91440" cy="969264"/>
          </a:xfrm>
          <a:prstGeom prst="rect">
            <a:avLst/>
          </a:prstGeom>
          <a:solidFill>
            <a:srgbClr val="3A243A"/>
          </a:solidFill>
          <a:ln/>
        </p:spPr>
      </p:sp>
      <p:sp>
        <p:nvSpPr>
          <p:cNvPr id="13" name="Text 11"/>
          <p:cNvSpPr/>
          <p:nvPr/>
        </p:nvSpPr>
        <p:spPr>
          <a:xfrm>
            <a:off x="685800" y="1865376"/>
            <a:ext cx="3172968" cy="292608"/>
          </a:xfrm>
          <a:prstGeom prst="rect">
            <a:avLst/>
          </a:prstGeom>
          <a:noFill/>
          <a:ln/>
        </p:spPr>
        <p:txBody>
          <a:bodyPr wrap="square" lIns="0" tIns="0" rIns="0" bIns="0" rtlCol="0" anchor="ctr"/>
          <a:lstStyle/>
          <a:p>
            <a:pPr algn="l" indent="0" marL="0">
              <a:buNone/>
            </a:pPr>
            <a:r>
              <a:rPr lang="en-US" sz="1200" b="1" spc="300" kern="0" dirty="0">
                <a:solidFill>
                  <a:srgbClr val="C4B8C4"/>
                </a:solidFill>
                <a:latin typeface="Montserrat" pitchFamily="34" charset="0"/>
                <a:ea typeface="Montserrat" pitchFamily="34" charset="-122"/>
                <a:cs typeface="Montserrat" pitchFamily="34" charset="-120"/>
              </a:rPr>
              <a:t>STAGE 1</a:t>
            </a:r>
            <a:endParaRPr lang="en-US" sz="1200" dirty="0"/>
          </a:p>
        </p:txBody>
      </p:sp>
      <p:sp>
        <p:nvSpPr>
          <p:cNvPr id="14" name="Text 12"/>
          <p:cNvSpPr/>
          <p:nvPr/>
        </p:nvSpPr>
        <p:spPr>
          <a:xfrm>
            <a:off x="685800" y="2139696"/>
            <a:ext cx="3172968" cy="292608"/>
          </a:xfrm>
          <a:prstGeom prst="rect">
            <a:avLst/>
          </a:prstGeom>
          <a:noFill/>
          <a:ln/>
        </p:spPr>
        <p:txBody>
          <a:bodyPr wrap="square" lIns="0" tIns="0" rIns="0" bIns="0" rtlCol="0" anchor="ctr"/>
          <a:lstStyle/>
          <a:p>
            <a:pPr algn="l" indent="0" marL="0">
              <a:buNone/>
            </a:pPr>
            <a:r>
              <a:rPr lang="en-US" sz="1350" b="1" dirty="0">
                <a:solidFill>
                  <a:srgbClr val="FFFFFF"/>
                </a:solidFill>
                <a:latin typeface="Montserrat" pitchFamily="34" charset="0"/>
                <a:ea typeface="Montserrat" pitchFamily="34" charset="-122"/>
                <a:cs typeface="Montserrat" pitchFamily="34" charset="-120"/>
              </a:rPr>
              <a:t>DILIGENCE &amp; DATA</a:t>
            </a:r>
            <a:endParaRPr lang="en-US" sz="1350" dirty="0"/>
          </a:p>
        </p:txBody>
      </p:sp>
      <p:sp>
        <p:nvSpPr>
          <p:cNvPr id="15" name="Text 13"/>
          <p:cNvSpPr/>
          <p:nvPr/>
        </p:nvSpPr>
        <p:spPr>
          <a:xfrm>
            <a:off x="685800" y="2450592"/>
            <a:ext cx="3172968" cy="256032"/>
          </a:xfrm>
          <a:prstGeom prst="rect">
            <a:avLst/>
          </a:prstGeom>
          <a:noFill/>
          <a:ln/>
        </p:spPr>
        <p:txBody>
          <a:bodyPr wrap="square" lIns="0" tIns="0" rIns="0" bIns="0" rtlCol="0" anchor="ctr"/>
          <a:lstStyle/>
          <a:p>
            <a:pPr algn="l" indent="0" marL="0">
              <a:buNone/>
            </a:pPr>
            <a:r>
              <a:rPr lang="en-US" sz="950" dirty="0">
                <a:solidFill>
                  <a:srgbClr val="8C9BB5"/>
                </a:solidFill>
                <a:latin typeface="DM Sans" pitchFamily="34" charset="0"/>
                <a:ea typeface="DM Sans" pitchFamily="34" charset="-122"/>
                <a:cs typeface="DM Sans" pitchFamily="34" charset="-120"/>
              </a:rPr>
              <a:t>Now – July  ·  Review &amp; analysis</a:t>
            </a:r>
            <a:endParaRPr lang="en-US" sz="950" dirty="0"/>
          </a:p>
        </p:txBody>
      </p:sp>
      <p:sp>
        <p:nvSpPr>
          <p:cNvPr id="16" name="Shape 14"/>
          <p:cNvSpPr/>
          <p:nvPr/>
        </p:nvSpPr>
        <p:spPr>
          <a:xfrm>
            <a:off x="457200" y="2788920"/>
            <a:ext cx="3630168" cy="2651760"/>
          </a:xfrm>
          <a:prstGeom prst="rect">
            <a:avLst/>
          </a:prstGeom>
          <a:solidFill>
            <a:srgbClr val="FFFFFF"/>
          </a:solidFill>
          <a:ln w="9525">
            <a:solidFill>
              <a:srgbClr val="E6E1DB"/>
            </a:solidFill>
            <a:prstDash val="solid"/>
          </a:ln>
        </p:spPr>
      </p:sp>
      <p:sp>
        <p:nvSpPr>
          <p:cNvPr id="17" name="Text 15"/>
          <p:cNvSpPr/>
          <p:nvPr/>
        </p:nvSpPr>
        <p:spPr>
          <a:xfrm>
            <a:off x="658368" y="2944368"/>
            <a:ext cx="228600" cy="457200"/>
          </a:xfrm>
          <a:prstGeom prst="rect">
            <a:avLst/>
          </a:prstGeom>
          <a:noFill/>
          <a:ln/>
        </p:spPr>
        <p:txBody>
          <a:bodyPr wrap="square" lIns="0" tIns="0" rIns="0" bIns="0" rtlCol="0" anchor="t"/>
          <a:lstStyle/>
          <a:p>
            <a:pPr algn="l" indent="0" marL="0">
              <a:buNone/>
            </a:pPr>
            <a:r>
              <a:rPr lang="en-US" sz="1000" b="1" dirty="0">
                <a:solidFill>
                  <a:srgbClr val="3A243A"/>
                </a:solidFill>
                <a:latin typeface="Montserrat" pitchFamily="34" charset="0"/>
                <a:ea typeface="Montserrat" pitchFamily="34" charset="-122"/>
                <a:cs typeface="Montserrat" pitchFamily="34" charset="-120"/>
              </a:rPr>
              <a:t>—</a:t>
            </a:r>
            <a:endParaRPr lang="en-US" sz="1000" dirty="0"/>
          </a:p>
        </p:txBody>
      </p:sp>
      <p:sp>
        <p:nvSpPr>
          <p:cNvPr id="18" name="Text 16"/>
          <p:cNvSpPr/>
          <p:nvPr/>
        </p:nvSpPr>
        <p:spPr>
          <a:xfrm>
            <a:off x="914400" y="2944368"/>
            <a:ext cx="2971800" cy="566928"/>
          </a:xfrm>
          <a:prstGeom prst="rect">
            <a:avLst/>
          </a:prstGeom>
          <a:noFill/>
          <a:ln/>
        </p:spPr>
        <p:txBody>
          <a:bodyPr wrap="square" lIns="0" tIns="0" rIns="0" bIns="0" rtlCol="0" anchor="t"/>
          <a:lstStyle/>
          <a:p>
            <a:pPr algn="l" indent="0" marL="0">
              <a:lnSpc>
                <a:spcPts val="1200"/>
              </a:lnSpc>
              <a:buNone/>
            </a:pPr>
            <a:r>
              <a:rPr lang="en-US" sz="1000" dirty="0">
                <a:solidFill>
                  <a:srgbClr val="0B163C"/>
                </a:solidFill>
                <a:latin typeface="DM Sans" pitchFamily="34" charset="0"/>
                <a:ea typeface="DM Sans" pitchFamily="34" charset="-122"/>
                <a:cs typeface="DM Sans" pitchFamily="34" charset="-120"/>
              </a:rPr>
              <a:t>Confirm developable vs. conservation acreage (survey + easements)</a:t>
            </a:r>
            <a:endParaRPr lang="en-US" sz="1000" dirty="0"/>
          </a:p>
        </p:txBody>
      </p:sp>
      <p:sp>
        <p:nvSpPr>
          <p:cNvPr id="19" name="Text 17"/>
          <p:cNvSpPr/>
          <p:nvPr/>
        </p:nvSpPr>
        <p:spPr>
          <a:xfrm>
            <a:off x="658368" y="3547872"/>
            <a:ext cx="228600" cy="457200"/>
          </a:xfrm>
          <a:prstGeom prst="rect">
            <a:avLst/>
          </a:prstGeom>
          <a:noFill/>
          <a:ln/>
        </p:spPr>
        <p:txBody>
          <a:bodyPr wrap="square" lIns="0" tIns="0" rIns="0" bIns="0" rtlCol="0" anchor="t"/>
          <a:lstStyle/>
          <a:p>
            <a:pPr algn="l" indent="0" marL="0">
              <a:buNone/>
            </a:pPr>
            <a:r>
              <a:rPr lang="en-US" sz="1000" b="1" dirty="0">
                <a:solidFill>
                  <a:srgbClr val="3A243A"/>
                </a:solidFill>
                <a:latin typeface="Montserrat" pitchFamily="34" charset="0"/>
                <a:ea typeface="Montserrat" pitchFamily="34" charset="-122"/>
                <a:cs typeface="Montserrat" pitchFamily="34" charset="-120"/>
              </a:rPr>
              <a:t>—</a:t>
            </a:r>
            <a:endParaRPr lang="en-US" sz="1000" dirty="0"/>
          </a:p>
        </p:txBody>
      </p:sp>
      <p:sp>
        <p:nvSpPr>
          <p:cNvPr id="20" name="Text 18"/>
          <p:cNvSpPr/>
          <p:nvPr/>
        </p:nvSpPr>
        <p:spPr>
          <a:xfrm>
            <a:off x="914400" y="3547872"/>
            <a:ext cx="2971800" cy="566928"/>
          </a:xfrm>
          <a:prstGeom prst="rect">
            <a:avLst/>
          </a:prstGeom>
          <a:noFill/>
          <a:ln/>
        </p:spPr>
        <p:txBody>
          <a:bodyPr wrap="square" lIns="0" tIns="0" rIns="0" bIns="0" rtlCol="0" anchor="t"/>
          <a:lstStyle/>
          <a:p>
            <a:pPr algn="l" indent="0" marL="0">
              <a:lnSpc>
                <a:spcPts val="1200"/>
              </a:lnSpc>
              <a:buNone/>
            </a:pPr>
            <a:r>
              <a:rPr lang="en-US" sz="1000" dirty="0">
                <a:solidFill>
                  <a:srgbClr val="0B163C"/>
                </a:solidFill>
                <a:latin typeface="DM Sans" pitchFamily="34" charset="0"/>
                <a:ea typeface="DM Sans" pitchFamily="34" charset="-122"/>
                <a:cs typeface="DM Sans" pitchFamily="34" charset="-120"/>
              </a:rPr>
              <a:t>Pull entitlement &amp; zoning status (Queen Anne's County)</a:t>
            </a:r>
            <a:endParaRPr lang="en-US" sz="1000" dirty="0"/>
          </a:p>
        </p:txBody>
      </p:sp>
      <p:sp>
        <p:nvSpPr>
          <p:cNvPr id="21" name="Text 19"/>
          <p:cNvSpPr/>
          <p:nvPr/>
        </p:nvSpPr>
        <p:spPr>
          <a:xfrm>
            <a:off x="658368" y="4151376"/>
            <a:ext cx="228600" cy="457200"/>
          </a:xfrm>
          <a:prstGeom prst="rect">
            <a:avLst/>
          </a:prstGeom>
          <a:noFill/>
          <a:ln/>
        </p:spPr>
        <p:txBody>
          <a:bodyPr wrap="square" lIns="0" tIns="0" rIns="0" bIns="0" rtlCol="0" anchor="t"/>
          <a:lstStyle/>
          <a:p>
            <a:pPr algn="l" indent="0" marL="0">
              <a:buNone/>
            </a:pPr>
            <a:r>
              <a:rPr lang="en-US" sz="1000" b="1" dirty="0">
                <a:solidFill>
                  <a:srgbClr val="3A243A"/>
                </a:solidFill>
                <a:latin typeface="Montserrat" pitchFamily="34" charset="0"/>
                <a:ea typeface="Montserrat" pitchFamily="34" charset="-122"/>
                <a:cs typeface="Montserrat" pitchFamily="34" charset="-120"/>
              </a:rPr>
              <a:t>—</a:t>
            </a:r>
            <a:endParaRPr lang="en-US" sz="1000" dirty="0"/>
          </a:p>
        </p:txBody>
      </p:sp>
      <p:sp>
        <p:nvSpPr>
          <p:cNvPr id="22" name="Text 20"/>
          <p:cNvSpPr/>
          <p:nvPr/>
        </p:nvSpPr>
        <p:spPr>
          <a:xfrm>
            <a:off x="914400" y="4151376"/>
            <a:ext cx="2971800" cy="566928"/>
          </a:xfrm>
          <a:prstGeom prst="rect">
            <a:avLst/>
          </a:prstGeom>
          <a:noFill/>
          <a:ln/>
        </p:spPr>
        <p:txBody>
          <a:bodyPr wrap="square" lIns="0" tIns="0" rIns="0" bIns="0" rtlCol="0" anchor="t"/>
          <a:lstStyle/>
          <a:p>
            <a:pPr algn="l" indent="0" marL="0">
              <a:lnSpc>
                <a:spcPts val="1200"/>
              </a:lnSpc>
              <a:buNone/>
            </a:pPr>
            <a:r>
              <a:rPr lang="en-US" sz="1000" dirty="0">
                <a:solidFill>
                  <a:srgbClr val="0B163C"/>
                </a:solidFill>
                <a:latin typeface="DM Sans" pitchFamily="34" charset="0"/>
                <a:ea typeface="DM Sans" pitchFamily="34" charset="-122"/>
                <a:cs typeface="DM Sans" pitchFamily="34" charset="-120"/>
              </a:rPr>
              <a:t>Model lot yield &amp; absorption for the developable parcels</a:t>
            </a:r>
            <a:endParaRPr lang="en-US" sz="1000" dirty="0"/>
          </a:p>
        </p:txBody>
      </p:sp>
      <p:sp>
        <p:nvSpPr>
          <p:cNvPr id="23" name="Text 21"/>
          <p:cNvSpPr/>
          <p:nvPr/>
        </p:nvSpPr>
        <p:spPr>
          <a:xfrm>
            <a:off x="658368" y="4754880"/>
            <a:ext cx="228600" cy="457200"/>
          </a:xfrm>
          <a:prstGeom prst="rect">
            <a:avLst/>
          </a:prstGeom>
          <a:noFill/>
          <a:ln/>
        </p:spPr>
        <p:txBody>
          <a:bodyPr wrap="square" lIns="0" tIns="0" rIns="0" bIns="0" rtlCol="0" anchor="t"/>
          <a:lstStyle/>
          <a:p>
            <a:pPr algn="l" indent="0" marL="0">
              <a:buNone/>
            </a:pPr>
            <a:r>
              <a:rPr lang="en-US" sz="1000" b="1" dirty="0">
                <a:solidFill>
                  <a:srgbClr val="3A243A"/>
                </a:solidFill>
                <a:latin typeface="Montserrat" pitchFamily="34" charset="0"/>
                <a:ea typeface="Montserrat" pitchFamily="34" charset="-122"/>
                <a:cs typeface="Montserrat" pitchFamily="34" charset="-120"/>
              </a:rPr>
              <a:t>—</a:t>
            </a:r>
            <a:endParaRPr lang="en-US" sz="1000" dirty="0"/>
          </a:p>
        </p:txBody>
      </p:sp>
      <p:sp>
        <p:nvSpPr>
          <p:cNvPr id="24" name="Text 22"/>
          <p:cNvSpPr/>
          <p:nvPr/>
        </p:nvSpPr>
        <p:spPr>
          <a:xfrm>
            <a:off x="914400" y="4754880"/>
            <a:ext cx="2971800" cy="566928"/>
          </a:xfrm>
          <a:prstGeom prst="rect">
            <a:avLst/>
          </a:prstGeom>
          <a:noFill/>
          <a:ln/>
        </p:spPr>
        <p:txBody>
          <a:bodyPr wrap="square" lIns="0" tIns="0" rIns="0" bIns="0" rtlCol="0" anchor="t"/>
          <a:lstStyle/>
          <a:p>
            <a:pPr algn="l" indent="0" marL="0">
              <a:lnSpc>
                <a:spcPts val="1200"/>
              </a:lnSpc>
              <a:buNone/>
            </a:pPr>
            <a:r>
              <a:rPr lang="en-US" sz="1000" dirty="0">
                <a:solidFill>
                  <a:srgbClr val="0B163C"/>
                </a:solidFill>
                <a:latin typeface="DM Sans" pitchFamily="34" charset="0"/>
                <a:ea typeface="DM Sans" pitchFamily="34" charset="-122"/>
                <a:cs typeface="DM Sans" pitchFamily="34" charset="-120"/>
              </a:rPr>
              <a:t>Confirm the H6 ownership &amp; contribution mechanics</a:t>
            </a:r>
            <a:endParaRPr lang="en-US" sz="1000" dirty="0"/>
          </a:p>
        </p:txBody>
      </p:sp>
      <p:sp>
        <p:nvSpPr>
          <p:cNvPr id="25" name="Shape 23"/>
          <p:cNvSpPr/>
          <p:nvPr/>
        </p:nvSpPr>
        <p:spPr>
          <a:xfrm>
            <a:off x="4279392" y="1783080"/>
            <a:ext cx="3630168" cy="969264"/>
          </a:xfrm>
          <a:prstGeom prst="rect">
            <a:avLst/>
          </a:prstGeom>
          <a:solidFill>
            <a:srgbClr val="0B163C"/>
          </a:solidFill>
          <a:ln/>
        </p:spPr>
      </p:sp>
      <p:sp>
        <p:nvSpPr>
          <p:cNvPr id="26" name="Shape 24"/>
          <p:cNvSpPr/>
          <p:nvPr/>
        </p:nvSpPr>
        <p:spPr>
          <a:xfrm>
            <a:off x="4279392" y="1783080"/>
            <a:ext cx="91440" cy="969264"/>
          </a:xfrm>
          <a:prstGeom prst="rect">
            <a:avLst/>
          </a:prstGeom>
          <a:solidFill>
            <a:srgbClr val="3A243A"/>
          </a:solidFill>
          <a:ln/>
        </p:spPr>
      </p:sp>
      <p:sp>
        <p:nvSpPr>
          <p:cNvPr id="27" name="Text 25"/>
          <p:cNvSpPr/>
          <p:nvPr/>
        </p:nvSpPr>
        <p:spPr>
          <a:xfrm>
            <a:off x="4507992" y="1865376"/>
            <a:ext cx="3172968" cy="292608"/>
          </a:xfrm>
          <a:prstGeom prst="rect">
            <a:avLst/>
          </a:prstGeom>
          <a:noFill/>
          <a:ln/>
        </p:spPr>
        <p:txBody>
          <a:bodyPr wrap="square" lIns="0" tIns="0" rIns="0" bIns="0" rtlCol="0" anchor="ctr"/>
          <a:lstStyle/>
          <a:p>
            <a:pPr algn="l" indent="0" marL="0">
              <a:buNone/>
            </a:pPr>
            <a:r>
              <a:rPr lang="en-US" sz="1200" b="1" spc="300" kern="0" dirty="0">
                <a:solidFill>
                  <a:srgbClr val="C4B8C4"/>
                </a:solidFill>
                <a:latin typeface="Montserrat" pitchFamily="34" charset="0"/>
                <a:ea typeface="Montserrat" pitchFamily="34" charset="-122"/>
                <a:cs typeface="Montserrat" pitchFamily="34" charset="-120"/>
              </a:rPr>
              <a:t>STAGE 2</a:t>
            </a:r>
            <a:endParaRPr lang="en-US" sz="1200" dirty="0"/>
          </a:p>
        </p:txBody>
      </p:sp>
      <p:sp>
        <p:nvSpPr>
          <p:cNvPr id="28" name="Text 26"/>
          <p:cNvSpPr/>
          <p:nvPr/>
        </p:nvSpPr>
        <p:spPr>
          <a:xfrm>
            <a:off x="4507992" y="2139696"/>
            <a:ext cx="3172968" cy="292608"/>
          </a:xfrm>
          <a:prstGeom prst="rect">
            <a:avLst/>
          </a:prstGeom>
          <a:noFill/>
          <a:ln/>
        </p:spPr>
        <p:txBody>
          <a:bodyPr wrap="square" lIns="0" tIns="0" rIns="0" bIns="0" rtlCol="0" anchor="ctr"/>
          <a:lstStyle/>
          <a:p>
            <a:pPr algn="l" indent="0" marL="0">
              <a:buNone/>
            </a:pPr>
            <a:r>
              <a:rPr lang="en-US" sz="1350" b="1" dirty="0">
                <a:solidFill>
                  <a:srgbClr val="FFFFFF"/>
                </a:solidFill>
                <a:latin typeface="Montserrat" pitchFamily="34" charset="0"/>
                <a:ea typeface="Montserrat" pitchFamily="34" charset="-122"/>
                <a:cs typeface="Montserrat" pitchFamily="34" charset="-120"/>
              </a:rPr>
              <a:t>IN PERSON</a:t>
            </a:r>
            <a:endParaRPr lang="en-US" sz="1350" dirty="0"/>
          </a:p>
        </p:txBody>
      </p:sp>
      <p:sp>
        <p:nvSpPr>
          <p:cNvPr id="29" name="Text 27"/>
          <p:cNvSpPr/>
          <p:nvPr/>
        </p:nvSpPr>
        <p:spPr>
          <a:xfrm>
            <a:off x="4507992" y="2450592"/>
            <a:ext cx="3172968" cy="256032"/>
          </a:xfrm>
          <a:prstGeom prst="rect">
            <a:avLst/>
          </a:prstGeom>
          <a:noFill/>
          <a:ln/>
        </p:spPr>
        <p:txBody>
          <a:bodyPr wrap="square" lIns="0" tIns="0" rIns="0" bIns="0" rtlCol="0" anchor="ctr"/>
          <a:lstStyle/>
          <a:p>
            <a:pPr algn="l" indent="0" marL="0">
              <a:buNone/>
            </a:pPr>
            <a:r>
              <a:rPr lang="en-US" sz="950" dirty="0">
                <a:solidFill>
                  <a:srgbClr val="8C9BB5"/>
                </a:solidFill>
                <a:latin typeface="DM Sans" pitchFamily="34" charset="0"/>
                <a:ea typeface="DM Sans" pitchFamily="34" charset="-122"/>
                <a:cs typeface="DM Sans" pitchFamily="34" charset="-120"/>
              </a:rPr>
              <a:t>July 2026  ·  Walk the site</a:t>
            </a:r>
            <a:endParaRPr lang="en-US" sz="950" dirty="0"/>
          </a:p>
        </p:txBody>
      </p:sp>
      <p:sp>
        <p:nvSpPr>
          <p:cNvPr id="30" name="Shape 28"/>
          <p:cNvSpPr/>
          <p:nvPr/>
        </p:nvSpPr>
        <p:spPr>
          <a:xfrm>
            <a:off x="4279392" y="2788920"/>
            <a:ext cx="3630168" cy="2651760"/>
          </a:xfrm>
          <a:prstGeom prst="rect">
            <a:avLst/>
          </a:prstGeom>
          <a:solidFill>
            <a:srgbClr val="FFFFFF"/>
          </a:solidFill>
          <a:ln w="9525">
            <a:solidFill>
              <a:srgbClr val="E6E1DB"/>
            </a:solidFill>
            <a:prstDash val="solid"/>
          </a:ln>
        </p:spPr>
      </p:sp>
      <p:sp>
        <p:nvSpPr>
          <p:cNvPr id="31" name="Text 29"/>
          <p:cNvSpPr/>
          <p:nvPr/>
        </p:nvSpPr>
        <p:spPr>
          <a:xfrm>
            <a:off x="4480560" y="2944368"/>
            <a:ext cx="228600" cy="457200"/>
          </a:xfrm>
          <a:prstGeom prst="rect">
            <a:avLst/>
          </a:prstGeom>
          <a:noFill/>
          <a:ln/>
        </p:spPr>
        <p:txBody>
          <a:bodyPr wrap="square" lIns="0" tIns="0" rIns="0" bIns="0" rtlCol="0" anchor="t"/>
          <a:lstStyle/>
          <a:p>
            <a:pPr algn="l" indent="0" marL="0">
              <a:buNone/>
            </a:pPr>
            <a:r>
              <a:rPr lang="en-US" sz="1000" b="1" dirty="0">
                <a:solidFill>
                  <a:srgbClr val="3A243A"/>
                </a:solidFill>
                <a:latin typeface="Montserrat" pitchFamily="34" charset="0"/>
                <a:ea typeface="Montserrat" pitchFamily="34" charset="-122"/>
                <a:cs typeface="Montserrat" pitchFamily="34" charset="-120"/>
              </a:rPr>
              <a:t>—</a:t>
            </a:r>
            <a:endParaRPr lang="en-US" sz="1000" dirty="0"/>
          </a:p>
        </p:txBody>
      </p:sp>
      <p:sp>
        <p:nvSpPr>
          <p:cNvPr id="32" name="Text 30"/>
          <p:cNvSpPr/>
          <p:nvPr/>
        </p:nvSpPr>
        <p:spPr>
          <a:xfrm>
            <a:off x="4736592" y="2944368"/>
            <a:ext cx="2971800" cy="566928"/>
          </a:xfrm>
          <a:prstGeom prst="rect">
            <a:avLst/>
          </a:prstGeom>
          <a:noFill/>
          <a:ln/>
        </p:spPr>
        <p:txBody>
          <a:bodyPr wrap="square" lIns="0" tIns="0" rIns="0" bIns="0" rtlCol="0" anchor="t"/>
          <a:lstStyle/>
          <a:p>
            <a:pPr algn="l" indent="0" marL="0">
              <a:lnSpc>
                <a:spcPts val="1200"/>
              </a:lnSpc>
              <a:buNone/>
            </a:pPr>
            <a:r>
              <a:rPr lang="en-US" sz="1000" dirty="0">
                <a:solidFill>
                  <a:srgbClr val="0B163C"/>
                </a:solidFill>
                <a:latin typeface="DM Sans" pitchFamily="34" charset="0"/>
                <a:ea typeface="DM Sans" pitchFamily="34" charset="-122"/>
                <a:cs typeface="DM Sans" pitchFamily="34" charset="-120"/>
              </a:rPr>
              <a:t>Meet while I'm in the NY / Philly area — train down or drive to the Shore</a:t>
            </a:r>
            <a:endParaRPr lang="en-US" sz="1000" dirty="0"/>
          </a:p>
        </p:txBody>
      </p:sp>
      <p:sp>
        <p:nvSpPr>
          <p:cNvPr id="33" name="Text 31"/>
          <p:cNvSpPr/>
          <p:nvPr/>
        </p:nvSpPr>
        <p:spPr>
          <a:xfrm>
            <a:off x="4480560" y="3547872"/>
            <a:ext cx="228600" cy="457200"/>
          </a:xfrm>
          <a:prstGeom prst="rect">
            <a:avLst/>
          </a:prstGeom>
          <a:noFill/>
          <a:ln/>
        </p:spPr>
        <p:txBody>
          <a:bodyPr wrap="square" lIns="0" tIns="0" rIns="0" bIns="0" rtlCol="0" anchor="t"/>
          <a:lstStyle/>
          <a:p>
            <a:pPr algn="l" indent="0" marL="0">
              <a:buNone/>
            </a:pPr>
            <a:r>
              <a:rPr lang="en-US" sz="1000" b="1" dirty="0">
                <a:solidFill>
                  <a:srgbClr val="3A243A"/>
                </a:solidFill>
                <a:latin typeface="Montserrat" pitchFamily="34" charset="0"/>
                <a:ea typeface="Montserrat" pitchFamily="34" charset="-122"/>
                <a:cs typeface="Montserrat" pitchFamily="34" charset="-120"/>
              </a:rPr>
              <a:t>—</a:t>
            </a:r>
            <a:endParaRPr lang="en-US" sz="1000" dirty="0"/>
          </a:p>
        </p:txBody>
      </p:sp>
      <p:sp>
        <p:nvSpPr>
          <p:cNvPr id="34" name="Text 32"/>
          <p:cNvSpPr/>
          <p:nvPr/>
        </p:nvSpPr>
        <p:spPr>
          <a:xfrm>
            <a:off x="4736592" y="3547872"/>
            <a:ext cx="2971800" cy="566928"/>
          </a:xfrm>
          <a:prstGeom prst="rect">
            <a:avLst/>
          </a:prstGeom>
          <a:noFill/>
          <a:ln/>
        </p:spPr>
        <p:txBody>
          <a:bodyPr wrap="square" lIns="0" tIns="0" rIns="0" bIns="0" rtlCol="0" anchor="t"/>
          <a:lstStyle/>
          <a:p>
            <a:pPr algn="l" indent="0" marL="0">
              <a:lnSpc>
                <a:spcPts val="1200"/>
              </a:lnSpc>
              <a:buNone/>
            </a:pPr>
            <a:r>
              <a:rPr lang="en-US" sz="1000" dirty="0">
                <a:solidFill>
                  <a:srgbClr val="0B163C"/>
                </a:solidFill>
                <a:latin typeface="DM Sans" pitchFamily="34" charset="0"/>
                <a:ea typeface="DM Sans" pitchFamily="34" charset="-122"/>
                <a:cs typeface="DM Sans" pitchFamily="34" charset="-120"/>
              </a:rPr>
              <a:t>Walk Queenstown (River House &amp; the course edges)</a:t>
            </a:r>
            <a:endParaRPr lang="en-US" sz="1000" dirty="0"/>
          </a:p>
        </p:txBody>
      </p:sp>
      <p:sp>
        <p:nvSpPr>
          <p:cNvPr id="35" name="Text 33"/>
          <p:cNvSpPr/>
          <p:nvPr/>
        </p:nvSpPr>
        <p:spPr>
          <a:xfrm>
            <a:off x="4480560" y="4151376"/>
            <a:ext cx="228600" cy="457200"/>
          </a:xfrm>
          <a:prstGeom prst="rect">
            <a:avLst/>
          </a:prstGeom>
          <a:noFill/>
          <a:ln/>
        </p:spPr>
        <p:txBody>
          <a:bodyPr wrap="square" lIns="0" tIns="0" rIns="0" bIns="0" rtlCol="0" anchor="t"/>
          <a:lstStyle/>
          <a:p>
            <a:pPr algn="l" indent="0" marL="0">
              <a:buNone/>
            </a:pPr>
            <a:r>
              <a:rPr lang="en-US" sz="1000" b="1" dirty="0">
                <a:solidFill>
                  <a:srgbClr val="3A243A"/>
                </a:solidFill>
                <a:latin typeface="Montserrat" pitchFamily="34" charset="0"/>
                <a:ea typeface="Montserrat" pitchFamily="34" charset="-122"/>
                <a:cs typeface="Montserrat" pitchFamily="34" charset="-120"/>
              </a:rPr>
              <a:t>—</a:t>
            </a:r>
            <a:endParaRPr lang="en-US" sz="1000" dirty="0"/>
          </a:p>
        </p:txBody>
      </p:sp>
      <p:sp>
        <p:nvSpPr>
          <p:cNvPr id="36" name="Text 34"/>
          <p:cNvSpPr/>
          <p:nvPr/>
        </p:nvSpPr>
        <p:spPr>
          <a:xfrm>
            <a:off x="4736592" y="4151376"/>
            <a:ext cx="2971800" cy="566928"/>
          </a:xfrm>
          <a:prstGeom prst="rect">
            <a:avLst/>
          </a:prstGeom>
          <a:noFill/>
          <a:ln/>
        </p:spPr>
        <p:txBody>
          <a:bodyPr wrap="square" lIns="0" tIns="0" rIns="0" bIns="0" rtlCol="0" anchor="t"/>
          <a:lstStyle/>
          <a:p>
            <a:pPr algn="l" indent="0" marL="0">
              <a:lnSpc>
                <a:spcPts val="1200"/>
              </a:lnSpc>
              <a:buNone/>
            </a:pPr>
            <a:r>
              <a:rPr lang="en-US" sz="1000" dirty="0">
                <a:solidFill>
                  <a:srgbClr val="0B163C"/>
                </a:solidFill>
                <a:latin typeface="DM Sans" pitchFamily="34" charset="0"/>
                <a:ea typeface="DM Sans" pitchFamily="34" charset="-122"/>
                <a:cs typeface="DM Sans" pitchFamily="34" charset="-120"/>
              </a:rPr>
              <a:t>Meet Josh / VIVÂMEE</a:t>
            </a:r>
            <a:endParaRPr lang="en-US" sz="1000" dirty="0"/>
          </a:p>
        </p:txBody>
      </p:sp>
      <p:sp>
        <p:nvSpPr>
          <p:cNvPr id="37" name="Text 35"/>
          <p:cNvSpPr/>
          <p:nvPr/>
        </p:nvSpPr>
        <p:spPr>
          <a:xfrm>
            <a:off x="4480560" y="4754880"/>
            <a:ext cx="228600" cy="457200"/>
          </a:xfrm>
          <a:prstGeom prst="rect">
            <a:avLst/>
          </a:prstGeom>
          <a:noFill/>
          <a:ln/>
        </p:spPr>
        <p:txBody>
          <a:bodyPr wrap="square" lIns="0" tIns="0" rIns="0" bIns="0" rtlCol="0" anchor="t"/>
          <a:lstStyle/>
          <a:p>
            <a:pPr algn="l" indent="0" marL="0">
              <a:buNone/>
            </a:pPr>
            <a:r>
              <a:rPr lang="en-US" sz="1000" b="1" dirty="0">
                <a:solidFill>
                  <a:srgbClr val="3A243A"/>
                </a:solidFill>
                <a:latin typeface="Montserrat" pitchFamily="34" charset="0"/>
                <a:ea typeface="Montserrat" pitchFamily="34" charset="-122"/>
                <a:cs typeface="Montserrat" pitchFamily="34" charset="-120"/>
              </a:rPr>
              <a:t>—</a:t>
            </a:r>
            <a:endParaRPr lang="en-US" sz="1000" dirty="0"/>
          </a:p>
        </p:txBody>
      </p:sp>
      <p:sp>
        <p:nvSpPr>
          <p:cNvPr id="38" name="Text 36"/>
          <p:cNvSpPr/>
          <p:nvPr/>
        </p:nvSpPr>
        <p:spPr>
          <a:xfrm>
            <a:off x="4736592" y="4754880"/>
            <a:ext cx="2971800" cy="566928"/>
          </a:xfrm>
          <a:prstGeom prst="rect">
            <a:avLst/>
          </a:prstGeom>
          <a:noFill/>
          <a:ln/>
        </p:spPr>
        <p:txBody>
          <a:bodyPr wrap="square" lIns="0" tIns="0" rIns="0" bIns="0" rtlCol="0" anchor="t"/>
          <a:lstStyle/>
          <a:p>
            <a:pPr algn="l" indent="0" marL="0">
              <a:lnSpc>
                <a:spcPts val="1200"/>
              </a:lnSpc>
              <a:buNone/>
            </a:pPr>
            <a:r>
              <a:rPr lang="en-US" sz="1000" dirty="0">
                <a:solidFill>
                  <a:srgbClr val="0B163C"/>
                </a:solidFill>
                <a:latin typeface="DM Sans" pitchFamily="34" charset="0"/>
                <a:ea typeface="DM Sans" pitchFamily="34" charset="-122"/>
                <a:cs typeface="DM Sans" pitchFamily="34" charset="-120"/>
              </a:rPr>
              <a:t>Align on first parcels, capital plan &amp; comp</a:t>
            </a:r>
            <a:endParaRPr lang="en-US" sz="1000" dirty="0"/>
          </a:p>
        </p:txBody>
      </p:sp>
      <p:sp>
        <p:nvSpPr>
          <p:cNvPr id="39" name="Shape 37"/>
          <p:cNvSpPr/>
          <p:nvPr/>
        </p:nvSpPr>
        <p:spPr>
          <a:xfrm>
            <a:off x="8101584" y="1783080"/>
            <a:ext cx="3630168" cy="969264"/>
          </a:xfrm>
          <a:prstGeom prst="rect">
            <a:avLst/>
          </a:prstGeom>
          <a:solidFill>
            <a:srgbClr val="0B163C"/>
          </a:solidFill>
          <a:ln/>
        </p:spPr>
      </p:sp>
      <p:sp>
        <p:nvSpPr>
          <p:cNvPr id="40" name="Shape 38"/>
          <p:cNvSpPr/>
          <p:nvPr/>
        </p:nvSpPr>
        <p:spPr>
          <a:xfrm>
            <a:off x="8101584" y="1783080"/>
            <a:ext cx="91440" cy="969264"/>
          </a:xfrm>
          <a:prstGeom prst="rect">
            <a:avLst/>
          </a:prstGeom>
          <a:solidFill>
            <a:srgbClr val="3A243A"/>
          </a:solidFill>
          <a:ln/>
        </p:spPr>
      </p:sp>
      <p:sp>
        <p:nvSpPr>
          <p:cNvPr id="41" name="Text 39"/>
          <p:cNvSpPr/>
          <p:nvPr/>
        </p:nvSpPr>
        <p:spPr>
          <a:xfrm>
            <a:off x="8330184" y="1865376"/>
            <a:ext cx="3172968" cy="292608"/>
          </a:xfrm>
          <a:prstGeom prst="rect">
            <a:avLst/>
          </a:prstGeom>
          <a:noFill/>
          <a:ln/>
        </p:spPr>
        <p:txBody>
          <a:bodyPr wrap="square" lIns="0" tIns="0" rIns="0" bIns="0" rtlCol="0" anchor="ctr"/>
          <a:lstStyle/>
          <a:p>
            <a:pPr algn="l" indent="0" marL="0">
              <a:buNone/>
            </a:pPr>
            <a:r>
              <a:rPr lang="en-US" sz="1200" b="1" spc="300" kern="0" dirty="0">
                <a:solidFill>
                  <a:srgbClr val="C4B8C4"/>
                </a:solidFill>
                <a:latin typeface="Montserrat" pitchFamily="34" charset="0"/>
                <a:ea typeface="Montserrat" pitchFamily="34" charset="-122"/>
                <a:cs typeface="Montserrat" pitchFamily="34" charset="-120"/>
              </a:rPr>
              <a:t>STAGE 3</a:t>
            </a:r>
            <a:endParaRPr lang="en-US" sz="1200" dirty="0"/>
          </a:p>
        </p:txBody>
      </p:sp>
      <p:sp>
        <p:nvSpPr>
          <p:cNvPr id="42" name="Text 40"/>
          <p:cNvSpPr/>
          <p:nvPr/>
        </p:nvSpPr>
        <p:spPr>
          <a:xfrm>
            <a:off x="8330184" y="2139696"/>
            <a:ext cx="3172968" cy="292608"/>
          </a:xfrm>
          <a:prstGeom prst="rect">
            <a:avLst/>
          </a:prstGeom>
          <a:noFill/>
          <a:ln/>
        </p:spPr>
        <p:txBody>
          <a:bodyPr wrap="square" lIns="0" tIns="0" rIns="0" bIns="0" rtlCol="0" anchor="ctr"/>
          <a:lstStyle/>
          <a:p>
            <a:pPr algn="l" indent="0" marL="0">
              <a:buNone/>
            </a:pPr>
            <a:r>
              <a:rPr lang="en-US" sz="1350" b="1" dirty="0">
                <a:solidFill>
                  <a:srgbClr val="FFFFFF"/>
                </a:solidFill>
                <a:latin typeface="Montserrat" pitchFamily="34" charset="0"/>
                <a:ea typeface="Montserrat" pitchFamily="34" charset="-122"/>
                <a:cs typeface="Montserrat" pitchFamily="34" charset="-120"/>
              </a:rPr>
              <a:t>MANDATE</a:t>
            </a:r>
            <a:endParaRPr lang="en-US" sz="1350" dirty="0"/>
          </a:p>
        </p:txBody>
      </p:sp>
      <p:sp>
        <p:nvSpPr>
          <p:cNvPr id="43" name="Text 41"/>
          <p:cNvSpPr/>
          <p:nvPr/>
        </p:nvSpPr>
        <p:spPr>
          <a:xfrm>
            <a:off x="8330184" y="2450592"/>
            <a:ext cx="3172968" cy="256032"/>
          </a:xfrm>
          <a:prstGeom prst="rect">
            <a:avLst/>
          </a:prstGeom>
          <a:noFill/>
          <a:ln/>
        </p:spPr>
        <p:txBody>
          <a:bodyPr wrap="square" lIns="0" tIns="0" rIns="0" bIns="0" rtlCol="0" anchor="ctr"/>
          <a:lstStyle/>
          <a:p>
            <a:pPr algn="l" indent="0" marL="0">
              <a:buNone/>
            </a:pPr>
            <a:r>
              <a:rPr lang="en-US" sz="950" dirty="0">
                <a:solidFill>
                  <a:srgbClr val="8C9BB5"/>
                </a:solidFill>
                <a:latin typeface="DM Sans" pitchFamily="34" charset="0"/>
                <a:ea typeface="DM Sans" pitchFamily="34" charset="-122"/>
                <a:cs typeface="DM Sans" pitchFamily="34" charset="-120"/>
              </a:rPr>
              <a:t>H2 2026  ·  Engage &amp; execute</a:t>
            </a:r>
            <a:endParaRPr lang="en-US" sz="950" dirty="0"/>
          </a:p>
        </p:txBody>
      </p:sp>
      <p:sp>
        <p:nvSpPr>
          <p:cNvPr id="44" name="Shape 42"/>
          <p:cNvSpPr/>
          <p:nvPr/>
        </p:nvSpPr>
        <p:spPr>
          <a:xfrm>
            <a:off x="8101584" y="2788920"/>
            <a:ext cx="3630168" cy="2651760"/>
          </a:xfrm>
          <a:prstGeom prst="rect">
            <a:avLst/>
          </a:prstGeom>
          <a:solidFill>
            <a:srgbClr val="FFFFFF"/>
          </a:solidFill>
          <a:ln w="9525">
            <a:solidFill>
              <a:srgbClr val="E6E1DB"/>
            </a:solidFill>
            <a:prstDash val="solid"/>
          </a:ln>
        </p:spPr>
      </p:sp>
      <p:sp>
        <p:nvSpPr>
          <p:cNvPr id="45" name="Text 43"/>
          <p:cNvSpPr/>
          <p:nvPr/>
        </p:nvSpPr>
        <p:spPr>
          <a:xfrm>
            <a:off x="8302752" y="2944368"/>
            <a:ext cx="228600" cy="457200"/>
          </a:xfrm>
          <a:prstGeom prst="rect">
            <a:avLst/>
          </a:prstGeom>
          <a:noFill/>
          <a:ln/>
        </p:spPr>
        <p:txBody>
          <a:bodyPr wrap="square" lIns="0" tIns="0" rIns="0" bIns="0" rtlCol="0" anchor="t"/>
          <a:lstStyle/>
          <a:p>
            <a:pPr algn="l" indent="0" marL="0">
              <a:buNone/>
            </a:pPr>
            <a:r>
              <a:rPr lang="en-US" sz="1000" b="1" dirty="0">
                <a:solidFill>
                  <a:srgbClr val="3A243A"/>
                </a:solidFill>
                <a:latin typeface="Montserrat" pitchFamily="34" charset="0"/>
                <a:ea typeface="Montserrat" pitchFamily="34" charset="-122"/>
                <a:cs typeface="Montserrat" pitchFamily="34" charset="-120"/>
              </a:rPr>
              <a:t>—</a:t>
            </a:r>
            <a:endParaRPr lang="en-US" sz="1000" dirty="0"/>
          </a:p>
        </p:txBody>
      </p:sp>
      <p:sp>
        <p:nvSpPr>
          <p:cNvPr id="46" name="Text 44"/>
          <p:cNvSpPr/>
          <p:nvPr/>
        </p:nvSpPr>
        <p:spPr>
          <a:xfrm>
            <a:off x="8558784" y="2944368"/>
            <a:ext cx="2971800" cy="566928"/>
          </a:xfrm>
          <a:prstGeom prst="rect">
            <a:avLst/>
          </a:prstGeom>
          <a:noFill/>
          <a:ln/>
        </p:spPr>
        <p:txBody>
          <a:bodyPr wrap="square" lIns="0" tIns="0" rIns="0" bIns="0" rtlCol="0" anchor="t"/>
          <a:lstStyle/>
          <a:p>
            <a:pPr algn="l" indent="0" marL="0">
              <a:lnSpc>
                <a:spcPts val="1200"/>
              </a:lnSpc>
              <a:buNone/>
            </a:pPr>
            <a:r>
              <a:rPr lang="en-US" sz="1000" dirty="0">
                <a:solidFill>
                  <a:srgbClr val="0B163C"/>
                </a:solidFill>
                <a:latin typeface="DM Sans" pitchFamily="34" charset="0"/>
                <a:ea typeface="DM Sans" pitchFamily="34" charset="-122"/>
                <a:cs typeface="DM Sans" pitchFamily="34" charset="-120"/>
              </a:rPr>
              <a:t>Stand up the land vehicle under Capital H6</a:t>
            </a:r>
            <a:endParaRPr lang="en-US" sz="1000" dirty="0"/>
          </a:p>
        </p:txBody>
      </p:sp>
      <p:sp>
        <p:nvSpPr>
          <p:cNvPr id="47" name="Text 45"/>
          <p:cNvSpPr/>
          <p:nvPr/>
        </p:nvSpPr>
        <p:spPr>
          <a:xfrm>
            <a:off x="8302752" y="3547872"/>
            <a:ext cx="228600" cy="457200"/>
          </a:xfrm>
          <a:prstGeom prst="rect">
            <a:avLst/>
          </a:prstGeom>
          <a:noFill/>
          <a:ln/>
        </p:spPr>
        <p:txBody>
          <a:bodyPr wrap="square" lIns="0" tIns="0" rIns="0" bIns="0" rtlCol="0" anchor="t"/>
          <a:lstStyle/>
          <a:p>
            <a:pPr algn="l" indent="0" marL="0">
              <a:buNone/>
            </a:pPr>
            <a:r>
              <a:rPr lang="en-US" sz="1000" b="1" dirty="0">
                <a:solidFill>
                  <a:srgbClr val="3A243A"/>
                </a:solidFill>
                <a:latin typeface="Montserrat" pitchFamily="34" charset="0"/>
                <a:ea typeface="Montserrat" pitchFamily="34" charset="-122"/>
                <a:cs typeface="Montserrat" pitchFamily="34" charset="-120"/>
              </a:rPr>
              <a:t>—</a:t>
            </a:r>
            <a:endParaRPr lang="en-US" sz="1000" dirty="0"/>
          </a:p>
        </p:txBody>
      </p:sp>
      <p:sp>
        <p:nvSpPr>
          <p:cNvPr id="48" name="Text 46"/>
          <p:cNvSpPr/>
          <p:nvPr/>
        </p:nvSpPr>
        <p:spPr>
          <a:xfrm>
            <a:off x="8558784" y="3547872"/>
            <a:ext cx="2971800" cy="566928"/>
          </a:xfrm>
          <a:prstGeom prst="rect">
            <a:avLst/>
          </a:prstGeom>
          <a:noFill/>
          <a:ln/>
        </p:spPr>
        <p:txBody>
          <a:bodyPr wrap="square" lIns="0" tIns="0" rIns="0" bIns="0" rtlCol="0" anchor="t"/>
          <a:lstStyle/>
          <a:p>
            <a:pPr algn="l" indent="0" marL="0">
              <a:lnSpc>
                <a:spcPts val="1200"/>
              </a:lnSpc>
              <a:buNone/>
            </a:pPr>
            <a:r>
              <a:rPr lang="en-US" sz="1000" dirty="0">
                <a:solidFill>
                  <a:srgbClr val="0B163C"/>
                </a:solidFill>
                <a:latin typeface="DM Sans" pitchFamily="34" charset="0"/>
                <a:ea typeface="DM Sans" pitchFamily="34" charset="-122"/>
                <a:cs typeface="DM Sans" pitchFamily="34" charset="-120"/>
              </a:rPr>
              <a:t>Launch Phase 1 entitlements + soft-cost budget</a:t>
            </a:r>
            <a:endParaRPr lang="en-US" sz="1000" dirty="0"/>
          </a:p>
        </p:txBody>
      </p:sp>
      <p:sp>
        <p:nvSpPr>
          <p:cNvPr id="49" name="Text 47"/>
          <p:cNvSpPr/>
          <p:nvPr/>
        </p:nvSpPr>
        <p:spPr>
          <a:xfrm>
            <a:off x="8302752" y="4151376"/>
            <a:ext cx="228600" cy="457200"/>
          </a:xfrm>
          <a:prstGeom prst="rect">
            <a:avLst/>
          </a:prstGeom>
          <a:noFill/>
          <a:ln/>
        </p:spPr>
        <p:txBody>
          <a:bodyPr wrap="square" lIns="0" tIns="0" rIns="0" bIns="0" rtlCol="0" anchor="t"/>
          <a:lstStyle/>
          <a:p>
            <a:pPr algn="l" indent="0" marL="0">
              <a:buNone/>
            </a:pPr>
            <a:r>
              <a:rPr lang="en-US" sz="1000" b="1" dirty="0">
                <a:solidFill>
                  <a:srgbClr val="3A243A"/>
                </a:solidFill>
                <a:latin typeface="Montserrat" pitchFamily="34" charset="0"/>
                <a:ea typeface="Montserrat" pitchFamily="34" charset="-122"/>
                <a:cs typeface="Montserrat" pitchFamily="34" charset="-120"/>
              </a:rPr>
              <a:t>—</a:t>
            </a:r>
            <a:endParaRPr lang="en-US" sz="1000" dirty="0"/>
          </a:p>
        </p:txBody>
      </p:sp>
      <p:sp>
        <p:nvSpPr>
          <p:cNvPr id="50" name="Text 48"/>
          <p:cNvSpPr/>
          <p:nvPr/>
        </p:nvSpPr>
        <p:spPr>
          <a:xfrm>
            <a:off x="8558784" y="4151376"/>
            <a:ext cx="2971800" cy="566928"/>
          </a:xfrm>
          <a:prstGeom prst="rect">
            <a:avLst/>
          </a:prstGeom>
          <a:noFill/>
          <a:ln/>
        </p:spPr>
        <p:txBody>
          <a:bodyPr wrap="square" lIns="0" tIns="0" rIns="0" bIns="0" rtlCol="0" anchor="t"/>
          <a:lstStyle/>
          <a:p>
            <a:pPr algn="l" indent="0" marL="0">
              <a:lnSpc>
                <a:spcPts val="1200"/>
              </a:lnSpc>
              <a:buNone/>
            </a:pPr>
            <a:r>
              <a:rPr lang="en-US" sz="1000" dirty="0">
                <a:solidFill>
                  <a:srgbClr val="0B163C"/>
                </a:solidFill>
                <a:latin typeface="DM Sans" pitchFamily="34" charset="0"/>
                <a:ea typeface="DM Sans" pitchFamily="34" charset="-122"/>
                <a:cs typeface="DM Sans" pitchFamily="34" charset="-120"/>
              </a:rPr>
              <a:t>Open regional-homebuilder conversations</a:t>
            </a:r>
            <a:endParaRPr lang="en-US" sz="1000" dirty="0"/>
          </a:p>
        </p:txBody>
      </p:sp>
      <p:sp>
        <p:nvSpPr>
          <p:cNvPr id="51" name="Text 49"/>
          <p:cNvSpPr/>
          <p:nvPr/>
        </p:nvSpPr>
        <p:spPr>
          <a:xfrm>
            <a:off x="8302752" y="4754880"/>
            <a:ext cx="228600" cy="457200"/>
          </a:xfrm>
          <a:prstGeom prst="rect">
            <a:avLst/>
          </a:prstGeom>
          <a:noFill/>
          <a:ln/>
        </p:spPr>
        <p:txBody>
          <a:bodyPr wrap="square" lIns="0" tIns="0" rIns="0" bIns="0" rtlCol="0" anchor="t"/>
          <a:lstStyle/>
          <a:p>
            <a:pPr algn="l" indent="0" marL="0">
              <a:buNone/>
            </a:pPr>
            <a:r>
              <a:rPr lang="en-US" sz="1000" b="1" dirty="0">
                <a:solidFill>
                  <a:srgbClr val="3A243A"/>
                </a:solidFill>
                <a:latin typeface="Montserrat" pitchFamily="34" charset="0"/>
                <a:ea typeface="Montserrat" pitchFamily="34" charset="-122"/>
                <a:cs typeface="Montserrat" pitchFamily="34" charset="-120"/>
              </a:rPr>
              <a:t>—</a:t>
            </a:r>
            <a:endParaRPr lang="en-US" sz="1000" dirty="0"/>
          </a:p>
        </p:txBody>
      </p:sp>
      <p:sp>
        <p:nvSpPr>
          <p:cNvPr id="52" name="Text 50"/>
          <p:cNvSpPr/>
          <p:nvPr/>
        </p:nvSpPr>
        <p:spPr>
          <a:xfrm>
            <a:off x="8558784" y="4754880"/>
            <a:ext cx="2971800" cy="566928"/>
          </a:xfrm>
          <a:prstGeom prst="rect">
            <a:avLst/>
          </a:prstGeom>
          <a:noFill/>
          <a:ln/>
        </p:spPr>
        <p:txBody>
          <a:bodyPr wrap="square" lIns="0" tIns="0" rIns="0" bIns="0" rtlCol="0" anchor="t"/>
          <a:lstStyle/>
          <a:p>
            <a:pPr algn="l" indent="0" marL="0">
              <a:lnSpc>
                <a:spcPts val="1200"/>
              </a:lnSpc>
              <a:buNone/>
            </a:pPr>
            <a:r>
              <a:rPr lang="en-US" sz="1000" dirty="0">
                <a:solidFill>
                  <a:srgbClr val="0B163C"/>
                </a:solidFill>
                <a:latin typeface="DM Sans" pitchFamily="34" charset="0"/>
                <a:ea typeface="DM Sans" pitchFamily="34" charset="-122"/>
                <a:cs typeface="DM Sans" pitchFamily="34" charset="-120"/>
              </a:rPr>
              <a:t>First finished-lot sales underwritten</a:t>
            </a:r>
            <a:endParaRPr lang="en-US" sz="1000" dirty="0"/>
          </a:p>
        </p:txBody>
      </p:sp>
      <p:sp>
        <p:nvSpPr>
          <p:cNvPr id="53" name="Shape 51"/>
          <p:cNvSpPr/>
          <p:nvPr/>
        </p:nvSpPr>
        <p:spPr>
          <a:xfrm>
            <a:off x="457200" y="5943600"/>
            <a:ext cx="11274552" cy="420624"/>
          </a:xfrm>
          <a:prstGeom prst="rect">
            <a:avLst/>
          </a:prstGeom>
          <a:solidFill>
            <a:srgbClr val="3A243A"/>
          </a:solidFill>
          <a:ln/>
        </p:spPr>
      </p:sp>
      <p:sp>
        <p:nvSpPr>
          <p:cNvPr id="54" name="Text 52"/>
          <p:cNvSpPr/>
          <p:nvPr/>
        </p:nvSpPr>
        <p:spPr>
          <a:xfrm>
            <a:off x="640080" y="5943600"/>
            <a:ext cx="10908792" cy="420624"/>
          </a:xfrm>
          <a:prstGeom prst="rect">
            <a:avLst/>
          </a:prstGeom>
          <a:noFill/>
          <a:ln/>
        </p:spPr>
        <p:txBody>
          <a:bodyPr wrap="square" lIns="0" tIns="0" rIns="0" bIns="0" rtlCol="0" anchor="ctr"/>
          <a:lstStyle/>
          <a:p>
            <a:pPr algn="ctr" indent="0" marL="0">
              <a:buNone/>
            </a:pPr>
            <a:r>
              <a:rPr lang="en-US" sz="1100" b="1" dirty="0">
                <a:solidFill>
                  <a:srgbClr val="FFFFFF"/>
                </a:solidFill>
                <a:latin typeface="DM Sans" pitchFamily="34" charset="0"/>
                <a:ea typeface="DM Sans" pitchFamily="34" charset="-122"/>
                <a:cs typeface="DM Sans" pitchFamily="34" charset="-120"/>
              </a:rPr>
              <a:t>What I need to sharpen the model: survey / plat &amp; conservation easements · entitlement &amp; zoning status · H6 structure · target timeline.</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B163C"/>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3A243A"/>
          </a:solidFill>
          <a:ln/>
        </p:spPr>
      </p:sp>
      <p:sp>
        <p:nvSpPr>
          <p:cNvPr id="3" name="Text 1"/>
          <p:cNvSpPr/>
          <p:nvPr/>
        </p:nvSpPr>
        <p:spPr>
          <a:xfrm>
            <a:off x="685800" y="548640"/>
            <a:ext cx="5486400" cy="365760"/>
          </a:xfrm>
          <a:prstGeom prst="rect">
            <a:avLst/>
          </a:prstGeom>
          <a:noFill/>
          <a:ln/>
        </p:spPr>
        <p:txBody>
          <a:bodyPr wrap="square" lIns="0" tIns="0" rIns="0" bIns="0" rtlCol="0" anchor="ctr"/>
          <a:lstStyle/>
          <a:p>
            <a:pPr algn="l" indent="0" marL="0">
              <a:buNone/>
            </a:pPr>
            <a:r>
              <a:rPr lang="en-US" sz="1300" b="1" spc="600" kern="0" dirty="0">
                <a:solidFill>
                  <a:srgbClr val="C4B8C4"/>
                </a:solidFill>
                <a:latin typeface="Montserrat" pitchFamily="34" charset="0"/>
                <a:ea typeface="Montserrat" pitchFamily="34" charset="-122"/>
                <a:cs typeface="Montserrat" pitchFamily="34" charset="-120"/>
              </a:rPr>
              <a:t>JAL STRATEGIES</a:t>
            </a:r>
            <a:endParaRPr lang="en-US" sz="1300" dirty="0"/>
          </a:p>
        </p:txBody>
      </p:sp>
      <p:sp>
        <p:nvSpPr>
          <p:cNvPr id="4" name="Text 2"/>
          <p:cNvSpPr/>
          <p:nvPr/>
        </p:nvSpPr>
        <p:spPr>
          <a:xfrm>
            <a:off x="658368" y="2240280"/>
            <a:ext cx="10972800" cy="960120"/>
          </a:xfrm>
          <a:prstGeom prst="rect">
            <a:avLst/>
          </a:prstGeom>
          <a:noFill/>
          <a:ln/>
        </p:spPr>
        <p:txBody>
          <a:bodyPr wrap="square" lIns="0" tIns="0" rIns="0" bIns="0" rtlCol="0" anchor="ctr"/>
          <a:lstStyle/>
          <a:p>
            <a:pPr algn="l" indent="0" marL="0">
              <a:buNone/>
            </a:pPr>
            <a:r>
              <a:rPr lang="en-US" sz="7200" b="1" dirty="0">
                <a:solidFill>
                  <a:srgbClr val="FFFFFF"/>
                </a:solidFill>
                <a:latin typeface="Montserrat" pitchFamily="34" charset="0"/>
                <a:ea typeface="Montserrat" pitchFamily="34" charset="-122"/>
                <a:cs typeface="Montserrat" pitchFamily="34" charset="-120"/>
              </a:rPr>
              <a:t>THANK</a:t>
            </a:r>
            <a:endParaRPr lang="en-US" sz="7200" dirty="0"/>
          </a:p>
        </p:txBody>
      </p:sp>
      <p:sp>
        <p:nvSpPr>
          <p:cNvPr id="5" name="Text 3"/>
          <p:cNvSpPr/>
          <p:nvPr/>
        </p:nvSpPr>
        <p:spPr>
          <a:xfrm>
            <a:off x="658368" y="3090672"/>
            <a:ext cx="10972800" cy="960120"/>
          </a:xfrm>
          <a:prstGeom prst="rect">
            <a:avLst/>
          </a:prstGeom>
          <a:noFill/>
          <a:ln/>
        </p:spPr>
        <p:txBody>
          <a:bodyPr wrap="square" lIns="0" tIns="0" rIns="0" bIns="0" rtlCol="0" anchor="ctr"/>
          <a:lstStyle/>
          <a:p>
            <a:pPr algn="l" indent="0" marL="0">
              <a:buNone/>
            </a:pPr>
            <a:r>
              <a:rPr lang="en-US" sz="7200" b="1" dirty="0">
                <a:solidFill>
                  <a:srgbClr val="C4B8C4"/>
                </a:solidFill>
                <a:latin typeface="Montserrat" pitchFamily="34" charset="0"/>
                <a:ea typeface="Montserrat" pitchFamily="34" charset="-122"/>
                <a:cs typeface="Montserrat" pitchFamily="34" charset="-120"/>
              </a:rPr>
              <a:t>YOU</a:t>
            </a:r>
            <a:endParaRPr lang="en-US" sz="7200" dirty="0"/>
          </a:p>
        </p:txBody>
      </p:sp>
      <p:sp>
        <p:nvSpPr>
          <p:cNvPr id="6" name="Shape 4"/>
          <p:cNvSpPr/>
          <p:nvPr/>
        </p:nvSpPr>
        <p:spPr>
          <a:xfrm>
            <a:off x="713232" y="4224528"/>
            <a:ext cx="3200400" cy="27432"/>
          </a:xfrm>
          <a:prstGeom prst="rect">
            <a:avLst/>
          </a:prstGeom>
          <a:solidFill>
            <a:srgbClr val="8C9BB5"/>
          </a:solidFill>
          <a:ln/>
        </p:spPr>
      </p:sp>
      <p:sp>
        <p:nvSpPr>
          <p:cNvPr id="7" name="Text 5"/>
          <p:cNvSpPr/>
          <p:nvPr/>
        </p:nvSpPr>
        <p:spPr>
          <a:xfrm>
            <a:off x="685800" y="4370832"/>
            <a:ext cx="10972800" cy="411480"/>
          </a:xfrm>
          <a:prstGeom prst="rect">
            <a:avLst/>
          </a:prstGeom>
          <a:noFill/>
          <a:ln/>
        </p:spPr>
        <p:txBody>
          <a:bodyPr wrap="square" lIns="0" tIns="0" rIns="0" bIns="0" rtlCol="0" anchor="ctr"/>
          <a:lstStyle/>
          <a:p>
            <a:pPr algn="l" indent="0" marL="0">
              <a:buNone/>
            </a:pPr>
            <a:r>
              <a:rPr lang="en-US" sz="2100" b="1" dirty="0">
                <a:solidFill>
                  <a:srgbClr val="FFFFFF"/>
                </a:solidFill>
                <a:latin typeface="Montserrat" pitchFamily="34" charset="0"/>
                <a:ea typeface="Montserrat" pitchFamily="34" charset="-122"/>
                <a:cs typeface="Montserrat" pitchFamily="34" charset="-120"/>
              </a:rPr>
              <a:t>Bob — appreciate the call, and the résumé read.</a:t>
            </a:r>
            <a:endParaRPr lang="en-US" sz="2100" dirty="0"/>
          </a:p>
        </p:txBody>
      </p:sp>
      <p:sp>
        <p:nvSpPr>
          <p:cNvPr id="8" name="Text 6"/>
          <p:cNvSpPr/>
          <p:nvPr/>
        </p:nvSpPr>
        <p:spPr>
          <a:xfrm>
            <a:off x="685800" y="4846320"/>
            <a:ext cx="10972800" cy="365760"/>
          </a:xfrm>
          <a:prstGeom prst="rect">
            <a:avLst/>
          </a:prstGeom>
          <a:noFill/>
          <a:ln/>
        </p:spPr>
        <p:txBody>
          <a:bodyPr wrap="square" lIns="0" tIns="0" rIns="0" bIns="0" rtlCol="0" anchor="ctr"/>
          <a:lstStyle/>
          <a:p>
            <a:pPr algn="l" indent="0" marL="0">
              <a:buNone/>
            </a:pPr>
            <a:r>
              <a:rPr lang="en-US" sz="1400" dirty="0">
                <a:solidFill>
                  <a:srgbClr val="8C9BB5"/>
                </a:solidFill>
                <a:latin typeface="DM Sans" pitchFamily="34" charset="0"/>
                <a:ea typeface="DM Sans" pitchFamily="34" charset="-122"/>
                <a:cs typeface="DM Sans" pitchFamily="34" charset="-120"/>
              </a:rPr>
              <a:t>Looking forward to monetizing the land around Queenstown Harbor with you, Josh and the H6 team — let's find time in July.</a:t>
            </a:r>
            <a:endParaRPr lang="en-US" sz="1400" dirty="0"/>
          </a:p>
        </p:txBody>
      </p:sp>
      <p:sp>
        <p:nvSpPr>
          <p:cNvPr id="9" name="Text 7"/>
          <p:cNvSpPr/>
          <p:nvPr/>
        </p:nvSpPr>
        <p:spPr>
          <a:xfrm>
            <a:off x="685800" y="5248656"/>
            <a:ext cx="10972800" cy="365760"/>
          </a:xfrm>
          <a:prstGeom prst="rect">
            <a:avLst/>
          </a:prstGeom>
          <a:noFill/>
          <a:ln/>
        </p:spPr>
        <p:txBody>
          <a:bodyPr wrap="square" lIns="0" tIns="0" rIns="0" bIns="0" rtlCol="0" anchor="ctr"/>
          <a:lstStyle/>
          <a:p>
            <a:pPr algn="l" indent="0" marL="0">
              <a:buNone/>
            </a:pPr>
            <a:r>
              <a:rPr lang="en-US" sz="1200" dirty="0">
                <a:solidFill>
                  <a:srgbClr val="C4B8C4"/>
                </a:solidFill>
                <a:latin typeface="DM Sans" pitchFamily="34" charset="0"/>
                <a:ea typeface="DM Sans" pitchFamily="34" charset="-122"/>
                <a:cs typeface="DM Sans" pitchFamily="34" charset="-120"/>
              </a:rPr>
              <a:t>Justin A. Levine  |  jlevine@jalstrategies.com  |  JAL Strategies</a:t>
            </a:r>
            <a:endParaRPr lang="en-US" sz="1200" dirty="0"/>
          </a:p>
        </p:txBody>
      </p:sp>
      <p:sp>
        <p:nvSpPr>
          <p:cNvPr id="10" name="Shape 8"/>
          <p:cNvSpPr/>
          <p:nvPr/>
        </p:nvSpPr>
        <p:spPr>
          <a:xfrm>
            <a:off x="0" y="6309360"/>
            <a:ext cx="12191695" cy="548640"/>
          </a:xfrm>
          <a:prstGeom prst="rect">
            <a:avLst/>
          </a:prstGeom>
          <a:solidFill>
            <a:srgbClr val="3A243A"/>
          </a:solidFill>
          <a:ln/>
        </p:spPr>
      </p:sp>
      <p:sp>
        <p:nvSpPr>
          <p:cNvPr id="11" name="Text 9"/>
          <p:cNvSpPr/>
          <p:nvPr/>
        </p:nvSpPr>
        <p:spPr>
          <a:xfrm>
            <a:off x="457200" y="6400800"/>
            <a:ext cx="8229600" cy="365760"/>
          </a:xfrm>
          <a:prstGeom prst="rect">
            <a:avLst/>
          </a:prstGeom>
          <a:noFill/>
          <a:ln/>
        </p:spPr>
        <p:txBody>
          <a:bodyPr wrap="square" lIns="0" tIns="0" rIns="0" bIns="0" rtlCol="0" anchor="ctr"/>
          <a:lstStyle/>
          <a:p>
            <a:pPr algn="l" indent="0" marL="0">
              <a:buNone/>
            </a:pPr>
            <a:r>
              <a:rPr lang="en-US" sz="900" b="1" spc="200" kern="0" dirty="0">
                <a:solidFill>
                  <a:srgbClr val="C4B8C4"/>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12" name="Text 10"/>
          <p:cNvSpPr/>
          <p:nvPr/>
        </p:nvSpPr>
        <p:spPr>
          <a:xfrm>
            <a:off x="8869680" y="6400800"/>
            <a:ext cx="2862072" cy="365760"/>
          </a:xfrm>
          <a:prstGeom prst="rect">
            <a:avLst/>
          </a:prstGeom>
          <a:noFill/>
          <a:ln/>
        </p:spPr>
        <p:txBody>
          <a:bodyPr wrap="square" lIns="0" tIns="0" rIns="0" bIns="0" rtlCol="0" anchor="ctr"/>
          <a:lstStyle/>
          <a:p>
            <a:pPr algn="r" indent="0" marL="0">
              <a:buNone/>
            </a:pPr>
            <a:r>
              <a:rPr lang="en-US" sz="900" b="1" spc="200" kern="0" dirty="0">
                <a:solidFill>
                  <a:srgbClr val="C4B8C4"/>
                </a:solidFill>
                <a:latin typeface="Montserrat" pitchFamily="34" charset="0"/>
                <a:ea typeface="Montserrat" pitchFamily="34" charset="-122"/>
                <a:cs typeface="Montserrat" pitchFamily="34" charset="-120"/>
              </a:rPr>
              <a:t>20 / 20</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JAL Strategies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Queenstown Harbor — Land Development Partnership (for Robert A. Connell)</dc:title>
  <dc:subject>PptxGenJS Presentation</dc:subject>
  <dc:creator>JAL Strategies</dc:creator>
  <cp:lastModifiedBy>JAL Strategies</cp:lastModifiedBy>
  <cp:revision>1</cp:revision>
  <dcterms:created xsi:type="dcterms:W3CDTF">2026-06-08T11:50:39Z</dcterms:created>
  <dcterms:modified xsi:type="dcterms:W3CDTF">2026-06-08T11:50:39Z</dcterms:modified>
</cp:coreProperties>
</file>