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Bob's comp question (skin in the game over a big retainer) and shows how the pieces interplay — they stack, but don't double-dip: (1) $15K/mo retainer funds the work (a cost); (2) expenses reimbursed; (3) a placement fee ONLY on outside capital I raise (waived on my own co-invest; small on capital-light Queenstown, meaningful on the pipeline's acquisition equity); (4) the carry — 30% of the dev-co 50% ≈ ~$2.1M on the base case (~15% of profit). If I co-invest, that capital earns alongside everyone else's, separate from the carry. The retainer is a floor; the carry is the prize. The off-ramp is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Directly answers Bob's email ('how do I get rid of you if you are not working out — I always look at worst case'). A clean, fast off-ramp: 30-day terminate-for-convenience on the advisory; placement fees only on capital actually placed (+6-mo tail); carry only on parcels already closed / under contract (for cause → forfeit all unrealized + clawback for fraud); co-invest returned at NAV (it's an investment, not comp); optional buyout of vested carry for a clean break. The whole point: comp is mostly contingent, so 'getting rid of me' costs only value already created.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 STRATEGIES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5A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QUEENSTOWN HARBOR  ·  CONFIDENTIAL  ·  DISCUSSION DRAFT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12802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JAL Strategies  |  Justin A. Levine, Founder &amp; CEO  |  jlevine@jalstrategies.com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/ 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ENGAGEMENT  ·  FOR DISCUSSION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68096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I'd want to be engaged.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57200" y="133502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asked how I'd like to be comped. My preference matches yours — a small base to fund the work, then real alignment on the value we create. For discussion only.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11274552" cy="86868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783080"/>
            <a:ext cx="109728" cy="868680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84708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Hybrid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91840" y="1883664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$15K/mo + expenses, then 30% of the dev-co 50% (the carry)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223113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Aligned to value created — and I'll co-invest my own capital alongside you (amount sized in diligence).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778240" y="1783080"/>
            <a:ext cx="2953512" cy="868680"/>
          </a:xfrm>
          <a:prstGeom prst="rect">
            <a:avLst/>
          </a:prstGeom>
          <a:noFill/>
          <a:ln/>
        </p:spPr>
        <p:txBody>
          <a:bodyPr wrap="square" lIns="25400" tIns="76200" rIns="127000" bIns="25400" rtlCol="0" anchor="ctr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8C9B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Skin in</a:t>
            </a:r>
            <a:endParaRPr lang="en-US" sz="13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8C9B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game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852928"/>
            <a:ext cx="3108960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852928"/>
            <a:ext cx="3108960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Component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66160" y="2852928"/>
            <a:ext cx="2743200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20" name="Text 18"/>
          <p:cNvSpPr/>
          <p:nvPr/>
        </p:nvSpPr>
        <p:spPr>
          <a:xfrm>
            <a:off x="3566160" y="2852928"/>
            <a:ext cx="2743200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09360" y="2852928"/>
            <a:ext cx="5422392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852928"/>
            <a:ext cx="5422392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it covers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218688"/>
            <a:ext cx="31089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218688"/>
            <a:ext cx="3108960" cy="530352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· Advisory retainer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66160" y="3218688"/>
            <a:ext cx="27432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566160" y="3218688"/>
            <a:ext cx="2743200" cy="530352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$15K / mo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3218688"/>
            <a:ext cx="5422392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3218688"/>
            <a:ext cx="5422392" cy="530352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Funds the work during entitlement — a floor; a cost to the deal, not netted from the carry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749040"/>
            <a:ext cx="3108960" cy="530352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749040"/>
            <a:ext cx="3108960" cy="530352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· Expenses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566160" y="3749040"/>
            <a:ext cx="2743200" cy="530352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32" name="Text 30"/>
          <p:cNvSpPr/>
          <p:nvPr/>
        </p:nvSpPr>
        <p:spPr>
          <a:xfrm>
            <a:off x="3566160" y="3749040"/>
            <a:ext cx="2743200" cy="530352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Reimbursed at cost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3749040"/>
            <a:ext cx="5422392" cy="530352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3749040"/>
            <a:ext cx="5422392" cy="530352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Travel, survey, market &amp; entitlement studies — billed separately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279392"/>
            <a:ext cx="31089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279392"/>
            <a:ext cx="3108960" cy="530352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· Capital placement fee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566160" y="4279392"/>
            <a:ext cx="27432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3566160" y="4279392"/>
            <a:ext cx="2743200" cy="530352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1% debt · 2% equity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4279392"/>
            <a:ext cx="5422392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309360" y="4279392"/>
            <a:ext cx="5422392" cy="530352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 outside capital I place — small on capital-light Queenstown, real on the pipeline's acquisition equity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4809744"/>
            <a:ext cx="3108960" cy="530352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809744"/>
            <a:ext cx="3108960" cy="530352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· Profit share (carry)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566160" y="4809744"/>
            <a:ext cx="2743200" cy="530352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44" name="Text 42"/>
          <p:cNvSpPr/>
          <p:nvPr/>
        </p:nvSpPr>
        <p:spPr>
          <a:xfrm>
            <a:off x="3566160" y="4809744"/>
            <a:ext cx="2743200" cy="530352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30% of dev-co 50%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09360" y="4809744"/>
            <a:ext cx="5422392" cy="530352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46" name="Text 44"/>
          <p:cNvSpPr/>
          <p:nvPr/>
        </p:nvSpPr>
        <p:spPr>
          <a:xfrm>
            <a:off x="6309360" y="4809744"/>
            <a:ext cx="5422392" cy="530352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≈ ~$2.1M on the Queenstown base case (~15% of profit); Bob &amp; partners take the balance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5340096"/>
            <a:ext cx="31089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5340096"/>
            <a:ext cx="3108960" cy="530352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= Illustrative all-in (base case)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566160" y="5340096"/>
            <a:ext cx="27432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3566160" y="5340096"/>
            <a:ext cx="2743200" cy="530352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~$2.7M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309360" y="5340096"/>
            <a:ext cx="5422392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6309360" y="5340096"/>
            <a:ext cx="5422392" cy="530352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~$2.1M carry + ~$0.5M retainer (~3 yrs) — ~19% of profit, mostly the contingent carry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5870448"/>
            <a:ext cx="11274552" cy="420624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54" name="Text 52"/>
          <p:cNvSpPr/>
          <p:nvPr/>
        </p:nvSpPr>
        <p:spPr>
          <a:xfrm>
            <a:off x="640080" y="5870448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Aligned, not double-dipping — most of the ~$2.7M is the contingent carry. And if it's not working, there's a clean off-ramp (next page).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 STRATEGIES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5A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QUEENSTOWN HARBOR  ·  CONFIDENTIAL  ·  DISCUSSION DRAFT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12802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JAL Strategies  |  Justin A. Levine, Founder &amp; CEO  |  jlevine@jalstrategies.com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/ 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OFF-RAMP  ·  FOR DISCUSSION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68096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If it's not working — how you exit me.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57200" y="133502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asked the right question. Worst case, in plain terms: an easy, fast off-ramp where you only ever owe me for value already created — because my pay is mostly contingent carry.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11274552" cy="786384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783080"/>
            <a:ext cx="109728" cy="786384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84708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30-day notice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114800" y="1783080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Terminate for convenience — either side, no reason needed.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78240" y="1783080"/>
            <a:ext cx="2953512" cy="786384"/>
          </a:xfrm>
          <a:prstGeom prst="rect">
            <a:avLst/>
          </a:prstGeom>
          <a:noFill/>
          <a:ln/>
        </p:spPr>
        <p:txBody>
          <a:bodyPr wrap="square" lIns="25400" tIns="76200" rIns="127000" bIns="25400" rtlCol="0" anchor="ctr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8C9B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Worst</a:t>
            </a:r>
            <a:endParaRPr lang="en-US" sz="13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8C9B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2331720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If we part ways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88920" y="2697480"/>
            <a:ext cx="2606040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9" name="Text 17"/>
          <p:cNvSpPr/>
          <p:nvPr/>
        </p:nvSpPr>
        <p:spPr>
          <a:xfrm>
            <a:off x="2788920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94960" y="2697480"/>
            <a:ext cx="6336792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21" name="Text 19"/>
          <p:cNvSpPr/>
          <p:nvPr/>
        </p:nvSpPr>
        <p:spPr>
          <a:xfrm>
            <a:off x="5394960" y="2697480"/>
            <a:ext cx="6336792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happens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23317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063240"/>
            <a:ext cx="233172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Advisory role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88920" y="3063240"/>
            <a:ext cx="26060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2788920" y="3063240"/>
            <a:ext cx="260604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30-day notice, either side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94960" y="3063240"/>
            <a:ext cx="633679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5394960" y="3063240"/>
            <a:ext cx="6336792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Terminate for convenience — no reason needed. Retainer + approved expenses paid through the notice date; no severance.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630168"/>
            <a:ext cx="2331720" cy="56692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630168"/>
            <a:ext cx="233172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Placement fees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88920" y="3630168"/>
            <a:ext cx="2606040" cy="56692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31" name="Text 29"/>
          <p:cNvSpPr/>
          <p:nvPr/>
        </p:nvSpPr>
        <p:spPr>
          <a:xfrm>
            <a:off x="2788920" y="3630168"/>
            <a:ext cx="260604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Earned + 6-mo tail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94960" y="3630168"/>
            <a:ext cx="6336792" cy="56692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33" name="Text 31"/>
          <p:cNvSpPr/>
          <p:nvPr/>
        </p:nvSpPr>
        <p:spPr>
          <a:xfrm>
            <a:off x="5394960" y="3630168"/>
            <a:ext cx="6336792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Due only on capital actually placed before you let me go, plus a 6-month tail on capital I'd already sourced.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4197096"/>
            <a:ext cx="23317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197096"/>
            <a:ext cx="233172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carry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88920" y="4197096"/>
            <a:ext cx="26060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2788920" y="4197096"/>
            <a:ext cx="260604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Keep only what's earned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394960" y="4197096"/>
            <a:ext cx="633679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5394960" y="4197096"/>
            <a:ext cx="6336792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Without cause: I keep carry on parcels already closed or under contract — speculative forfeits. For cause: forfeit all unrealized (clawback for fraud).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4764024"/>
            <a:ext cx="2331720" cy="56692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764024"/>
            <a:ext cx="233172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 co-invest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88920" y="4764024"/>
            <a:ext cx="2606040" cy="56692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43" name="Text 41"/>
          <p:cNvSpPr/>
          <p:nvPr/>
        </p:nvSpPr>
        <p:spPr>
          <a:xfrm>
            <a:off x="2788920" y="4764024"/>
            <a:ext cx="260604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Returned at NAV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394960" y="4764024"/>
            <a:ext cx="6336792" cy="56692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45" name="Text 43"/>
          <p:cNvSpPr/>
          <p:nvPr/>
        </p:nvSpPr>
        <p:spPr>
          <a:xfrm>
            <a:off x="5394960" y="4764024"/>
            <a:ext cx="6336792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It's an investment, not comp — returned like any investor's. I don't lose it; it doesn't keep me in the deal.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5330952"/>
            <a:ext cx="23317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5330952"/>
            <a:ext cx="233172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 break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788920" y="5330952"/>
            <a:ext cx="26060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2788920" y="5330952"/>
            <a:ext cx="260604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Optional buyout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394960" y="5330952"/>
            <a:ext cx="633679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5394960" y="5330952"/>
            <a:ext cx="6336792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 hand over all work product and step out of the dev co. You can buy out my vested carry at a set formula for a fully clean break.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7200" y="5943600"/>
            <a:ext cx="11274552" cy="420624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53" name="Text 51"/>
          <p:cNvSpPr/>
          <p:nvPr/>
        </p:nvSpPr>
        <p:spPr>
          <a:xfrm>
            <a:off x="640080" y="594360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can let me go any time — and only ever owe me for value already created. That's the point of comp that's mostly contingent carry.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JAL Strategies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Queenstown Harbor — Land Development Partnership (for Robert A. Connell)</dc:title>
  <dc:subject>PptxGenJS Presentation</dc:subject>
  <dc:creator>JAL Strategies</dc:creator>
  <cp:lastModifiedBy>JAL Strategies</cp:lastModifiedBy>
  <cp:revision>1</cp:revision>
  <dcterms:created xsi:type="dcterms:W3CDTF">2026-06-10T20:50:34Z</dcterms:created>
  <dcterms:modified xsi:type="dcterms:W3CDTF">2026-06-10T20:50:34Z</dcterms:modified>
</cp:coreProperties>
</file>