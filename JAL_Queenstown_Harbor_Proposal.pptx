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to Bob's own words: ~1,000 acres at no cost basis; the goal is liquidity for Josh's syndication investors (owed an 8% pref, no cash yet). Capital-light: we entitle and sell entitled lots; the builder funds the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basis: we entitle and sell entitled lots; the builder funds the horizontal. 280 lots × $70K = $19.6M revenue, ~$5.3M soft cost → ~$14.3M profit (~2.7× on cost). The entitled-lot price (~finished $150K less the builder's ~$80K to finish) is the key assumption. Split &amp; returns on the pro forma.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Renault (NJ) is the lead / first deal and the site-visit location (Bob: 'an expansion down at Reno, which is where I'd meet you'). Township offered ~34 lots; +100–200 hotel rooms planned; architect already mapping. The capital-light entitled-lot playbook applies here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Bob: 'this isn't a one-off.' Pipeline — Renault (first), Queenstown, South River, Kent Island (Palantir), a Colorado course (off-website), 1–2 in Virginia, plus family-owned courses regularly offered to Josh. He's negotiating development rights across the properties. Buys are exceptional (South River at half appraisal; 90% to depreciable assets → ~50% bonus depreciation).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plan (per Bob): fund only the soft costs to entitle, then sell entitled lots; the builder funds the horizontal. ~$5M of cost vs ~$25M to build it out — far less capital, no construction risk, much higher return on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pro forma. Revenue − soft cost ≈ profit (~2.7× on cost, ~73% margin) on a near-zero land basis; the builder funds the horizontal. Costs repaid first, then a straight 50/50 — half to the property (Josh ~25%, returning capital to his investors) and half to the development company. Every figure renders from model.js (the source of truth).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Backs the pro forma. The key assumption is the entitled-lot price (~$70K = finished ~$150K less the builder's ~$80K to finish); QAC home/lot prices (Land.com, Zillow) support the finished anchor. Capital-light: the builder funds the horizontal. Deal-specific inputs — gross acreage, the developable balance, density — are flagged 'to confirm' pending survey / easement / zoning.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was emphatic: 'there is no waterfall — it's a straight deal.' Revenue in, costs repaid, then 50/50. Property / H entities 50% (Josh ~25% of profit → investor liquidity); development company 50% (Accountable Equity / Capital H6 · Bob · JAL + partners). JAL takes a share of the dev-co 50% plus a $15K/mo retainer. Simple and 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Sensitivity of Phase 1 net profit to entitled-lot price × lot yield. Base $70K / 280 lots → ~$14.3M, split 50/50 ($7.2M each). Even at $55K / 240 lots it clears ~$8M; $85K or 320 lots pushes toward $18–22M. Each cell re-runs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exit-liquidity question: the entitled lots have many credible buyers. Nationals (NVR/Ryan, D.R. Horton, Lennar) run land-light and buy finished lots; regionals (Lacrosse, Caruso, Gemcraft) are literally building in Queen Anne's Co. / the Shore. We can run a competitive takedown or bulk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= hospitality upside, VIVÂMEE-led; JAL leads capital formation. A 120-key resort &amp; spa is already designed (FILLAT+ Architecture), validating the program. Two cases in the model: hold for income (~8% YoC, ~12% IRR — the floor) or BUILD-TO-CORE — recap/sell at stabilization (~Yr 4) at a 7.5% cap, capturing the development spread from the contributed land + premium NOI → ~28% IRR / ~2.3×. Build-to-core lets JAL earn the development return while VIVÂMEE keeps and operates the resort. Model is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IRR sensitized to stabilized NOI × exit cap (the development spread). Base $4.7M NOI / 7.5% cap → ~28%. Premium NOI or a 7% cap pushes it to the mid-30s; an 8.5% cap or soft NOI drops it to ~12–20%. 65% LTC, recap at stabilization. Model is the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entitled-lot project cash flow — ties to the model: $19.6M revenue, $5.3M soft cost, $14.3M profit (~2.7× on cost). We fund only soft costs Yr 0–2; entitled lots sell Yr 2–4; the builder funds the horizontal. Costs repaid, then a straight 50/50.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LEVERED EQUITY cash flow — ties cell-for-cell to the model's Phase 2 sheet: equity $16.4M (split Yr 0–1), stabilized levered CF $2.5M (NOI − debt; Yr 2 ramps at ~40%), exit equity $31.5M (recap $62M − loan), net equity CF [(8.2), (8.2), 1.0, 2.5, 34.0], IRR ~28% / ~2.3×. Project develops to ~$47.0M cost, recaps ~$62M @ a 7.5%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structure (per Bob): the property contributes the land; the development company (Accountable Equity / Capital H6 · Bob · JAL · partners) entitles and sells the lots; costs repaid, then a straight 50/50. JAL runs entitlement + capital formation + lot sales for a share of the dev-co 50% plus a $15K/mo retainer, and intends to invest (amount TBD in diligence). VIVÂMEE operates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Bob's comp question (skin in the game over a big retainer) and shows how the pieces interplay — they stack, but don't double-dip: (1) $15K/mo retainer funds the work (a cost); (2) expenses reimbursed; (3) a placement fee ONLY on outside capital I raise (waived on my own co-invest; small on capital-light Queenstown, meaningful on the pipeline's acquisition equity); (4) the carry — 30% of the dev-co 50% ≈ ~$2.1M on the base case (~15% of profit). If I co-invest, that capital earns alongside everyone else's, separate from the carry. The retainer is a floor; the carry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from the call: Zoom soon, in-person at Renault (near Atlantic City) late July / early August around the July 15 foot surgery (non-weight-bearing 4 wks, not the driving foot); I'm in NY through Aug 14; Bob cruises Jun 25–Jul 2 and leaves for Utah Aug 8. Bob to send surveys / site plans (has Renault's; Josh has the rest). Restate the data ask + offer the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nd.com/Queen-Annes-County-MD/" TargetMode="External"/><Relationship Id="rId2" Type="http://schemas.openxmlformats.org/officeDocument/2006/relationships/hyperlink" Target="https://www.zillow.com/queen-annes-county-md/new-homes/" TargetMode="External"/><Relationship Id="rId3" Type="http://schemas.openxmlformats.org/officeDocument/2006/relationships/hyperlink" Target="https://homeguide.com/costs/cost-to-develop-land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xhomes.com/communities/" TargetMode="External"/><Relationship Id="rId2" Type="http://schemas.openxmlformats.org/officeDocument/2006/relationships/hyperlink" Target="https://www.carusohomes.com/new-homes/md/maryland/floor-plans/" TargetMode="External"/><Relationship Id="rId3" Type="http://schemas.openxmlformats.org/officeDocument/2006/relationships/hyperlink" Target="https://www.gemcrafthomes.com/" TargetMode="External"/><Relationship Id="rId4" Type="http://schemas.openxmlformats.org/officeDocument/2006/relationships/hyperlink" Target="https://www.zillow.com/browse/communities/md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farc.com/queenstown-harbor-resort-spa/" TargetMode="External"/><Relationship Id="rId2" Type="http://schemas.openxmlformats.org/officeDocument/2006/relationships/hyperlink" Target="https://www.hvs.com/article/10219-hvs-us-hotel-development-cost-survey-2025" TargetMode="External"/><Relationship Id="rId3" Type="http://schemas.openxmlformats.org/officeDocument/2006/relationships/hyperlink" Target="https://www.mmcginvest.com/post/u-s-hotel-cap-rates-in-2025-trends-drivers-and-segment-analysis" TargetMode="External"/><Relationship Id="rId4" Type="http://schemas.openxmlformats.org/officeDocument/2006/relationships/hyperlink" Target="https://blog.eb3construction.com/construction/food-beverage/restaurant-build-out-estimate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land. Return capital to your investors.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bought these courses with ~1,000 acres at a near-zero land basis. The resort runs itself; the upside is the land — entitle it and sell entitled lots to builders (they fund the horizontal), returning capital to the investors who are owed their pref.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~1,000 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Near-zero land basis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across the portfolio — that's the upside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 lots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horizontal; we fund soft costs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Liquidity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your investors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 sales return capital against the 8% pref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to get your investors their capital back.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Near-zero basis: ~1,000 acres came with the golf-course buys — the land value is pure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parcels and sell entitled lots; the builder funds the roads, sewer &amp; utilities.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Your investors are owed an 8% pref and have seen no cash yet — lot sales return their capital.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it repeats — a steady pipeline of family-owned courses keeps coming to Josh.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non-conservation acreage and selling entitled lots to builders — capital-light, the builder funds the horizontal —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of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Sold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and sell entitled lots — the builder funds the horizontal (roads, sewer, utilities) and builds.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land (soft costs only), sell entitled lots to builders who fund the horizontal, then recycle into the next parcel — and the next property.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 — soft costs only.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Entitled Lots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 → 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(approved) lots to builders — they fund the horizontal (roads, sewer, utilities) and build the homes.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— then property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parcel, and run the same playbook across the Capital H6 pipeline.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~$19.6M of entitled-lot revenue.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basis: we entitle the land and sell entitled lots; the builder funds the horizontal. ~280 lots at ~$70K = ~$19.6M revenue. Net profit &amp; the 50/50 split are on the pro forma.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a builder (they finish)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$150K − ~$80K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ENTITLED-LOT REVENUE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&amp; 50/50 split on the pro forma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$70K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76" name="Text 74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~$19.6M entitled-lot revenue on ~$5.3M of soft cost → ~$14.3M profit — the builder funds the horizontal. Split &amp; returns on the pro forma.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FIRST DEAL  ·  RENAULT WINERY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— the first deal, and the site visit.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Renault Winery (Egg Harbor City, NJ — ~25 min from Atlantic City) is the lead property and where we'll meet. The township has offered land for ~34 lots overlooking the course, a +100–200-room hotel expansion is planned, and the architect is already mapping lots.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~34 lots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Township-offered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Overlooking the golf course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+100–200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Hotel rooms planned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Expansion off the back of the resort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~25 min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Atlantic City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I'll meet Bob &amp; Josh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motion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 mapping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Underway since the last meeting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RENAULT FIRST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Josh's original property — the proof case for the playbook.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township has offered additional land for ~34 lots; the architect is already boxing them out.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required hotel expansion (+100–200 rooms) layers hospitality on top of the lot sales.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winery already runs a lake &amp; campground profitably — operating upside beyond golf.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Closest asset to walk — ~25 minutes from Atlantic City airport; the natural place to start.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PIPELINE  ·  NOT A ONE-OFF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playbook, a portfolio of properties.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isn't a single deal. Family-owned golf courses keep coming to Josh — bought at or below appraisal, each with monetizable land. The same capital-light playbook runs across the portfolio; Bob is negotiating the development rights.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opportunity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Winery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NJ · first deal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~34 township-offered lots + a +100–200-room hotel expansion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this proposal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entitled lots around the 36 holes (~1,000 ac, ~zero basis)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Golf Club at South River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operating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Profitable club — appraised ~2× the purchase price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Kent Island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venue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Clubhouse / event venue — Palantir rented it for a week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Colorado course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Off-market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yet on the website; equity needed to acquire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Virginia (1–2 courses)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Offered to Josh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Family-owned courses seeking a well-regarded operator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80644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0644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steady train of undervalued courses → monetizable land. Same capital-light playbook each time — and the buys are extraordinary (South River at half appraisal; tax-structured for ~50% bonus depreciation).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PLAN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the land. Sell entitled lots.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we fund only the soft costs to entitle the land, then sell entitled lots to builders who fund the horizontal. ~$5M of cost, not ~$25M — and the builder carries the construction risk.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cost (soft only)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civil, environmental, legal, PM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 we fund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builder funds roads, sewer &amp; utilities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light; let the builder build.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only the entitlement and sell entitled lots — the builder funds the horizontal and the homes. Far less capital and no construction risk, on land carried at ~zero basis.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~$4M soft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(soft costs only)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Sell lots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 lots → builders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50/50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→ investors + next parcel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stay capital-light — fund the entitlement, sell entitled lots, let the builder build. Costs repaid, then a simple 50/50.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budget, and the 50/50.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 forma: we fund ~$5.3M of soft costs to entitle the land and sell ~280 entitled lots at ~$70K (~$19.6M). The builder funds the horizontal. Costs repaid, then a straight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USES OF CAPITAL  ·  SOFT ONLY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 — entitle the land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Marketing &amp; brokerage (~3%)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$0.6M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Contingency (10% of soft)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$0.4M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Financing /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$0.3M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$5.3M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526280"/>
            <a:ext cx="5029200" cy="13258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4526280"/>
            <a:ext cx="91440" cy="13258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7" name="Text 35"/>
          <p:cNvSpPr/>
          <p:nvPr/>
        </p:nvSpPr>
        <p:spPr>
          <a:xfrm>
            <a:off x="685800" y="46177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ASSUMPTIONS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85800" y="4864608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$70K entitled lot  ·  280 lots  ·  builder funds the horizontal  ·  land at ~zero basis  ·  costs repaid, then a straight 50/50 (no pref, no promote)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1828800"/>
            <a:ext cx="2834640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5577840" y="1828800"/>
            <a:ext cx="91440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5779008" y="1947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50/50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79008" y="2286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5779008" y="279806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79008" y="320040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 first, then a straight split: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779008" y="365760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— 50%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389534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Josh ~$3.6M → returns capital to your investors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79008" y="46634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 — 50%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79008" y="490118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Bob · JAL · partners (JAL earns a share)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503920" y="1828800"/>
            <a:ext cx="3227832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50" name="Shape 48"/>
          <p:cNvSpPr/>
          <p:nvPr/>
        </p:nvSpPr>
        <p:spPr>
          <a:xfrm>
            <a:off x="8503920" y="1828800"/>
            <a:ext cx="109728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1" name="Text 49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Entitled-lot revenue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32520" y="28529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8732520" y="31363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(73% margin)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732520" y="34198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~86%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8732520" y="3703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IRR (unlevered)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32520" y="39867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2.7×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8732520" y="42702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on cost (~$5.3M)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732520" y="45537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1" name="Text 59"/>
          <p:cNvSpPr/>
          <p:nvPr/>
        </p:nvSpPr>
        <p:spPr>
          <a:xfrm>
            <a:off x="8732520" y="48371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 (50%)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732520" y="51206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3" name="Text 61"/>
          <p:cNvSpPr/>
          <p:nvPr/>
        </p:nvSpPr>
        <p:spPr>
          <a:xfrm>
            <a:off x="8732520" y="54041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Property / investors (50%)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57200" y="59893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640080" y="59893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Illustrative: ~$14.3M profit on ~$5.3M of soft cost — ~2.7× on cost and a ~86% unlevered IRR on a near-zero land basis. Builder funds the horizontal; costs repaid, then a straight 50/50.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BASIS &amp; SOURCES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pro forma assumes — and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input, its value, and the reasoning. Market figures are from public sources; deal-specific figures (acreage, land basis, density) are to be confirmed in diligence.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 / reasoning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acreage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gross − 198 conservation − ~300 golf − ~60 Critical Area; survey to confirm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density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~2.0 / ac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Blended for the developable (non-Critical-Area) land; Queen Anne's County zoning to confirm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finished lot $150K less the builder's ~$80K to finish (horizontal + margin); confirm vs builder bids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(entitle)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~$4.0M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/ approvals, civil &amp; environmental, legal / survey, project management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Roads, sewer &amp; utilities funded by the builder — not us (capital-light)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basis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~zero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Contributed at a near-zero basis — the land came with the $25M H6 acquisition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Straight 50/50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50% property / 50% development co — no pref, no promote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nd.com — QAC lo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Land.com — QAC lots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Zillow — QAC new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QAC new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meGuide — land dev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HomeGuide — land dev cost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DEAL  ·  HOW PROFIT SPLITS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straight deal — 50/50, no waterfall.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Bob's structure, kept simple: revenue comes in, costs are repaid, then profit splits 50/50 — half to the property owner (the H entities; Josh owns 50%), half to the development company. No pref, no promote tiers.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580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lots × ~$70K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79392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($5.3M)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07992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costs repaid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07992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soft costs we funded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01584" y="1828800"/>
            <a:ext cx="3630168" cy="1143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8330184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330184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to split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30184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2.7× on cost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5541264" cy="233172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246120"/>
            <a:ext cx="109728" cy="233172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ENTITIES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731520" y="4773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Josh owns 50% of each property → ~$3.6M (≈ 25% of profit). This is the liquidity that returns capital to his investors against their 8% pref.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0488" y="3246120"/>
            <a:ext cx="55412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COMPANY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446520" y="40782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6446520" y="46085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JAL's share  30%  →  ~$2.1M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446520" y="49011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 / Capital H6 · Bob · partners take the balance. JAL = sweat equity + $15K/mo — no capital required.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a straight 50/50 — half returns capital to your investors, half to the development company. No pref, no promote, no 50-page waterfall.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1 PROFIT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profit?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 across the entitled-lot price and the lot yield — the two swing factors. The base — $70K lots, ~280 of them — pencils to ~$14.3M; even conservative pricing holds double-digit millions. Split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$M  (price / lots)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lots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280 lots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320 lots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$55K / lot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$8.1M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$10.2M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$12.4M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 / lot  (base)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$11.6M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$17.0M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$85K / lot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$15.1M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$18.4M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$21.7M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$70K × 280 → ~$14.3M profit, split 50/50. The downside still clears ~$8M; stronger pricing or yield pushes past $20M.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($M); each cell re-runs the model. Half flows to the property (investor liquidity), half to the development company.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LIQUIDITY  ·  BUYER UNIVERSE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deep pool of lot buyers.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and national homebuilders are actively building across Queen Anne's County and the Eastern Shore. Entitled, finished lots trade readily — multiple credible takeout buyers let us run a competitive process and de-risk the exit.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Footprint / relevance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NVR / Ryan Homes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Largest builder in Maryland; routine acquirer of finished / entitled lots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D.R. Horton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#1 U.S. homebuilder; active Maryland operations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Lennar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Top-3 U.S. builder; Maryland division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Cole Homes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local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Named by Bob — active local to the Renault / Atlantic City market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Lacrosse Homes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Centreville, Queen Anne's Co. — Meadow Creek, Kent Island Estates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Caruso Homes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communities + build-on-your-lot across Maryland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Gemcraft Homes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Mid-Atlantic production builder (MD · DE · VA · PA)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to Beach · Baldwin Homes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custom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custom / semi-custom builders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39496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6" name="Text 64"/>
          <p:cNvSpPr/>
          <p:nvPr/>
        </p:nvSpPr>
        <p:spPr>
          <a:xfrm>
            <a:off x="640080" y="53949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Multiple well-capitalized buyers = a liquid exit — entitled-lot takedowns or a bulk sale, marketed competitively.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crosse Homes (Centreville, QAC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Lacrosse Homes (Centreville, QAC)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Caruso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Caruso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Gemcraft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Gemcraft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Zillow — MD new communiti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MD new communities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HOTEL REQUIRED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the hotel (a required component).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hotel is required (per Bob) — at Renault the plan is +100–200 rooms; at Queenstown a 120-key resort &amp; spa is already designed (FILLAT+). VIVÂMEE operates; JAL leads capital formation. Build-to-core, recapitalizing at stabilization (~Yr 4), clears a mid-to-high-20s return.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(100 keys × $325K)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$32.5M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Restaurants (16K SF × $550)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$8.8M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— hospitality parcel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$2.0M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/ FF&amp;E / pre-opening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$3.7M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Text 34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8" name="Text 36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Text 38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$2.8M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8.6%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 NOI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$1.0M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11.5%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$3.8M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8.1%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577840" y="3584448"/>
            <a:ext cx="2834640" cy="168249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0" name="Shape 58"/>
          <p:cNvSpPr/>
          <p:nvPr/>
        </p:nvSpPr>
        <p:spPr>
          <a:xfrm>
            <a:off x="5577840" y="3584448"/>
            <a:ext cx="91440" cy="1682496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1" name="Text 59"/>
          <p:cNvSpPr/>
          <p:nvPr/>
        </p:nvSpPr>
        <p:spPr>
          <a:xfrm>
            <a:off x="5779008" y="36758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METRICS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779008" y="3931920"/>
            <a:ext cx="2542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Build-to-core: recap / sell ~Yr 4  ·  7.5% exit cap → ~$62M  ·  65% LTC  ·  premium NOI (VIVÂMEE)  ·  ~2.4-pt development spread  ·  land contributed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8503920" y="1828800"/>
            <a:ext cx="3227832" cy="343814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4" name="Shape 62"/>
          <p:cNvSpPr/>
          <p:nvPr/>
        </p:nvSpPr>
        <p:spPr>
          <a:xfrm>
            <a:off x="8503920" y="1828800"/>
            <a:ext cx="109728" cy="343814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1700" dirty="0"/>
          </a:p>
        </p:txBody>
      </p:sp>
      <p:sp>
        <p:nvSpPr>
          <p:cNvPr id="67" name="Text 65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project cost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732520" y="28620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$4.7M</a:t>
            </a:r>
            <a:endParaRPr lang="en-US" sz="1700" dirty="0"/>
          </a:p>
        </p:txBody>
      </p:sp>
      <p:sp>
        <p:nvSpPr>
          <p:cNvPr id="69" name="Text 67"/>
          <p:cNvSpPr/>
          <p:nvPr/>
        </p:nvSpPr>
        <p:spPr>
          <a:xfrm>
            <a:off x="8732520" y="31455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NOI (build-to-core)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8732520" y="34381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9.9%</a:t>
            </a:r>
            <a:endParaRPr lang="en-US" sz="1700" dirty="0"/>
          </a:p>
        </p:txBody>
      </p:sp>
      <p:sp>
        <p:nvSpPr>
          <p:cNvPr id="71" name="Text 69"/>
          <p:cNvSpPr/>
          <p:nvPr/>
        </p:nvSpPr>
        <p:spPr>
          <a:xfrm>
            <a:off x="8732520" y="37216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Yield on cost (premium)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732520" y="40142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~2.3×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8732520" y="42976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Equity multiple (~4-yr)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732520" y="45902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~28%</a:t>
            </a:r>
            <a:endParaRPr lang="en-US" sz="1700" dirty="0"/>
          </a:p>
        </p:txBody>
      </p:sp>
      <p:sp>
        <p:nvSpPr>
          <p:cNvPr id="75" name="Text 73"/>
          <p:cNvSpPr/>
          <p:nvPr/>
        </p:nvSpPr>
        <p:spPr>
          <a:xfrm>
            <a:off x="8732520" y="48737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57200" y="5440680"/>
            <a:ext cx="11274552" cy="4114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77" name="Text 75"/>
          <p:cNvSpPr/>
          <p:nvPr/>
        </p:nvSpPr>
        <p:spPr>
          <a:xfrm>
            <a:off x="640080" y="54406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Built to core (recap at stabilization), the hotel clears ~28% IRR / ~2.3×. Held for income it's ~12% — the spread is the contributed land + VIVÂMEE's premium NOI.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FILLAT+ — resort desig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FILLAT+ — resort design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HVS — hotel dev cost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HVS — hotel dev cost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tel cap rates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hotel cap rates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restaurant build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restaurant build cost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2 BUILD-TO-CORE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hotel return?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 (65% LTC, recap at stabilization) across stabilized NOI and exit cap — the two biggest swing factors. Base ($4.7M NOI, 7.5% cap) → ~28%; it holds in the mid-20s+ as long as NOI lands and caps stay sub-8%.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BUILD-TO-CORE IRR  (NOI / cap)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7.0% cap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7.5% cap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8.0% cap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8.5% cap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$4.2M NOI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24.1%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19.8%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15.6%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11.6%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$4.65M NOI  (base)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31.7%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27.6%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23.7%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19.9%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$5.15M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38.8%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34.8%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31.1%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27.5%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~28%. Strong NOI + a sub-8% cap → low-to-high 30s; soft NOI or an 8.5% cap pulls it toward the high-teens / low-20s.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project IRR (65% LTC, recap ~Yr 4). VIVÂMEE-led; JAL leads capital formation. Each cell re-runs the model.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 · 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entitled-lot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project cash flow ($M). We fund the soft costs to entitle (Yr 0–2); entitled lots sell as approvals land (Yr 2–4). Net profit ~$14.3M, then split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7.8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6.9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19.6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soft costs (entitle)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(2.4)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(1.0)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(0.3)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(5.3)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project cash flow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(1.6)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(2.4)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14.3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(4.0)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(0.1)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14.3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82" name="Text 80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~$14.3M on ~$5.3M of soft cost — ~2.7× on cost, ~86% unlevered project IRR; the builder funds the horizontal. Costs repaid, then a straight 50/50.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cash flow; illustrative phasing. The builder funds the horizontal. Ties to the model's entitled-lot sheet. Figures subject to confirmation.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BUILD-TO-CORE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build-to-core equity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Hospitality build-to-core, levered equity cash flow ($M). Build to ~$47.0M cost at 65% LTC; stabilize at the premium NOI; recap / sell at ~Yr 4 (~$62M @ a 7.5% cap). VIVÂMEE operates.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invested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(16.4)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cash flow (after debt)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6.0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Recap equity (sale − loan)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31.5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equity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1.0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34.0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21.1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80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(16.4)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Text 86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(15.4)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Text 88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(12.9)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Text 90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21.1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96" name="Text 94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~$16.4M equity → ~$21M net; build-to-core (65% LTC) levered IRR ~28% / ~2.3× at the Yr-4 recap (~$62M on ~$47.0M cost). Ties to the model's build-to-core sheet.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Levered equity cash flow — the line that drives the ~28% IRR; recap / sale at stabilization. A 120-key resort &amp; spa is already designed (FILLAT+).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Mid–high 20s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private-equity fund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relationships across national bank platforms and specialty construction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Equity's Capital H6 owns the land. Spin the developable parcels into a development company — the property contributes the land, the dev co (Bob · JAL · partners) entitles and sells the lots, and profit splits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company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 co funds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Accountable Equity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· Capital H6 GP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Dev-co member — entitlement, capital formation &amp; sales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is a member of the development company — earning a share of its 50% (plus a $15K/mo retainer); intends to invest, sized in diligence.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30% of the dev-co 50% (the carry)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2231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value created — and I intend to contribute capital to the dev co myself (amount sized in diligence).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Aligned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upside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the work during entitlement — a floor; a cost to the deal, not netted from the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outside capital I place — small on capital-light Queenstown, real on the pipeline's acquisition equity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· Profit share (carry)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30% of dev-co 50%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~$2.1M on the Queenstown base case (~15% of profit); Bob &amp; partners take the balance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Illustrative all-in (base case)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~$2.7M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~$2.1M carry + ~$0.5M retainer (~3 yrs) — ~19% of profit, mostly the contingent carry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5870448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70448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Aligned, not double-dipping: the retainer is a floor, placement fees only on outside capital I raise, and the carry (30% of the dev-co 50%) is the prize — most of the ~$2.7M is contingent on the upside.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— diligence now, a Zoom shortly, then an in-person at Renault (near Atlantic City) in late July or early August, working around my July 15 surgery; then a defined mandate.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Co. + Renault township)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entitled-lot yield, pricing &amp; absorption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property / dev-co contribution &amp; 50/50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 Jul / early Aug  ·  Walk Renault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Zoom shortly to align on structure &amp; the first parcels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Bob &amp; Josh; walk Renault (near Atlantic City)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Around my July 15 surgery — I'm in NY through Aug 14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See the other assets in the pipeline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development company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entitlements + soft-cost budget (capital-light)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builder conversations (incl. Cole)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need: surveys / site plans (you have Renault's; Josh has the rest) · entitlement &amp; zoning status · the 50/50 terms · target timeline. Happy to sign an NDA.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with you, Josh and the H6 team — let's find time at Renault in late July or early August.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2026-06-10T15:32:09Z</dcterms:created>
  <dcterms:modified xsi:type="dcterms:W3CDTF">2026-06-10T15:32:09Z</dcterms:modified>
</cp:coreProperties>
</file>