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Cover. Scoped to the land around Queenstown Harbor — the asset Capital H6 just acquired. Bob is a GP in H6, so this is squarely his lane: entitle the developable acreage, sell lots, recycle.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Anchor on the fresh acquisition (H6 — Bob's fund). The land bank is additive to the hospitality: monetize the developable acreage the golf doesn't need, capital-light.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Shows the homework Bob asked for. Accurate specs: River (par 72, 7,096) + Lakes (par 71, 6,569), Lindsay Ervin, River House &amp; Tavern, cottages. Conservation acreage is real — flag it honestly.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Honest framing: 870+ ac, minus 198 ac conservation (plus wetlands/course), leaves the developable envelope — the first diligence item. The land bank is upside on top of an operating resort.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Sequencing IS the pitch: entitle (soft costs) → sell to builders (they fund infra) → golf/water premium → recycle. Matches Bob's 'let the developer handle the infrastructure.'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Now derived, not guessed: 700 gross − 198 conservation − ~300 golf complex − ~60 Critical Area/wetlands ≈ 140 developable acres. Maryland's Chesapeake Bay Critical Area (1,000-ft zone, ~1 unit/20 ac in RCA) is the real constraint on the waterfront land. All figures illustrative until survey / easement review.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Mirrors the reference competitive-supply slide. Eastern-Shore + Bay-Bridge demand, Chesapeake scarcity, builder appetite, and the fresh $25M basis all support lot sales.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South River is the second H6 asset — but it's a built-out private club (165 ac, 8 lakes, 14 protected areas, 600+ families). Frame honestly: membership + events upside first, land only where diligence supports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For the land bank the honest story is capital-light: soft costs in, builders fund infra and buy lots. Land is already owned via H6 — no acquisition capital needed.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Bob's inbound was about capital access. Lead with the live Houston deal ($14M / $19.5M) as proof I close, then the network. Even capital-light, this is why I'm useful.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Nails Bob's exact role: H6 GP / development lead. H6 contributes the developable land; JAL co-invests and runs entitlement + capital + lot sales. VIVÂMEE keeps operating the resort.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Directly answers Bob's comp question. He said skin in the game; I agree and propose a hybrid — modest, creditable retainer + carry on lot-sale value. All numbers are opening positions.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Bob's email said 'review your resume.' This is it. Capital-markets pedigree (Blackstone), operator/development (Levcor, JAL-JCP), Wharton, ULI leadership.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logistics. The July in-person is real (wife's family on Long Island) — Queenstown is a doable drive from Philly. The callout is the data ask — restate it so Bob knows exactly what to send.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warm. Reference his email ('review your resume'). Lock the July meeting at Queenstown.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6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3" name="Text 1"/>
          <p:cNvSpPr/>
          <p:nvPr/>
        </p:nvSpPr>
        <p:spPr>
          <a:xfrm>
            <a:off x="685800" y="5486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600" kern="0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 STRATEGIES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85800" y="914400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8C9BB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Disciplined Real Estate Investing, Development &amp; Capital Formation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58368" y="1993392"/>
            <a:ext cx="11155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400" b="1" spc="1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658368" y="2852928"/>
            <a:ext cx="11155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400" b="1" spc="100" kern="0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HARBOR</a:t>
            </a:r>
            <a:endParaRPr lang="en-US" sz="6400" dirty="0"/>
          </a:p>
        </p:txBody>
      </p:sp>
      <p:sp>
        <p:nvSpPr>
          <p:cNvPr id="7" name="Shape 5"/>
          <p:cNvSpPr/>
          <p:nvPr/>
        </p:nvSpPr>
        <p:spPr>
          <a:xfrm>
            <a:off x="713232" y="4041648"/>
            <a:ext cx="3200400" cy="27432"/>
          </a:xfrm>
          <a:prstGeom prst="rect">
            <a:avLst/>
          </a:prstGeom>
          <a:solidFill>
            <a:srgbClr val="8C9BB5"/>
          </a:solidFill>
          <a:ln/>
        </p:spPr>
      </p:sp>
      <p:sp>
        <p:nvSpPr>
          <p:cNvPr id="8" name="Text 6"/>
          <p:cNvSpPr/>
          <p:nvPr/>
        </p:nvSpPr>
        <p:spPr>
          <a:xfrm>
            <a:off x="685800" y="4187952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Land Development &amp; Lot-Monetization Partnership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685800" y="4681728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8C9BB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Entitling and monetizing the developable land around the River &amp; Lakes courses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85800" y="5047488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Queenstown, Maryland  ·  Eastern Shore  ·  36 holes on the Chesapeake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0" y="6309360"/>
            <a:ext cx="12191695" cy="548640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6400800"/>
            <a:ext cx="8778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150" kern="0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PREPARED FOR ROBERT A. CONNELL, CFP   |   ACCOUNTABLE EQUITY · CAPITAL H6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8869680" y="6400800"/>
            <a:ext cx="28620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spc="150" kern="0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JUNE 2026  | 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 STRATEGIES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0" y="109728"/>
            <a:ext cx="6245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B5A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 HARBOR  |  CONFIDENTIAL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6446520"/>
            <a:ext cx="11274552" cy="12802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JAL Strategies  |  Justin A. Levine, Founder &amp; CEO  |  jlevine@jalstrategies.com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972800" y="6537960"/>
            <a:ext cx="75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 / 15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600" kern="0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OPPORTUNITY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768096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You just bought it. Now monetize the land.</a:t>
            </a:r>
            <a:endParaRPr lang="en-US" sz="2500" dirty="0"/>
          </a:p>
        </p:txBody>
      </p:sp>
      <p:sp>
        <p:nvSpPr>
          <p:cNvPr id="10" name="Text 8"/>
          <p:cNvSpPr/>
          <p:nvPr/>
        </p:nvSpPr>
        <p:spPr>
          <a:xfrm>
            <a:off x="457200" y="1335024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Bob — Capital H6 just closed Queenstown Harbor. The resort runs itself; the upside is the developable land around the 36 holes — entitle it, sell lots to builders, recycle the proceeds.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1874520"/>
            <a:ext cx="5486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965960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$25M</a:t>
            </a:r>
            <a:endParaRPr lang="en-US" sz="2700" dirty="0"/>
          </a:p>
        </p:txBody>
      </p:sp>
      <p:sp>
        <p:nvSpPr>
          <p:cNvPr id="13" name="Text 11"/>
          <p:cNvSpPr/>
          <p:nvPr/>
        </p:nvSpPr>
        <p:spPr>
          <a:xfrm>
            <a:off x="2651760" y="1984248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Just acquired (May 2026)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2651760" y="2331720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Queenstown + South River, via Capital H6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7200" y="2852928"/>
            <a:ext cx="5486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" y="2944368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36 holes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2651760" y="2962656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River &amp; Lakes courses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2651760" y="3310128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Waterfront resort on the Eastern Shore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57200" y="3831336"/>
            <a:ext cx="5486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3922776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870+ ac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2651760" y="3941064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Across the two properties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2651760" y="4288536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Waterfront + conservation land (to verify)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57200" y="4809744"/>
            <a:ext cx="5486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4901184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Soft costs</a:t>
            </a:r>
            <a:endParaRPr lang="en-US" sz="1900" dirty="0"/>
          </a:p>
        </p:txBody>
      </p:sp>
      <p:sp>
        <p:nvSpPr>
          <p:cNvPr id="25" name="Text 23"/>
          <p:cNvSpPr/>
          <p:nvPr/>
        </p:nvSpPr>
        <p:spPr>
          <a:xfrm>
            <a:off x="2651760" y="4919472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To begin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2651760" y="5266944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Builders fund the horizontal infrastructure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6400800" y="1874520"/>
            <a:ext cx="5330952" cy="411480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28" name="Shape 26"/>
          <p:cNvSpPr/>
          <p:nvPr/>
        </p:nvSpPr>
        <p:spPr>
          <a:xfrm>
            <a:off x="6400800" y="1874520"/>
            <a:ext cx="109728" cy="4114800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29" name="Text 27"/>
          <p:cNvSpPr/>
          <p:nvPr/>
        </p:nvSpPr>
        <p:spPr>
          <a:xfrm>
            <a:off x="6766560" y="2039112"/>
            <a:ext cx="4782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400" kern="0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WHY NOW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6766560" y="2386584"/>
            <a:ext cx="476402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You own it free and clear — Capital H6 just closed the purchase.</a:t>
            </a:r>
            <a:endParaRPr lang="en-US" sz="1450" dirty="0"/>
          </a:p>
        </p:txBody>
      </p:sp>
      <p:sp>
        <p:nvSpPr>
          <p:cNvPr id="31" name="Text 29"/>
          <p:cNvSpPr/>
          <p:nvPr/>
        </p:nvSpPr>
        <p:spPr>
          <a:xfrm>
            <a:off x="6766560" y="3246120"/>
            <a:ext cx="4764024" cy="637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Fresh, low basis: $25M for two courses across 870+ acres — the land value is the upside.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6766560" y="3920490"/>
            <a:ext cx="4764024" cy="637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Builders fund sewer, roads and utilities — you carry approvals, not construction risk.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766560" y="4594860"/>
            <a:ext cx="4764024" cy="637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Minutes over the Bay Bridge to Annapolis; ~1 hour to D.C. &amp; Baltimore.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766560" y="5269230"/>
            <a:ext cx="4764024" cy="637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Golf and water frontage on the Chesapeake commands a premium — and sells quickly.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 STRATEGIES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0" y="109728"/>
            <a:ext cx="6245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B5A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 HARBOR  |  CONFIDENTIAL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6446520"/>
            <a:ext cx="11274552" cy="12802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JAL Strategies  |  Justin A. Levine, Founder &amp; CEO  |  jlevine@jalstrategies.com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972800" y="6537960"/>
            <a:ext cx="75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3 / 15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600" kern="0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ASSET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768096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 Harbor, by the numbers.</a:t>
            </a:r>
            <a:endParaRPr lang="en-US" sz="2500" dirty="0"/>
          </a:p>
        </p:txBody>
      </p:sp>
      <p:sp>
        <p:nvSpPr>
          <p:cNvPr id="10" name="Text 8"/>
          <p:cNvSpPr/>
          <p:nvPr/>
        </p:nvSpPr>
        <p:spPr>
          <a:xfrm>
            <a:off x="457200" y="1335024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 36-hole waterfront destination on Maryland's Eastern Shore — acquired from The Brick Companies in May 2026, with established golf, an event venue and cottages already in place.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1874520"/>
            <a:ext cx="5486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965960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River</a:t>
            </a:r>
            <a:endParaRPr lang="en-US" sz="2700" dirty="0"/>
          </a:p>
        </p:txBody>
      </p:sp>
      <p:sp>
        <p:nvSpPr>
          <p:cNvPr id="13" name="Text 11"/>
          <p:cNvSpPr/>
          <p:nvPr/>
        </p:nvSpPr>
        <p:spPr>
          <a:xfrm>
            <a:off x="2651760" y="1984248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Course · par 72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2651760" y="2331720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Lindsay Ervin design · 7,096 yds · opened 1991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7200" y="2852928"/>
            <a:ext cx="5486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" y="2944368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Lakes</a:t>
            </a:r>
            <a:endParaRPr lang="en-US" sz="2700" dirty="0"/>
          </a:p>
        </p:txBody>
      </p:sp>
      <p:sp>
        <p:nvSpPr>
          <p:cNvPr id="17" name="Text 15"/>
          <p:cNvSpPr/>
          <p:nvPr/>
        </p:nvSpPr>
        <p:spPr>
          <a:xfrm>
            <a:off x="2651760" y="2962656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Course · par 71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2651760" y="3310128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Lindsay Ervin design · 6,569 yds · opened 1996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57200" y="3831336"/>
            <a:ext cx="5486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3922776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310</a:t>
            </a:r>
            <a:endParaRPr lang="en-US" sz="2700" dirty="0"/>
          </a:p>
        </p:txBody>
      </p:sp>
      <p:sp>
        <p:nvSpPr>
          <p:cNvPr id="21" name="Text 19"/>
          <p:cNvSpPr/>
          <p:nvPr/>
        </p:nvSpPr>
        <p:spPr>
          <a:xfrm>
            <a:off x="2651760" y="3941064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Links Lane, Queenstown MD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2651760" y="4288536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Chester River at the Chesapeake Bay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57200" y="4809744"/>
            <a:ext cx="5486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4901184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$25M</a:t>
            </a:r>
            <a:endParaRPr lang="en-US" sz="2700" dirty="0"/>
          </a:p>
        </p:txBody>
      </p:sp>
      <p:sp>
        <p:nvSpPr>
          <p:cNvPr id="25" name="Text 23"/>
          <p:cNvSpPr/>
          <p:nvPr/>
        </p:nvSpPr>
        <p:spPr>
          <a:xfrm>
            <a:off x="2651760" y="4919472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Acquired with South River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2651760" y="5266944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From The Brick Companies · via Capital H6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6400800" y="1874520"/>
            <a:ext cx="5330952" cy="411480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28" name="Shape 26"/>
          <p:cNvSpPr/>
          <p:nvPr/>
        </p:nvSpPr>
        <p:spPr>
          <a:xfrm>
            <a:off x="6400800" y="1874520"/>
            <a:ext cx="109728" cy="4114800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29" name="Text 27"/>
          <p:cNvSpPr/>
          <p:nvPr/>
        </p:nvSpPr>
        <p:spPr>
          <a:xfrm>
            <a:off x="6766560" y="2039112"/>
            <a:ext cx="4782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400" kern="0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ALREADY IN PLACE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6766560" y="2386584"/>
            <a:ext cx="476402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An operating resort — not a raw land play.</a:t>
            </a:r>
            <a:endParaRPr lang="en-US" sz="1450" dirty="0"/>
          </a:p>
        </p:txBody>
      </p:sp>
      <p:sp>
        <p:nvSpPr>
          <p:cNvPr id="31" name="Text 29"/>
          <p:cNvSpPr/>
          <p:nvPr/>
        </p:nvSpPr>
        <p:spPr>
          <a:xfrm>
            <a:off x="6766560" y="3246120"/>
            <a:ext cx="4764024" cy="637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River House &amp; Tavern — newly renovated wedding, event and corporate venue.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6766560" y="3920490"/>
            <a:ext cx="4764024" cy="637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On-site cottages — existing overnight lodging and a hospitality base.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766560" y="4594860"/>
            <a:ext cx="4764024" cy="637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36 holes of championship golf since 1991 — traffic, brand and demand already here.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766560" y="5269230"/>
            <a:ext cx="4764024" cy="637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198 acres under permanent conservation — stewardship credibility, and an envelope to plan around.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 STRATEGIES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0" y="109728"/>
            <a:ext cx="6245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B5A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 HARBOR  |  CONFIDENTIAL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6446520"/>
            <a:ext cx="11274552" cy="12802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JAL Strategies  |  Justin A. Levine, Founder &amp; CEO  |  jlevine@jalstrategies.com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972800" y="6537960"/>
            <a:ext cx="75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4 / 15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600" kern="0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LAND BANK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768096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upside is the land around the golf.</a:t>
            </a:r>
            <a:endParaRPr lang="en-US" sz="2500" dirty="0"/>
          </a:p>
        </p:txBody>
      </p:sp>
      <p:sp>
        <p:nvSpPr>
          <p:cNvPr id="10" name="Text 8"/>
          <p:cNvSpPr/>
          <p:nvPr/>
        </p:nvSpPr>
        <p:spPr>
          <a:xfrm>
            <a:off x="457200" y="1335024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The resort operates; the value-creation is entitling the developable, non-conservation acreage and selling finished lots to homebuilders. Capital-light, and additive to the hospitality.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1874520"/>
            <a:ext cx="5486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965960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870+ ac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2651760" y="1984248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Portfolio land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2651760" y="2331720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Across Queenstown + South River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7200" y="2852928"/>
            <a:ext cx="5486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" y="2944368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198 ac</a:t>
            </a:r>
            <a:endParaRPr lang="en-US" sz="2700" dirty="0"/>
          </a:p>
        </p:txBody>
      </p:sp>
      <p:sp>
        <p:nvSpPr>
          <p:cNvPr id="17" name="Text 15"/>
          <p:cNvSpPr/>
          <p:nvPr/>
        </p:nvSpPr>
        <p:spPr>
          <a:xfrm>
            <a:off x="2651760" y="2962656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Under conservation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2651760" y="3310128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Permanent easement at Queenstown — plan around it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57200" y="3831336"/>
            <a:ext cx="5486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3922776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Net</a:t>
            </a:r>
            <a:endParaRPr lang="en-US" sz="2700" dirty="0"/>
          </a:p>
        </p:txBody>
      </p:sp>
      <p:sp>
        <p:nvSpPr>
          <p:cNvPr id="21" name="Text 19"/>
          <p:cNvSpPr/>
          <p:nvPr/>
        </p:nvSpPr>
        <p:spPr>
          <a:xfrm>
            <a:off x="2651760" y="3941064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Developable land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2651760" y="4288536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Balance after conservation, wetlands &amp; course (to verify)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57200" y="4809744"/>
            <a:ext cx="5486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4901184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Lots</a:t>
            </a:r>
            <a:endParaRPr lang="en-US" sz="2700" dirty="0"/>
          </a:p>
        </p:txBody>
      </p:sp>
      <p:sp>
        <p:nvSpPr>
          <p:cNvPr id="25" name="Text 23"/>
          <p:cNvSpPr/>
          <p:nvPr/>
        </p:nvSpPr>
        <p:spPr>
          <a:xfrm>
            <a:off x="2651760" y="4919472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Entitle &amp; sell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2651760" y="5266944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Finished lots to regional homebuilders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6400800" y="1874520"/>
            <a:ext cx="5330952" cy="411480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28" name="Shape 26"/>
          <p:cNvSpPr/>
          <p:nvPr/>
        </p:nvSpPr>
        <p:spPr>
          <a:xfrm>
            <a:off x="6400800" y="1874520"/>
            <a:ext cx="109728" cy="4114800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29" name="Text 27"/>
          <p:cNvSpPr/>
          <p:nvPr/>
        </p:nvSpPr>
        <p:spPr>
          <a:xfrm>
            <a:off x="6766560" y="2039112"/>
            <a:ext cx="4782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400" kern="0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THESIS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6766560" y="2386584"/>
            <a:ext cx="476402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Monetize the land the golf doesn't need.</a:t>
            </a:r>
            <a:endParaRPr lang="en-US" sz="1450" dirty="0"/>
          </a:p>
        </p:txBody>
      </p:sp>
      <p:sp>
        <p:nvSpPr>
          <p:cNvPr id="31" name="Text 29"/>
          <p:cNvSpPr/>
          <p:nvPr/>
        </p:nvSpPr>
        <p:spPr>
          <a:xfrm>
            <a:off x="6766560" y="3246120"/>
            <a:ext cx="4764024" cy="637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Identify developable parcels at the course edges — away from conservation, wetlands and play.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6766560" y="3920490"/>
            <a:ext cx="4764024" cy="637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Entitle for residential; sell finished lots to builders who fund the horizontal work.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766560" y="4594860"/>
            <a:ext cx="4764024" cy="637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Golf-frontage and water-view lots command premium pricing and faster absorption.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766560" y="5269230"/>
            <a:ext cx="4764024" cy="637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Recycle proceeds into the broader Capital H6 program — including South River.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 STRATEGIES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0" y="109728"/>
            <a:ext cx="6245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B5A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 HARBOR  |  CONFIDENTIAL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6446520"/>
            <a:ext cx="11274552" cy="12802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JAL Strategies  |  Justin A. Levine, Founder &amp; CEO  |  jlevine@jalstrategies.com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972800" y="6537960"/>
            <a:ext cx="75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5 / 15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600" kern="0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PLAYBOOK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768096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Four moves that turn land into cash.</a:t>
            </a:r>
            <a:endParaRPr lang="en-US" sz="2500" dirty="0"/>
          </a:p>
        </p:txBody>
      </p:sp>
      <p:sp>
        <p:nvSpPr>
          <p:cNvPr id="10" name="Text 8"/>
          <p:cNvSpPr/>
          <p:nvPr/>
        </p:nvSpPr>
        <p:spPr>
          <a:xfrm>
            <a:off x="457200" y="1335024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Capital-light by sequence — soft costs first, then builders carry the infrastructure and construction risk, and the proceeds recycle into the next parcel.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1920240"/>
            <a:ext cx="2688336" cy="374904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2" name="Shape 10"/>
          <p:cNvSpPr/>
          <p:nvPr/>
        </p:nvSpPr>
        <p:spPr>
          <a:xfrm>
            <a:off x="457200" y="1920240"/>
            <a:ext cx="2688336" cy="91440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13" name="Text 11"/>
          <p:cNvSpPr/>
          <p:nvPr/>
        </p:nvSpPr>
        <p:spPr>
          <a:xfrm>
            <a:off x="685800" y="2148840"/>
            <a:ext cx="22311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01</a:t>
            </a:r>
            <a:endParaRPr lang="en-US" sz="4400" dirty="0"/>
          </a:p>
        </p:txBody>
      </p:sp>
      <p:sp>
        <p:nvSpPr>
          <p:cNvPr id="14" name="Text 12"/>
          <p:cNvSpPr/>
          <p:nvPr/>
        </p:nvSpPr>
        <p:spPr>
          <a:xfrm>
            <a:off x="685800" y="3063240"/>
            <a:ext cx="22311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Entitle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85800" y="3456432"/>
            <a:ext cx="22311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100" kern="0" dirty="0">
                <a:solidFill>
                  <a:srgbClr val="8C9BB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Approvals for lots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85800" y="3822192"/>
            <a:ext cx="2231136" cy="18288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17" name="Text 15"/>
          <p:cNvSpPr/>
          <p:nvPr/>
        </p:nvSpPr>
        <p:spPr>
          <a:xfrm>
            <a:off x="685800" y="3950208"/>
            <a:ext cx="2231136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Secure zoning and subdivision approvals for the developable acreage around the fairways.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3310128" y="1920240"/>
            <a:ext cx="2688336" cy="374904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9" name="Shape 17"/>
          <p:cNvSpPr/>
          <p:nvPr/>
        </p:nvSpPr>
        <p:spPr>
          <a:xfrm>
            <a:off x="3310128" y="1920240"/>
            <a:ext cx="2688336" cy="91440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20" name="Text 18"/>
          <p:cNvSpPr/>
          <p:nvPr/>
        </p:nvSpPr>
        <p:spPr>
          <a:xfrm>
            <a:off x="3538728" y="2148840"/>
            <a:ext cx="22311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02</a:t>
            </a:r>
            <a:endParaRPr lang="en-US" sz="4400" dirty="0"/>
          </a:p>
        </p:txBody>
      </p:sp>
      <p:sp>
        <p:nvSpPr>
          <p:cNvPr id="21" name="Text 19"/>
          <p:cNvSpPr/>
          <p:nvPr/>
        </p:nvSpPr>
        <p:spPr>
          <a:xfrm>
            <a:off x="3538728" y="3063240"/>
            <a:ext cx="22311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Sell to Builders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538728" y="3456432"/>
            <a:ext cx="22311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100" kern="0" dirty="0">
                <a:solidFill>
                  <a:srgbClr val="8C9BB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Finished lots → homebuilders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3538728" y="3822192"/>
            <a:ext cx="2231136" cy="18288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24" name="Text 22"/>
          <p:cNvSpPr/>
          <p:nvPr/>
        </p:nvSpPr>
        <p:spPr>
          <a:xfrm>
            <a:off x="3538728" y="3950208"/>
            <a:ext cx="2231136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Sell entitled lots to regional builders and let them fund sewer, roads and utilities.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6163056" y="1920240"/>
            <a:ext cx="2688336" cy="374904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26" name="Shape 24"/>
          <p:cNvSpPr/>
          <p:nvPr/>
        </p:nvSpPr>
        <p:spPr>
          <a:xfrm>
            <a:off x="6163056" y="1920240"/>
            <a:ext cx="2688336" cy="91440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27" name="Text 25"/>
          <p:cNvSpPr/>
          <p:nvPr/>
        </p:nvSpPr>
        <p:spPr>
          <a:xfrm>
            <a:off x="6391656" y="2148840"/>
            <a:ext cx="22311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03</a:t>
            </a:r>
            <a:endParaRPr lang="en-US" sz="4400" dirty="0"/>
          </a:p>
        </p:txBody>
      </p:sp>
      <p:sp>
        <p:nvSpPr>
          <p:cNvPr id="28" name="Text 26"/>
          <p:cNvSpPr/>
          <p:nvPr/>
        </p:nvSpPr>
        <p:spPr>
          <a:xfrm>
            <a:off x="6391656" y="3063240"/>
            <a:ext cx="22311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Golf &amp; Water Premium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6391656" y="3456432"/>
            <a:ext cx="22311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100" kern="0" dirty="0">
                <a:solidFill>
                  <a:srgbClr val="8C9BB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Frontage sells higher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391656" y="3822192"/>
            <a:ext cx="2231136" cy="18288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31" name="Text 29"/>
          <p:cNvSpPr/>
          <p:nvPr/>
        </p:nvSpPr>
        <p:spPr>
          <a:xfrm>
            <a:off x="6391656" y="3950208"/>
            <a:ext cx="2231136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Lots on a course or with Chesapeake water views command a premium and absorb faster.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9015984" y="1920240"/>
            <a:ext cx="2688336" cy="374904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3" name="Shape 31"/>
          <p:cNvSpPr/>
          <p:nvPr/>
        </p:nvSpPr>
        <p:spPr>
          <a:xfrm>
            <a:off x="9015984" y="1920240"/>
            <a:ext cx="2688336" cy="91440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34" name="Text 32"/>
          <p:cNvSpPr/>
          <p:nvPr/>
        </p:nvSpPr>
        <p:spPr>
          <a:xfrm>
            <a:off x="9244584" y="2148840"/>
            <a:ext cx="22311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04</a:t>
            </a:r>
            <a:endParaRPr lang="en-US" sz="4400" dirty="0"/>
          </a:p>
        </p:txBody>
      </p:sp>
      <p:sp>
        <p:nvSpPr>
          <p:cNvPr id="35" name="Text 33"/>
          <p:cNvSpPr/>
          <p:nvPr/>
        </p:nvSpPr>
        <p:spPr>
          <a:xfrm>
            <a:off x="9244584" y="3063240"/>
            <a:ext cx="22311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Recycle &amp; Repeat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9244584" y="3456432"/>
            <a:ext cx="22311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100" kern="0" dirty="0">
                <a:solidFill>
                  <a:srgbClr val="8C9BB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Parcel by parcel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9244584" y="3822192"/>
            <a:ext cx="2231136" cy="18288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38" name="Text 36"/>
          <p:cNvSpPr/>
          <p:nvPr/>
        </p:nvSpPr>
        <p:spPr>
          <a:xfrm>
            <a:off x="9244584" y="3950208"/>
            <a:ext cx="2231136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Roll proceeds into the next parcel — and seed the broader Capital H6 program.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457200" y="5943600"/>
            <a:ext cx="11274552" cy="420624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40" name="Text 38"/>
          <p:cNvSpPr/>
          <p:nvPr/>
        </p:nvSpPr>
        <p:spPr>
          <a:xfrm>
            <a:off x="640080" y="5943600"/>
            <a:ext cx="109087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Move 01 is mostly soft costs — the fastest path to proof, and to first cash.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 STRATEGIES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0" y="109728"/>
            <a:ext cx="6245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B5A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 HARBOR  |  CONFIDENTIAL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6446520"/>
            <a:ext cx="11274552" cy="12802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JAL Strategies  |  Justin A. Levine, Founder &amp; CEO  |  jlevine@jalstrategies.com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972800" y="6537960"/>
            <a:ext cx="75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6 / 15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600" kern="0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MATH  ·  ILLUSTRATIVE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768096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From 700 acres to the developable envelope.</a:t>
            </a:r>
            <a:endParaRPr lang="en-US" sz="2500" dirty="0"/>
          </a:p>
        </p:txBody>
      </p:sp>
      <p:sp>
        <p:nvSpPr>
          <p:cNvPr id="10" name="Text 8"/>
          <p:cNvSpPr/>
          <p:nvPr/>
        </p:nvSpPr>
        <p:spPr>
          <a:xfrm>
            <a:off x="457200" y="1335024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Built down from real constraints — the recorded conservation easement, the golf footprint, and Maryland's Chesapeake Bay Critical Area. Developable acreage is survey-dependent; figures illustrative.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1938528"/>
            <a:ext cx="292608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1938528"/>
            <a:ext cx="292608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Step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383280" y="1938528"/>
            <a:ext cx="310896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4" name="Text 12"/>
          <p:cNvSpPr/>
          <p:nvPr/>
        </p:nvSpPr>
        <p:spPr>
          <a:xfrm>
            <a:off x="3383280" y="1938528"/>
            <a:ext cx="310896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Basis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6492240" y="1938528"/>
            <a:ext cx="265176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6" name="Text 14"/>
          <p:cNvSpPr/>
          <p:nvPr/>
        </p:nvSpPr>
        <p:spPr>
          <a:xfrm>
            <a:off x="6492240" y="1938528"/>
            <a:ext cx="265176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Calculation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9144000" y="1938528"/>
            <a:ext cx="2587752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8" name="Text 16"/>
          <p:cNvSpPr/>
          <p:nvPr/>
        </p:nvSpPr>
        <p:spPr>
          <a:xfrm>
            <a:off x="9144000" y="1938528"/>
            <a:ext cx="2587752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= Result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" y="2304288"/>
            <a:ext cx="2926080" cy="5029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0" name="Text 18"/>
          <p:cNvSpPr/>
          <p:nvPr/>
        </p:nvSpPr>
        <p:spPr>
          <a:xfrm>
            <a:off x="457200" y="2304288"/>
            <a:ext cx="2926080" cy="50292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 land (gross)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383280" y="2304288"/>
            <a:ext cx="3108960" cy="5029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2" name="Text 20"/>
          <p:cNvSpPr/>
          <p:nvPr/>
        </p:nvSpPr>
        <p:spPr>
          <a:xfrm>
            <a:off x="3383280" y="2304288"/>
            <a:ext cx="3108960" cy="50292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per ownership estimate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6492240" y="2304288"/>
            <a:ext cx="2651760" cy="5029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4" name="Text 22"/>
          <p:cNvSpPr/>
          <p:nvPr/>
        </p:nvSpPr>
        <p:spPr>
          <a:xfrm>
            <a:off x="6492240" y="2304288"/>
            <a:ext cx="2651760" cy="50292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—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9144000" y="2304288"/>
            <a:ext cx="2587752" cy="5029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6" name="Text 24"/>
          <p:cNvSpPr/>
          <p:nvPr/>
        </p:nvSpPr>
        <p:spPr>
          <a:xfrm>
            <a:off x="9144000" y="2304288"/>
            <a:ext cx="2587752" cy="50292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~700 ac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457200" y="2807208"/>
            <a:ext cx="2926080" cy="50292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28" name="Text 26"/>
          <p:cNvSpPr/>
          <p:nvPr/>
        </p:nvSpPr>
        <p:spPr>
          <a:xfrm>
            <a:off x="457200" y="2807208"/>
            <a:ext cx="2926080" cy="50292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Less permanent conservation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3383280" y="2807208"/>
            <a:ext cx="3108960" cy="50292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30" name="Text 28"/>
          <p:cNvSpPr/>
          <p:nvPr/>
        </p:nvSpPr>
        <p:spPr>
          <a:xfrm>
            <a:off x="3383280" y="2807208"/>
            <a:ext cx="3108960" cy="50292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recorded easement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6492240" y="2807208"/>
            <a:ext cx="2651760" cy="50292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32" name="Text 30"/>
          <p:cNvSpPr/>
          <p:nvPr/>
        </p:nvSpPr>
        <p:spPr>
          <a:xfrm>
            <a:off x="6492240" y="2807208"/>
            <a:ext cx="2651760" cy="50292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700 − 198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9144000" y="2807208"/>
            <a:ext cx="2587752" cy="50292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34" name="Text 32"/>
          <p:cNvSpPr/>
          <p:nvPr/>
        </p:nvSpPr>
        <p:spPr>
          <a:xfrm>
            <a:off x="9144000" y="2807208"/>
            <a:ext cx="2587752" cy="50292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502 ac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457200" y="3310128"/>
            <a:ext cx="2926080" cy="5029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6" name="Text 34"/>
          <p:cNvSpPr/>
          <p:nvPr/>
        </p:nvSpPr>
        <p:spPr>
          <a:xfrm>
            <a:off x="457200" y="3310128"/>
            <a:ext cx="2926080" cy="50292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Less golf, range, water &amp; lodging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3383280" y="3310128"/>
            <a:ext cx="3108960" cy="5029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8" name="Text 36"/>
          <p:cNvSpPr/>
          <p:nvPr/>
        </p:nvSpPr>
        <p:spPr>
          <a:xfrm>
            <a:off x="3383280" y="3310128"/>
            <a:ext cx="3108960" cy="50292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two 18s + 9-ac range + cottages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6492240" y="3310128"/>
            <a:ext cx="2651760" cy="5029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0" name="Text 38"/>
          <p:cNvSpPr/>
          <p:nvPr/>
        </p:nvSpPr>
        <p:spPr>
          <a:xfrm>
            <a:off x="6492240" y="3310128"/>
            <a:ext cx="2651760" cy="50292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502 − ~300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9144000" y="3310128"/>
            <a:ext cx="2587752" cy="5029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2" name="Text 40"/>
          <p:cNvSpPr/>
          <p:nvPr/>
        </p:nvSpPr>
        <p:spPr>
          <a:xfrm>
            <a:off x="9144000" y="3310128"/>
            <a:ext cx="2587752" cy="50292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~200 ac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457200" y="3813048"/>
            <a:ext cx="2926080" cy="50292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44" name="Text 42"/>
          <p:cNvSpPr/>
          <p:nvPr/>
        </p:nvSpPr>
        <p:spPr>
          <a:xfrm>
            <a:off x="457200" y="3813048"/>
            <a:ext cx="2926080" cy="50292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Less Critical Area &amp; wetlands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3383280" y="3813048"/>
            <a:ext cx="3108960" cy="50292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46" name="Text 44"/>
          <p:cNvSpPr/>
          <p:nvPr/>
        </p:nvSpPr>
        <p:spPr>
          <a:xfrm>
            <a:off x="3383280" y="3813048"/>
            <a:ext cx="3108960" cy="50292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Chesapeake 1,000-ft zone</a:t>
            </a:r>
            <a:endParaRPr lang="en-US" sz="950" dirty="0"/>
          </a:p>
        </p:txBody>
      </p:sp>
      <p:sp>
        <p:nvSpPr>
          <p:cNvPr id="47" name="Shape 45"/>
          <p:cNvSpPr/>
          <p:nvPr/>
        </p:nvSpPr>
        <p:spPr>
          <a:xfrm>
            <a:off x="6492240" y="3813048"/>
            <a:ext cx="2651760" cy="50292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48" name="Text 46"/>
          <p:cNvSpPr/>
          <p:nvPr/>
        </p:nvSpPr>
        <p:spPr>
          <a:xfrm>
            <a:off x="6492240" y="3813048"/>
            <a:ext cx="2651760" cy="50292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200 − ~60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9144000" y="3813048"/>
            <a:ext cx="2587752" cy="50292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50" name="Text 48"/>
          <p:cNvSpPr/>
          <p:nvPr/>
        </p:nvSpPr>
        <p:spPr>
          <a:xfrm>
            <a:off x="9144000" y="3813048"/>
            <a:ext cx="2587752" cy="50292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~140 ac</a:t>
            </a:r>
            <a:endParaRPr lang="en-US" sz="1100" dirty="0"/>
          </a:p>
        </p:txBody>
      </p:sp>
      <p:sp>
        <p:nvSpPr>
          <p:cNvPr id="51" name="Shape 49"/>
          <p:cNvSpPr/>
          <p:nvPr/>
        </p:nvSpPr>
        <p:spPr>
          <a:xfrm>
            <a:off x="457200" y="4315968"/>
            <a:ext cx="2926080" cy="5029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2" name="Text 50"/>
          <p:cNvSpPr/>
          <p:nvPr/>
        </p:nvSpPr>
        <p:spPr>
          <a:xfrm>
            <a:off x="457200" y="4315968"/>
            <a:ext cx="2926080" cy="50292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Net developable → lots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3383280" y="4315968"/>
            <a:ext cx="3108960" cy="5029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4" name="Text 52"/>
          <p:cNvSpPr/>
          <p:nvPr/>
        </p:nvSpPr>
        <p:spPr>
          <a:xfrm>
            <a:off x="3383280" y="4315968"/>
            <a:ext cx="3108960" cy="50292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~2.0 lots / acre</a:t>
            </a:r>
            <a:endParaRPr lang="en-US" sz="950" dirty="0"/>
          </a:p>
        </p:txBody>
      </p:sp>
      <p:sp>
        <p:nvSpPr>
          <p:cNvPr id="55" name="Shape 53"/>
          <p:cNvSpPr/>
          <p:nvPr/>
        </p:nvSpPr>
        <p:spPr>
          <a:xfrm>
            <a:off x="6492240" y="4315968"/>
            <a:ext cx="2651760" cy="5029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6" name="Text 54"/>
          <p:cNvSpPr/>
          <p:nvPr/>
        </p:nvSpPr>
        <p:spPr>
          <a:xfrm>
            <a:off x="6492240" y="4315968"/>
            <a:ext cx="2651760" cy="50292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140 × 2.0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9144000" y="4315968"/>
            <a:ext cx="2587752" cy="5029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8" name="Text 56"/>
          <p:cNvSpPr/>
          <p:nvPr/>
        </p:nvSpPr>
        <p:spPr>
          <a:xfrm>
            <a:off x="9144000" y="4315968"/>
            <a:ext cx="2587752" cy="50292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~280 lots</a:t>
            </a:r>
            <a:endParaRPr lang="en-US" sz="1100" dirty="0"/>
          </a:p>
        </p:txBody>
      </p:sp>
      <p:sp>
        <p:nvSpPr>
          <p:cNvPr id="59" name="Shape 57"/>
          <p:cNvSpPr/>
          <p:nvPr/>
        </p:nvSpPr>
        <p:spPr>
          <a:xfrm>
            <a:off x="457200" y="4818888"/>
            <a:ext cx="2926080" cy="50292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60" name="Text 58"/>
          <p:cNvSpPr/>
          <p:nvPr/>
        </p:nvSpPr>
        <p:spPr>
          <a:xfrm>
            <a:off x="457200" y="4818888"/>
            <a:ext cx="2926080" cy="50292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FINISHED LOT VALUE (net, illustrative)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3383280" y="4818888"/>
            <a:ext cx="3108960" cy="50292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62" name="Text 60"/>
          <p:cNvSpPr/>
          <p:nvPr/>
        </p:nvSpPr>
        <p:spPr>
          <a:xfrm>
            <a:off x="3383280" y="4818888"/>
            <a:ext cx="3108960" cy="50292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$150K / lot, less ~30% costs</a:t>
            </a:r>
            <a:endParaRPr lang="en-US" sz="950" dirty="0"/>
          </a:p>
        </p:txBody>
      </p:sp>
      <p:sp>
        <p:nvSpPr>
          <p:cNvPr id="63" name="Shape 61"/>
          <p:cNvSpPr/>
          <p:nvPr/>
        </p:nvSpPr>
        <p:spPr>
          <a:xfrm>
            <a:off x="6492240" y="4818888"/>
            <a:ext cx="2651760" cy="50292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64" name="Text 62"/>
          <p:cNvSpPr/>
          <p:nvPr/>
        </p:nvSpPr>
        <p:spPr>
          <a:xfrm>
            <a:off x="6492240" y="4818888"/>
            <a:ext cx="2651760" cy="50292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280 × $150K × 0.70</a:t>
            </a:r>
            <a:endParaRPr lang="en-US" sz="900" dirty="0"/>
          </a:p>
        </p:txBody>
      </p:sp>
      <p:sp>
        <p:nvSpPr>
          <p:cNvPr id="65" name="Shape 63"/>
          <p:cNvSpPr/>
          <p:nvPr/>
        </p:nvSpPr>
        <p:spPr>
          <a:xfrm>
            <a:off x="9144000" y="4818888"/>
            <a:ext cx="2587752" cy="50292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66" name="Text 64"/>
          <p:cNvSpPr/>
          <p:nvPr/>
        </p:nvSpPr>
        <p:spPr>
          <a:xfrm>
            <a:off x="9144000" y="4818888"/>
            <a:ext cx="2587752" cy="50292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≈ $29M</a:t>
            </a:r>
            <a:endParaRPr lang="en-US" sz="1100" dirty="0"/>
          </a:p>
        </p:txBody>
      </p:sp>
      <p:sp>
        <p:nvSpPr>
          <p:cNvPr id="67" name="Shape 65"/>
          <p:cNvSpPr/>
          <p:nvPr/>
        </p:nvSpPr>
        <p:spPr>
          <a:xfrm>
            <a:off x="457200" y="5394960"/>
            <a:ext cx="11274552" cy="45720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68" name="Text 66"/>
          <p:cNvSpPr/>
          <p:nvPr/>
        </p:nvSpPr>
        <p:spPr>
          <a:xfrm>
            <a:off x="640080" y="5394960"/>
            <a:ext cx="109087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≈ $29M illustrative net from ~140 developable acres — net of conservation &amp; Critical Area, additive to the resort.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 STRATEGIES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0" y="109728"/>
            <a:ext cx="6245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B5A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 HARBOR  |  CONFIDENTIAL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6446520"/>
            <a:ext cx="11274552" cy="12802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JAL Strategies  |  Justin A. Levine, Founder &amp; CEO  |  jlevine@jalstrategies.com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972800" y="6537960"/>
            <a:ext cx="75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7 / 15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600" kern="0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WHY IT SELLS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768096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These lots sell — here's why.</a:t>
            </a:r>
            <a:endParaRPr lang="en-US" sz="2500" dirty="0"/>
          </a:p>
        </p:txBody>
      </p:sp>
      <p:sp>
        <p:nvSpPr>
          <p:cNvPr id="10" name="Text 8"/>
          <p:cNvSpPr/>
          <p:nvPr/>
        </p:nvSpPr>
        <p:spPr>
          <a:xfrm>
            <a:off x="457200" y="1335024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Course and water frontage, Bay Bridge proximity, and builder appetite for entitled lots all push price and absorption. We're meeting demand that already exists.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1965960"/>
            <a:ext cx="274320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1965960"/>
            <a:ext cx="274320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Driver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200400" y="1965960"/>
            <a:ext cx="438912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4" name="Text 12"/>
          <p:cNvSpPr/>
          <p:nvPr/>
        </p:nvSpPr>
        <p:spPr>
          <a:xfrm>
            <a:off x="3200400" y="1965960"/>
            <a:ext cx="438912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Detail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7589520" y="1965960"/>
            <a:ext cx="4142232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6" name="Text 14"/>
          <p:cNvSpPr/>
          <p:nvPr/>
        </p:nvSpPr>
        <p:spPr>
          <a:xfrm>
            <a:off x="7589520" y="1965960"/>
            <a:ext cx="4142232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Why it lifts value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457200" y="2331720"/>
            <a:ext cx="2743200" cy="56692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8" name="Text 16"/>
          <p:cNvSpPr/>
          <p:nvPr/>
        </p:nvSpPr>
        <p:spPr>
          <a:xfrm>
            <a:off x="457200" y="2331720"/>
            <a:ext cx="2743200" cy="56692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Golf &amp; water frontage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3200400" y="2331720"/>
            <a:ext cx="4389120" cy="56692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0" name="Text 18"/>
          <p:cNvSpPr/>
          <p:nvPr/>
        </p:nvSpPr>
        <p:spPr>
          <a:xfrm>
            <a:off x="3200400" y="2331720"/>
            <a:ext cx="4389120" cy="56692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Lots on the River / Lakes courses &amp; Chester River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7589520" y="2331720"/>
            <a:ext cx="4142232" cy="56692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2" name="Text 20"/>
          <p:cNvSpPr/>
          <p:nvPr/>
        </p:nvSpPr>
        <p:spPr>
          <a:xfrm>
            <a:off x="7589520" y="2331720"/>
            <a:ext cx="4142232" cy="56692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Premium pricing and faster absorption vs. a raw subdivision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457200" y="2898648"/>
            <a:ext cx="2743200" cy="566928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24" name="Text 22"/>
          <p:cNvSpPr/>
          <p:nvPr/>
        </p:nvSpPr>
        <p:spPr>
          <a:xfrm>
            <a:off x="457200" y="2898648"/>
            <a:ext cx="2743200" cy="56692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Bay Bridge location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3200400" y="2898648"/>
            <a:ext cx="4389120" cy="566928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26" name="Text 24"/>
          <p:cNvSpPr/>
          <p:nvPr/>
        </p:nvSpPr>
        <p:spPr>
          <a:xfrm>
            <a:off x="3200400" y="2898648"/>
            <a:ext cx="4389120" cy="56692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Minutes to Annapolis; ~1 hr to D.C. &amp; Baltimore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7589520" y="2898648"/>
            <a:ext cx="4142232" cy="566928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28" name="Text 26"/>
          <p:cNvSpPr/>
          <p:nvPr/>
        </p:nvSpPr>
        <p:spPr>
          <a:xfrm>
            <a:off x="7589520" y="2898648"/>
            <a:ext cx="4142232" cy="56692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Commuter, second-home and weekend demand from three metros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457200" y="3465576"/>
            <a:ext cx="2743200" cy="56692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0" name="Text 28"/>
          <p:cNvSpPr/>
          <p:nvPr/>
        </p:nvSpPr>
        <p:spPr>
          <a:xfrm>
            <a:off x="457200" y="3465576"/>
            <a:ext cx="2743200" cy="56692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Chesapeake scarcity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3200400" y="3465576"/>
            <a:ext cx="4389120" cy="56692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2" name="Text 30"/>
          <p:cNvSpPr/>
          <p:nvPr/>
        </p:nvSpPr>
        <p:spPr>
          <a:xfrm>
            <a:off x="3200400" y="3465576"/>
            <a:ext cx="4389120" cy="56692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Limited new waterfront-adjacent lots on the Shore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7589520" y="3465576"/>
            <a:ext cx="4142232" cy="56692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4" name="Text 32"/>
          <p:cNvSpPr/>
          <p:nvPr/>
        </p:nvSpPr>
        <p:spPr>
          <a:xfrm>
            <a:off x="7589520" y="3465576"/>
            <a:ext cx="4142232" cy="56692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High barriers → durable, premium lot values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457200" y="4032504"/>
            <a:ext cx="2743200" cy="566928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36" name="Text 34"/>
          <p:cNvSpPr/>
          <p:nvPr/>
        </p:nvSpPr>
        <p:spPr>
          <a:xfrm>
            <a:off x="457200" y="4032504"/>
            <a:ext cx="2743200" cy="56692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Builder appetite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3200400" y="4032504"/>
            <a:ext cx="4389120" cy="566928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38" name="Text 36"/>
          <p:cNvSpPr/>
          <p:nvPr/>
        </p:nvSpPr>
        <p:spPr>
          <a:xfrm>
            <a:off x="3200400" y="4032504"/>
            <a:ext cx="4389120" cy="56692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Regional homebuilders want entitled / finished lots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7589520" y="4032504"/>
            <a:ext cx="4142232" cy="566928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40" name="Text 38"/>
          <p:cNvSpPr/>
          <p:nvPr/>
        </p:nvSpPr>
        <p:spPr>
          <a:xfrm>
            <a:off x="7589520" y="4032504"/>
            <a:ext cx="4142232" cy="56692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They pay to avoid entitlement risk — and fund the infrastructure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457200" y="4599432"/>
            <a:ext cx="2743200" cy="56692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2" name="Text 40"/>
          <p:cNvSpPr/>
          <p:nvPr/>
        </p:nvSpPr>
        <p:spPr>
          <a:xfrm>
            <a:off x="457200" y="4599432"/>
            <a:ext cx="2743200" cy="56692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Fresh owned basis</a:t>
            </a:r>
            <a:endParaRPr lang="en-US" sz="1050" dirty="0"/>
          </a:p>
        </p:txBody>
      </p:sp>
      <p:sp>
        <p:nvSpPr>
          <p:cNvPr id="43" name="Shape 41"/>
          <p:cNvSpPr/>
          <p:nvPr/>
        </p:nvSpPr>
        <p:spPr>
          <a:xfrm>
            <a:off x="3200400" y="4599432"/>
            <a:ext cx="4389120" cy="56692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4" name="Text 42"/>
          <p:cNvSpPr/>
          <p:nvPr/>
        </p:nvSpPr>
        <p:spPr>
          <a:xfrm>
            <a:off x="3200400" y="4599432"/>
            <a:ext cx="4389120" cy="56692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$25M for 870+ ac just closed</a:t>
            </a:r>
            <a:endParaRPr lang="en-US" sz="950" dirty="0"/>
          </a:p>
        </p:txBody>
      </p:sp>
      <p:sp>
        <p:nvSpPr>
          <p:cNvPr id="45" name="Shape 43"/>
          <p:cNvSpPr/>
          <p:nvPr/>
        </p:nvSpPr>
        <p:spPr>
          <a:xfrm>
            <a:off x="7589520" y="4599432"/>
            <a:ext cx="4142232" cy="56692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6" name="Text 44"/>
          <p:cNvSpPr/>
          <p:nvPr/>
        </p:nvSpPr>
        <p:spPr>
          <a:xfrm>
            <a:off x="7589520" y="4599432"/>
            <a:ext cx="4142232" cy="56692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Low land basis → development margin starts higher</a:t>
            </a:r>
            <a:endParaRPr lang="en-US" sz="950" dirty="0"/>
          </a:p>
        </p:txBody>
      </p:sp>
      <p:sp>
        <p:nvSpPr>
          <p:cNvPr id="47" name="Shape 45"/>
          <p:cNvSpPr/>
          <p:nvPr/>
        </p:nvSpPr>
        <p:spPr>
          <a:xfrm>
            <a:off x="457200" y="5943600"/>
            <a:ext cx="11274552" cy="420624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48" name="Text 46"/>
          <p:cNvSpPr/>
          <p:nvPr/>
        </p:nvSpPr>
        <p:spPr>
          <a:xfrm>
            <a:off x="640080" y="5943600"/>
            <a:ext cx="109087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Demand is already here — we're entitling supply to meet it, not creating a market.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 STRATEGIES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0" y="109728"/>
            <a:ext cx="6245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B5A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 HARBOR  |  CONFIDENTIAL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6446520"/>
            <a:ext cx="11274552" cy="12802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JAL Strategies  |  Justin A. Levine, Founder &amp; CEO  |  jlevine@jalstrategies.com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972800" y="6537960"/>
            <a:ext cx="75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8 / 15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600" kern="0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SISTER ASSET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768096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South River — the Annapolis-side anchor.</a:t>
            </a:r>
            <a:endParaRPr lang="en-US" sz="2500" dirty="0"/>
          </a:p>
        </p:txBody>
      </p:sp>
      <p:sp>
        <p:nvSpPr>
          <p:cNvPr id="10" name="Text 8"/>
          <p:cNvSpPr/>
          <p:nvPr/>
        </p:nvSpPr>
        <p:spPr>
          <a:xfrm>
            <a:off x="457200" y="1335024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Acquired in the same $25M Capital H6 deal: an established 18-hole private club near Annapolis with 600+ member families — a membership and events engine, and the next place to run the playbook.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1874520"/>
            <a:ext cx="5486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965960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18 holes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2651760" y="1984248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Private club (Brian Ault, 1996)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2651760" y="2331720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Edgewater, MD — on the South River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7200" y="2852928"/>
            <a:ext cx="5486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" y="2944368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600+</a:t>
            </a:r>
            <a:endParaRPr lang="en-US" sz="2700" dirty="0"/>
          </a:p>
        </p:txBody>
      </p:sp>
      <p:sp>
        <p:nvSpPr>
          <p:cNvPr id="17" name="Text 15"/>
          <p:cNvSpPr/>
          <p:nvPr/>
        </p:nvSpPr>
        <p:spPr>
          <a:xfrm>
            <a:off x="2651760" y="2962656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Member families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2651760" y="3310128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Recurring dues + a built-in events base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57200" y="3831336"/>
            <a:ext cx="5486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3922776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165 ac</a:t>
            </a:r>
            <a:endParaRPr lang="en-US" sz="2700" dirty="0"/>
          </a:p>
        </p:txBody>
      </p:sp>
      <p:sp>
        <p:nvSpPr>
          <p:cNvPr id="21" name="Text 19"/>
          <p:cNvSpPr/>
          <p:nvPr/>
        </p:nvSpPr>
        <p:spPr>
          <a:xfrm>
            <a:off x="2651760" y="3941064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Club grounds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2651760" y="4288536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8 lakes · 14 environmentally protected areas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57200" y="4809744"/>
            <a:ext cx="5486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4901184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Same deal</a:t>
            </a:r>
            <a:endParaRPr lang="en-US" sz="2200" dirty="0"/>
          </a:p>
        </p:txBody>
      </p:sp>
      <p:sp>
        <p:nvSpPr>
          <p:cNvPr id="25" name="Text 23"/>
          <p:cNvSpPr/>
          <p:nvPr/>
        </p:nvSpPr>
        <p:spPr>
          <a:xfrm>
            <a:off x="2651760" y="4919472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Part of the $25M H6 buy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2651760" y="5266944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One platform, two assets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6400800" y="1874520"/>
            <a:ext cx="5330952" cy="411480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28" name="Shape 26"/>
          <p:cNvSpPr/>
          <p:nvPr/>
        </p:nvSpPr>
        <p:spPr>
          <a:xfrm>
            <a:off x="6400800" y="1874520"/>
            <a:ext cx="109728" cy="4114800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29" name="Text 27"/>
          <p:cNvSpPr/>
          <p:nvPr/>
        </p:nvSpPr>
        <p:spPr>
          <a:xfrm>
            <a:off x="6766560" y="2039112"/>
            <a:ext cx="4782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400" kern="0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ANGLE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6766560" y="2386584"/>
            <a:ext cx="476402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Membership and events first; land where diligence supports it.</a:t>
            </a:r>
            <a:endParaRPr lang="en-US" sz="1450" dirty="0"/>
          </a:p>
        </p:txBody>
      </p:sp>
      <p:sp>
        <p:nvSpPr>
          <p:cNvPr id="31" name="Text 29"/>
          <p:cNvSpPr/>
          <p:nvPr/>
        </p:nvSpPr>
        <p:spPr>
          <a:xfrm>
            <a:off x="6766560" y="3246120"/>
            <a:ext cx="4764024" cy="637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600+ member families — recurring dues, plus an events / dining base to grow.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6766560" y="3920490"/>
            <a:ext cx="4764024" cy="637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Annapolis-side, west of the Bay — an affluent, supply-constrained catchment.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766560" y="4594860"/>
            <a:ext cx="4764024" cy="637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The Bistro, fitness, simulator lounge &amp; range already drive non-golf revenue.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766560" y="5269230"/>
            <a:ext cx="4764024" cy="637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Assess limited parcel entitlement without disturbing the member experience.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 STRATEGIES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0" y="109728"/>
            <a:ext cx="6245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B5A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 HARBOR  |  CONFIDENTIAL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6446520"/>
            <a:ext cx="11274552" cy="12802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JAL Strategies  |  Justin A. Levine, Founder &amp; CEO  |  jlevine@jalstrategies.com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972800" y="6537960"/>
            <a:ext cx="75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9 / 15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600" kern="0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CAPITAL STRATEGY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768096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Capital-light by design.</a:t>
            </a:r>
            <a:endParaRPr lang="en-US" sz="2500" dirty="0"/>
          </a:p>
        </p:txBody>
      </p:sp>
      <p:sp>
        <p:nvSpPr>
          <p:cNvPr id="10" name="Text 8"/>
          <p:cNvSpPr/>
          <p:nvPr/>
        </p:nvSpPr>
        <p:spPr>
          <a:xfrm>
            <a:off x="457200" y="1335024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The land bank barely needs capital: soft costs to entitle, then builders fund the horizontal work and buy the lots. Cash in is small; proceeds come fast.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1874520"/>
            <a:ext cx="553212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965960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$1–3M</a:t>
            </a:r>
            <a:endParaRPr lang="en-US" sz="2700" dirty="0"/>
          </a:p>
        </p:txBody>
      </p:sp>
      <p:sp>
        <p:nvSpPr>
          <p:cNvPr id="13" name="Text 11"/>
          <p:cNvSpPr/>
          <p:nvPr/>
        </p:nvSpPr>
        <p:spPr>
          <a:xfrm>
            <a:off x="2651760" y="1984248"/>
            <a:ext cx="3154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Soft costs to start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2651760" y="2331720"/>
            <a:ext cx="3154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Entitlements, planning &amp; approvals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7200" y="2852928"/>
            <a:ext cx="553212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" y="2944368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Land</a:t>
            </a:r>
            <a:endParaRPr lang="en-US" sz="2700" dirty="0"/>
          </a:p>
        </p:txBody>
      </p:sp>
      <p:sp>
        <p:nvSpPr>
          <p:cNvPr id="17" name="Text 15"/>
          <p:cNvSpPr/>
          <p:nvPr/>
        </p:nvSpPr>
        <p:spPr>
          <a:xfrm>
            <a:off x="2651760" y="2962656"/>
            <a:ext cx="3154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= the equity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2651760" y="3310128"/>
            <a:ext cx="3154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Acreage held by Capital H6 — already acquired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400800" y="1874520"/>
            <a:ext cx="5330952" cy="1847088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20" name="Shape 18"/>
          <p:cNvSpPr/>
          <p:nvPr/>
        </p:nvSpPr>
        <p:spPr>
          <a:xfrm>
            <a:off x="6400800" y="1874520"/>
            <a:ext cx="109728" cy="1847088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21" name="Text 19"/>
          <p:cNvSpPr/>
          <p:nvPr/>
        </p:nvSpPr>
        <p:spPr>
          <a:xfrm>
            <a:off x="6766560" y="201168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400" kern="0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PRINCIPLE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6766560" y="228600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You carry approvals, not construction.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6766560" y="2706624"/>
            <a:ext cx="4937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Builders take the infrastructure burden — sewer, roads, utilities — and pay for finished lots. Your cash at risk stays small and staged.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457200" y="3931920"/>
            <a:ext cx="274320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25" name="Text 23"/>
          <p:cNvSpPr/>
          <p:nvPr/>
        </p:nvSpPr>
        <p:spPr>
          <a:xfrm>
            <a:off x="457200" y="3931920"/>
            <a:ext cx="274320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Phase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3200400" y="3931920"/>
            <a:ext cx="301752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27" name="Text 25"/>
          <p:cNvSpPr/>
          <p:nvPr/>
        </p:nvSpPr>
        <p:spPr>
          <a:xfrm>
            <a:off x="3200400" y="3931920"/>
            <a:ext cx="301752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Approach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6217920" y="3931920"/>
            <a:ext cx="201168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29" name="Text 27"/>
          <p:cNvSpPr/>
          <p:nvPr/>
        </p:nvSpPr>
        <p:spPr>
          <a:xfrm>
            <a:off x="6217920" y="3931920"/>
            <a:ext cx="201168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Your capital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8229600" y="3931920"/>
            <a:ext cx="3502152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1" name="Text 29"/>
          <p:cNvSpPr/>
          <p:nvPr/>
        </p:nvSpPr>
        <p:spPr>
          <a:xfrm>
            <a:off x="8229600" y="3931920"/>
            <a:ext cx="3502152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Who funds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457200" y="4297680"/>
            <a:ext cx="2743200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3" name="Text 31"/>
          <p:cNvSpPr/>
          <p:nvPr/>
        </p:nvSpPr>
        <p:spPr>
          <a:xfrm>
            <a:off x="457200" y="4297680"/>
            <a:ext cx="2743200" cy="45720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Phase 1 — Entitle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3200400" y="4297680"/>
            <a:ext cx="3017520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5" name="Text 33"/>
          <p:cNvSpPr/>
          <p:nvPr/>
        </p:nvSpPr>
        <p:spPr>
          <a:xfrm>
            <a:off x="3200400" y="4297680"/>
            <a:ext cx="3017520" cy="45720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Approvals for lots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6217920" y="4297680"/>
            <a:ext cx="2011680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7" name="Text 35"/>
          <p:cNvSpPr/>
          <p:nvPr/>
        </p:nvSpPr>
        <p:spPr>
          <a:xfrm>
            <a:off x="6217920" y="4297680"/>
            <a:ext cx="2011680" cy="45720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$1–3M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8229600" y="4297680"/>
            <a:ext cx="3502152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9" name="Text 37"/>
          <p:cNvSpPr/>
          <p:nvPr/>
        </p:nvSpPr>
        <p:spPr>
          <a:xfrm>
            <a:off x="8229600" y="4297680"/>
            <a:ext cx="3502152" cy="45720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JAL + H6 dev co (skin in the game)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57200" y="4754880"/>
            <a:ext cx="2743200" cy="45720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41" name="Text 39"/>
          <p:cNvSpPr/>
          <p:nvPr/>
        </p:nvSpPr>
        <p:spPr>
          <a:xfrm>
            <a:off x="457200" y="4754880"/>
            <a:ext cx="2743200" cy="45720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Phase 2 — Builder takedown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3200400" y="4754880"/>
            <a:ext cx="3017520" cy="45720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43" name="Text 41"/>
          <p:cNvSpPr/>
          <p:nvPr/>
        </p:nvSpPr>
        <p:spPr>
          <a:xfrm>
            <a:off x="3200400" y="4754880"/>
            <a:ext cx="3017520" cy="45720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Horizontal + lot purchase</a:t>
            </a:r>
            <a:endParaRPr lang="en-US" sz="950" dirty="0"/>
          </a:p>
        </p:txBody>
      </p:sp>
      <p:sp>
        <p:nvSpPr>
          <p:cNvPr id="44" name="Shape 42"/>
          <p:cNvSpPr/>
          <p:nvPr/>
        </p:nvSpPr>
        <p:spPr>
          <a:xfrm>
            <a:off x="6217920" y="4754880"/>
            <a:ext cx="2011680" cy="45720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45" name="Text 43"/>
          <p:cNvSpPr/>
          <p:nvPr/>
        </p:nvSpPr>
        <p:spPr>
          <a:xfrm>
            <a:off x="6217920" y="4754880"/>
            <a:ext cx="2011680" cy="45720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~$0 to you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8229600" y="4754880"/>
            <a:ext cx="3502152" cy="45720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47" name="Text 45"/>
          <p:cNvSpPr/>
          <p:nvPr/>
        </p:nvSpPr>
        <p:spPr>
          <a:xfrm>
            <a:off x="8229600" y="4754880"/>
            <a:ext cx="3502152" cy="45720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Regional homebuilder funds &amp; buys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457200" y="5212080"/>
            <a:ext cx="2743200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9" name="Text 47"/>
          <p:cNvSpPr/>
          <p:nvPr/>
        </p:nvSpPr>
        <p:spPr>
          <a:xfrm>
            <a:off x="457200" y="5212080"/>
            <a:ext cx="2743200" cy="45720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Phase 3 — Recycle</a:t>
            </a:r>
            <a:endParaRPr lang="en-US" sz="1000" dirty="0"/>
          </a:p>
        </p:txBody>
      </p:sp>
      <p:sp>
        <p:nvSpPr>
          <p:cNvPr id="50" name="Shape 48"/>
          <p:cNvSpPr/>
          <p:nvPr/>
        </p:nvSpPr>
        <p:spPr>
          <a:xfrm>
            <a:off x="3200400" y="5212080"/>
            <a:ext cx="3017520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1" name="Text 49"/>
          <p:cNvSpPr/>
          <p:nvPr/>
        </p:nvSpPr>
        <p:spPr>
          <a:xfrm>
            <a:off x="3200400" y="5212080"/>
            <a:ext cx="3017520" cy="45720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Proceeds redeployed</a:t>
            </a:r>
            <a:endParaRPr lang="en-US" sz="950" dirty="0"/>
          </a:p>
        </p:txBody>
      </p:sp>
      <p:sp>
        <p:nvSpPr>
          <p:cNvPr id="52" name="Shape 50"/>
          <p:cNvSpPr/>
          <p:nvPr/>
        </p:nvSpPr>
        <p:spPr>
          <a:xfrm>
            <a:off x="6217920" y="5212080"/>
            <a:ext cx="2011680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3" name="Text 51"/>
          <p:cNvSpPr/>
          <p:nvPr/>
        </p:nvSpPr>
        <p:spPr>
          <a:xfrm>
            <a:off x="6217920" y="5212080"/>
            <a:ext cx="2011680" cy="45720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Self-funding</a:t>
            </a:r>
            <a:endParaRPr lang="en-US" sz="1000" dirty="0"/>
          </a:p>
        </p:txBody>
      </p:sp>
      <p:sp>
        <p:nvSpPr>
          <p:cNvPr id="54" name="Shape 52"/>
          <p:cNvSpPr/>
          <p:nvPr/>
        </p:nvSpPr>
        <p:spPr>
          <a:xfrm>
            <a:off x="8229600" y="5212080"/>
            <a:ext cx="3502152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5" name="Text 53"/>
          <p:cNvSpPr/>
          <p:nvPr/>
        </p:nvSpPr>
        <p:spPr>
          <a:xfrm>
            <a:off x="8229600" y="5212080"/>
            <a:ext cx="3502152" cy="45720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Next parcel / South River / H6 program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457200" y="5943600"/>
            <a:ext cx="11274552" cy="420624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57" name="Text 55"/>
          <p:cNvSpPr/>
          <p:nvPr/>
        </p:nvSpPr>
        <p:spPr>
          <a:xfrm>
            <a:off x="640080" y="5943600"/>
            <a:ext cx="109087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Minimal capital at risk — and the land bank seeds everything that comes after.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 STRATEGIES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0" y="109728"/>
            <a:ext cx="6245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B5A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 HARBOR  |  CONFIDENTIAL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6446520"/>
            <a:ext cx="11274552" cy="12802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JAL Strategies  |  Justin A. Levine, Founder &amp; CEO  |  jlevine@jalstrategies.com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972800" y="6537960"/>
            <a:ext cx="75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10 / 15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600" kern="0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CAPITAL ACCESS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768096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 bring the capital relationships.</a:t>
            </a:r>
            <a:endParaRPr lang="en-US" sz="2500" dirty="0"/>
          </a:p>
        </p:txBody>
      </p:sp>
      <p:sp>
        <p:nvSpPr>
          <p:cNvPr id="10" name="Text 8"/>
          <p:cNvSpPr/>
          <p:nvPr/>
        </p:nvSpPr>
        <p:spPr>
          <a:xfrm>
            <a:off x="457200" y="1335024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When a parcel does call for equity or debt — or to move faster — here's the access. Active mandates, not a paper Rolodex.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1874520"/>
            <a:ext cx="5486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965960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$14M</a:t>
            </a:r>
            <a:endParaRPr lang="en-US" sz="2700" dirty="0"/>
          </a:p>
        </p:txBody>
      </p:sp>
      <p:sp>
        <p:nvSpPr>
          <p:cNvPr id="13" name="Text 11"/>
          <p:cNvSpPr/>
          <p:nvPr/>
        </p:nvSpPr>
        <p:spPr>
          <a:xfrm>
            <a:off x="2651760" y="1984248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Equity being raised now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2651760" y="2331720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Houston retail — family-office capital, closing summer 2026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7200" y="2852928"/>
            <a:ext cx="5486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" y="2944368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$19.5M</a:t>
            </a:r>
            <a:endParaRPr lang="en-US" sz="2700" dirty="0"/>
          </a:p>
        </p:txBody>
      </p:sp>
      <p:sp>
        <p:nvSpPr>
          <p:cNvPr id="17" name="Text 15"/>
          <p:cNvSpPr/>
          <p:nvPr/>
        </p:nvSpPr>
        <p:spPr>
          <a:xfrm>
            <a:off x="2651760" y="2962656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Debt already secured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2651760" y="3310128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Lender committed on the same transaction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57200" y="3831336"/>
            <a:ext cx="5486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3922776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Mid-20s%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2651760" y="3941064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Target development IRR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2651760" y="4288536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Investors expect mid-to-high 20s out-of-state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57200" y="4809744"/>
            <a:ext cx="5486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4901184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$6.1B</a:t>
            </a:r>
            <a:endParaRPr lang="en-US" sz="2700" dirty="0"/>
          </a:p>
        </p:txBody>
      </p:sp>
      <p:sp>
        <p:nvSpPr>
          <p:cNvPr id="25" name="Text 23"/>
          <p:cNvSpPr/>
          <p:nvPr/>
        </p:nvSpPr>
        <p:spPr>
          <a:xfrm>
            <a:off x="2651760" y="4919472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Career transaction volume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2651760" y="5266944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Across debt &amp; equity — Blackstone + Levcor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6400800" y="1874520"/>
            <a:ext cx="5330952" cy="411480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28" name="Shape 26"/>
          <p:cNvSpPr/>
          <p:nvPr/>
        </p:nvSpPr>
        <p:spPr>
          <a:xfrm>
            <a:off x="6400800" y="1874520"/>
            <a:ext cx="109728" cy="4114800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29" name="Text 27"/>
          <p:cNvSpPr/>
          <p:nvPr/>
        </p:nvSpPr>
        <p:spPr>
          <a:xfrm>
            <a:off x="6766560" y="2039112"/>
            <a:ext cx="4782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400" kern="0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NETWORK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6766560" y="2386584"/>
            <a:ext cx="476402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Where I place capital — equity and debt.</a:t>
            </a:r>
            <a:endParaRPr lang="en-US" sz="1450" dirty="0"/>
          </a:p>
        </p:txBody>
      </p:sp>
      <p:sp>
        <p:nvSpPr>
          <p:cNvPr id="31" name="Text 29"/>
          <p:cNvSpPr/>
          <p:nvPr/>
        </p:nvSpPr>
        <p:spPr>
          <a:xfrm>
            <a:off x="6766560" y="3246120"/>
            <a:ext cx="4764024" cy="637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Family offices (Texas) — my core equity base; they'll travel for the right risk-adjusted return.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6766560" y="3920490"/>
            <a:ext cx="4764024" cy="637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Institutional equity — Angelo Gordon and peer private-equity relationships.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766560" y="4594860"/>
            <a:ext cx="4764024" cy="637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National debt — Goldman Sachs (met two weeks ago; national platform, Dallas team) + specialty lenders.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766560" y="5269230"/>
            <a:ext cx="4764024" cy="637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The bar for out-of-state development is mid-to-high-20s IRR — the fresh land basis helps clear it.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 STRATEGIES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0" y="109728"/>
            <a:ext cx="6245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B5A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 HARBOR  |  CONFIDENTIAL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6446520"/>
            <a:ext cx="11274552" cy="12802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JAL Strategies  |  Justin A. Levine, Founder &amp; CEO  |  jlevine@jalstrategies.com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972800" y="6537960"/>
            <a:ext cx="75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11 / 15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600" kern="0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STRUCTURE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768096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 vehicle inside the H6 platform.</a:t>
            </a:r>
            <a:endParaRPr lang="en-US" sz="2500" dirty="0"/>
          </a:p>
        </p:txBody>
      </p:sp>
      <p:sp>
        <p:nvSpPr>
          <p:cNvPr id="10" name="Text 8"/>
          <p:cNvSpPr/>
          <p:nvPr/>
        </p:nvSpPr>
        <p:spPr>
          <a:xfrm>
            <a:off x="457200" y="1335024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Capital H6 owns the land. Spin the developable parcels into a land-development entity — H6 contributes the acreage as equity; JAL co-invests and runs entitlement, capital and lot sales alongside your team.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1783080"/>
            <a:ext cx="11274552" cy="786384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2" name="Shape 10"/>
          <p:cNvSpPr/>
          <p:nvPr/>
        </p:nvSpPr>
        <p:spPr>
          <a:xfrm>
            <a:off x="457200" y="1783080"/>
            <a:ext cx="109728" cy="786384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13" name="Text 11"/>
          <p:cNvSpPr/>
          <p:nvPr/>
        </p:nvSpPr>
        <p:spPr>
          <a:xfrm>
            <a:off x="777240" y="1883664"/>
            <a:ext cx="7955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 HARBOR LAND PARTNERS, LLC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777240" y="2249424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Working name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8595360" y="1783080"/>
            <a:ext cx="3108960" cy="786384"/>
          </a:xfrm>
          <a:prstGeom prst="rect">
            <a:avLst/>
          </a:prstGeom>
          <a:noFill/>
          <a:ln/>
        </p:spPr>
        <p:txBody>
          <a:bodyPr wrap="square" lIns="25400" tIns="76200" rIns="127000" bIns="2540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Land-development vehicle under Capital H6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57200" y="2743200"/>
            <a:ext cx="3593592" cy="260604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85800" y="2907792"/>
            <a:ext cx="3136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LAND = EQUITY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85800" y="3200400"/>
            <a:ext cx="31363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Owned</a:t>
            </a:r>
            <a:endParaRPr lang="en-US" sz="3000" dirty="0"/>
          </a:p>
        </p:txBody>
      </p:sp>
      <p:sp>
        <p:nvSpPr>
          <p:cNvPr id="19" name="Text 17"/>
          <p:cNvSpPr/>
          <p:nvPr/>
        </p:nvSpPr>
        <p:spPr>
          <a:xfrm>
            <a:off x="685800" y="3840480"/>
            <a:ext cx="313639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Developable acreage contributed by Capital H6 at appraised value — just acquired, at a low basis.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224528" y="2743200"/>
            <a:ext cx="3593592" cy="260604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453128" y="2907792"/>
            <a:ext cx="3136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CAPITAL STACK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453128" y="3163824"/>
            <a:ext cx="31363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Illustrative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4453128" y="3456432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Land equity (H6)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6601968" y="3456432"/>
            <a:ext cx="9875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Contributed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4453128" y="3785616"/>
            <a:ext cx="3136392" cy="9144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26" name="Text 24"/>
          <p:cNvSpPr/>
          <p:nvPr/>
        </p:nvSpPr>
        <p:spPr>
          <a:xfrm>
            <a:off x="4453128" y="3959352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Builder-funded infra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6601968" y="3959352"/>
            <a:ext cx="9875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Horizontal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4453128" y="4288536"/>
            <a:ext cx="3136392" cy="9144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29" name="Text 27"/>
          <p:cNvSpPr/>
          <p:nvPr/>
        </p:nvSpPr>
        <p:spPr>
          <a:xfrm>
            <a:off x="4453128" y="4462272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Cash equity (JAL + LP)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6601968" y="4462272"/>
            <a:ext cx="9875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Soft costs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4453128" y="4791456"/>
            <a:ext cx="3136392" cy="9144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32" name="Shape 30"/>
          <p:cNvSpPr/>
          <p:nvPr/>
        </p:nvSpPr>
        <p:spPr>
          <a:xfrm>
            <a:off x="7991856" y="2743200"/>
            <a:ext cx="3593592" cy="260604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3" name="Shape 31"/>
          <p:cNvSpPr/>
          <p:nvPr/>
        </p:nvSpPr>
        <p:spPr>
          <a:xfrm>
            <a:off x="7991856" y="2743200"/>
            <a:ext cx="91440" cy="2606040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34" name="Text 32"/>
          <p:cNvSpPr/>
          <p:nvPr/>
        </p:nvSpPr>
        <p:spPr>
          <a:xfrm>
            <a:off x="8220456" y="2907792"/>
            <a:ext cx="3136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ROLES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8220456" y="3310128"/>
            <a:ext cx="31363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Josh McCallen / VIVÂMEE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8220456" y="3557016"/>
            <a:ext cx="31363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Resort owner-operator</a:t>
            </a:r>
            <a:endParaRPr lang="en-US" sz="950" dirty="0"/>
          </a:p>
        </p:txBody>
      </p:sp>
      <p:sp>
        <p:nvSpPr>
          <p:cNvPr id="37" name="Text 35"/>
          <p:cNvSpPr/>
          <p:nvPr/>
        </p:nvSpPr>
        <p:spPr>
          <a:xfrm>
            <a:off x="8220456" y="3968496"/>
            <a:ext cx="31363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Bob Connell / Capital H6</a:t>
            </a:r>
            <a:endParaRPr lang="en-US" sz="1050" dirty="0"/>
          </a:p>
        </p:txBody>
      </p:sp>
      <p:sp>
        <p:nvSpPr>
          <p:cNvPr id="38" name="Text 36"/>
          <p:cNvSpPr/>
          <p:nvPr/>
        </p:nvSpPr>
        <p:spPr>
          <a:xfrm>
            <a:off x="8220456" y="4215384"/>
            <a:ext cx="31363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Development lead (H6 GP)</a:t>
            </a:r>
            <a:endParaRPr lang="en-US" sz="950" dirty="0"/>
          </a:p>
        </p:txBody>
      </p:sp>
      <p:sp>
        <p:nvSpPr>
          <p:cNvPr id="39" name="Text 37"/>
          <p:cNvSpPr/>
          <p:nvPr/>
        </p:nvSpPr>
        <p:spPr>
          <a:xfrm>
            <a:off x="8220456" y="4626864"/>
            <a:ext cx="31363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 Strategies</a:t>
            </a:r>
            <a:endParaRPr lang="en-US" sz="1050" dirty="0"/>
          </a:p>
        </p:txBody>
      </p:sp>
      <p:sp>
        <p:nvSpPr>
          <p:cNvPr id="40" name="Text 38"/>
          <p:cNvSpPr/>
          <p:nvPr/>
        </p:nvSpPr>
        <p:spPr>
          <a:xfrm>
            <a:off x="8220456" y="4873752"/>
            <a:ext cx="31363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Capital, entitlement &amp; sales — co-invests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457200" y="5943600"/>
            <a:ext cx="11274552" cy="420624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42" name="Text 40"/>
          <p:cNvSpPr/>
          <p:nvPr/>
        </p:nvSpPr>
        <p:spPr>
          <a:xfrm>
            <a:off x="640080" y="5943600"/>
            <a:ext cx="109087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JAL takes skin in the game — co-investing alongside, not just advising.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 STRATEGIES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0" y="109728"/>
            <a:ext cx="6245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B5A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 HARBOR  |  CONFIDENTIAL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6446520"/>
            <a:ext cx="11274552" cy="12802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JAL Strategies  |  Justin A. Levine, Founder &amp; CEO  |  jlevine@jalstrategies.com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972800" y="6537960"/>
            <a:ext cx="75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12 / 15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600" kern="0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ENGAGEMENT  ·  FOR DISCUSSION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768096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How I'd want to be engaged.</a:t>
            </a:r>
            <a:endParaRPr lang="en-US" sz="2500" dirty="0"/>
          </a:p>
        </p:txBody>
      </p:sp>
      <p:sp>
        <p:nvSpPr>
          <p:cNvPr id="10" name="Text 8"/>
          <p:cNvSpPr/>
          <p:nvPr/>
        </p:nvSpPr>
        <p:spPr>
          <a:xfrm>
            <a:off x="457200" y="1335024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You asked how I'd like to be comped. My preference matches yours — a small base to fund the work, then real alignment on the value we create. For discussion only.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1783080"/>
            <a:ext cx="11274552" cy="86868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2" name="Shape 10"/>
          <p:cNvSpPr/>
          <p:nvPr/>
        </p:nvSpPr>
        <p:spPr>
          <a:xfrm>
            <a:off x="457200" y="1783080"/>
            <a:ext cx="109728" cy="868680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13" name="Text 11"/>
          <p:cNvSpPr/>
          <p:nvPr/>
        </p:nvSpPr>
        <p:spPr>
          <a:xfrm>
            <a:off x="777240" y="1847088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Hybrid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3291840" y="1883664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Retainer + success fees + carried interest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3291840" y="2249424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Aligned to lot-sale value created — not a flat consulting check.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8778240" y="1783080"/>
            <a:ext cx="2953512" cy="868680"/>
          </a:xfrm>
          <a:prstGeom prst="rect">
            <a:avLst/>
          </a:prstGeom>
          <a:noFill/>
          <a:ln/>
        </p:spPr>
        <p:txBody>
          <a:bodyPr wrap="square" lIns="25400" tIns="76200" rIns="127000" bIns="25400" rtlCol="0" anchor="ctr"/>
          <a:lstStyle/>
          <a:p>
            <a:pPr algn="r" indent="0" marL="0">
              <a:lnSpc>
                <a:spcPts val="1500"/>
              </a:lnSpc>
              <a:buNone/>
            </a:pPr>
            <a:r>
              <a:rPr lang="en-US" sz="1300" b="1" dirty="0">
                <a:solidFill>
                  <a:srgbClr val="8C9BB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Skin in</a:t>
            </a:r>
            <a:endParaRPr lang="en-US" sz="1300" dirty="0"/>
          </a:p>
          <a:p>
            <a:pPr algn="r" indent="0" marL="0">
              <a:lnSpc>
                <a:spcPts val="1500"/>
              </a:lnSpc>
              <a:buNone/>
            </a:pPr>
            <a:r>
              <a:rPr lang="en-US" sz="1300" b="1" dirty="0">
                <a:solidFill>
                  <a:srgbClr val="8C9BB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game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457200" y="2880360"/>
            <a:ext cx="310896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8" name="Text 16"/>
          <p:cNvSpPr/>
          <p:nvPr/>
        </p:nvSpPr>
        <p:spPr>
          <a:xfrm>
            <a:off x="457200" y="2880360"/>
            <a:ext cx="310896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Component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566160" y="2880360"/>
            <a:ext cx="274320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20" name="Text 18"/>
          <p:cNvSpPr/>
          <p:nvPr/>
        </p:nvSpPr>
        <p:spPr>
          <a:xfrm>
            <a:off x="3566160" y="2880360"/>
            <a:ext cx="274320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Terms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6309360" y="2880360"/>
            <a:ext cx="5422392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22" name="Text 20"/>
          <p:cNvSpPr/>
          <p:nvPr/>
        </p:nvSpPr>
        <p:spPr>
          <a:xfrm>
            <a:off x="6309360" y="2880360"/>
            <a:ext cx="5422392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What it covers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457200" y="3246120"/>
            <a:ext cx="3108960" cy="7132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4" name="Text 22"/>
          <p:cNvSpPr/>
          <p:nvPr/>
        </p:nvSpPr>
        <p:spPr>
          <a:xfrm>
            <a:off x="457200" y="3246120"/>
            <a:ext cx="3108960" cy="71323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Advisory retainer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3566160" y="3246120"/>
            <a:ext cx="2743200" cy="7132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6" name="Text 24"/>
          <p:cNvSpPr/>
          <p:nvPr/>
        </p:nvSpPr>
        <p:spPr>
          <a:xfrm>
            <a:off x="3566160" y="3246120"/>
            <a:ext cx="2743200" cy="71323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$15–25K / mo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309360" y="3246120"/>
            <a:ext cx="5422392" cy="7132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8" name="Text 26"/>
          <p:cNvSpPr/>
          <p:nvPr/>
        </p:nvSpPr>
        <p:spPr>
          <a:xfrm>
            <a:off x="6309360" y="3246120"/>
            <a:ext cx="5422392" cy="71323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Funds entitlement strategy, underwriting &amp; capital sourcing during an initial term (creditable against success fees)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457200" y="3959352"/>
            <a:ext cx="3108960" cy="713232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30" name="Text 28"/>
          <p:cNvSpPr/>
          <p:nvPr/>
        </p:nvSpPr>
        <p:spPr>
          <a:xfrm>
            <a:off x="457200" y="3959352"/>
            <a:ext cx="3108960" cy="71323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Capital placement fee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3566160" y="3959352"/>
            <a:ext cx="2743200" cy="713232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32" name="Text 30"/>
          <p:cNvSpPr/>
          <p:nvPr/>
        </p:nvSpPr>
        <p:spPr>
          <a:xfrm>
            <a:off x="3566160" y="3959352"/>
            <a:ext cx="2743200" cy="71323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1% debt · 2–3% equity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6309360" y="3959352"/>
            <a:ext cx="5422392" cy="713232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34" name="Text 32"/>
          <p:cNvSpPr/>
          <p:nvPr/>
        </p:nvSpPr>
        <p:spPr>
          <a:xfrm>
            <a:off x="6309360" y="3959352"/>
            <a:ext cx="5422392" cy="71323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Success fee if and when we place debt or equity for a parcel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457200" y="4672584"/>
            <a:ext cx="3108960" cy="7132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6" name="Text 34"/>
          <p:cNvSpPr/>
          <p:nvPr/>
        </p:nvSpPr>
        <p:spPr>
          <a:xfrm>
            <a:off x="457200" y="4672584"/>
            <a:ext cx="3108960" cy="71323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Carried interest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3566160" y="4672584"/>
            <a:ext cx="2743200" cy="7132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8" name="Text 36"/>
          <p:cNvSpPr/>
          <p:nvPr/>
        </p:nvSpPr>
        <p:spPr>
          <a:xfrm>
            <a:off x="3566160" y="4672584"/>
            <a:ext cx="2743200" cy="71323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Co-GP promote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6309360" y="4672584"/>
            <a:ext cx="5422392" cy="7132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0" name="Text 38"/>
          <p:cNvSpPr/>
          <p:nvPr/>
        </p:nvSpPr>
        <p:spPr>
          <a:xfrm>
            <a:off x="6309360" y="4672584"/>
            <a:ext cx="5422392" cy="71323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Share of value created on lot sales; JAL co-invests its own capital alongside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457200" y="5943600"/>
            <a:ext cx="11274552" cy="420624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42" name="Text 40"/>
          <p:cNvSpPr/>
          <p:nvPr/>
        </p:nvSpPr>
        <p:spPr>
          <a:xfrm>
            <a:off x="640080" y="5943600"/>
            <a:ext cx="109087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The structure flexes to the deal — the point is alignment: I win when you win.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4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 STRATEGIES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0" y="109728"/>
            <a:ext cx="6245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B5A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 HARBOR  |  CONFIDENTIAL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6446520"/>
            <a:ext cx="11274552" cy="12802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JAL Strategies  |  Justin A. Levine, Founder &amp; CEO  |  jlevine@jalstrategies.com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972800" y="6537960"/>
            <a:ext cx="75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13 / 15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600" kern="0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WHY JAL AS YOUR PARTNER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768096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Pedigree. Relationships. Operator.</a:t>
            </a:r>
            <a:endParaRPr lang="en-US" sz="2500" dirty="0"/>
          </a:p>
        </p:txBody>
      </p:sp>
      <p:sp>
        <p:nvSpPr>
          <p:cNvPr id="10" name="Text 8"/>
          <p:cNvSpPr/>
          <p:nvPr/>
        </p:nvSpPr>
        <p:spPr>
          <a:xfrm>
            <a:off x="457200" y="1335024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Institutional capital-markets pedigree, an active investor network, and hands-on development &amp; asset-management experience.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1691640"/>
            <a:ext cx="4572000" cy="434340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2" name="Shape 10"/>
          <p:cNvSpPr/>
          <p:nvPr/>
        </p:nvSpPr>
        <p:spPr>
          <a:xfrm>
            <a:off x="457200" y="1691640"/>
            <a:ext cx="109728" cy="4343400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13" name="Text 11"/>
          <p:cNvSpPr/>
          <p:nvPr/>
        </p:nvSpPr>
        <p:spPr>
          <a:xfrm>
            <a:off x="731520" y="1856232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400" kern="0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JUSTIN A. LEVINE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731520" y="2157984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Founder &amp; CEO, JAL Strategies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731520" y="274320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8C9BB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$6.1B</a:t>
            </a:r>
            <a:endParaRPr lang="en-US" sz="2100" dirty="0"/>
          </a:p>
        </p:txBody>
      </p:sp>
      <p:sp>
        <p:nvSpPr>
          <p:cNvPr id="16" name="Text 14"/>
          <p:cNvSpPr/>
          <p:nvPr/>
        </p:nvSpPr>
        <p:spPr>
          <a:xfrm>
            <a:off x="2606040" y="2770632"/>
            <a:ext cx="2240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150"/>
              </a:lnSpc>
              <a:buNone/>
            </a:pPr>
            <a:r>
              <a:rPr lang="en-US" sz="9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career transaction volume ($5.5B Blackstone + $600M Levcor)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31520" y="352044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8C9BB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$600M</a:t>
            </a:r>
            <a:endParaRPr lang="en-US" sz="2100" dirty="0"/>
          </a:p>
        </p:txBody>
      </p:sp>
      <p:sp>
        <p:nvSpPr>
          <p:cNvPr id="18" name="Text 16"/>
          <p:cNvSpPr/>
          <p:nvPr/>
        </p:nvSpPr>
        <p:spPr>
          <a:xfrm>
            <a:off x="2606040" y="3547872"/>
            <a:ext cx="2240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150"/>
              </a:lnSpc>
              <a:buNone/>
            </a:pPr>
            <a:r>
              <a:rPr lang="en-US" sz="9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debt + equity allocated across 26 CRE deals at Levcor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731520" y="429768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8C9BB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3.9M SF</a:t>
            </a:r>
            <a:endParaRPr lang="en-US" sz="2100" dirty="0"/>
          </a:p>
        </p:txBody>
      </p:sp>
      <p:sp>
        <p:nvSpPr>
          <p:cNvPr id="20" name="Text 18"/>
          <p:cNvSpPr/>
          <p:nvPr/>
        </p:nvSpPr>
        <p:spPr>
          <a:xfrm>
            <a:off x="2606040" y="4325112"/>
            <a:ext cx="2240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150"/>
              </a:lnSpc>
              <a:buNone/>
            </a:pPr>
            <a:r>
              <a:rPr lang="en-US" sz="9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TX + NC retail managed at Levcor (2014–2025)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731520" y="50749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8C9BB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20+ years</a:t>
            </a:r>
            <a:endParaRPr lang="en-US" sz="2100" dirty="0"/>
          </a:p>
        </p:txBody>
      </p:sp>
      <p:sp>
        <p:nvSpPr>
          <p:cNvPr id="22" name="Text 20"/>
          <p:cNvSpPr/>
          <p:nvPr/>
        </p:nvSpPr>
        <p:spPr>
          <a:xfrm>
            <a:off x="2606040" y="5102352"/>
            <a:ext cx="2240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150"/>
              </a:lnSpc>
              <a:buNone/>
            </a:pPr>
            <a:r>
              <a:rPr lang="en-US" sz="9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CRE operating, capital markets &amp; asset management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303520" y="1691640"/>
            <a:ext cx="6428232" cy="434340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532120" y="1856232"/>
            <a:ext cx="603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CAREER ARC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5532120" y="2194560"/>
            <a:ext cx="5989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1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LEVCOR, INC.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5532120" y="2450592"/>
            <a:ext cx="5989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President 2024–2025; CIO 2021–2024; VP 2014–2021. $600M / 3.9M SF TX + NC retail portfolio; realized 4.13x / 16.1% IRR on six dispositions.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532120" y="2907792"/>
            <a:ext cx="5989320" cy="9144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28" name="Text 26"/>
          <p:cNvSpPr/>
          <p:nvPr/>
        </p:nvSpPr>
        <p:spPr>
          <a:xfrm>
            <a:off x="5532120" y="2962656"/>
            <a:ext cx="5989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1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BLACKSTONE GROUP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5532120" y="3218688"/>
            <a:ext cx="5989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Analyst / Associate 2006–2011, NYC. Capital raising for U.S., Asia &amp; India funds; $2.5B raised; ~$5.5B aggregate transaction volume.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532120" y="3675888"/>
            <a:ext cx="5989320" cy="9144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31" name="Text 29"/>
          <p:cNvSpPr/>
          <p:nvPr/>
        </p:nvSpPr>
        <p:spPr>
          <a:xfrm>
            <a:off x="5532120" y="3730752"/>
            <a:ext cx="5989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1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JAL-JCP REAL ESTATE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532120" y="3986784"/>
            <a:ext cx="5989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Co-Founder. Partnership with JCP Investment Management ($250M+ AUM, SEC-registered). Below-replacement-cost unanchored strip centers.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532120" y="4443984"/>
            <a:ext cx="5989320" cy="9144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34" name="Text 32"/>
          <p:cNvSpPr/>
          <p:nvPr/>
        </p:nvSpPr>
        <p:spPr>
          <a:xfrm>
            <a:off x="5532120" y="4498848"/>
            <a:ext cx="5989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1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ULI HOUSTON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5532120" y="4754880"/>
            <a:ext cx="5989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Chair, District Council Management Committee 2022–2024. ULI Americas Mixed-Use &amp; Retail Councils. Member since 2015.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532120" y="5212080"/>
            <a:ext cx="5989320" cy="9144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37" name="Text 35"/>
          <p:cNvSpPr/>
          <p:nvPr/>
        </p:nvSpPr>
        <p:spPr>
          <a:xfrm>
            <a:off x="5532120" y="5266944"/>
            <a:ext cx="5989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1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EDUCATION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5532120" y="5522976"/>
            <a:ext cx="5989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M.B.A., The Wharton School, University of Pennsylvania. B.S. Economics + Communication Studies, Northwestern University.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4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 STRATEGIES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0" y="109728"/>
            <a:ext cx="6245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B5A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 HARBOR  |  CONFIDENTIAL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6446520"/>
            <a:ext cx="11274552" cy="12802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JAL Strategies  |  Justin A. Levine, Founder &amp; CEO  |  jlevine@jalstrategies.com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972800" y="6537960"/>
            <a:ext cx="75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14 / 15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600" kern="0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PATH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768096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From this call to a signed mandate.</a:t>
            </a:r>
            <a:endParaRPr lang="en-US" sz="2500" dirty="0"/>
          </a:p>
        </p:txBody>
      </p:sp>
      <p:sp>
        <p:nvSpPr>
          <p:cNvPr id="10" name="Text 8"/>
          <p:cNvSpPr/>
          <p:nvPr/>
        </p:nvSpPr>
        <p:spPr>
          <a:xfrm>
            <a:off x="457200" y="1335024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Light and fast to start — diligence now, an in-person while I'm in the Northeast in July, then a defined engagement on the first parcels.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1783080"/>
            <a:ext cx="3630168" cy="969264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2" name="Shape 10"/>
          <p:cNvSpPr/>
          <p:nvPr/>
        </p:nvSpPr>
        <p:spPr>
          <a:xfrm>
            <a:off x="457200" y="1783080"/>
            <a:ext cx="91440" cy="969264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13" name="Text 11"/>
          <p:cNvSpPr/>
          <p:nvPr/>
        </p:nvSpPr>
        <p:spPr>
          <a:xfrm>
            <a:off x="685800" y="1865376"/>
            <a:ext cx="31729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STAGE 1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85800" y="2139696"/>
            <a:ext cx="31729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DILIGENCE &amp; DATA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685800" y="2450592"/>
            <a:ext cx="31729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8C9BB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Now – July  ·  Review &amp; analysis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457200" y="2788920"/>
            <a:ext cx="3630168" cy="265176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58368" y="2944368"/>
            <a:ext cx="228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—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914400" y="2944368"/>
            <a:ext cx="2971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Confirm developable vs. conservation acreage (survey + easements)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658368" y="3547872"/>
            <a:ext cx="228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—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914400" y="3547872"/>
            <a:ext cx="2971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Pull entitlement &amp; zoning status (Queen Anne's County)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658368" y="4151376"/>
            <a:ext cx="228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—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914400" y="4151376"/>
            <a:ext cx="2971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Model lot yield &amp; absorption for the developable parcels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658368" y="4754880"/>
            <a:ext cx="228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—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914400" y="4754880"/>
            <a:ext cx="2971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Confirm the H6 ownership &amp; contribution mechanics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279392" y="1783080"/>
            <a:ext cx="3630168" cy="969264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26" name="Shape 24"/>
          <p:cNvSpPr/>
          <p:nvPr/>
        </p:nvSpPr>
        <p:spPr>
          <a:xfrm>
            <a:off x="4279392" y="1783080"/>
            <a:ext cx="91440" cy="969264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27" name="Text 25"/>
          <p:cNvSpPr/>
          <p:nvPr/>
        </p:nvSpPr>
        <p:spPr>
          <a:xfrm>
            <a:off x="4507992" y="1865376"/>
            <a:ext cx="31729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STAGE 2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4507992" y="2139696"/>
            <a:ext cx="31729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 PERSON</a:t>
            </a:r>
            <a:endParaRPr lang="en-US" sz="1350" dirty="0"/>
          </a:p>
        </p:txBody>
      </p:sp>
      <p:sp>
        <p:nvSpPr>
          <p:cNvPr id="29" name="Text 27"/>
          <p:cNvSpPr/>
          <p:nvPr/>
        </p:nvSpPr>
        <p:spPr>
          <a:xfrm>
            <a:off x="4507992" y="2450592"/>
            <a:ext cx="31729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8C9BB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July 2026  ·  Walk the site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4279392" y="2788920"/>
            <a:ext cx="3630168" cy="265176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480560" y="2944368"/>
            <a:ext cx="228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—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4736592" y="2944368"/>
            <a:ext cx="2971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Meet while I'm in the NY / Philly area — train down or drive to the Shore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4480560" y="3547872"/>
            <a:ext cx="228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—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4736592" y="3547872"/>
            <a:ext cx="2971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Walk Queenstown (River House &amp; the course edges)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4480560" y="4151376"/>
            <a:ext cx="228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—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4736592" y="4151376"/>
            <a:ext cx="2971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Meet Josh / VIVÂMEE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4480560" y="4754880"/>
            <a:ext cx="228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—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4736592" y="4754880"/>
            <a:ext cx="2971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Align on first parcels, capital plan &amp; comp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8101584" y="1783080"/>
            <a:ext cx="3630168" cy="969264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40" name="Shape 38"/>
          <p:cNvSpPr/>
          <p:nvPr/>
        </p:nvSpPr>
        <p:spPr>
          <a:xfrm>
            <a:off x="8101584" y="1783080"/>
            <a:ext cx="91440" cy="969264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41" name="Text 39"/>
          <p:cNvSpPr/>
          <p:nvPr/>
        </p:nvSpPr>
        <p:spPr>
          <a:xfrm>
            <a:off x="8330184" y="1865376"/>
            <a:ext cx="31729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STAGE 3</a:t>
            </a:r>
            <a:endParaRPr lang="en-US" sz="1200" dirty="0"/>
          </a:p>
        </p:txBody>
      </p:sp>
      <p:sp>
        <p:nvSpPr>
          <p:cNvPr id="42" name="Text 40"/>
          <p:cNvSpPr/>
          <p:nvPr/>
        </p:nvSpPr>
        <p:spPr>
          <a:xfrm>
            <a:off x="8330184" y="2139696"/>
            <a:ext cx="31729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MANDATE</a:t>
            </a:r>
            <a:endParaRPr lang="en-US" sz="1350" dirty="0"/>
          </a:p>
        </p:txBody>
      </p:sp>
      <p:sp>
        <p:nvSpPr>
          <p:cNvPr id="43" name="Text 41"/>
          <p:cNvSpPr/>
          <p:nvPr/>
        </p:nvSpPr>
        <p:spPr>
          <a:xfrm>
            <a:off x="8330184" y="2450592"/>
            <a:ext cx="31729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8C9BB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H2 2026  ·  Engage &amp; execute</a:t>
            </a:r>
            <a:endParaRPr lang="en-US" sz="950" dirty="0"/>
          </a:p>
        </p:txBody>
      </p:sp>
      <p:sp>
        <p:nvSpPr>
          <p:cNvPr id="44" name="Shape 42"/>
          <p:cNvSpPr/>
          <p:nvPr/>
        </p:nvSpPr>
        <p:spPr>
          <a:xfrm>
            <a:off x="8101584" y="2788920"/>
            <a:ext cx="3630168" cy="265176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8302752" y="2944368"/>
            <a:ext cx="228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—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8558784" y="2944368"/>
            <a:ext cx="2971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Stand up the land vehicle under Capital H6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8302752" y="3547872"/>
            <a:ext cx="228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—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8558784" y="3547872"/>
            <a:ext cx="2971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Launch Phase 1 entitlements + soft-cost budget</a:t>
            </a:r>
            <a:endParaRPr lang="en-US" sz="1000" dirty="0"/>
          </a:p>
        </p:txBody>
      </p:sp>
      <p:sp>
        <p:nvSpPr>
          <p:cNvPr id="49" name="Text 47"/>
          <p:cNvSpPr/>
          <p:nvPr/>
        </p:nvSpPr>
        <p:spPr>
          <a:xfrm>
            <a:off x="8302752" y="4151376"/>
            <a:ext cx="228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—</a:t>
            </a:r>
            <a:endParaRPr lang="en-US" sz="1000" dirty="0"/>
          </a:p>
        </p:txBody>
      </p:sp>
      <p:sp>
        <p:nvSpPr>
          <p:cNvPr id="50" name="Text 48"/>
          <p:cNvSpPr/>
          <p:nvPr/>
        </p:nvSpPr>
        <p:spPr>
          <a:xfrm>
            <a:off x="8558784" y="4151376"/>
            <a:ext cx="2971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Open regional-homebuilder conversations</a:t>
            </a:r>
            <a:endParaRPr lang="en-US" sz="1000" dirty="0"/>
          </a:p>
        </p:txBody>
      </p:sp>
      <p:sp>
        <p:nvSpPr>
          <p:cNvPr id="51" name="Text 49"/>
          <p:cNvSpPr/>
          <p:nvPr/>
        </p:nvSpPr>
        <p:spPr>
          <a:xfrm>
            <a:off x="8302752" y="4754880"/>
            <a:ext cx="228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—</a:t>
            </a:r>
            <a:endParaRPr lang="en-US" sz="1000" dirty="0"/>
          </a:p>
        </p:txBody>
      </p:sp>
      <p:sp>
        <p:nvSpPr>
          <p:cNvPr id="52" name="Text 50"/>
          <p:cNvSpPr/>
          <p:nvPr/>
        </p:nvSpPr>
        <p:spPr>
          <a:xfrm>
            <a:off x="8558784" y="4754880"/>
            <a:ext cx="2971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First entitled-lot sales underwritten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457200" y="5943600"/>
            <a:ext cx="11274552" cy="420624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54" name="Text 52"/>
          <p:cNvSpPr/>
          <p:nvPr/>
        </p:nvSpPr>
        <p:spPr>
          <a:xfrm>
            <a:off x="640080" y="5943600"/>
            <a:ext cx="109087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What I need to sharpen the model: survey / plat &amp; conservation easements · entitlement &amp; zoning status · H6 structure · target timeline.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B16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3" name="Text 1"/>
          <p:cNvSpPr/>
          <p:nvPr/>
        </p:nvSpPr>
        <p:spPr>
          <a:xfrm>
            <a:off x="685800" y="5486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600" kern="0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 STRATEGIES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58368" y="2240280"/>
            <a:ext cx="10972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THANK</a:t>
            </a:r>
            <a:endParaRPr lang="en-US" sz="7200" dirty="0"/>
          </a:p>
        </p:txBody>
      </p:sp>
      <p:sp>
        <p:nvSpPr>
          <p:cNvPr id="5" name="Text 3"/>
          <p:cNvSpPr/>
          <p:nvPr/>
        </p:nvSpPr>
        <p:spPr>
          <a:xfrm>
            <a:off x="658368" y="3090672"/>
            <a:ext cx="10972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0" b="1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YOU</a:t>
            </a:r>
            <a:endParaRPr lang="en-US" sz="7200" dirty="0"/>
          </a:p>
        </p:txBody>
      </p:sp>
      <p:sp>
        <p:nvSpPr>
          <p:cNvPr id="6" name="Shape 4"/>
          <p:cNvSpPr/>
          <p:nvPr/>
        </p:nvSpPr>
        <p:spPr>
          <a:xfrm>
            <a:off x="713232" y="4224528"/>
            <a:ext cx="3200400" cy="27432"/>
          </a:xfrm>
          <a:prstGeom prst="rect">
            <a:avLst/>
          </a:prstGeom>
          <a:solidFill>
            <a:srgbClr val="8C9BB5"/>
          </a:solidFill>
          <a:ln/>
        </p:spPr>
      </p:sp>
      <p:sp>
        <p:nvSpPr>
          <p:cNvPr id="7" name="Text 5"/>
          <p:cNvSpPr/>
          <p:nvPr/>
        </p:nvSpPr>
        <p:spPr>
          <a:xfrm>
            <a:off x="685800" y="4370832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Bob — appreciate the call, and the résumé read.</a:t>
            </a:r>
            <a:endParaRPr lang="en-US" sz="2100" dirty="0"/>
          </a:p>
        </p:txBody>
      </p:sp>
      <p:sp>
        <p:nvSpPr>
          <p:cNvPr id="8" name="Text 6"/>
          <p:cNvSpPr/>
          <p:nvPr/>
        </p:nvSpPr>
        <p:spPr>
          <a:xfrm>
            <a:off x="685800" y="484632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8C9BB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Looking forward to monetizing the land around Queenstown Harbor with you, Josh and the H6 team — let's find time in July.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85800" y="5248656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Justin A. Levine  |  jlevine@jalstrategies.com  |  JAL Strategies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0" y="6309360"/>
            <a:ext cx="12191695" cy="548640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11" name="Text 9"/>
          <p:cNvSpPr/>
          <p:nvPr/>
        </p:nvSpPr>
        <p:spPr>
          <a:xfrm>
            <a:off x="457200" y="64008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200" kern="0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 HARBOR  |  CONFIDENTIAL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8869680" y="6400800"/>
            <a:ext cx="28620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spc="200" kern="0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15 / 15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JAL Strategies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Queenstown Harbor — Land Development Partnership (for Robert A. Connell)</dc:title>
  <dc:subject>PptxGenJS Presentation</dc:subject>
  <dc:creator>JAL Strategies</dc:creator>
  <cp:lastModifiedBy>JAL Strategies</cp:lastModifiedBy>
  <cp:revision>1</cp:revision>
  <dcterms:created xsi:type="dcterms:W3CDTF">2026-06-05T17:45:21Z</dcterms:created>
  <dcterms:modified xsi:type="dcterms:W3CDTF">2026-06-05T17:45:21Z</dcterms:modified>
</cp:coreProperties>
</file>