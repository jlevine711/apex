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Scoped to the land around Queenstown Harbor — the asset Capital H6 just acquired. Bob is a GP in H6, so this is squarely his lane: entitle the developable acreage, sell lots, recycle.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on the fresh acquisition (H6 — Bob's fund). The land bank is additive to the hospitality: monetize the developable acreage the golf doesn't need, capital-light.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homework Bob asked for. Accurate specs: River (par 72, 7,096) + Lakes (par 71, 6,569), Lindsay Ervin, River House &amp; Tavern, cottages. Conservation acreage is real — flag it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870+ ac, minus 198 ac conservation (plus wetlands/course), leaves the developable envelope — the first diligence item. The land bank is upside on top of an operating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Sequencing IS the pitch: entitle (soft costs) → sell to builders (they fund infra) → golf/water premium → recycle. Matches Bob's 'let the developer handle the infrastructure.'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derived, not guessed: 700 gross − 198 conservation − ~300 golf complex − ~60 Critical Area/wetlands ≈ 140 developable acres. Maryland's Chesapeake Bay Critical Area (1,000-ft zone, ~1 unit/20 ac in RCA) is the real constraint on the waterfront land. All figures illustrative until survey / easement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reference competitive-supply slide. Eastern-Shore + Bay-Bridge demand, Chesapeake scarcity, builder appetite, and the fresh $25M basis all support lot sales.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South River is the second H6 asset — but it's a built-out private club (165 ac, 8 lakes, 14 protected areas, 600+ families). Frame honestly: membership + events upside first, land only where diligence supports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land bank the honest story is capital-light: soft costs in, builders fund infra and buy lots. Land is already owned via H6 — no acquisition capital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inbound was about capital access. Lead with the live Houston deal ($14M / $19.5M) as proof I close, then the network. Even capital-light, this is why I'm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Nails Bob's exact role: H6 GP / development lead. H6 contributes the developable land; JAL co-invests and runs entitlement + capital + lot sales. VIVÂMEE keeps operating the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Directly answers Bob's comp question. He said skin in the game; I agree and propose a hybrid — modest, creditable retainer + carry on lot-sale value. All numbers are opening positions.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email said 'review your resume.' This is it. Capital-markets pedigree (Blackstone), operator/development (Levcor, JAL-JCP), Wharton, ULI leadership.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logistics. The July in-person is real (wife's family on Long Island) — Queenstown is a doable drive from Philly. The callout is the data ask — restate it so Bob knows exactly what to send.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Reference his email ('review your resume'). Lock the July meeting at Queenstown.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www.eyeonannapolis.net/2026/05/vivamee-hospitality-acquires-golf-club-at-south-river-queenstown-harbor-in-25m-deal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golf/" TargetMode="External"/><Relationship Id="rId2" Type="http://schemas.openxmlformats.org/officeDocument/2006/relationships/hyperlink" Target="https://www.golfdigest.com/courses/md/queenstown-harbor-the-river" TargetMode="External"/><Relationship Id="rId3" Type="http://schemas.openxmlformats.org/officeDocument/2006/relationships/hyperlink" Target="https://www.visitmaryland.org/listing/sports/queenstown-harbor-golf-links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qhgolf.com/who-we-are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who-we-are/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hyperlink" Target="https://dnr.maryland.gov/criticalarea/Pages/compliance.aspx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distance-cities.com/distance-queenstown-md-to-washington-dc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olfclubsr.com/faq" TargetMode="External"/><Relationship Id="rId2" Type="http://schemas.openxmlformats.org/officeDocument/2006/relationships/hyperlink" Target="https://foretee.com/courses/maryland/edgewater/usa/the-golf-club-at-south-river/6925" TargetMode="External"/><Relationship Id="rId3" Type="http://schemas.openxmlformats.org/officeDocument/2006/relationships/hyperlink" Target="https://clubandresortbusiness.com/vivamee-hospitality-acquires-two-maryland-golf-locations-for-25m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Disciplined Real Estate Investing, Development &amp; Capital Formation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993392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58368" y="2852928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HARBOR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13232" y="404164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18795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Development &amp; Lot-Monetization Partnership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46817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Entitling and monetizing the developable land around the River &amp; Lakes courses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50474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Queenstown, Maryland  ·  Eastern Shore  ·  36 holes on the Chesapeake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4008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FOR ROBERT A. CONNELL, CFP   |   ACCOUNTABLE EQUITY · CAPITAL H6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2026  |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just bought it. Now monetize the land.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 — Capital H6 just closed Queenstown Harbor. The resort runs itself; the upside is the developable land around the 36 holes — entitle it, sell lots to builders, recycle the proceeds.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acquired (May 2026)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 + South River, via Capital H6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 holes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 &amp; Lakes courses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Waterfront resort on the Eastern Shore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Across the two properties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Waterfront + conservation land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begin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fund the horizontal infrastructure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NOW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own it free and clear — Capital H6 just closed the purchase.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Fresh, low basis: $25M for two courses across 870+ acres — the land value is the upside.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fund sewer, roads and utilities — you carry approvals, not construction risk.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over the Bay Bridge to Annapolis; ~1 hour to D.C. &amp; Baltimore.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 and water frontage on the Chesapeake commands a premium — and sells quickly.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Eye On Annapoli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Eye On Annapolis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Harbor, by the numbers.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36-hole waterfront destination on Maryland's Eastern Shore — acquired from The Brick Companies in May 2026, with established golf, an event venue and cottages already in place.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7,096 yds · opened 1991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Lakes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6,569 yds · opened 1996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310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Links Lane, Queenstown MD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Chester River at the Chesapeake Bay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Acquired with South River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The Brick Companies · via Capital H6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ALREADY IN PLACE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operating resort — not a raw land play.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River House &amp; Tavern — newly renovated wedding, event and corporate venue.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On-site cottages — existing overnight lodging and a hospitality base.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36 holes of championship golf since 1991 — traffic, brand and demand already here.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198 acres under permanent conservation — stewardship credibility, and an envelope to plan around.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GolfDige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GolfDigest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VisitMarylan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VisitMaryland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BANK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upside is the land around the golf.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resort operates; the value-creation is entitling the developable, non-conservation acreage and selling finished lots to homebuilders. Capital-light, and additive to the hospitality.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Queenstown +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198 ac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conservation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Permanent easement at Queenstown — plan around 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Developable land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Balance after conservation, wetlands &amp; course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Lots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&amp; sell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Finished lots to regional homebuilders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the golf doesn't need.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 developable parcels at the course edges — away from conservation, wetlands and play.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 for residential; sell finished lots to builders who fund the horizontal work.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Golf-frontage and water-view lots command premium pricing and faster absorption.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Recycle proceeds into the broader Capital H6 program — including South River.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PLAYBOOK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moves that turn land into cash.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by sequence — soft costs first, then builders carry the infrastructure and construction risk, and the proceeds recycle into the next parcel.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 for lots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Secure zoning and subdivision approvals for the developable acreage around the fairways.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10128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3538728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538728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Sell to Builders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38728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Finished lots → homebuilders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38728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4" name="Text 22"/>
          <p:cNvSpPr/>
          <p:nvPr/>
        </p:nvSpPr>
        <p:spPr>
          <a:xfrm>
            <a:off x="3538728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Sell entitled lots to regional builders and let them fund sewer, roads and utilities.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63056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6163056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6391656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91656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Premium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91656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Frontage sells higher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1" name="Text 29"/>
          <p:cNvSpPr/>
          <p:nvPr/>
        </p:nvSpPr>
        <p:spPr>
          <a:xfrm>
            <a:off x="6391656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a course or with Chesapeake water views command a premium and absorb faster.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15984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4584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4400" dirty="0"/>
          </a:p>
        </p:txBody>
      </p:sp>
      <p:sp>
        <p:nvSpPr>
          <p:cNvPr id="35" name="Text 33"/>
          <p:cNvSpPr/>
          <p:nvPr/>
        </p:nvSpPr>
        <p:spPr>
          <a:xfrm>
            <a:off x="9244584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Recycle &amp; Repeat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244584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Parcel by parcel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44584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8" name="Text 36"/>
          <p:cNvSpPr/>
          <p:nvPr/>
        </p:nvSpPr>
        <p:spPr>
          <a:xfrm>
            <a:off x="9244584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 proceeds into the next parcel — and seed the broader Capital H6 program.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Move 01 is mostly soft costs — the fastest path to proof, and to first cash.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MATH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700 acres to the developable envelope.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Built down from real constraints — the recorded conservation easement, the golf footprint, and Maryland's Chesapeake Bay Critical Area. Developable acreage is survey-dependent; figures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38528"/>
            <a:ext cx="2926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38528"/>
            <a:ext cx="2926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83280" y="1938528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383280" y="1938528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92240" y="1938528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1938528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0" y="1938528"/>
            <a:ext cx="25877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0" y="1938528"/>
            <a:ext cx="25877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Result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304288"/>
            <a:ext cx="29260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30428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land (gross)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83280" y="2304288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230428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ownership estimate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92240" y="2304288"/>
            <a:ext cx="26517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230428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144000" y="2304288"/>
            <a:ext cx="25877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0" y="230428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~700 ac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2807208"/>
            <a:ext cx="292608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80720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permanent conservation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2807208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280720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recorded easement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2807208"/>
            <a:ext cx="26517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280720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700 − 198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44000" y="2807208"/>
            <a:ext cx="25877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0" y="280720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502 ac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310128"/>
            <a:ext cx="29260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31012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golf, range, water &amp; lodging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383280" y="3310128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38328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18s + 9-ac range + cottages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92240" y="3310128"/>
            <a:ext cx="26517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492240" y="331012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502 − ~300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144000" y="3310128"/>
            <a:ext cx="25877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0" y="331012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~200 ac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813048"/>
            <a:ext cx="292608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381304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Critical Area &amp; wetlands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383280" y="3813048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3383280" y="381304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Chesapeake 1,000-ft zone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492240" y="3813048"/>
            <a:ext cx="26517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6492240" y="381304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200 − ~60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144000" y="3813048"/>
            <a:ext cx="25877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0" y="381304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4315968"/>
            <a:ext cx="29260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431596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developable → lots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383280" y="4315968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3383280" y="431596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~2.0 lots / acre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492240" y="4315968"/>
            <a:ext cx="26517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6492240" y="431596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140 × 2.0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144000" y="4315968"/>
            <a:ext cx="25877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00" y="431596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 lots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4818888"/>
            <a:ext cx="292608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81888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FINISHED LOT VALUE (net, illustrative)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383280" y="4818888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383280" y="481888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$150K / lot, less ~30% costs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92240" y="4818888"/>
            <a:ext cx="26517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0" y="481888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280 × $150K × 0.70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9144000" y="4818888"/>
            <a:ext cx="25877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6" name="Text 64"/>
          <p:cNvSpPr/>
          <p:nvPr/>
        </p:nvSpPr>
        <p:spPr>
          <a:xfrm>
            <a:off x="9144000" y="481888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$29M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57200" y="5394960"/>
            <a:ext cx="11274552" cy="4572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8" name="Text 66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$29M illustrative net from ~140 developable acres — net of conservation &amp; Critical Area, additive to the resort.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457200" y="605332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MD DNR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DNR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SELLS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These lots sell — here's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Course and water frontage, Bay Bridge proximity, and builder appetite for entitled lots all push price and absorption. We're meeting demand that already exists.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Driver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lifts value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frontage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the River / Lakes courses &amp; Chester River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pricing and faster absorption vs. a raw subdivision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Bridge location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to Annapolis; ~1 hr to D.C. &amp; Baltimore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Commuter, second-home and weekend demand from three metros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Chesapeake scarcity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Limited new waterfront-adjacent lots on the Shore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High barriers → durable, premium lot values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 appetite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homebuilders want entitled / finished lots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They pay to avoid entitlement risk — and fund the infrastructure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Fresh owned basis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$25M for 870+ ac just closed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Low land basis → development margin starts higher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Demand is already here — we're entitling supply to meet it, not creating a market.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532180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distance-cities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distance-cities.com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SISTER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South River — the Annapolis-side anchor.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Acquired in the same $25M Capital H6 deal: an established 18-hole private club near Annapolis with 600+ member families — a membership and events engine, and the next place to run the playbook.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 holes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Private club (Brian Ault, 1996)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Edgewater, MD — on the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600+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 families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Recurring dues + a built-in events base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165 ac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Club grounds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lakes · 14 environmentally protected areas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Same deal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of the $25M H6 buy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platform, two assets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ANGLE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Membership and events first; land where diligence supports it.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600+ member families — recurring dues, plus an events / dining base to grow.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Annapolis-side, west of the Bay — an affluent, supply-constrained catchment.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Bistro, fitness, simulator lounge &amp; range already drive non-golf revenue.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Assess limited parcel entitlement without disturbing the member experience.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golfclubsr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golfclubsr.com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foretee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foretee.com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STRATEGY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Capital-light by design.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land bank barely needs capital: soft costs to entitle, then builders fund the horizontal work and buy the lots. Cash in is small; proceeds come fast.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$1–3M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 to start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Entitlements, planning &amp; approvals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the equity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Acreage held by Capital H6 — already acquired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874520"/>
            <a:ext cx="5330952" cy="1847088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874520"/>
            <a:ext cx="109728" cy="18470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PRINCIPLE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66560" y="2286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carry approvals, not construction.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take the infrastructure burden — sewer, roads, utilities — and pay for finished lots. Your cash at risk stays small and staged.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Approach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capital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funds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Approvals for lots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$1–3M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+ H6 dev co (skin in the game)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Builder takedown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Horizontal + lot purchase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~$0 to you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 funds &amp; buys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3 — Recycle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Proceeds redeployed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Self-funding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Next parcel / South River / H6 program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Minimal capital at risk — and the land bank seeds everything that comes after.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ACCESS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bring the capital relationships.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When a parcel does call for equity or debt — or to move faster — here's the access. Active mandates, not a paper Rolodex.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being raised now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Houston retail — family-office capital, closing summer 2026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$19.5M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 already secured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Lender committed on the same transaction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Mid-20s%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development IRR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Investors expect mid-to-high 20s out-of-state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transaction volume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debt &amp; equity — Blackstone + Levcor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NETWORK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I place capital — equity and debt.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 offices (Texas) — my core equity base; they'll travel for the right risk-adjusted return.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equity — Angelo Gordon and peer private-equity relationships.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National debt — Goldman Sachs (met two weeks ago; national platform, Dallas team) + specialty lenders.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bar for out-of-state development is mid-to-high-20s IRR — the fresh land basis helps clear it.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STRUCTURE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vehicle inside the H6 platform.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 H6 owns the land. Spin the developable parcels into a land-development entity — H6 contributes the acreage as equity; JAL co-invests and runs entitlement, capital and lot sales alongside your team.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78638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78638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83664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LAND PARTNERS, LLC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22494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Working name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0" y="1783080"/>
            <a:ext cx="3108960" cy="786384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Land-development vehicle under Capital H6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= EQUITY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20040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Owned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5800" y="3840480"/>
            <a:ext cx="3136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Developable acreage contributed by Capital H6 at appraised value — just acquired, at a low basis.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24528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53128" y="3163824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53128" y="345643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equity (H6)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01968" y="345643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Contributed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53128" y="378561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Builder-funded infra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395935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53128" y="428853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9" name="Text 27"/>
          <p:cNvSpPr/>
          <p:nvPr/>
        </p:nvSpPr>
        <p:spPr>
          <a:xfrm>
            <a:off x="4453128" y="4462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Cash equity (JAL + LP)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01968" y="446227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3128" y="479145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2" name="Shape 30"/>
          <p:cNvSpPr/>
          <p:nvPr/>
        </p:nvSpPr>
        <p:spPr>
          <a:xfrm>
            <a:off x="7991856" y="2743200"/>
            <a:ext cx="3593592" cy="2606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7991856" y="2743200"/>
            <a:ext cx="91440" cy="26060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8220456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0456" y="3310128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 McCallen / VIVÂMEE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0456" y="3557016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Resort owner-operator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220456" y="3968496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Connell / Capital H6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0456" y="4215384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lead (H6 GP)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220456" y="4626864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20456" y="4873752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Capital, entitlement &amp; sales — co-invests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takes skin in the game — co-investing alongside, not just advising.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I'd want to be engaged.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how I'd like to be comped. My preference matches yours — a small base to fund the work, then real alignment on the value we create. For discussion only.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8686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8686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Hybrid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91840" y="188366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Retainer + success fees + carried interest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91840" y="224942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 to lot-sale value created — not a flat consulting check.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78240" y="1783080"/>
            <a:ext cx="2953512" cy="868680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Skin in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game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8036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8036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Component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6160" y="28803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8803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309360" y="2880360"/>
            <a:ext cx="54223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880360"/>
            <a:ext cx="54223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covers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46120"/>
            <a:ext cx="310896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46120"/>
            <a:ext cx="3108960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Advisory retainer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66160" y="3246120"/>
            <a:ext cx="274320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3246120"/>
            <a:ext cx="2743200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$15–25K / mo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246120"/>
            <a:ext cx="542239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246120"/>
            <a:ext cx="5422392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Funds entitlement strategy, underwriting &amp; capital sourcing during an initial term (creditable against success fees)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959352"/>
            <a:ext cx="3108960" cy="71323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959352"/>
            <a:ext cx="3108960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placement fee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66160" y="3959352"/>
            <a:ext cx="2743200" cy="71323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959352"/>
            <a:ext cx="2743200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debt · 2–3% equity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3959352"/>
            <a:ext cx="5422392" cy="71323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6309360" y="3959352"/>
            <a:ext cx="5422392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Success fee if and when we place debt or equity for a parcel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672584"/>
            <a:ext cx="310896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672584"/>
            <a:ext cx="3108960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Carried interest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4672584"/>
            <a:ext cx="274320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4672584"/>
            <a:ext cx="2743200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Co-GP promote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4672584"/>
            <a:ext cx="542239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4672584"/>
            <a:ext cx="5422392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Share of value created on lot sales; JAL co-invests its own capital alongside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structure flexes to the deal — the point is alignment: I win when you win.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JAL AS YOUR PARTNER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Pedigree. Relationships. Operator.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capital-markets pedigree, an active investor network, and hands-on development &amp; asset-management experience.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4572000" cy="43434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691640"/>
            <a:ext cx="109728" cy="43434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56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JUSTIN A. LEVINE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1579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&amp; CEO, JAL Strategies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31520" y="27432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606040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career transaction volume ($5.5B Blackstone + $600M Levcor)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520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$600M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606040" y="3547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debt + equity allocated across 26 CRE deals at Levcor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3.9M SF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2606040" y="43251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TX + NC retail managed at Levcor (2014–2025)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50749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20+ years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2606040" y="510235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 operating, capital markets &amp; asset management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691640"/>
            <a:ext cx="6428232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18562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ARC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32120" y="2194560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LEVCOR, INC.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2120" y="245059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President 2024–2025; CIO 2021–2024; VP 2014–2021. $600M / 3.9M SF TX + NC retail portfolio; realized 4.13x / 16.1% IRR on six dispositions.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32120" y="2907792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2962656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BLACKSTONE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32120" y="3218688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Analyst / Associate 2006–2011, NYC. Capital raising for U.S., Asia &amp; India funds; $2.5B raised; ~$5.5B aggregate transaction volume.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32120" y="3675888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1" name="Text 29"/>
          <p:cNvSpPr/>
          <p:nvPr/>
        </p:nvSpPr>
        <p:spPr>
          <a:xfrm>
            <a:off x="5532120" y="3730752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JAL-JCP REAL ESTATE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32120" y="3986784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Co-Founder. Partnership with JCP Investment Management ($250M+ AUM, SEC-registered). Below-replacement-cost unanchored strip centers.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4443984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498848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ULI HOUSTON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475488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Chair, District Council Management Committee 2022–2024. ULI Americas Mixed-Use &amp; Retail Councils. Member since 2015.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532120" y="5212080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7" name="Text 35"/>
          <p:cNvSpPr/>
          <p:nvPr/>
        </p:nvSpPr>
        <p:spPr>
          <a:xfrm>
            <a:off x="5532120" y="52669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32120" y="5522976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M.B.A., The Wharton School, University of Pennsylvania. B.S. Economics + Communication Studies, Northwestern University.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PATH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this call to a signed mandate.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Light and fast to start — diligence now, an in-person while I'm in the Northeast in July, then a defined engagement on the first parcels.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DILIGENCE &amp;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Now – July  ·  Review &amp; analysis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developable vs. conservation acreage (survey + easements)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Pull entitlement &amp; zoning status (Queen Anne's County)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 lot yield &amp; absorption for the developable parcels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the H6 ownership &amp; contribution mechanics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9392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07992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PERSON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07992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July 2026  ·  Walk the site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279392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36592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while I'm in the NY / Philly area — train down or drive to the Shore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36592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Walk Queenstown (River House &amp; the course edges)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480560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36592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Josh / VIVÂMEE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36592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 on first parcels, capital plan &amp; comp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01584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8330184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30184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MANDATE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330184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H2 2026  ·  Engage &amp; execute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101584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2752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558784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 up the land vehicle under Capital H6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2752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58784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Launch Phase 1 entitlements + soft-cost budget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02752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558784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regional-homebuilder conversations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02752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558784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entitled-lot sales underwritten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 need to sharpen the model: survey / plat &amp; conservation easements · entitlement &amp; zoning status · H6 structure · target timeline.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58368" y="309067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713232" y="422452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37083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— appreciate the call, and the résumé read.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8580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Looking forward to monetizing the land around Queenstown Harbor with you, Josh and the H6 team — let's find time in July.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52486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Justin A. Levine  |  jlevine@jalstrategies.com  |  JAL Strategies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JAL Strategies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Queenstown Harbor — Land Development Partnership (for Robert A. Connell)</dc:title>
  <dc:subject>PptxGenJS Presentation</dc:subject>
  <dc:creator>JAL Strategies</dc:creator>
  <cp:lastModifiedBy>JAL Strategies</cp:lastModifiedBy>
  <cp:revision>1</cp:revision>
  <dcterms:created xsi:type="dcterms:W3CDTF">2026-06-05T19:10:05Z</dcterms:created>
  <dcterms:modified xsi:type="dcterms:W3CDTF">2026-06-05T19:10:05Z</dcterms:modified>
</cp:coreProperties>
</file>