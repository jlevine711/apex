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The discussion document Bob asked for on our 6/5 call — scoped to the land bank around the golf courses: entitle, sell lots to builders, recycle. Capital-light, JAL-led.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land bank as the first move: owned land, builder-funded infrastructure, golf premium, town tailwinds. Capital-light and fast — exactly the play Bob leaned toward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golf-only. Queenstown is the anchor (700 ac, 3 courses near D.C.); LBI National is the shore-scarcity play; the recently-acquired course is pipeline. Same template each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sequencing IS the pitch: entitle (soft costs) → sell to builders (they fund infra) → golf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Queenstown is the wedge: 700 owned acres, established golf, an hour from D.C. Lead with entitlement + lot sales. The corporate-buyout note is the Palantir week Bob mentioned — kept generic; name it if Bob's comfortable.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these are illustrative placeholders. The method: developable acres × lot yield × price, net of land-dev cost. Swap in real survey / absorption data. Builders typically fund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reference's competitive-supply slide. Point: golf frontage + metro demand + builder appetite + owned-land basis = lots that sell. Land development is a good business when the strategy is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from the $100M hospitality line. For the land bank, the honest story is capital-light: soft costs in, builders fund infra and buy lots. Bob said as much — they may only need soft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literally about capital access. Lead with the live Houston deal ($14M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Formalize Bob's dev co as a land JV. AE contributes course-adjacent land = equity; JAL co-invests and runs entitlement + capital + lot sales. Builders fund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He said his preference is skin in the game; I agree and propose a hybrid — modest, creditable retainer + carry on lot-sale value. All numbers are opening 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7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</a:t>
            </a:r>
            <a:endParaRPr lang="en-US" sz="67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7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</a:t>
            </a:r>
            <a:endParaRPr lang="en-US" sz="67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Golf-Course Land Development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selling the residential land around the courses you already own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Harbor  ·  LBI National  ·  700+ acres of golf-frontage land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APEX FINANCIAL ADVISORS · ACCOUNTABLE EQUITY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the land around the courses you own.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the fastest, lowest-risk money here is the developable land wrapped around the golf courses: entitle it, sell finished lots to homebuilders,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700 ac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Queenstown Harbor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courses · ~45 min to Annapolis &amp; D.C.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~175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to lots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the fairways (illustrative)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~350 lots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Entitlement potential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 (illustrative)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THE LAND BANK FIRST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equity is already in the ground — you own the land free and clear.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frontage commands a premium — lots on a course sell faster and for more.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town has offered to contribute land — the entitlement tailwinds are real.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recycle — lot sales can seed the broader Accountable Equity program.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Golf-course land, course by course.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Each course already amenitizes the land around it. We entitle the developable acreage and sell finished lots — and the same playbook repeats on every course in the portfolio.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22860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874520"/>
            <a:ext cx="18288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1874520"/>
            <a:ext cx="32918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1874520"/>
            <a:ext cx="32918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863840" y="1874520"/>
            <a:ext cx="38679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0" y="1874520"/>
            <a:ext cx="38679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Land-bank thesis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40280"/>
            <a:ext cx="228600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40280"/>
            <a:ext cx="228600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0" y="2240280"/>
            <a:ext cx="182880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0" y="2240280"/>
            <a:ext cx="182880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0" y="2240280"/>
            <a:ext cx="3291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0" y="2240280"/>
            <a:ext cx="329184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ac · 3 courses · ~45 min to Annapolis / D.C.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63840" y="2240280"/>
            <a:ext cx="3867912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0" y="2240280"/>
            <a:ext cx="3867912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&amp; sell residential lots around the fairways; builder-funded infrastructure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2990088"/>
            <a:ext cx="2286000" cy="74980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990088"/>
            <a:ext cx="228600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LBI National Golf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0" y="2990088"/>
            <a:ext cx="1828800" cy="74980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2743200" y="2990088"/>
            <a:ext cx="182880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Long Beach Island, NJ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2990088"/>
            <a:ext cx="3291840" cy="74980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0" y="2990088"/>
            <a:ext cx="329184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Coastal golf in a high-barrier shore market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863840" y="2990088"/>
            <a:ext cx="3867912" cy="74980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7863840" y="2990088"/>
            <a:ext cx="3867912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Scarce Jersey-Shore lots; premium entitled-lot sales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3739896"/>
            <a:ext cx="228600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39896"/>
            <a:ext cx="228600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Recently acquired course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43200" y="3739896"/>
            <a:ext cx="182880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743200" y="3739896"/>
            <a:ext cx="182880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0" y="3739896"/>
            <a:ext cx="3291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0" y="3739896"/>
            <a:ext cx="329184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Newly added to the golf portfolio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863840" y="3739896"/>
            <a:ext cx="3867912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0" y="3739896"/>
            <a:ext cx="3867912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Repeat the entitle-and-sell template on fresh acreage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57200" y="4489704"/>
            <a:ext cx="2286000" cy="74980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489704"/>
            <a:ext cx="228600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portfolio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0" y="4489704"/>
            <a:ext cx="1828800" cy="74980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2743200" y="4489704"/>
            <a:ext cx="182880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NJ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0" y="4489704"/>
            <a:ext cx="3291840" cy="74980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0" y="4489704"/>
            <a:ext cx="3291840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700+ developable acres around owned courses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863840" y="4489704"/>
            <a:ext cx="3867912" cy="74980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863840" y="4489704"/>
            <a:ext cx="3867912" cy="74980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repeatable, capital-light playbook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Start at Queenstown — the largest parcel, closest to D.C. — then repeat the template course by course.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the construction risk, and the proceeds recycle into the next course.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Premium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or near a course command a premium and absorb faster than a comparable raw subdivision.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by course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course's land bank — and seed the broader Accountable Equity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FLAGSHIP PARCEL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— 700 acres near D.C.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anchor of the land bank: an established 36-hole destination with developable acreage around the courses and drive-to demand from Annapolis, Baltimore &amp; Washington.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700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 owned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already in the ground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~45 min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Annapolis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90 min to D.C. &amp; Baltimore metros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courses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Established destination, existing traffic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Entitlement-led; minimal capital at risk in Phase 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MOVE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residential lots around the existing courses and sell to a regional homebuilder.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the builder fund sewer, roads and infrastructure — we keep the upside, not the burden.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lots near Annapolis &amp; D.C. command a premium and absorb quickly.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Location pull is real — a recent week-long corporate buyout signals premium demand for the setting.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entry: Phase 1 is approvals and lot sales, not vertical construction.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lot entitlement creates value.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only — to be calibrated with Accountable Equity's survey, entitlement status and absorption data. The method matters here, not the placeholder numbers.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6596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6596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96112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Value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2004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~25% of 700 ac to lots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0" y="2331720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0" y="2331720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× 0.25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96112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175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yield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898648"/>
            <a:ext cx="30175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898648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175 × 2.0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96112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96112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350 lots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price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$120,000 / lot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943600" y="3465576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465576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350 × $120,000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96112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96112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$42.0M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land-dev / soft costs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004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2004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~30% of gross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943600" y="4032504"/>
            <a:ext cx="30175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943600" y="4032504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× 0.70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96112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96112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$29.4M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LOT PROCEEDS (illustrative)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2004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2004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alone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943600" y="4599432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5943600" y="4599432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96112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896112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Text 58"/>
          <p:cNvSpPr/>
          <p:nvPr/>
        </p:nvSpPr>
        <p:spPr>
          <a:xfrm>
            <a:off x="640080" y="534924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 net proceeds from Queenstown lots alone — recyclable into LBI National and the next course.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Golf-course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frontage, drive-to metro demand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Golf-course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or adjacent to an established course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~45 min to Annapolis; ~90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 + second-home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LBI National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developable land on the Jersey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shore-market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 land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already on the balance sheet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land-acquisition cost to recover —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Owned acreage carries the deal — no acquisition cost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Bob's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course / broader AE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owned land helps the deal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vehicle: your dev co + JAL.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Formalize the development entity you're standing up — scoped to the course-adjacent land. Accountable Equity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LAND PARTNERS, LLC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0" y="1783080"/>
            <a:ext cx="329184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for the golf-course acreage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Course-adjacent acreage contributed at appraised value forms the equity base — already owned, no acquisition cost.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(AE)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McCallan / AE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owner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Retainer + success fees + carried interest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803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80360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31089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46120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46120"/>
            <a:ext cx="27432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46120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$15–25K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46120"/>
            <a:ext cx="542239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46120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 strategy, underwriting &amp; capital sourcing during an initial term (creditable against success fees)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959352"/>
            <a:ext cx="3108960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959352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959352"/>
            <a:ext cx="2743200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959352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959352"/>
            <a:ext cx="5422392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959352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672584"/>
            <a:ext cx="31089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672584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672584"/>
            <a:ext cx="27432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672584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672584"/>
            <a:ext cx="542239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672584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Review the courses (web, maps &amp; visits)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send parcel data (survey, entitlement status, zoning, encumbrances)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refines the lot-monetization model per course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Draft engagement &amp; vehicle terms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Philadelphia / Yardley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in person while I'm in the NY / Philly area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the priority parcels (Queenstown / LBI)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course, capital plan &amp; comp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&amp; key stakeholders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land-development vehicle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acreage · entitlement &amp; zoning status · any debt on the land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entitling and monetizing the course lands with you and the Accountable Equity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ACCOUNTABLE EQUITY  |  CONFIDENTIAL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Accountable Equity — Golf-Course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2026-06-05T17:28:30Z</dcterms:created>
  <dcterms:modified xsi:type="dcterms:W3CDTF">2026-06-05T17:28:30Z</dcterms:modified>
</cp:coreProperties>
</file>