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Scoped to the land around Queenstown Harbor — the asset Capital H6 just acquired. Bob is a GP in H6, so this is squarely his lane: entitle the developable acreage, sell lots, recycle.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fresh acquisition (H6 — Bob's fund). The land bank is additive to the hospitality: monetize the developable acreage the golf doesn't need — develop and sell finished 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homework Bob asked for. Accurate specs: River (par 72, 7,096) + Lakes (par 71, 6,569), Lindsay Ervin, River House &amp; Tavern, cottages. Conservation acreage is real — flag it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870+ ac, minus 198 ac conservation (plus wetlands/course), leaves the developable envelope — the first diligence item. The land bank is upside on top of an operating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IS the pitch: entitle (soft costs) → sell to builders (they fund infra) → golf/water premium → recycle. Matches Bob's 'let the developer handle the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basis: the JV funds the horizontal and sells finished lots. 280 lots × $150K = $42.0M gross revenue. Costs and returns are on the pro forma (slide 10). This captures the builder's development margin but takes horizontal execution risk and more capital than selling paper lots. Illustrative until survey /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reference competitive-supply slide. Eastern-Shore + Bay-Bridge demand, Chesapeake scarcity, builder appetite, and the fresh $25M basis all support lot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River is the second H6 asset — but it's a built-out private club (165 ac, 8 lakes, 14 protected areas, 600+ families). Frame honestly: membership + events upside first, land only where diligence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start light (entitlement), then fund the horizontal (roads/sewer/utilities) and deliver finished lots. Captures the builder's development margin and controls quality/timing — more capital, more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pro forma, consistent with slide 6. $42.0M revenue − $27.5M cost ≈ $14.5M profit. 60% LTC → equity ~$11M (land $4M + cash $7M); ~2.3x / ~31% levered project IRR (~24% unlevered). After an 8% pref + tiered promote (80/20 → 70/30 → 60/40), LP IRR ~27% / GP IRR ~59% (see waterfall + sensitivity). All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Backs the pro forma. Market inputs are sourced: QAC home/lot prices (Land.com, Zillow) support a conservative $150K finished lot; the $60K/lot horizontal (now JV-funded) matches national land-dev benchmarks (HomeGuide). Deal-specific inputs — gross acreage, the developable balance, land basis and density — are flagged 'to confirm' pending survey / easement /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how the LP IRR is derived. Project equity IRR (60% LTC) ~31%; through an 8% pref + tiered promote (80/20 to a 15% IRR, 70/30 to 20%, 60/40 above), the LP nets ~27% and the GP group (Capital H6, Bob, JAL + partners) earns ~59% IRR / ~$4.1M carry on a small co-invest — JAL is one member with a share of the promote. Sensitized next. Model =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Sensitivity of the Phase 1 LP IRR to lot price × LTC. Base $150K / 60% LTC → ~27%. To clear 30% LP: ~$170K lots (~33% at 60% LTC) or 65–70% LTC at $150K (~29–33%). Each cell re-runs cost → profit → equity → the promote waterfall in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exit-liquidity question: the entitled lots have many credible buyers. Nationals (NVR/Ryan, D.R. Horton, Lennar) run land-light and buy finished lots; regionals (Lacrosse, Caruso, Gemcraft) are literally building in Queen Anne's Co. / the Shore. We can run a competitive takedown or bulk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 hospitality upside, VIVÂMEE-led; JAL leads capital formation. A 120-key resort &amp; spa is already designed (FILLAT+ Architecture), validating the program. Two cases in the model: hold for income (~8% YoC, ~12% IRR — the floor) or BUILD-TO-CORE — recap/sell at stabilization (~Yr 4) at a 7.5% cap, capturing the development spread from the contributed land + premium NOI → ~28% IRR / ~2.3x. Build-to-core lets JAL earn the development return while VIVÂMEE keeps and operates the resort. Model is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build-to-core IRR sensitized to stabilized NOI × exit cap (the development spread). Base $4.65M NOI / 7.5% cap → ~28%. Premium NOI ($5.15M) or a 7% cap pushes it to the mid-30s; an 8.5% cap or soft NOI drops it to ~12–20%. 65% LTC, recap at stabilization. Model is the source of truth.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annual project cash flow — ties to slide 6 ($42M revenue) and slide 10 ($27.5M cost, $14.5M profit). Lots sell Yr 2–4; levered / LP returns per the waterfall (slide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2 build-to-core annual cash flow. Develop $47M Yr 0–2; NOI ramps Yr 2–4; recap / sell ~$62M @ a 7.5% cap at Yr 4. Levered build-to-core IRR ~28% (65% LTC).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inbound was about capital access. Lead with the live Houston deal ($15M / $19.5M) as proof I close, then the network. Even capital-light, this is why I'm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Nails Bob's exact role: H6 GP / development lead. H6 contributes the developable land; JAL runs entitlement + capital formation + lot sales. VIVÂMEE keeps operating the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Directly answers Bob's comp question. Hybrid: $15K/mo creditable retainer (≈ one day/week) + expenses reimbursed, then placement fees and the promote. Lead with alignment — the retainer is a floor, the carry is the prize.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email said 'review your resume.' This is it. Capital-markets pedigree (Blackstone), operator/development (Levcor, JAL-JCP), Wharton, ULI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logistics. The July in-person is real (wife's family on Long Island) — Queenstown is a doable drive from Philly. The callout is the data ask — restate it so Bob knows exactly what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Reference his email ('review your resume'). Lock the July meeting at Queenstown.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www.eyeonannapolis.net/2026/05/vivamee-hospitality-acquires-golf-club-at-south-river-queenstown-harbor-in-25m-dea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qhgolf.com/golf/" TargetMode="External"/><Relationship Id="rId2" Type="http://schemas.openxmlformats.org/officeDocument/2006/relationships/hyperlink" Target="https://www.golfdigest.com/courses/md/queenstown-harbor-the-river" TargetMode="External"/><Relationship Id="rId3" Type="http://schemas.openxmlformats.org/officeDocument/2006/relationships/hyperlink" Target="https://www.visitmaryland.org/listing/sports/queenstown-harbor-golf-links"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qhgolf.com/who-we-are/"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qhgolf.com/who-we-are/" TargetMode="External"/><Relationship Id="rId2" Type="http://schemas.openxmlformats.org/officeDocument/2006/relationships/hyperlink" Target="https://www.qac.org/398/Chesapeake-Bay-Critical-Area" TargetMode="External"/><Relationship Id="rId3" Type="http://schemas.openxmlformats.org/officeDocument/2006/relationships/hyperlink" Target="https://dnr.maryland.gov/criticalarea/Pages/compliance.aspx" TargetMode="Externa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distance-cities.com/distance-queenstown-md-to-washington-dc" TargetMode="External"/><Relationship Id="rId2" Type="http://schemas.openxmlformats.org/officeDocument/2006/relationships/hyperlink" Target="https://www.qac.org/398/Chesapeake-Bay-Critical-Area"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golfclubsr.com/faq" TargetMode="External"/><Relationship Id="rId2" Type="http://schemas.openxmlformats.org/officeDocument/2006/relationships/hyperlink" Target="https://foretee.com/courses/maryland/edgewater/usa/the-golf-club-at-south-river/6925" TargetMode="External"/><Relationship Id="rId3" Type="http://schemas.openxmlformats.org/officeDocument/2006/relationships/hyperlink" Target="https://clubandresortbusiness.com/vivamee-hospitality-acquires-two-maryland-golf-locations-for-25m/"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and.com/Queen-Annes-County-MD/" TargetMode="External"/><Relationship Id="rId2" Type="http://schemas.openxmlformats.org/officeDocument/2006/relationships/hyperlink" Target="https://www.zillow.com/queen-annes-county-md/new-homes/" TargetMode="External"/><Relationship Id="rId3" Type="http://schemas.openxmlformats.org/officeDocument/2006/relationships/hyperlink" Target="https://homeguide.com/costs/cost-to-develop-land" TargetMode="External"/><Relationship Id="rId4" Type="http://schemas.openxmlformats.org/officeDocument/2006/relationships/hyperlink" Target="https://clubandresortbusiness.com/vivamee-hospitality-acquires-two-maryland-golf-locations-for-25m/" TargetMode="Externa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hyperlink" Target="https://www.laxhomes.com/communities/" TargetMode="External"/><Relationship Id="rId2" Type="http://schemas.openxmlformats.org/officeDocument/2006/relationships/hyperlink" Target="https://www.carusohomes.com/new-homes/md/maryland/floor-plans/" TargetMode="External"/><Relationship Id="rId3" Type="http://schemas.openxmlformats.org/officeDocument/2006/relationships/hyperlink" Target="https://www.gemcrafthomes.com/" TargetMode="External"/><Relationship Id="rId4" Type="http://schemas.openxmlformats.org/officeDocument/2006/relationships/hyperlink" Target="https://www.zillow.com/browse/communities/md/" TargetMode="Externa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hyperlink" Target="https://www.pfarc.com/queenstown-harbor-resort-spa/" TargetMode="External"/><Relationship Id="rId2" Type="http://schemas.openxmlformats.org/officeDocument/2006/relationships/hyperlink" Target="https://www.hvs.com/article/10219-hvs-us-hotel-development-cost-survey-2025" TargetMode="External"/><Relationship Id="rId3" Type="http://schemas.openxmlformats.org/officeDocument/2006/relationships/hyperlink" Target="https://www.mmcginvest.com/post/u-s-hotel-cap-rates-in-2025-trends-drivers-and-segment-analysis" TargetMode="External"/><Relationship Id="rId4" Type="http://schemas.openxmlformats.org/officeDocument/2006/relationships/hyperlink" Target="https://blog.eb3construction.com/construction/food-beverage/restaurant-build-out-estimate/" TargetMode="External"/><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85800" y="914400"/>
            <a:ext cx="8686800" cy="274320"/>
          </a:xfrm>
          <a:prstGeom prst="rect">
            <a:avLst/>
          </a:prstGeom>
          <a:noFill/>
          <a:ln/>
        </p:spPr>
        <p:txBody>
          <a:bodyPr wrap="square" lIns="0" tIns="0" rIns="0" bIns="0" rtlCol="0" anchor="ctr"/>
          <a:lstStyle/>
          <a:p>
            <a:pPr algn="l" indent="0" marL="0">
              <a:buNone/>
            </a:pPr>
            <a:r>
              <a:rPr lang="en-US" sz="1100" dirty="0">
                <a:solidFill>
                  <a:srgbClr val="8C9BB5"/>
                </a:solidFill>
                <a:latin typeface="DM Sans" pitchFamily="34" charset="0"/>
                <a:ea typeface="DM Sans" pitchFamily="34" charset="-122"/>
                <a:cs typeface="DM Sans" pitchFamily="34" charset="-120"/>
              </a:rPr>
              <a:t>Disciplined Real Estate Investing, Development &amp; Capital Formation</a:t>
            </a:r>
            <a:endParaRPr lang="en-US" sz="1100" dirty="0"/>
          </a:p>
        </p:txBody>
      </p:sp>
      <p:sp>
        <p:nvSpPr>
          <p:cNvPr id="5" name="Text 3"/>
          <p:cNvSpPr/>
          <p:nvPr/>
        </p:nvSpPr>
        <p:spPr>
          <a:xfrm>
            <a:off x="658368" y="1993392"/>
            <a:ext cx="11155680" cy="960120"/>
          </a:xfrm>
          <a:prstGeom prst="rect">
            <a:avLst/>
          </a:prstGeom>
          <a:noFill/>
          <a:ln/>
        </p:spPr>
        <p:txBody>
          <a:bodyPr wrap="square" lIns="0" tIns="0" rIns="0" bIns="0" rtlCol="0" anchor="ctr"/>
          <a:lstStyle/>
          <a:p>
            <a:pPr algn="l" indent="0" marL="0">
              <a:buNone/>
            </a:pPr>
            <a:r>
              <a:rPr lang="en-US" sz="6400" b="1" spc="100" kern="0" dirty="0">
                <a:solidFill>
                  <a:srgbClr val="FFFFFF"/>
                </a:solidFill>
                <a:latin typeface="Montserrat" pitchFamily="34" charset="0"/>
                <a:ea typeface="Montserrat" pitchFamily="34" charset="-122"/>
                <a:cs typeface="Montserrat" pitchFamily="34" charset="-120"/>
              </a:rPr>
              <a:t>QUEENSTOWN</a:t>
            </a:r>
            <a:endParaRPr lang="en-US" sz="6400" dirty="0"/>
          </a:p>
        </p:txBody>
      </p:sp>
      <p:sp>
        <p:nvSpPr>
          <p:cNvPr id="6" name="Text 4"/>
          <p:cNvSpPr/>
          <p:nvPr/>
        </p:nvSpPr>
        <p:spPr>
          <a:xfrm>
            <a:off x="658368" y="2852928"/>
            <a:ext cx="11155680" cy="960120"/>
          </a:xfrm>
          <a:prstGeom prst="rect">
            <a:avLst/>
          </a:prstGeom>
          <a:noFill/>
          <a:ln/>
        </p:spPr>
        <p:txBody>
          <a:bodyPr wrap="square" lIns="0" tIns="0" rIns="0" bIns="0" rtlCol="0" anchor="ctr"/>
          <a:lstStyle/>
          <a:p>
            <a:pPr algn="l" indent="0" marL="0">
              <a:buNone/>
            </a:pPr>
            <a:r>
              <a:rPr lang="en-US" sz="6400" b="1" spc="100" kern="0" dirty="0">
                <a:solidFill>
                  <a:srgbClr val="C4B8C4"/>
                </a:solidFill>
                <a:latin typeface="Montserrat" pitchFamily="34" charset="0"/>
                <a:ea typeface="Montserrat" pitchFamily="34" charset="-122"/>
                <a:cs typeface="Montserrat" pitchFamily="34" charset="-120"/>
              </a:rPr>
              <a:t>HARBOR</a:t>
            </a:r>
            <a:endParaRPr lang="en-US" sz="6400" dirty="0"/>
          </a:p>
        </p:txBody>
      </p:sp>
      <p:sp>
        <p:nvSpPr>
          <p:cNvPr id="7" name="Shape 5"/>
          <p:cNvSpPr/>
          <p:nvPr/>
        </p:nvSpPr>
        <p:spPr>
          <a:xfrm>
            <a:off x="713232" y="4041648"/>
            <a:ext cx="3200400" cy="27432"/>
          </a:xfrm>
          <a:prstGeom prst="rect">
            <a:avLst/>
          </a:prstGeom>
          <a:solidFill>
            <a:srgbClr val="8C9BB5"/>
          </a:solidFill>
          <a:ln/>
        </p:spPr>
      </p:sp>
      <p:sp>
        <p:nvSpPr>
          <p:cNvPr id="8" name="Text 6"/>
          <p:cNvSpPr/>
          <p:nvPr/>
        </p:nvSpPr>
        <p:spPr>
          <a:xfrm>
            <a:off x="685800" y="4187952"/>
            <a:ext cx="10972800" cy="411480"/>
          </a:xfrm>
          <a:prstGeom prst="rect">
            <a:avLst/>
          </a:prstGeom>
          <a:noFill/>
          <a:ln/>
        </p:spPr>
        <p:txBody>
          <a:bodyPr wrap="square" lIns="0" tIns="0" rIns="0" bIns="0" rtlCol="0" anchor="ctr"/>
          <a:lstStyle/>
          <a:p>
            <a:pPr algn="l" indent="0" marL="0">
              <a:buNone/>
            </a:pPr>
            <a:r>
              <a:rPr lang="en-US" sz="2200" b="1" dirty="0">
                <a:solidFill>
                  <a:srgbClr val="FFFFFF"/>
                </a:solidFill>
                <a:latin typeface="Montserrat" pitchFamily="34" charset="0"/>
                <a:ea typeface="Montserrat" pitchFamily="34" charset="-122"/>
                <a:cs typeface="Montserrat" pitchFamily="34" charset="-120"/>
              </a:rPr>
              <a:t>Land Development &amp; Lot-Monetization Partnership</a:t>
            </a:r>
            <a:endParaRPr lang="en-US" sz="2200" dirty="0"/>
          </a:p>
        </p:txBody>
      </p:sp>
      <p:sp>
        <p:nvSpPr>
          <p:cNvPr id="9" name="Text 7"/>
          <p:cNvSpPr/>
          <p:nvPr/>
        </p:nvSpPr>
        <p:spPr>
          <a:xfrm>
            <a:off x="685800" y="4681728"/>
            <a:ext cx="10972800" cy="32004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Entitling and monetizing the developable land around the River &amp; Lakes courses</a:t>
            </a:r>
            <a:endParaRPr lang="en-US" sz="1400" dirty="0"/>
          </a:p>
        </p:txBody>
      </p:sp>
      <p:sp>
        <p:nvSpPr>
          <p:cNvPr id="10" name="Text 8"/>
          <p:cNvSpPr/>
          <p:nvPr/>
        </p:nvSpPr>
        <p:spPr>
          <a:xfrm>
            <a:off x="685800" y="5047488"/>
            <a:ext cx="10972800" cy="32004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Queenstown, Maryland  ·  Eastern Shore  ·  36 holes on the Chesapeake</a:t>
            </a:r>
            <a:endParaRPr lang="en-US" sz="1200" dirty="0"/>
          </a:p>
        </p:txBody>
      </p:sp>
      <p:sp>
        <p:nvSpPr>
          <p:cNvPr id="11" name="Text 9"/>
          <p:cNvSpPr/>
          <p:nvPr/>
        </p:nvSpPr>
        <p:spPr>
          <a:xfrm>
            <a:off x="685800" y="5486400"/>
            <a:ext cx="10607040" cy="548640"/>
          </a:xfrm>
          <a:prstGeom prst="rect">
            <a:avLst/>
          </a:prstGeom>
          <a:noFill/>
          <a:ln/>
        </p:spPr>
        <p:txBody>
          <a:bodyPr wrap="square" lIns="0" tIns="0" rIns="0" bIns="0" rtlCol="0" anchor="t"/>
          <a:lstStyle/>
          <a:p>
            <a:pPr algn="l" indent="0" marL="0">
              <a:lnSpc>
                <a:spcPts val="1200"/>
              </a:lnSpc>
              <a:buNone/>
            </a:pPr>
            <a:r>
              <a:rPr lang="en-US" sz="950" dirty="0">
                <a:solidFill>
                  <a:srgbClr val="8C9BB5"/>
                </a:solidFill>
                <a:latin typeface="DM Sans" pitchFamily="34" charset="0"/>
                <a:ea typeface="DM Sans" pitchFamily="34" charset="-122"/>
                <a:cs typeface="DM Sans" pitchFamily="34" charset="-120"/>
              </a:rPr>
              <a:t>Preliminary discussion document — not a final proposal or commitment. Figures compiled from public sources and independent research; subject to change and confirmation in further conversations.</a:t>
            </a:r>
            <a:endParaRPr lang="en-US" sz="950" dirty="0"/>
          </a:p>
        </p:txBody>
      </p:sp>
      <p:sp>
        <p:nvSpPr>
          <p:cNvPr id="12" name="Shape 10"/>
          <p:cNvSpPr/>
          <p:nvPr/>
        </p:nvSpPr>
        <p:spPr>
          <a:xfrm>
            <a:off x="0" y="6309360"/>
            <a:ext cx="12191695" cy="548640"/>
          </a:xfrm>
          <a:prstGeom prst="rect">
            <a:avLst/>
          </a:prstGeom>
          <a:solidFill>
            <a:srgbClr val="3A243A"/>
          </a:solidFill>
          <a:ln/>
        </p:spPr>
      </p:sp>
      <p:sp>
        <p:nvSpPr>
          <p:cNvPr id="13" name="Text 11"/>
          <p:cNvSpPr/>
          <p:nvPr/>
        </p:nvSpPr>
        <p:spPr>
          <a:xfrm>
            <a:off x="457200" y="6400800"/>
            <a:ext cx="8778240" cy="365760"/>
          </a:xfrm>
          <a:prstGeom prst="rect">
            <a:avLst/>
          </a:prstGeom>
          <a:noFill/>
          <a:ln/>
        </p:spPr>
        <p:txBody>
          <a:bodyPr wrap="square" lIns="0" tIns="0" rIns="0" bIns="0" rtlCol="0" anchor="ctr"/>
          <a:lstStyle/>
          <a:p>
            <a:pPr algn="l" indent="0" marL="0">
              <a:buNone/>
            </a:pPr>
            <a:r>
              <a:rPr lang="en-US" sz="900" b="1" spc="150" kern="0" dirty="0">
                <a:solidFill>
                  <a:srgbClr val="C4B8C4"/>
                </a:solidFill>
                <a:latin typeface="Montserrat" pitchFamily="34" charset="0"/>
                <a:ea typeface="Montserrat" pitchFamily="34" charset="-122"/>
                <a:cs typeface="Montserrat" pitchFamily="34" charset="-120"/>
              </a:rPr>
              <a:t>PREPARED FOR ROBERT A. CONNELL, CFP   |   ACCOUNTABLE EQUITY · CAPITAL H6</a:t>
            </a:r>
            <a:endParaRPr lang="en-US" sz="900" dirty="0"/>
          </a:p>
        </p:txBody>
      </p:sp>
      <p:sp>
        <p:nvSpPr>
          <p:cNvPr id="14" name="Text 12"/>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120" kern="0" dirty="0">
                <a:solidFill>
                  <a:srgbClr val="C4B8C4"/>
                </a:solidFill>
                <a:latin typeface="Montserrat" pitchFamily="34" charset="0"/>
                <a:ea typeface="Montserrat" pitchFamily="34" charset="-122"/>
                <a:cs typeface="Montserrat" pitchFamily="34" charset="-120"/>
              </a:rPr>
              <a:t>JUNE 2026  ·  DISCUSSION DRAFT</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OPPORTUNITY</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You just bought it. Now monetize the land.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Bob — Capital H6 just closed Queenstown Harbor. The resort runs itself; the upside is the developable land around the 36 holes — entitle it, sell lots to builders, recycle the proceeds.</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Just acquired (May 2026)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Queenstown + South River, via Capital H6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36 holes</a:t>
            </a:r>
            <a:endParaRPr lang="en-US" sz="22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River &amp; Lakes courses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resort on the Eastern Shore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Across the two properties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 conservation land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Soft costs</a:t>
            </a:r>
            <a:endParaRPr lang="en-US" sz="19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Phase 1 is light; we fund the horizontal next</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WHY NOW</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You own it free and clear — Capital H6 just closed the purchase.</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Fresh, low basis: $25M for two courses across 870+ acres — the land value is the upside.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We develop the lots — roads, sewer and utilities — and sell them finished, capturing the full lot value.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Minutes over the Bay Bridge to Annapolis; ~1 hour to D.C. &amp; Baltimore.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 and water frontage on the Chesapeake commands a premium — and sells quickly.</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Eye On Annapolis" history="1" highlightClick="0" endSnd="0">
                  <a:extLst>
                    <a:ext uri="{A12FA001-AC4F-418D-AE19-62706E023703}">
                      <ahyp:hlinkClr xmlns:ahyp="http://schemas.microsoft.com/office/drawing/2018/hyperlinkcolor" val="tx"/>
                    </a:ext>
                  </a:extLst>
                </a:hlinkClick>
              </a:rPr>
              <a:t>Eye On Annapolis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Queenstown Harbor, by the numbers.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36-hole waterfront destination on Maryland's Eastern Shore — acquired from The Brick Companies in May 2026, with established golf, an event venue and cottages already in place.</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River</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72</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7,096 yds · opened 1991</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Lakes</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71</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6,569 yds · opened 1996</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310</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Links Lane, Queenstown MD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Chester River at the Chesapeake Bay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Acquired with South River</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From The Brick Companies · via Capital H6</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ALREADY IN PLACE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An operating resort — not a raw land play.</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River House &amp; Tavern — newly renovated wedding, event and corporate venue.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On-site cottages — existing overnight lodging and a hospitality base.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36 holes of championship golf since 1991 — traffic, brand and demand already here.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198 acres under permanent conservation — stewardship credibility, and an envelope to plan around.</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 history="1" highlightClick="0" endSnd="0">
                  <a:extLst>
                    <a:ext uri="{A12FA001-AC4F-418D-AE19-62706E023703}">
                      <ahyp:hlinkClr xmlns:ahyp="http://schemas.microsoft.com/office/drawing/2018/hyperlinkcolor" val="tx"/>
                    </a:ext>
                  </a:extLst>
                </a:hlinkClick>
              </a:rPr>
              <a:t>qhgolf.com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GolfDigest" history="1" highlightClick="0" endSnd="0">
                  <a:extLst>
                    <a:ext uri="{A12FA001-AC4F-418D-AE19-62706E023703}">
                      <ahyp:hlinkClr xmlns:ahyp="http://schemas.microsoft.com/office/drawing/2018/hyperlinkcolor" val="tx"/>
                    </a:ext>
                  </a:extLst>
                </a:hlinkClick>
              </a:rPr>
              <a:t>GolfDigest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VisitMaryland" history="1" highlightClick="0" endSnd="0">
                  <a:extLst>
                    <a:ext uri="{A12FA001-AC4F-418D-AE19-62706E023703}">
                      <ahyp:hlinkClr xmlns:ahyp="http://schemas.microsoft.com/office/drawing/2018/hyperlinkcolor" val="tx"/>
                    </a:ext>
                  </a:extLst>
                </a:hlinkClick>
              </a:rPr>
              <a:t>VisitMaryland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4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LAND BANK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upside is the land around the golf.</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The resort operates; the value-creation is entitling and developing the non-conservation acreage and selling finished lots to homebuilders — capturing the full lot value, additive to the hospitality.</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Portfolio land</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Queenstown +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198 ac</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Under conservation</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Permanent easement at Queenstown — plan around it</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~140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Developable land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Net of conservation, wetlands &amp; course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~280</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Entitled lots</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Sold to regional homebuilders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THESIS</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Monetize the land the golf doesn't need.</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Identify developable parcels at the course edges — away from conservation, wetlands and play.</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Entitle, then develop finished lots — we fund the roads, sewer and utilities; builders just build.</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Golf-frontage and water-view lots command premium pricing and faster absorption.</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Recycle proceeds into the broader Capital H6 program — including South River.</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hgolf.com/who-we-are" history="1" highlightClick="0" endSnd="0">
                  <a:extLst>
                    <a:ext uri="{A12FA001-AC4F-418D-AE19-62706E023703}">
                      <ahyp:hlinkClr xmlns:ahyp="http://schemas.microsoft.com/office/drawing/2018/hyperlinkcolor" val="tx"/>
                    </a:ext>
                  </a:extLst>
                </a:hlinkClick>
              </a:rPr>
              <a:t>qhgolf.com/who-we-are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5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PLAYBOOK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Four moves that turn land into cash.</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Phased — entitle first (soft costs), then we fund the horizontal and deliver finished lots, recycling proceeds into the next parcel.</a:t>
            </a:r>
            <a:endParaRPr lang="en-US" sz="1300" dirty="0"/>
          </a:p>
        </p:txBody>
      </p:sp>
      <p:sp>
        <p:nvSpPr>
          <p:cNvPr id="11" name="Shape 9"/>
          <p:cNvSpPr/>
          <p:nvPr/>
        </p:nvSpPr>
        <p:spPr>
          <a:xfrm>
            <a:off x="457200" y="1920240"/>
            <a:ext cx="2688336" cy="3749040"/>
          </a:xfrm>
          <a:prstGeom prst="rect">
            <a:avLst/>
          </a:prstGeom>
          <a:solidFill>
            <a:srgbClr val="0B163C"/>
          </a:solidFill>
          <a:ln/>
        </p:spPr>
      </p:sp>
      <p:sp>
        <p:nvSpPr>
          <p:cNvPr id="12" name="Shape 10"/>
          <p:cNvSpPr/>
          <p:nvPr/>
        </p:nvSpPr>
        <p:spPr>
          <a:xfrm>
            <a:off x="457200" y="1920240"/>
            <a:ext cx="2688336" cy="91440"/>
          </a:xfrm>
          <a:prstGeom prst="rect">
            <a:avLst/>
          </a:prstGeom>
          <a:solidFill>
            <a:srgbClr val="3A243A"/>
          </a:solidFill>
          <a:ln/>
        </p:spPr>
      </p:sp>
      <p:sp>
        <p:nvSpPr>
          <p:cNvPr id="13" name="Text 11"/>
          <p:cNvSpPr/>
          <p:nvPr/>
        </p:nvSpPr>
        <p:spPr>
          <a:xfrm>
            <a:off x="685800"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01</a:t>
            </a:r>
            <a:endParaRPr lang="en-US" sz="4400" dirty="0"/>
          </a:p>
        </p:txBody>
      </p:sp>
      <p:sp>
        <p:nvSpPr>
          <p:cNvPr id="14" name="Text 12"/>
          <p:cNvSpPr/>
          <p:nvPr/>
        </p:nvSpPr>
        <p:spPr>
          <a:xfrm>
            <a:off x="685800"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Entitle</a:t>
            </a:r>
            <a:endParaRPr lang="en-US" sz="1400" dirty="0"/>
          </a:p>
        </p:txBody>
      </p:sp>
      <p:sp>
        <p:nvSpPr>
          <p:cNvPr id="15" name="Text 13"/>
          <p:cNvSpPr/>
          <p:nvPr/>
        </p:nvSpPr>
        <p:spPr>
          <a:xfrm>
            <a:off x="685800"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Approvals for lots</a:t>
            </a:r>
            <a:endParaRPr lang="en-US" sz="1000" dirty="0"/>
          </a:p>
        </p:txBody>
      </p:sp>
      <p:sp>
        <p:nvSpPr>
          <p:cNvPr id="16" name="Shape 14"/>
          <p:cNvSpPr/>
          <p:nvPr/>
        </p:nvSpPr>
        <p:spPr>
          <a:xfrm>
            <a:off x="685800" y="3822192"/>
            <a:ext cx="2231136" cy="18288"/>
          </a:xfrm>
          <a:prstGeom prst="rect">
            <a:avLst/>
          </a:prstGeom>
          <a:solidFill>
            <a:srgbClr val="3A243A"/>
          </a:solidFill>
          <a:ln/>
        </p:spPr>
      </p:sp>
      <p:sp>
        <p:nvSpPr>
          <p:cNvPr id="17" name="Text 15"/>
          <p:cNvSpPr/>
          <p:nvPr/>
        </p:nvSpPr>
        <p:spPr>
          <a:xfrm>
            <a:off x="685800"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Secure zoning and subdivision approvals for the developable acreage around the fairways.</a:t>
            </a:r>
            <a:endParaRPr lang="en-US" sz="1050" dirty="0"/>
          </a:p>
        </p:txBody>
      </p:sp>
      <p:sp>
        <p:nvSpPr>
          <p:cNvPr id="18" name="Shape 16"/>
          <p:cNvSpPr/>
          <p:nvPr/>
        </p:nvSpPr>
        <p:spPr>
          <a:xfrm>
            <a:off x="3310128" y="1920240"/>
            <a:ext cx="2688336" cy="3749040"/>
          </a:xfrm>
          <a:prstGeom prst="rect">
            <a:avLst/>
          </a:prstGeom>
          <a:solidFill>
            <a:srgbClr val="0B163C"/>
          </a:solidFill>
          <a:ln/>
        </p:spPr>
      </p:sp>
      <p:sp>
        <p:nvSpPr>
          <p:cNvPr id="19" name="Shape 17"/>
          <p:cNvSpPr/>
          <p:nvPr/>
        </p:nvSpPr>
        <p:spPr>
          <a:xfrm>
            <a:off x="3310128" y="1920240"/>
            <a:ext cx="2688336" cy="91440"/>
          </a:xfrm>
          <a:prstGeom prst="rect">
            <a:avLst/>
          </a:prstGeom>
          <a:solidFill>
            <a:srgbClr val="3A243A"/>
          </a:solidFill>
          <a:ln/>
        </p:spPr>
      </p:sp>
      <p:sp>
        <p:nvSpPr>
          <p:cNvPr id="20" name="Text 18"/>
          <p:cNvSpPr/>
          <p:nvPr/>
        </p:nvSpPr>
        <p:spPr>
          <a:xfrm>
            <a:off x="3538728"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02</a:t>
            </a:r>
            <a:endParaRPr lang="en-US" sz="4400" dirty="0"/>
          </a:p>
        </p:txBody>
      </p:sp>
      <p:sp>
        <p:nvSpPr>
          <p:cNvPr id="21" name="Text 19"/>
          <p:cNvSpPr/>
          <p:nvPr/>
        </p:nvSpPr>
        <p:spPr>
          <a:xfrm>
            <a:off x="3538728"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Sell to Builders</a:t>
            </a:r>
            <a:endParaRPr lang="en-US" sz="1400" dirty="0"/>
          </a:p>
        </p:txBody>
      </p:sp>
      <p:sp>
        <p:nvSpPr>
          <p:cNvPr id="22" name="Text 20"/>
          <p:cNvSpPr/>
          <p:nvPr/>
        </p:nvSpPr>
        <p:spPr>
          <a:xfrm>
            <a:off x="3538728"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Finished lots → homebuilders</a:t>
            </a:r>
            <a:endParaRPr lang="en-US" sz="1000" dirty="0"/>
          </a:p>
        </p:txBody>
      </p:sp>
      <p:sp>
        <p:nvSpPr>
          <p:cNvPr id="23" name="Shape 21"/>
          <p:cNvSpPr/>
          <p:nvPr/>
        </p:nvSpPr>
        <p:spPr>
          <a:xfrm>
            <a:off x="3538728" y="3822192"/>
            <a:ext cx="2231136" cy="18288"/>
          </a:xfrm>
          <a:prstGeom prst="rect">
            <a:avLst/>
          </a:prstGeom>
          <a:solidFill>
            <a:srgbClr val="3A243A"/>
          </a:solidFill>
          <a:ln/>
        </p:spPr>
      </p:sp>
      <p:sp>
        <p:nvSpPr>
          <p:cNvPr id="24" name="Text 22"/>
          <p:cNvSpPr/>
          <p:nvPr/>
        </p:nvSpPr>
        <p:spPr>
          <a:xfrm>
            <a:off x="3538728"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Develop finished lots — we fund the roads, sewer and utilities; the builder just builds the homes.</a:t>
            </a:r>
            <a:endParaRPr lang="en-US" sz="1050" dirty="0"/>
          </a:p>
        </p:txBody>
      </p:sp>
      <p:sp>
        <p:nvSpPr>
          <p:cNvPr id="25" name="Shape 23"/>
          <p:cNvSpPr/>
          <p:nvPr/>
        </p:nvSpPr>
        <p:spPr>
          <a:xfrm>
            <a:off x="6163056" y="1920240"/>
            <a:ext cx="2688336" cy="3749040"/>
          </a:xfrm>
          <a:prstGeom prst="rect">
            <a:avLst/>
          </a:prstGeom>
          <a:solidFill>
            <a:srgbClr val="0B163C"/>
          </a:solidFill>
          <a:ln/>
        </p:spPr>
      </p:sp>
      <p:sp>
        <p:nvSpPr>
          <p:cNvPr id="26" name="Shape 24"/>
          <p:cNvSpPr/>
          <p:nvPr/>
        </p:nvSpPr>
        <p:spPr>
          <a:xfrm>
            <a:off x="6163056" y="1920240"/>
            <a:ext cx="2688336" cy="91440"/>
          </a:xfrm>
          <a:prstGeom prst="rect">
            <a:avLst/>
          </a:prstGeom>
          <a:solidFill>
            <a:srgbClr val="3A243A"/>
          </a:solidFill>
          <a:ln/>
        </p:spPr>
      </p:sp>
      <p:sp>
        <p:nvSpPr>
          <p:cNvPr id="27" name="Text 25"/>
          <p:cNvSpPr/>
          <p:nvPr/>
        </p:nvSpPr>
        <p:spPr>
          <a:xfrm>
            <a:off x="6391656"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03</a:t>
            </a:r>
            <a:endParaRPr lang="en-US" sz="4400" dirty="0"/>
          </a:p>
        </p:txBody>
      </p:sp>
      <p:sp>
        <p:nvSpPr>
          <p:cNvPr id="28" name="Text 26"/>
          <p:cNvSpPr/>
          <p:nvPr/>
        </p:nvSpPr>
        <p:spPr>
          <a:xfrm>
            <a:off x="6391656"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Golf &amp; Water Premium</a:t>
            </a:r>
            <a:endParaRPr lang="en-US" sz="1400" dirty="0"/>
          </a:p>
        </p:txBody>
      </p:sp>
      <p:sp>
        <p:nvSpPr>
          <p:cNvPr id="29" name="Text 27"/>
          <p:cNvSpPr/>
          <p:nvPr/>
        </p:nvSpPr>
        <p:spPr>
          <a:xfrm>
            <a:off x="6391656"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Frontage sells higher</a:t>
            </a:r>
            <a:endParaRPr lang="en-US" sz="1000" dirty="0"/>
          </a:p>
        </p:txBody>
      </p:sp>
      <p:sp>
        <p:nvSpPr>
          <p:cNvPr id="30" name="Shape 28"/>
          <p:cNvSpPr/>
          <p:nvPr/>
        </p:nvSpPr>
        <p:spPr>
          <a:xfrm>
            <a:off x="6391656" y="3822192"/>
            <a:ext cx="2231136" cy="18288"/>
          </a:xfrm>
          <a:prstGeom prst="rect">
            <a:avLst/>
          </a:prstGeom>
          <a:solidFill>
            <a:srgbClr val="3A243A"/>
          </a:solidFill>
          <a:ln/>
        </p:spPr>
      </p:sp>
      <p:sp>
        <p:nvSpPr>
          <p:cNvPr id="31" name="Text 29"/>
          <p:cNvSpPr/>
          <p:nvPr/>
        </p:nvSpPr>
        <p:spPr>
          <a:xfrm>
            <a:off x="6391656"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Lots on a course or with Chesapeake water views command a premium and absorb faster.</a:t>
            </a:r>
            <a:endParaRPr lang="en-US" sz="1050" dirty="0"/>
          </a:p>
        </p:txBody>
      </p:sp>
      <p:sp>
        <p:nvSpPr>
          <p:cNvPr id="32" name="Shape 30"/>
          <p:cNvSpPr/>
          <p:nvPr/>
        </p:nvSpPr>
        <p:spPr>
          <a:xfrm>
            <a:off x="9015984" y="1920240"/>
            <a:ext cx="2688336" cy="3749040"/>
          </a:xfrm>
          <a:prstGeom prst="rect">
            <a:avLst/>
          </a:prstGeom>
          <a:solidFill>
            <a:srgbClr val="0B163C"/>
          </a:solidFill>
          <a:ln/>
        </p:spPr>
      </p:sp>
      <p:sp>
        <p:nvSpPr>
          <p:cNvPr id="33" name="Shape 31"/>
          <p:cNvSpPr/>
          <p:nvPr/>
        </p:nvSpPr>
        <p:spPr>
          <a:xfrm>
            <a:off x="9015984" y="1920240"/>
            <a:ext cx="2688336" cy="91440"/>
          </a:xfrm>
          <a:prstGeom prst="rect">
            <a:avLst/>
          </a:prstGeom>
          <a:solidFill>
            <a:srgbClr val="3A243A"/>
          </a:solidFill>
          <a:ln/>
        </p:spPr>
      </p:sp>
      <p:sp>
        <p:nvSpPr>
          <p:cNvPr id="34" name="Text 32"/>
          <p:cNvSpPr/>
          <p:nvPr/>
        </p:nvSpPr>
        <p:spPr>
          <a:xfrm>
            <a:off x="9244584"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04</a:t>
            </a:r>
            <a:endParaRPr lang="en-US" sz="4400" dirty="0"/>
          </a:p>
        </p:txBody>
      </p:sp>
      <p:sp>
        <p:nvSpPr>
          <p:cNvPr id="35" name="Text 33"/>
          <p:cNvSpPr/>
          <p:nvPr/>
        </p:nvSpPr>
        <p:spPr>
          <a:xfrm>
            <a:off x="9244584"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Recycle &amp; Repeat</a:t>
            </a:r>
            <a:endParaRPr lang="en-US" sz="1400" dirty="0"/>
          </a:p>
        </p:txBody>
      </p:sp>
      <p:sp>
        <p:nvSpPr>
          <p:cNvPr id="36" name="Text 34"/>
          <p:cNvSpPr/>
          <p:nvPr/>
        </p:nvSpPr>
        <p:spPr>
          <a:xfrm>
            <a:off x="9244584"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Parcel by parcel</a:t>
            </a:r>
            <a:endParaRPr lang="en-US" sz="1000" dirty="0"/>
          </a:p>
        </p:txBody>
      </p:sp>
      <p:sp>
        <p:nvSpPr>
          <p:cNvPr id="37" name="Shape 35"/>
          <p:cNvSpPr/>
          <p:nvPr/>
        </p:nvSpPr>
        <p:spPr>
          <a:xfrm>
            <a:off x="9244584" y="3822192"/>
            <a:ext cx="2231136" cy="18288"/>
          </a:xfrm>
          <a:prstGeom prst="rect">
            <a:avLst/>
          </a:prstGeom>
          <a:solidFill>
            <a:srgbClr val="3A243A"/>
          </a:solidFill>
          <a:ln/>
        </p:spPr>
      </p:sp>
      <p:sp>
        <p:nvSpPr>
          <p:cNvPr id="38" name="Text 36"/>
          <p:cNvSpPr/>
          <p:nvPr/>
        </p:nvSpPr>
        <p:spPr>
          <a:xfrm>
            <a:off x="9244584"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Roll proceeds into the next parcel — and seed the broader Capital H6 program.</a:t>
            </a:r>
            <a:endParaRPr lang="en-US" sz="1050" dirty="0"/>
          </a:p>
        </p:txBody>
      </p:sp>
      <p:sp>
        <p:nvSpPr>
          <p:cNvPr id="39" name="Shape 37"/>
          <p:cNvSpPr/>
          <p:nvPr/>
        </p:nvSpPr>
        <p:spPr>
          <a:xfrm>
            <a:off x="457200" y="5943600"/>
            <a:ext cx="11274552" cy="420624"/>
          </a:xfrm>
          <a:prstGeom prst="rect">
            <a:avLst/>
          </a:prstGeom>
          <a:solidFill>
            <a:srgbClr val="3A243A"/>
          </a:solidFill>
          <a:ln/>
        </p:spPr>
      </p:sp>
      <p:sp>
        <p:nvSpPr>
          <p:cNvPr id="40" name="Text 38"/>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Move 01 is mostly soft costs — the fastest path to proof, and to first cash.</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6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MATH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700 acres to $42M of finished-lot revenue.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basis: we develop the lots — funding roads, sewer and utilities — and sell them finished; the builder just builds the homes. Costs and returns are on the pro forma. Illustrative — survey-dependent.</a:t>
            </a:r>
            <a:endParaRPr lang="en-US" sz="1300" dirty="0"/>
          </a:p>
        </p:txBody>
      </p:sp>
      <p:sp>
        <p:nvSpPr>
          <p:cNvPr id="11" name="Shape 9"/>
          <p:cNvSpPr/>
          <p:nvPr/>
        </p:nvSpPr>
        <p:spPr>
          <a:xfrm>
            <a:off x="457200" y="1920240"/>
            <a:ext cx="2926080" cy="365760"/>
          </a:xfrm>
          <a:prstGeom prst="rect">
            <a:avLst/>
          </a:prstGeom>
          <a:solidFill>
            <a:srgbClr val="0B163C"/>
          </a:solidFill>
          <a:ln/>
        </p:spPr>
      </p:sp>
      <p:sp>
        <p:nvSpPr>
          <p:cNvPr id="12" name="Text 10"/>
          <p:cNvSpPr/>
          <p:nvPr/>
        </p:nvSpPr>
        <p:spPr>
          <a:xfrm>
            <a:off x="457200" y="1920240"/>
            <a:ext cx="2926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Step</a:t>
            </a:r>
            <a:endParaRPr lang="en-US" sz="900" dirty="0"/>
          </a:p>
        </p:txBody>
      </p:sp>
      <p:sp>
        <p:nvSpPr>
          <p:cNvPr id="13" name="Shape 11"/>
          <p:cNvSpPr/>
          <p:nvPr/>
        </p:nvSpPr>
        <p:spPr>
          <a:xfrm>
            <a:off x="3383280" y="1920240"/>
            <a:ext cx="3108960" cy="365760"/>
          </a:xfrm>
          <a:prstGeom prst="rect">
            <a:avLst/>
          </a:prstGeom>
          <a:solidFill>
            <a:srgbClr val="0B163C"/>
          </a:solidFill>
          <a:ln/>
        </p:spPr>
      </p:sp>
      <p:sp>
        <p:nvSpPr>
          <p:cNvPr id="14" name="Text 12"/>
          <p:cNvSpPr/>
          <p:nvPr/>
        </p:nvSpPr>
        <p:spPr>
          <a:xfrm>
            <a:off x="3383280" y="1920240"/>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a:t>
            </a:r>
            <a:endParaRPr lang="en-US" sz="900" dirty="0"/>
          </a:p>
        </p:txBody>
      </p:sp>
      <p:sp>
        <p:nvSpPr>
          <p:cNvPr id="15" name="Shape 13"/>
          <p:cNvSpPr/>
          <p:nvPr/>
        </p:nvSpPr>
        <p:spPr>
          <a:xfrm>
            <a:off x="6492240" y="1920240"/>
            <a:ext cx="2651760" cy="365760"/>
          </a:xfrm>
          <a:prstGeom prst="rect">
            <a:avLst/>
          </a:prstGeom>
          <a:solidFill>
            <a:srgbClr val="0B163C"/>
          </a:solidFill>
          <a:ln/>
        </p:spPr>
      </p:sp>
      <p:sp>
        <p:nvSpPr>
          <p:cNvPr id="16" name="Text 14"/>
          <p:cNvSpPr/>
          <p:nvPr/>
        </p:nvSpPr>
        <p:spPr>
          <a:xfrm>
            <a:off x="649224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Calculation</a:t>
            </a:r>
            <a:endParaRPr lang="en-US" sz="900" dirty="0"/>
          </a:p>
        </p:txBody>
      </p:sp>
      <p:sp>
        <p:nvSpPr>
          <p:cNvPr id="17" name="Shape 15"/>
          <p:cNvSpPr/>
          <p:nvPr/>
        </p:nvSpPr>
        <p:spPr>
          <a:xfrm>
            <a:off x="9144000" y="1920240"/>
            <a:ext cx="2587752" cy="365760"/>
          </a:xfrm>
          <a:prstGeom prst="rect">
            <a:avLst/>
          </a:prstGeom>
          <a:solidFill>
            <a:srgbClr val="0B163C"/>
          </a:solidFill>
          <a:ln/>
        </p:spPr>
      </p:sp>
      <p:sp>
        <p:nvSpPr>
          <p:cNvPr id="18" name="Text 16"/>
          <p:cNvSpPr/>
          <p:nvPr/>
        </p:nvSpPr>
        <p:spPr>
          <a:xfrm>
            <a:off x="9144000" y="1920240"/>
            <a:ext cx="2587752"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 Result</a:t>
            </a:r>
            <a:endParaRPr lang="en-US" sz="900" dirty="0"/>
          </a:p>
        </p:txBody>
      </p:sp>
      <p:sp>
        <p:nvSpPr>
          <p:cNvPr id="19" name="Shape 17"/>
          <p:cNvSpPr/>
          <p:nvPr/>
        </p:nvSpPr>
        <p:spPr>
          <a:xfrm>
            <a:off x="457200" y="2286000"/>
            <a:ext cx="2926080" cy="438912"/>
          </a:xfrm>
          <a:prstGeom prst="rect">
            <a:avLst/>
          </a:prstGeom>
          <a:solidFill>
            <a:srgbClr val="FFFFFF"/>
          </a:solidFill>
          <a:ln/>
        </p:spPr>
      </p:sp>
      <p:sp>
        <p:nvSpPr>
          <p:cNvPr id="20" name="Text 18"/>
          <p:cNvSpPr/>
          <p:nvPr/>
        </p:nvSpPr>
        <p:spPr>
          <a:xfrm>
            <a:off x="457200" y="228600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Queenstown land</a:t>
            </a:r>
            <a:endParaRPr lang="en-US" sz="1000" dirty="0"/>
          </a:p>
        </p:txBody>
      </p:sp>
      <p:sp>
        <p:nvSpPr>
          <p:cNvPr id="21" name="Shape 19"/>
          <p:cNvSpPr/>
          <p:nvPr/>
        </p:nvSpPr>
        <p:spPr>
          <a:xfrm>
            <a:off x="3383280" y="2286000"/>
            <a:ext cx="3108960" cy="438912"/>
          </a:xfrm>
          <a:prstGeom prst="rect">
            <a:avLst/>
          </a:prstGeom>
          <a:solidFill>
            <a:srgbClr val="FFFFFF"/>
          </a:solidFill>
          <a:ln/>
        </p:spPr>
      </p:sp>
      <p:sp>
        <p:nvSpPr>
          <p:cNvPr id="22" name="Text 20"/>
          <p:cNvSpPr/>
          <p:nvPr/>
        </p:nvSpPr>
        <p:spPr>
          <a:xfrm>
            <a:off x="3383280" y="228600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per ownership (to confirm)</a:t>
            </a:r>
            <a:endParaRPr lang="en-US" sz="950" dirty="0"/>
          </a:p>
        </p:txBody>
      </p:sp>
      <p:sp>
        <p:nvSpPr>
          <p:cNvPr id="23" name="Shape 21"/>
          <p:cNvSpPr/>
          <p:nvPr/>
        </p:nvSpPr>
        <p:spPr>
          <a:xfrm>
            <a:off x="6492240" y="2286000"/>
            <a:ext cx="2651760" cy="438912"/>
          </a:xfrm>
          <a:prstGeom prst="rect">
            <a:avLst/>
          </a:prstGeom>
          <a:solidFill>
            <a:srgbClr val="FFFFFF"/>
          </a:solidFill>
          <a:ln/>
        </p:spPr>
      </p:sp>
      <p:sp>
        <p:nvSpPr>
          <p:cNvPr id="24" name="Text 22"/>
          <p:cNvSpPr/>
          <p:nvPr/>
        </p:nvSpPr>
        <p:spPr>
          <a:xfrm>
            <a:off x="6492240" y="228600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a:t>
            </a:r>
            <a:endParaRPr lang="en-US" sz="900" dirty="0"/>
          </a:p>
        </p:txBody>
      </p:sp>
      <p:sp>
        <p:nvSpPr>
          <p:cNvPr id="25" name="Shape 23"/>
          <p:cNvSpPr/>
          <p:nvPr/>
        </p:nvSpPr>
        <p:spPr>
          <a:xfrm>
            <a:off x="9144000" y="2286000"/>
            <a:ext cx="2587752" cy="438912"/>
          </a:xfrm>
          <a:prstGeom prst="rect">
            <a:avLst/>
          </a:prstGeom>
          <a:solidFill>
            <a:srgbClr val="FFFFFF"/>
          </a:solidFill>
          <a:ln/>
        </p:spPr>
      </p:sp>
      <p:sp>
        <p:nvSpPr>
          <p:cNvPr id="26" name="Text 24"/>
          <p:cNvSpPr/>
          <p:nvPr/>
        </p:nvSpPr>
        <p:spPr>
          <a:xfrm>
            <a:off x="9144000" y="228600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~700 ac</a:t>
            </a:r>
            <a:endParaRPr lang="en-US" sz="1100" dirty="0"/>
          </a:p>
        </p:txBody>
      </p:sp>
      <p:sp>
        <p:nvSpPr>
          <p:cNvPr id="27" name="Shape 25"/>
          <p:cNvSpPr/>
          <p:nvPr/>
        </p:nvSpPr>
        <p:spPr>
          <a:xfrm>
            <a:off x="457200" y="2724912"/>
            <a:ext cx="2926080" cy="438912"/>
          </a:xfrm>
          <a:prstGeom prst="rect">
            <a:avLst/>
          </a:prstGeom>
          <a:solidFill>
            <a:srgbClr val="F4F2ED"/>
          </a:solidFill>
          <a:ln/>
        </p:spPr>
      </p:sp>
      <p:sp>
        <p:nvSpPr>
          <p:cNvPr id="28" name="Text 26"/>
          <p:cNvSpPr/>
          <p:nvPr/>
        </p:nvSpPr>
        <p:spPr>
          <a:xfrm>
            <a:off x="457200" y="272491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permanent conservation</a:t>
            </a:r>
            <a:endParaRPr lang="en-US" sz="1000" dirty="0"/>
          </a:p>
        </p:txBody>
      </p:sp>
      <p:sp>
        <p:nvSpPr>
          <p:cNvPr id="29" name="Shape 27"/>
          <p:cNvSpPr/>
          <p:nvPr/>
        </p:nvSpPr>
        <p:spPr>
          <a:xfrm>
            <a:off x="3383280" y="2724912"/>
            <a:ext cx="3108960" cy="438912"/>
          </a:xfrm>
          <a:prstGeom prst="rect">
            <a:avLst/>
          </a:prstGeom>
          <a:solidFill>
            <a:srgbClr val="F4F2ED"/>
          </a:solidFill>
          <a:ln/>
        </p:spPr>
      </p:sp>
      <p:sp>
        <p:nvSpPr>
          <p:cNvPr id="30" name="Text 28"/>
          <p:cNvSpPr/>
          <p:nvPr/>
        </p:nvSpPr>
        <p:spPr>
          <a:xfrm>
            <a:off x="3383280" y="2724912"/>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recorded easement</a:t>
            </a:r>
            <a:endParaRPr lang="en-US" sz="950" dirty="0"/>
          </a:p>
        </p:txBody>
      </p:sp>
      <p:sp>
        <p:nvSpPr>
          <p:cNvPr id="31" name="Shape 29"/>
          <p:cNvSpPr/>
          <p:nvPr/>
        </p:nvSpPr>
        <p:spPr>
          <a:xfrm>
            <a:off x="6492240" y="2724912"/>
            <a:ext cx="2651760" cy="438912"/>
          </a:xfrm>
          <a:prstGeom prst="rect">
            <a:avLst/>
          </a:prstGeom>
          <a:solidFill>
            <a:srgbClr val="F4F2ED"/>
          </a:solidFill>
          <a:ln/>
        </p:spPr>
      </p:sp>
      <p:sp>
        <p:nvSpPr>
          <p:cNvPr id="32" name="Text 30"/>
          <p:cNvSpPr/>
          <p:nvPr/>
        </p:nvSpPr>
        <p:spPr>
          <a:xfrm>
            <a:off x="6492240" y="272491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700 − 198</a:t>
            </a:r>
            <a:endParaRPr lang="en-US" sz="900" dirty="0"/>
          </a:p>
        </p:txBody>
      </p:sp>
      <p:sp>
        <p:nvSpPr>
          <p:cNvPr id="33" name="Shape 31"/>
          <p:cNvSpPr/>
          <p:nvPr/>
        </p:nvSpPr>
        <p:spPr>
          <a:xfrm>
            <a:off x="9144000" y="2724912"/>
            <a:ext cx="2587752" cy="438912"/>
          </a:xfrm>
          <a:prstGeom prst="rect">
            <a:avLst/>
          </a:prstGeom>
          <a:solidFill>
            <a:srgbClr val="F4F2ED"/>
          </a:solidFill>
          <a:ln/>
        </p:spPr>
      </p:sp>
      <p:sp>
        <p:nvSpPr>
          <p:cNvPr id="34" name="Text 32"/>
          <p:cNvSpPr/>
          <p:nvPr/>
        </p:nvSpPr>
        <p:spPr>
          <a:xfrm>
            <a:off x="9144000" y="272491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502 ac</a:t>
            </a:r>
            <a:endParaRPr lang="en-US" sz="1100" dirty="0"/>
          </a:p>
        </p:txBody>
      </p:sp>
      <p:sp>
        <p:nvSpPr>
          <p:cNvPr id="35" name="Shape 33"/>
          <p:cNvSpPr/>
          <p:nvPr/>
        </p:nvSpPr>
        <p:spPr>
          <a:xfrm>
            <a:off x="457200" y="3163824"/>
            <a:ext cx="2926080" cy="438912"/>
          </a:xfrm>
          <a:prstGeom prst="rect">
            <a:avLst/>
          </a:prstGeom>
          <a:solidFill>
            <a:srgbClr val="FFFFFF"/>
          </a:solidFill>
          <a:ln/>
        </p:spPr>
      </p:sp>
      <p:sp>
        <p:nvSpPr>
          <p:cNvPr id="36" name="Text 34"/>
          <p:cNvSpPr/>
          <p:nvPr/>
        </p:nvSpPr>
        <p:spPr>
          <a:xfrm>
            <a:off x="457200" y="3163824"/>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golf, range, water &amp; lodging</a:t>
            </a:r>
            <a:endParaRPr lang="en-US" sz="1000" dirty="0"/>
          </a:p>
        </p:txBody>
      </p:sp>
      <p:sp>
        <p:nvSpPr>
          <p:cNvPr id="37" name="Shape 35"/>
          <p:cNvSpPr/>
          <p:nvPr/>
        </p:nvSpPr>
        <p:spPr>
          <a:xfrm>
            <a:off x="3383280" y="3163824"/>
            <a:ext cx="3108960" cy="438912"/>
          </a:xfrm>
          <a:prstGeom prst="rect">
            <a:avLst/>
          </a:prstGeom>
          <a:solidFill>
            <a:srgbClr val="FFFFFF"/>
          </a:solidFill>
          <a:ln/>
        </p:spPr>
      </p:sp>
      <p:sp>
        <p:nvSpPr>
          <p:cNvPr id="38" name="Text 36"/>
          <p:cNvSpPr/>
          <p:nvPr/>
        </p:nvSpPr>
        <p:spPr>
          <a:xfrm>
            <a:off x="3383280" y="3163824"/>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two 18s + 9-ac range + cottages</a:t>
            </a:r>
            <a:endParaRPr lang="en-US" sz="950" dirty="0"/>
          </a:p>
        </p:txBody>
      </p:sp>
      <p:sp>
        <p:nvSpPr>
          <p:cNvPr id="39" name="Shape 37"/>
          <p:cNvSpPr/>
          <p:nvPr/>
        </p:nvSpPr>
        <p:spPr>
          <a:xfrm>
            <a:off x="6492240" y="3163824"/>
            <a:ext cx="2651760" cy="438912"/>
          </a:xfrm>
          <a:prstGeom prst="rect">
            <a:avLst/>
          </a:prstGeom>
          <a:solidFill>
            <a:srgbClr val="FFFFFF"/>
          </a:solidFill>
          <a:ln/>
        </p:spPr>
      </p:sp>
      <p:sp>
        <p:nvSpPr>
          <p:cNvPr id="40" name="Text 38"/>
          <p:cNvSpPr/>
          <p:nvPr/>
        </p:nvSpPr>
        <p:spPr>
          <a:xfrm>
            <a:off x="6492240" y="3163824"/>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502 − ~300</a:t>
            </a:r>
            <a:endParaRPr lang="en-US" sz="900" dirty="0"/>
          </a:p>
        </p:txBody>
      </p:sp>
      <p:sp>
        <p:nvSpPr>
          <p:cNvPr id="41" name="Shape 39"/>
          <p:cNvSpPr/>
          <p:nvPr/>
        </p:nvSpPr>
        <p:spPr>
          <a:xfrm>
            <a:off x="9144000" y="3163824"/>
            <a:ext cx="2587752" cy="438912"/>
          </a:xfrm>
          <a:prstGeom prst="rect">
            <a:avLst/>
          </a:prstGeom>
          <a:solidFill>
            <a:srgbClr val="FFFFFF"/>
          </a:solidFill>
          <a:ln/>
        </p:spPr>
      </p:sp>
      <p:sp>
        <p:nvSpPr>
          <p:cNvPr id="42" name="Text 40"/>
          <p:cNvSpPr/>
          <p:nvPr/>
        </p:nvSpPr>
        <p:spPr>
          <a:xfrm>
            <a:off x="9144000" y="3163824"/>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~200 ac</a:t>
            </a:r>
            <a:endParaRPr lang="en-US" sz="1100" dirty="0"/>
          </a:p>
        </p:txBody>
      </p:sp>
      <p:sp>
        <p:nvSpPr>
          <p:cNvPr id="43" name="Shape 41"/>
          <p:cNvSpPr/>
          <p:nvPr/>
        </p:nvSpPr>
        <p:spPr>
          <a:xfrm>
            <a:off x="457200" y="3602736"/>
            <a:ext cx="2926080" cy="438912"/>
          </a:xfrm>
          <a:prstGeom prst="rect">
            <a:avLst/>
          </a:prstGeom>
          <a:solidFill>
            <a:srgbClr val="F4F2ED"/>
          </a:solidFill>
          <a:ln/>
        </p:spPr>
      </p:sp>
      <p:sp>
        <p:nvSpPr>
          <p:cNvPr id="44" name="Text 42"/>
          <p:cNvSpPr/>
          <p:nvPr/>
        </p:nvSpPr>
        <p:spPr>
          <a:xfrm>
            <a:off x="457200" y="3602736"/>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Critical Area &amp; wetlands</a:t>
            </a:r>
            <a:endParaRPr lang="en-US" sz="1000" dirty="0"/>
          </a:p>
        </p:txBody>
      </p:sp>
      <p:sp>
        <p:nvSpPr>
          <p:cNvPr id="45" name="Shape 43"/>
          <p:cNvSpPr/>
          <p:nvPr/>
        </p:nvSpPr>
        <p:spPr>
          <a:xfrm>
            <a:off x="3383280" y="3602736"/>
            <a:ext cx="3108960" cy="438912"/>
          </a:xfrm>
          <a:prstGeom prst="rect">
            <a:avLst/>
          </a:prstGeom>
          <a:solidFill>
            <a:srgbClr val="F4F2ED"/>
          </a:solidFill>
          <a:ln/>
        </p:spPr>
      </p:sp>
      <p:sp>
        <p:nvSpPr>
          <p:cNvPr id="46" name="Text 44"/>
          <p:cNvSpPr/>
          <p:nvPr/>
        </p:nvSpPr>
        <p:spPr>
          <a:xfrm>
            <a:off x="3383280" y="3602736"/>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Chesapeake 1,000-ft zone</a:t>
            </a:r>
            <a:endParaRPr lang="en-US" sz="950" dirty="0"/>
          </a:p>
        </p:txBody>
      </p:sp>
      <p:sp>
        <p:nvSpPr>
          <p:cNvPr id="47" name="Shape 45"/>
          <p:cNvSpPr/>
          <p:nvPr/>
        </p:nvSpPr>
        <p:spPr>
          <a:xfrm>
            <a:off x="6492240" y="3602736"/>
            <a:ext cx="2651760" cy="438912"/>
          </a:xfrm>
          <a:prstGeom prst="rect">
            <a:avLst/>
          </a:prstGeom>
          <a:solidFill>
            <a:srgbClr val="F4F2ED"/>
          </a:solidFill>
          <a:ln/>
        </p:spPr>
      </p:sp>
      <p:sp>
        <p:nvSpPr>
          <p:cNvPr id="48" name="Text 46"/>
          <p:cNvSpPr/>
          <p:nvPr/>
        </p:nvSpPr>
        <p:spPr>
          <a:xfrm>
            <a:off x="6492240" y="3602736"/>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200 − ~60</a:t>
            </a:r>
            <a:endParaRPr lang="en-US" sz="900" dirty="0"/>
          </a:p>
        </p:txBody>
      </p:sp>
      <p:sp>
        <p:nvSpPr>
          <p:cNvPr id="49" name="Shape 47"/>
          <p:cNvSpPr/>
          <p:nvPr/>
        </p:nvSpPr>
        <p:spPr>
          <a:xfrm>
            <a:off x="9144000" y="3602736"/>
            <a:ext cx="2587752" cy="438912"/>
          </a:xfrm>
          <a:prstGeom prst="rect">
            <a:avLst/>
          </a:prstGeom>
          <a:solidFill>
            <a:srgbClr val="F4F2ED"/>
          </a:solidFill>
          <a:ln/>
        </p:spPr>
      </p:sp>
      <p:sp>
        <p:nvSpPr>
          <p:cNvPr id="50" name="Text 48"/>
          <p:cNvSpPr/>
          <p:nvPr/>
        </p:nvSpPr>
        <p:spPr>
          <a:xfrm>
            <a:off x="9144000" y="3602736"/>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~140 ac</a:t>
            </a:r>
            <a:endParaRPr lang="en-US" sz="1100" dirty="0"/>
          </a:p>
        </p:txBody>
      </p:sp>
      <p:sp>
        <p:nvSpPr>
          <p:cNvPr id="51" name="Shape 49"/>
          <p:cNvSpPr/>
          <p:nvPr/>
        </p:nvSpPr>
        <p:spPr>
          <a:xfrm>
            <a:off x="457200" y="4041648"/>
            <a:ext cx="2926080" cy="438912"/>
          </a:xfrm>
          <a:prstGeom prst="rect">
            <a:avLst/>
          </a:prstGeom>
          <a:solidFill>
            <a:srgbClr val="FFFFFF"/>
          </a:solidFill>
          <a:ln/>
        </p:spPr>
      </p:sp>
      <p:sp>
        <p:nvSpPr>
          <p:cNvPr id="52" name="Text 50"/>
          <p:cNvSpPr/>
          <p:nvPr/>
        </p:nvSpPr>
        <p:spPr>
          <a:xfrm>
            <a:off x="457200" y="4041648"/>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lots</a:t>
            </a:r>
            <a:endParaRPr lang="en-US" sz="1000" dirty="0"/>
          </a:p>
        </p:txBody>
      </p:sp>
      <p:sp>
        <p:nvSpPr>
          <p:cNvPr id="53" name="Shape 51"/>
          <p:cNvSpPr/>
          <p:nvPr/>
        </p:nvSpPr>
        <p:spPr>
          <a:xfrm>
            <a:off x="3383280" y="4041648"/>
            <a:ext cx="3108960" cy="438912"/>
          </a:xfrm>
          <a:prstGeom prst="rect">
            <a:avLst/>
          </a:prstGeom>
          <a:solidFill>
            <a:srgbClr val="FFFFFF"/>
          </a:solidFill>
          <a:ln/>
        </p:spPr>
      </p:sp>
      <p:sp>
        <p:nvSpPr>
          <p:cNvPr id="54" name="Text 52"/>
          <p:cNvSpPr/>
          <p:nvPr/>
        </p:nvSpPr>
        <p:spPr>
          <a:xfrm>
            <a:off x="3383280" y="4041648"/>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~2.0 lots / acre</a:t>
            </a:r>
            <a:endParaRPr lang="en-US" sz="950" dirty="0"/>
          </a:p>
        </p:txBody>
      </p:sp>
      <p:sp>
        <p:nvSpPr>
          <p:cNvPr id="55" name="Shape 53"/>
          <p:cNvSpPr/>
          <p:nvPr/>
        </p:nvSpPr>
        <p:spPr>
          <a:xfrm>
            <a:off x="6492240" y="4041648"/>
            <a:ext cx="2651760" cy="438912"/>
          </a:xfrm>
          <a:prstGeom prst="rect">
            <a:avLst/>
          </a:prstGeom>
          <a:solidFill>
            <a:srgbClr val="FFFFFF"/>
          </a:solidFill>
          <a:ln/>
        </p:spPr>
      </p:sp>
      <p:sp>
        <p:nvSpPr>
          <p:cNvPr id="56" name="Text 54"/>
          <p:cNvSpPr/>
          <p:nvPr/>
        </p:nvSpPr>
        <p:spPr>
          <a:xfrm>
            <a:off x="6492240" y="4041648"/>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140 × 2.0</a:t>
            </a:r>
            <a:endParaRPr lang="en-US" sz="900" dirty="0"/>
          </a:p>
        </p:txBody>
      </p:sp>
      <p:sp>
        <p:nvSpPr>
          <p:cNvPr id="57" name="Shape 55"/>
          <p:cNvSpPr/>
          <p:nvPr/>
        </p:nvSpPr>
        <p:spPr>
          <a:xfrm>
            <a:off x="9144000" y="4041648"/>
            <a:ext cx="2587752" cy="438912"/>
          </a:xfrm>
          <a:prstGeom prst="rect">
            <a:avLst/>
          </a:prstGeom>
          <a:solidFill>
            <a:srgbClr val="FFFFFF"/>
          </a:solidFill>
          <a:ln/>
        </p:spPr>
      </p:sp>
      <p:sp>
        <p:nvSpPr>
          <p:cNvPr id="58" name="Text 56"/>
          <p:cNvSpPr/>
          <p:nvPr/>
        </p:nvSpPr>
        <p:spPr>
          <a:xfrm>
            <a:off x="9144000" y="4041648"/>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~280 lots</a:t>
            </a:r>
            <a:endParaRPr lang="en-US" sz="1100" dirty="0"/>
          </a:p>
        </p:txBody>
      </p:sp>
      <p:sp>
        <p:nvSpPr>
          <p:cNvPr id="59" name="Shape 57"/>
          <p:cNvSpPr/>
          <p:nvPr/>
        </p:nvSpPr>
        <p:spPr>
          <a:xfrm>
            <a:off x="457200" y="4480560"/>
            <a:ext cx="2926080" cy="438912"/>
          </a:xfrm>
          <a:prstGeom prst="rect">
            <a:avLst/>
          </a:prstGeom>
          <a:solidFill>
            <a:srgbClr val="F4F2ED"/>
          </a:solidFill>
          <a:ln/>
        </p:spPr>
      </p:sp>
      <p:sp>
        <p:nvSpPr>
          <p:cNvPr id="60" name="Text 58"/>
          <p:cNvSpPr/>
          <p:nvPr/>
        </p:nvSpPr>
        <p:spPr>
          <a:xfrm>
            <a:off x="457200" y="448056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 price</a:t>
            </a:r>
            <a:endParaRPr lang="en-US" sz="1000" dirty="0"/>
          </a:p>
        </p:txBody>
      </p:sp>
      <p:sp>
        <p:nvSpPr>
          <p:cNvPr id="61" name="Shape 59"/>
          <p:cNvSpPr/>
          <p:nvPr/>
        </p:nvSpPr>
        <p:spPr>
          <a:xfrm>
            <a:off x="3383280" y="4480560"/>
            <a:ext cx="3108960" cy="438912"/>
          </a:xfrm>
          <a:prstGeom prst="rect">
            <a:avLst/>
          </a:prstGeom>
          <a:solidFill>
            <a:srgbClr val="F4F2ED"/>
          </a:solidFill>
          <a:ln/>
        </p:spPr>
      </p:sp>
      <p:sp>
        <p:nvSpPr>
          <p:cNvPr id="62" name="Text 60"/>
          <p:cNvSpPr/>
          <p:nvPr/>
        </p:nvSpPr>
        <p:spPr>
          <a:xfrm>
            <a:off x="3383280" y="448056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we deliver finished lots</a:t>
            </a:r>
            <a:endParaRPr lang="en-US" sz="950" dirty="0"/>
          </a:p>
        </p:txBody>
      </p:sp>
      <p:sp>
        <p:nvSpPr>
          <p:cNvPr id="63" name="Shape 61"/>
          <p:cNvSpPr/>
          <p:nvPr/>
        </p:nvSpPr>
        <p:spPr>
          <a:xfrm>
            <a:off x="6492240" y="4480560"/>
            <a:ext cx="2651760" cy="438912"/>
          </a:xfrm>
          <a:prstGeom prst="rect">
            <a:avLst/>
          </a:prstGeom>
          <a:solidFill>
            <a:srgbClr val="F4F2ED"/>
          </a:solidFill>
          <a:ln/>
        </p:spPr>
      </p:sp>
      <p:sp>
        <p:nvSpPr>
          <p:cNvPr id="64" name="Text 62"/>
          <p:cNvSpPr/>
          <p:nvPr/>
        </p:nvSpPr>
        <p:spPr>
          <a:xfrm>
            <a:off x="6492240" y="448056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to homebuilders</a:t>
            </a:r>
            <a:endParaRPr lang="en-US" sz="900" dirty="0"/>
          </a:p>
        </p:txBody>
      </p:sp>
      <p:sp>
        <p:nvSpPr>
          <p:cNvPr id="65" name="Shape 63"/>
          <p:cNvSpPr/>
          <p:nvPr/>
        </p:nvSpPr>
        <p:spPr>
          <a:xfrm>
            <a:off x="9144000" y="4480560"/>
            <a:ext cx="2587752" cy="438912"/>
          </a:xfrm>
          <a:prstGeom prst="rect">
            <a:avLst/>
          </a:prstGeom>
          <a:solidFill>
            <a:srgbClr val="F4F2ED"/>
          </a:solidFill>
          <a:ln/>
        </p:spPr>
      </p:sp>
      <p:sp>
        <p:nvSpPr>
          <p:cNvPr id="66" name="Text 64"/>
          <p:cNvSpPr/>
          <p:nvPr/>
        </p:nvSpPr>
        <p:spPr>
          <a:xfrm>
            <a:off x="9144000" y="448056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$150K</a:t>
            </a:r>
            <a:endParaRPr lang="en-US" sz="1100" dirty="0"/>
          </a:p>
        </p:txBody>
      </p:sp>
      <p:sp>
        <p:nvSpPr>
          <p:cNvPr id="67" name="Shape 65"/>
          <p:cNvSpPr/>
          <p:nvPr/>
        </p:nvSpPr>
        <p:spPr>
          <a:xfrm>
            <a:off x="457200" y="4919472"/>
            <a:ext cx="2926080" cy="438912"/>
          </a:xfrm>
          <a:prstGeom prst="rect">
            <a:avLst/>
          </a:prstGeom>
          <a:solidFill>
            <a:srgbClr val="FFFFFF"/>
          </a:solidFill>
          <a:ln/>
        </p:spPr>
      </p:sp>
      <p:sp>
        <p:nvSpPr>
          <p:cNvPr id="68" name="Text 66"/>
          <p:cNvSpPr/>
          <p:nvPr/>
        </p:nvSpPr>
        <p:spPr>
          <a:xfrm>
            <a:off x="457200" y="491947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LOT REVENUE</a:t>
            </a:r>
            <a:endParaRPr lang="en-US" sz="1000" dirty="0"/>
          </a:p>
        </p:txBody>
      </p:sp>
      <p:sp>
        <p:nvSpPr>
          <p:cNvPr id="69" name="Shape 67"/>
          <p:cNvSpPr/>
          <p:nvPr/>
        </p:nvSpPr>
        <p:spPr>
          <a:xfrm>
            <a:off x="3383280" y="4919472"/>
            <a:ext cx="3108960" cy="438912"/>
          </a:xfrm>
          <a:prstGeom prst="rect">
            <a:avLst/>
          </a:prstGeom>
          <a:solidFill>
            <a:srgbClr val="FFFFFF"/>
          </a:solidFill>
          <a:ln/>
        </p:spPr>
      </p:sp>
      <p:sp>
        <p:nvSpPr>
          <p:cNvPr id="70" name="Text 68"/>
          <p:cNvSpPr/>
          <p:nvPr/>
        </p:nvSpPr>
        <p:spPr>
          <a:xfrm>
            <a:off x="3383280" y="4919472"/>
            <a:ext cx="3108960" cy="438912"/>
          </a:xfrm>
          <a:prstGeom prst="rect">
            <a:avLst/>
          </a:prstGeom>
          <a:noFill/>
          <a:ln/>
        </p:spPr>
        <p:txBody>
          <a:bodyPr wrap="square" lIns="25400" tIns="76200" rIns="76200" bIns="25400" rtlCol="0" anchor="ctr"/>
          <a:lstStyle/>
          <a:p>
            <a:pPr algn="l" indent="0" marL="0">
              <a:buNone/>
            </a:pPr>
            <a:r>
              <a:rPr lang="en-US" sz="950" dirty="0">
                <a:solidFill>
                  <a:srgbClr val="6B5A6B"/>
                </a:solidFill>
                <a:latin typeface="DM Sans" pitchFamily="34" charset="0"/>
                <a:ea typeface="DM Sans" pitchFamily="34" charset="-122"/>
                <a:cs typeface="DM Sans" pitchFamily="34" charset="-120"/>
              </a:rPr>
              <a:t>net profit &amp; returns on the pro forma</a:t>
            </a:r>
            <a:endParaRPr lang="en-US" sz="950" dirty="0"/>
          </a:p>
        </p:txBody>
      </p:sp>
      <p:sp>
        <p:nvSpPr>
          <p:cNvPr id="71" name="Shape 69"/>
          <p:cNvSpPr/>
          <p:nvPr/>
        </p:nvSpPr>
        <p:spPr>
          <a:xfrm>
            <a:off x="6492240" y="4919472"/>
            <a:ext cx="2651760" cy="438912"/>
          </a:xfrm>
          <a:prstGeom prst="rect">
            <a:avLst/>
          </a:prstGeom>
          <a:solidFill>
            <a:srgbClr val="FFFFFF"/>
          </a:solidFill>
          <a:ln/>
        </p:spPr>
      </p:sp>
      <p:sp>
        <p:nvSpPr>
          <p:cNvPr id="72" name="Text 70"/>
          <p:cNvSpPr/>
          <p:nvPr/>
        </p:nvSpPr>
        <p:spPr>
          <a:xfrm>
            <a:off x="6492240" y="491947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280 × $150K</a:t>
            </a:r>
            <a:endParaRPr lang="en-US" sz="900" dirty="0"/>
          </a:p>
        </p:txBody>
      </p:sp>
      <p:sp>
        <p:nvSpPr>
          <p:cNvPr id="73" name="Shape 71"/>
          <p:cNvSpPr/>
          <p:nvPr/>
        </p:nvSpPr>
        <p:spPr>
          <a:xfrm>
            <a:off x="9144000" y="4919472"/>
            <a:ext cx="2587752" cy="438912"/>
          </a:xfrm>
          <a:prstGeom prst="rect">
            <a:avLst/>
          </a:prstGeom>
          <a:solidFill>
            <a:srgbClr val="FFFFFF"/>
          </a:solidFill>
          <a:ln/>
        </p:spPr>
      </p:sp>
      <p:sp>
        <p:nvSpPr>
          <p:cNvPr id="74" name="Text 72"/>
          <p:cNvSpPr/>
          <p:nvPr/>
        </p:nvSpPr>
        <p:spPr>
          <a:xfrm>
            <a:off x="9144000" y="491947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$42.0M</a:t>
            </a:r>
            <a:endParaRPr lang="en-US" sz="1100" dirty="0"/>
          </a:p>
        </p:txBody>
      </p:sp>
      <p:sp>
        <p:nvSpPr>
          <p:cNvPr id="75" name="Shape 73"/>
          <p:cNvSpPr/>
          <p:nvPr/>
        </p:nvSpPr>
        <p:spPr>
          <a:xfrm>
            <a:off x="457200" y="5486400"/>
            <a:ext cx="11274552" cy="411480"/>
          </a:xfrm>
          <a:prstGeom prst="rect">
            <a:avLst/>
          </a:prstGeom>
          <a:solidFill>
            <a:srgbClr val="0B163C"/>
          </a:solidFill>
          <a:ln/>
        </p:spPr>
      </p:sp>
      <p:sp>
        <p:nvSpPr>
          <p:cNvPr id="76" name="Text 74"/>
          <p:cNvSpPr/>
          <p:nvPr/>
        </p:nvSpPr>
        <p:spPr>
          <a:xfrm>
            <a:off x="640080" y="5486400"/>
            <a:ext cx="1090879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$42.0M gross finished-lot revenue — we develop and deliver finished lots; builders just build. Net profit &amp; returns on the pro forma.</a:t>
            </a:r>
            <a:endParaRPr lang="en-US" sz="1100" dirty="0"/>
          </a:p>
        </p:txBody>
      </p:sp>
      <p:sp>
        <p:nvSpPr>
          <p:cNvPr id="77" name="Text 75"/>
          <p:cNvSpPr/>
          <p:nvPr/>
        </p:nvSpPr>
        <p:spPr>
          <a:xfrm>
            <a:off x="457200" y="605332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who-we-are" history="1" highlightClick="0" endSnd="0">
                  <a:extLst>
                    <a:ext uri="{A12FA001-AC4F-418D-AE19-62706E023703}">
                      <ahyp:hlinkClr xmlns:ahyp="http://schemas.microsoft.com/office/drawing/2018/hyperlinkcolor" val="tx"/>
                    </a:ext>
                  </a:extLst>
                </a:hlinkClick>
              </a:rPr>
              <a:t>qhgolf.com/who-we-are</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MD DNR — Critical Area" history="1" highlightClick="0" endSnd="0">
                  <a:extLst>
                    <a:ext uri="{A12FA001-AC4F-418D-AE19-62706E023703}">
                      <ahyp:hlinkClr xmlns:ahyp="http://schemas.microsoft.com/office/drawing/2018/hyperlinkcolor" val="tx"/>
                    </a:ext>
                  </a:extLst>
                </a:hlinkClick>
              </a:rPr>
              <a:t>MD DNR — Critical Area</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7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IT SELLS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These lots sell — here's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Course and water frontage, Bay Bridge proximity, and builder appetite for entitled lots all push price and absorption. We're meeting demand that already exists.</a:t>
            </a:r>
            <a:endParaRPr lang="en-US" sz="1300" dirty="0"/>
          </a:p>
        </p:txBody>
      </p:sp>
      <p:sp>
        <p:nvSpPr>
          <p:cNvPr id="11" name="Shape 9"/>
          <p:cNvSpPr/>
          <p:nvPr/>
        </p:nvSpPr>
        <p:spPr>
          <a:xfrm>
            <a:off x="457200" y="1965960"/>
            <a:ext cx="2743200" cy="365760"/>
          </a:xfrm>
          <a:prstGeom prst="rect">
            <a:avLst/>
          </a:prstGeom>
          <a:solidFill>
            <a:srgbClr val="0B163C"/>
          </a:solidFill>
          <a:ln/>
        </p:spPr>
      </p:sp>
      <p:sp>
        <p:nvSpPr>
          <p:cNvPr id="12" name="Text 10"/>
          <p:cNvSpPr/>
          <p:nvPr/>
        </p:nvSpPr>
        <p:spPr>
          <a:xfrm>
            <a:off x="457200" y="196596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Driver</a:t>
            </a:r>
            <a:endParaRPr lang="en-US" sz="900" dirty="0"/>
          </a:p>
        </p:txBody>
      </p:sp>
      <p:sp>
        <p:nvSpPr>
          <p:cNvPr id="13" name="Shape 11"/>
          <p:cNvSpPr/>
          <p:nvPr/>
        </p:nvSpPr>
        <p:spPr>
          <a:xfrm>
            <a:off x="3200400" y="1965960"/>
            <a:ext cx="4389120" cy="365760"/>
          </a:xfrm>
          <a:prstGeom prst="rect">
            <a:avLst/>
          </a:prstGeom>
          <a:solidFill>
            <a:srgbClr val="0B163C"/>
          </a:solidFill>
          <a:ln/>
        </p:spPr>
      </p:sp>
      <p:sp>
        <p:nvSpPr>
          <p:cNvPr id="14" name="Text 12"/>
          <p:cNvSpPr/>
          <p:nvPr/>
        </p:nvSpPr>
        <p:spPr>
          <a:xfrm>
            <a:off x="3200400" y="1965960"/>
            <a:ext cx="43891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Detail</a:t>
            </a:r>
            <a:endParaRPr lang="en-US" sz="900" dirty="0"/>
          </a:p>
        </p:txBody>
      </p:sp>
      <p:sp>
        <p:nvSpPr>
          <p:cNvPr id="15" name="Shape 13"/>
          <p:cNvSpPr/>
          <p:nvPr/>
        </p:nvSpPr>
        <p:spPr>
          <a:xfrm>
            <a:off x="7589520" y="1965960"/>
            <a:ext cx="4142232" cy="365760"/>
          </a:xfrm>
          <a:prstGeom prst="rect">
            <a:avLst/>
          </a:prstGeom>
          <a:solidFill>
            <a:srgbClr val="0B163C"/>
          </a:solidFill>
          <a:ln/>
        </p:spPr>
      </p:sp>
      <p:sp>
        <p:nvSpPr>
          <p:cNvPr id="16" name="Text 14"/>
          <p:cNvSpPr/>
          <p:nvPr/>
        </p:nvSpPr>
        <p:spPr>
          <a:xfrm>
            <a:off x="7589520" y="1965960"/>
            <a:ext cx="414223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Why it lifts value</a:t>
            </a:r>
            <a:endParaRPr lang="en-US" sz="900" dirty="0"/>
          </a:p>
        </p:txBody>
      </p:sp>
      <p:sp>
        <p:nvSpPr>
          <p:cNvPr id="17" name="Shape 15"/>
          <p:cNvSpPr/>
          <p:nvPr/>
        </p:nvSpPr>
        <p:spPr>
          <a:xfrm>
            <a:off x="457200" y="2331720"/>
            <a:ext cx="2743200" cy="566928"/>
          </a:xfrm>
          <a:prstGeom prst="rect">
            <a:avLst/>
          </a:prstGeom>
          <a:solidFill>
            <a:srgbClr val="FFFFFF"/>
          </a:solidFill>
          <a:ln/>
        </p:spPr>
      </p:sp>
      <p:sp>
        <p:nvSpPr>
          <p:cNvPr id="18" name="Text 16"/>
          <p:cNvSpPr/>
          <p:nvPr/>
        </p:nvSpPr>
        <p:spPr>
          <a:xfrm>
            <a:off x="457200" y="2331720"/>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Golf &amp; water frontage</a:t>
            </a:r>
            <a:endParaRPr lang="en-US" sz="1050" dirty="0"/>
          </a:p>
        </p:txBody>
      </p:sp>
      <p:sp>
        <p:nvSpPr>
          <p:cNvPr id="19" name="Shape 17"/>
          <p:cNvSpPr/>
          <p:nvPr/>
        </p:nvSpPr>
        <p:spPr>
          <a:xfrm>
            <a:off x="3200400" y="2331720"/>
            <a:ext cx="4389120" cy="566928"/>
          </a:xfrm>
          <a:prstGeom prst="rect">
            <a:avLst/>
          </a:prstGeom>
          <a:solidFill>
            <a:srgbClr val="FFFFFF"/>
          </a:solidFill>
          <a:ln/>
        </p:spPr>
      </p:sp>
      <p:sp>
        <p:nvSpPr>
          <p:cNvPr id="20" name="Text 18"/>
          <p:cNvSpPr/>
          <p:nvPr/>
        </p:nvSpPr>
        <p:spPr>
          <a:xfrm>
            <a:off x="3200400" y="2331720"/>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Lots on the River / Lakes courses &amp; Chester River</a:t>
            </a:r>
            <a:endParaRPr lang="en-US" sz="950" dirty="0"/>
          </a:p>
        </p:txBody>
      </p:sp>
      <p:sp>
        <p:nvSpPr>
          <p:cNvPr id="21" name="Shape 19"/>
          <p:cNvSpPr/>
          <p:nvPr/>
        </p:nvSpPr>
        <p:spPr>
          <a:xfrm>
            <a:off x="7589520" y="2331720"/>
            <a:ext cx="4142232" cy="566928"/>
          </a:xfrm>
          <a:prstGeom prst="rect">
            <a:avLst/>
          </a:prstGeom>
          <a:solidFill>
            <a:srgbClr val="FFFFFF"/>
          </a:solidFill>
          <a:ln/>
        </p:spPr>
      </p:sp>
      <p:sp>
        <p:nvSpPr>
          <p:cNvPr id="22" name="Text 20"/>
          <p:cNvSpPr/>
          <p:nvPr/>
        </p:nvSpPr>
        <p:spPr>
          <a:xfrm>
            <a:off x="7589520" y="2331720"/>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Premium pricing and faster absorption vs. a raw subdivision</a:t>
            </a:r>
            <a:endParaRPr lang="en-US" sz="950" dirty="0"/>
          </a:p>
        </p:txBody>
      </p:sp>
      <p:sp>
        <p:nvSpPr>
          <p:cNvPr id="23" name="Shape 21"/>
          <p:cNvSpPr/>
          <p:nvPr/>
        </p:nvSpPr>
        <p:spPr>
          <a:xfrm>
            <a:off x="457200" y="2898648"/>
            <a:ext cx="2743200" cy="566928"/>
          </a:xfrm>
          <a:prstGeom prst="rect">
            <a:avLst/>
          </a:prstGeom>
          <a:solidFill>
            <a:srgbClr val="F4F2ED"/>
          </a:solidFill>
          <a:ln/>
        </p:spPr>
      </p:sp>
      <p:sp>
        <p:nvSpPr>
          <p:cNvPr id="24" name="Text 22"/>
          <p:cNvSpPr/>
          <p:nvPr/>
        </p:nvSpPr>
        <p:spPr>
          <a:xfrm>
            <a:off x="457200" y="2898648"/>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Bay Bridge location</a:t>
            </a:r>
            <a:endParaRPr lang="en-US" sz="1050" dirty="0"/>
          </a:p>
        </p:txBody>
      </p:sp>
      <p:sp>
        <p:nvSpPr>
          <p:cNvPr id="25" name="Shape 23"/>
          <p:cNvSpPr/>
          <p:nvPr/>
        </p:nvSpPr>
        <p:spPr>
          <a:xfrm>
            <a:off x="3200400" y="2898648"/>
            <a:ext cx="4389120" cy="566928"/>
          </a:xfrm>
          <a:prstGeom prst="rect">
            <a:avLst/>
          </a:prstGeom>
          <a:solidFill>
            <a:srgbClr val="F4F2ED"/>
          </a:solidFill>
          <a:ln/>
        </p:spPr>
      </p:sp>
      <p:sp>
        <p:nvSpPr>
          <p:cNvPr id="26" name="Text 24"/>
          <p:cNvSpPr/>
          <p:nvPr/>
        </p:nvSpPr>
        <p:spPr>
          <a:xfrm>
            <a:off x="3200400" y="2898648"/>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Minutes to Annapolis; ~1 hr to D.C. &amp; Baltimore</a:t>
            </a:r>
            <a:endParaRPr lang="en-US" sz="950" dirty="0"/>
          </a:p>
        </p:txBody>
      </p:sp>
      <p:sp>
        <p:nvSpPr>
          <p:cNvPr id="27" name="Shape 25"/>
          <p:cNvSpPr/>
          <p:nvPr/>
        </p:nvSpPr>
        <p:spPr>
          <a:xfrm>
            <a:off x="7589520" y="2898648"/>
            <a:ext cx="4142232" cy="566928"/>
          </a:xfrm>
          <a:prstGeom prst="rect">
            <a:avLst/>
          </a:prstGeom>
          <a:solidFill>
            <a:srgbClr val="F4F2ED"/>
          </a:solidFill>
          <a:ln/>
        </p:spPr>
      </p:sp>
      <p:sp>
        <p:nvSpPr>
          <p:cNvPr id="28" name="Text 26"/>
          <p:cNvSpPr/>
          <p:nvPr/>
        </p:nvSpPr>
        <p:spPr>
          <a:xfrm>
            <a:off x="7589520" y="2898648"/>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Commuter, second-home and weekend demand from three metros</a:t>
            </a:r>
            <a:endParaRPr lang="en-US" sz="950" dirty="0"/>
          </a:p>
        </p:txBody>
      </p:sp>
      <p:sp>
        <p:nvSpPr>
          <p:cNvPr id="29" name="Shape 27"/>
          <p:cNvSpPr/>
          <p:nvPr/>
        </p:nvSpPr>
        <p:spPr>
          <a:xfrm>
            <a:off x="457200" y="3465576"/>
            <a:ext cx="2743200" cy="566928"/>
          </a:xfrm>
          <a:prstGeom prst="rect">
            <a:avLst/>
          </a:prstGeom>
          <a:solidFill>
            <a:srgbClr val="FFFFFF"/>
          </a:solidFill>
          <a:ln/>
        </p:spPr>
      </p:sp>
      <p:sp>
        <p:nvSpPr>
          <p:cNvPr id="30" name="Text 28"/>
          <p:cNvSpPr/>
          <p:nvPr/>
        </p:nvSpPr>
        <p:spPr>
          <a:xfrm>
            <a:off x="457200" y="3465576"/>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Chesapeake scarcity</a:t>
            </a:r>
            <a:endParaRPr lang="en-US" sz="1050" dirty="0"/>
          </a:p>
        </p:txBody>
      </p:sp>
      <p:sp>
        <p:nvSpPr>
          <p:cNvPr id="31" name="Shape 29"/>
          <p:cNvSpPr/>
          <p:nvPr/>
        </p:nvSpPr>
        <p:spPr>
          <a:xfrm>
            <a:off x="3200400" y="3465576"/>
            <a:ext cx="4389120" cy="566928"/>
          </a:xfrm>
          <a:prstGeom prst="rect">
            <a:avLst/>
          </a:prstGeom>
          <a:solidFill>
            <a:srgbClr val="FFFFFF"/>
          </a:solidFill>
          <a:ln/>
        </p:spPr>
      </p:sp>
      <p:sp>
        <p:nvSpPr>
          <p:cNvPr id="32" name="Text 30"/>
          <p:cNvSpPr/>
          <p:nvPr/>
        </p:nvSpPr>
        <p:spPr>
          <a:xfrm>
            <a:off x="3200400" y="3465576"/>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Limited new waterfront-adjacent lots on the Shore</a:t>
            </a:r>
            <a:endParaRPr lang="en-US" sz="950" dirty="0"/>
          </a:p>
        </p:txBody>
      </p:sp>
      <p:sp>
        <p:nvSpPr>
          <p:cNvPr id="33" name="Shape 31"/>
          <p:cNvSpPr/>
          <p:nvPr/>
        </p:nvSpPr>
        <p:spPr>
          <a:xfrm>
            <a:off x="7589520" y="3465576"/>
            <a:ext cx="4142232" cy="566928"/>
          </a:xfrm>
          <a:prstGeom prst="rect">
            <a:avLst/>
          </a:prstGeom>
          <a:solidFill>
            <a:srgbClr val="FFFFFF"/>
          </a:solidFill>
          <a:ln/>
        </p:spPr>
      </p:sp>
      <p:sp>
        <p:nvSpPr>
          <p:cNvPr id="34" name="Text 32"/>
          <p:cNvSpPr/>
          <p:nvPr/>
        </p:nvSpPr>
        <p:spPr>
          <a:xfrm>
            <a:off x="7589520" y="3465576"/>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High barriers → durable, premium lot values</a:t>
            </a:r>
            <a:endParaRPr lang="en-US" sz="950" dirty="0"/>
          </a:p>
        </p:txBody>
      </p:sp>
      <p:sp>
        <p:nvSpPr>
          <p:cNvPr id="35" name="Shape 33"/>
          <p:cNvSpPr/>
          <p:nvPr/>
        </p:nvSpPr>
        <p:spPr>
          <a:xfrm>
            <a:off x="457200" y="4032504"/>
            <a:ext cx="2743200" cy="566928"/>
          </a:xfrm>
          <a:prstGeom prst="rect">
            <a:avLst/>
          </a:prstGeom>
          <a:solidFill>
            <a:srgbClr val="F4F2ED"/>
          </a:solidFill>
          <a:ln/>
        </p:spPr>
      </p:sp>
      <p:sp>
        <p:nvSpPr>
          <p:cNvPr id="36" name="Text 34"/>
          <p:cNvSpPr/>
          <p:nvPr/>
        </p:nvSpPr>
        <p:spPr>
          <a:xfrm>
            <a:off x="457200" y="4032504"/>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Builder appetite</a:t>
            </a:r>
            <a:endParaRPr lang="en-US" sz="1050" dirty="0"/>
          </a:p>
        </p:txBody>
      </p:sp>
      <p:sp>
        <p:nvSpPr>
          <p:cNvPr id="37" name="Shape 35"/>
          <p:cNvSpPr/>
          <p:nvPr/>
        </p:nvSpPr>
        <p:spPr>
          <a:xfrm>
            <a:off x="3200400" y="4032504"/>
            <a:ext cx="4389120" cy="566928"/>
          </a:xfrm>
          <a:prstGeom prst="rect">
            <a:avLst/>
          </a:prstGeom>
          <a:solidFill>
            <a:srgbClr val="F4F2ED"/>
          </a:solidFill>
          <a:ln/>
        </p:spPr>
      </p:sp>
      <p:sp>
        <p:nvSpPr>
          <p:cNvPr id="38" name="Text 36"/>
          <p:cNvSpPr/>
          <p:nvPr/>
        </p:nvSpPr>
        <p:spPr>
          <a:xfrm>
            <a:off x="3200400" y="4032504"/>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Regional homebuilders want entitled / finished lots</a:t>
            </a:r>
            <a:endParaRPr lang="en-US" sz="950" dirty="0"/>
          </a:p>
        </p:txBody>
      </p:sp>
      <p:sp>
        <p:nvSpPr>
          <p:cNvPr id="39" name="Shape 37"/>
          <p:cNvSpPr/>
          <p:nvPr/>
        </p:nvSpPr>
        <p:spPr>
          <a:xfrm>
            <a:off x="7589520" y="4032504"/>
            <a:ext cx="4142232" cy="566928"/>
          </a:xfrm>
          <a:prstGeom prst="rect">
            <a:avLst/>
          </a:prstGeom>
          <a:solidFill>
            <a:srgbClr val="F4F2ED"/>
          </a:solidFill>
          <a:ln/>
        </p:spPr>
      </p:sp>
      <p:sp>
        <p:nvSpPr>
          <p:cNvPr id="40" name="Text 38"/>
          <p:cNvSpPr/>
          <p:nvPr/>
        </p:nvSpPr>
        <p:spPr>
          <a:xfrm>
            <a:off x="7589520" y="4032504"/>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They pay to avoid entitlement risk — and fund the infrastructure</a:t>
            </a:r>
            <a:endParaRPr lang="en-US" sz="950" dirty="0"/>
          </a:p>
        </p:txBody>
      </p:sp>
      <p:sp>
        <p:nvSpPr>
          <p:cNvPr id="41" name="Shape 39"/>
          <p:cNvSpPr/>
          <p:nvPr/>
        </p:nvSpPr>
        <p:spPr>
          <a:xfrm>
            <a:off x="457200" y="4599432"/>
            <a:ext cx="2743200" cy="566928"/>
          </a:xfrm>
          <a:prstGeom prst="rect">
            <a:avLst/>
          </a:prstGeom>
          <a:solidFill>
            <a:srgbClr val="FFFFFF"/>
          </a:solidFill>
          <a:ln/>
        </p:spPr>
      </p:sp>
      <p:sp>
        <p:nvSpPr>
          <p:cNvPr id="42" name="Text 40"/>
          <p:cNvSpPr/>
          <p:nvPr/>
        </p:nvSpPr>
        <p:spPr>
          <a:xfrm>
            <a:off x="457200" y="4599432"/>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Fresh owned basis</a:t>
            </a:r>
            <a:endParaRPr lang="en-US" sz="1050" dirty="0"/>
          </a:p>
        </p:txBody>
      </p:sp>
      <p:sp>
        <p:nvSpPr>
          <p:cNvPr id="43" name="Shape 41"/>
          <p:cNvSpPr/>
          <p:nvPr/>
        </p:nvSpPr>
        <p:spPr>
          <a:xfrm>
            <a:off x="3200400" y="4599432"/>
            <a:ext cx="4389120" cy="566928"/>
          </a:xfrm>
          <a:prstGeom prst="rect">
            <a:avLst/>
          </a:prstGeom>
          <a:solidFill>
            <a:srgbClr val="FFFFFF"/>
          </a:solidFill>
          <a:ln/>
        </p:spPr>
      </p:sp>
      <p:sp>
        <p:nvSpPr>
          <p:cNvPr id="44" name="Text 42"/>
          <p:cNvSpPr/>
          <p:nvPr/>
        </p:nvSpPr>
        <p:spPr>
          <a:xfrm>
            <a:off x="3200400" y="4599432"/>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$25M for 870+ ac just closed</a:t>
            </a:r>
            <a:endParaRPr lang="en-US" sz="950" dirty="0"/>
          </a:p>
        </p:txBody>
      </p:sp>
      <p:sp>
        <p:nvSpPr>
          <p:cNvPr id="45" name="Shape 43"/>
          <p:cNvSpPr/>
          <p:nvPr/>
        </p:nvSpPr>
        <p:spPr>
          <a:xfrm>
            <a:off x="7589520" y="4599432"/>
            <a:ext cx="4142232" cy="566928"/>
          </a:xfrm>
          <a:prstGeom prst="rect">
            <a:avLst/>
          </a:prstGeom>
          <a:solidFill>
            <a:srgbClr val="FFFFFF"/>
          </a:solidFill>
          <a:ln/>
        </p:spPr>
      </p:sp>
      <p:sp>
        <p:nvSpPr>
          <p:cNvPr id="46" name="Text 44"/>
          <p:cNvSpPr/>
          <p:nvPr/>
        </p:nvSpPr>
        <p:spPr>
          <a:xfrm>
            <a:off x="7589520" y="4599432"/>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Low land basis → development margin starts higher</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Demand is already here — we're entitling supply to meet it, not creating a market.</a:t>
            </a:r>
            <a:endParaRPr lang="en-US" sz="1100" dirty="0"/>
          </a:p>
        </p:txBody>
      </p:sp>
      <p:sp>
        <p:nvSpPr>
          <p:cNvPr id="49" name="Text 47"/>
          <p:cNvSpPr/>
          <p:nvPr/>
        </p:nvSpPr>
        <p:spPr>
          <a:xfrm>
            <a:off x="457200" y="532180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distance-cities.com" history="1" highlightClick="0" endSnd="0">
                  <a:extLst>
                    <a:ext uri="{A12FA001-AC4F-418D-AE19-62706E023703}">
                      <ahyp:hlinkClr xmlns:ahyp="http://schemas.microsoft.com/office/drawing/2018/hyperlinkcolor" val="tx"/>
                    </a:ext>
                  </a:extLst>
                </a:hlinkClick>
              </a:rPr>
              <a:t>distance-cities.com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SISTER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South River — the Annapolis-side anchor.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Acquired in the same $25M Capital H6 deal: an established 18-hole private club near Annapolis with 600+ member families — a membership and events engine, and the next place to run the playbook.</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18 holes</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Private club (Brian Ault, 1996)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Edgewater, MD — on the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600+</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Member families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Recurring dues + a built-in events base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165 ac</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Club grounds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8 lakes · 14 environmentally protected areas</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Same deal</a:t>
            </a:r>
            <a:endParaRPr lang="en-US" sz="22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Part of the $25M H6 buy</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One platform, two assets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ANGLE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Membership and events first; land where diligence supports it.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600+ member families — recurring dues, plus an events / dining base to grow.</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Annapolis-side, west of the Bay — an affluent, supply-constrained catchment.</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Bistro, fitness, simulator lounge &amp; range already drive non-golf revenue.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Assess limited parcel entitlement without disturbing the member experience.</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golfclubsr.com" history="1" highlightClick="0" endSnd="0">
                  <a:extLst>
                    <a:ext uri="{A12FA001-AC4F-418D-AE19-62706E023703}">
                      <ahyp:hlinkClr xmlns:ahyp="http://schemas.microsoft.com/office/drawing/2018/hyperlinkcolor" val="tx"/>
                    </a:ext>
                  </a:extLst>
                </a:hlinkClick>
              </a:rPr>
              <a:t>golfclubsr.com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foretee.com" history="1" highlightClick="0" endSnd="0">
                  <a:extLst>
                    <a:ext uri="{A12FA001-AC4F-418D-AE19-62706E023703}">
                      <ahyp:hlinkClr xmlns:ahyp="http://schemas.microsoft.com/office/drawing/2018/hyperlinkcolor" val="tx"/>
                    </a:ext>
                  </a:extLst>
                </a:hlinkClick>
              </a:rPr>
              <a:t>foretee.com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DEVELOPMENT PLAN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Entitle, develop, deliver finished lots.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Start light with entitlement (soft costs), then fund the horizontal — roads, sewer and utilities — and deliver finished lots. The builder just builds the homes, so we capture the full lot value.</a:t>
            </a:r>
            <a:endParaRPr lang="en-US" sz="1300" dirty="0"/>
          </a:p>
        </p:txBody>
      </p:sp>
      <p:sp>
        <p:nvSpPr>
          <p:cNvPr id="11" name="Shape 9"/>
          <p:cNvSpPr/>
          <p:nvPr/>
        </p:nvSpPr>
        <p:spPr>
          <a:xfrm>
            <a:off x="457200" y="1874520"/>
            <a:ext cx="553212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$1–3M</a:t>
            </a:r>
            <a:endParaRPr lang="en-US" sz="2700" dirty="0"/>
          </a:p>
        </p:txBody>
      </p:sp>
      <p:sp>
        <p:nvSpPr>
          <p:cNvPr id="13" name="Text 11"/>
          <p:cNvSpPr/>
          <p:nvPr/>
        </p:nvSpPr>
        <p:spPr>
          <a:xfrm>
            <a:off x="2651760" y="1984248"/>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 (Phase 1)</a:t>
            </a:r>
            <a:endParaRPr lang="en-US" sz="1200" dirty="0"/>
          </a:p>
        </p:txBody>
      </p:sp>
      <p:sp>
        <p:nvSpPr>
          <p:cNvPr id="14" name="Text 12"/>
          <p:cNvSpPr/>
          <p:nvPr/>
        </p:nvSpPr>
        <p:spPr>
          <a:xfrm>
            <a:off x="2651760" y="2331720"/>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Light to start — before the horizontal</a:t>
            </a:r>
            <a:endParaRPr lang="en-US" sz="1000" dirty="0"/>
          </a:p>
        </p:txBody>
      </p:sp>
      <p:sp>
        <p:nvSpPr>
          <p:cNvPr id="15" name="Shape 13"/>
          <p:cNvSpPr/>
          <p:nvPr/>
        </p:nvSpPr>
        <p:spPr>
          <a:xfrm>
            <a:off x="457200" y="2852928"/>
            <a:ext cx="553212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$60K / lot</a:t>
            </a:r>
            <a:endParaRPr lang="en-US" sz="1900" dirty="0"/>
          </a:p>
        </p:txBody>
      </p:sp>
      <p:sp>
        <p:nvSpPr>
          <p:cNvPr id="17" name="Text 15"/>
          <p:cNvSpPr/>
          <p:nvPr/>
        </p:nvSpPr>
        <p:spPr>
          <a:xfrm>
            <a:off x="2651760" y="2962656"/>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Horizontal we fund</a:t>
            </a:r>
            <a:endParaRPr lang="en-US" sz="1200" dirty="0"/>
          </a:p>
        </p:txBody>
      </p:sp>
      <p:sp>
        <p:nvSpPr>
          <p:cNvPr id="18" name="Text 16"/>
          <p:cNvSpPr/>
          <p:nvPr/>
        </p:nvSpPr>
        <p:spPr>
          <a:xfrm>
            <a:off x="2651760" y="3310128"/>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Roads, sewer &amp; utilities — lots delivered finished</a:t>
            </a:r>
            <a:endParaRPr lang="en-US" sz="1000" dirty="0"/>
          </a:p>
        </p:txBody>
      </p:sp>
      <p:sp>
        <p:nvSpPr>
          <p:cNvPr id="19" name="Shape 17"/>
          <p:cNvSpPr/>
          <p:nvPr/>
        </p:nvSpPr>
        <p:spPr>
          <a:xfrm>
            <a:off x="6400800" y="1874520"/>
            <a:ext cx="5330952" cy="1847088"/>
          </a:xfrm>
          <a:prstGeom prst="rect">
            <a:avLst/>
          </a:prstGeom>
          <a:solidFill>
            <a:srgbClr val="0B163C"/>
          </a:solidFill>
          <a:ln/>
        </p:spPr>
      </p:sp>
      <p:sp>
        <p:nvSpPr>
          <p:cNvPr id="20" name="Shape 18"/>
          <p:cNvSpPr/>
          <p:nvPr/>
        </p:nvSpPr>
        <p:spPr>
          <a:xfrm>
            <a:off x="6400800" y="1874520"/>
            <a:ext cx="109728" cy="1847088"/>
          </a:xfrm>
          <a:prstGeom prst="rect">
            <a:avLst/>
          </a:prstGeom>
          <a:solidFill>
            <a:srgbClr val="3A243A"/>
          </a:solidFill>
          <a:ln/>
        </p:spPr>
      </p:sp>
      <p:sp>
        <p:nvSpPr>
          <p:cNvPr id="21" name="Text 19"/>
          <p:cNvSpPr/>
          <p:nvPr/>
        </p:nvSpPr>
        <p:spPr>
          <a:xfrm>
            <a:off x="6766560" y="2011680"/>
            <a:ext cx="493776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PRINCIPLE</a:t>
            </a:r>
            <a:endParaRPr lang="en-US" sz="1000" dirty="0"/>
          </a:p>
        </p:txBody>
      </p:sp>
      <p:sp>
        <p:nvSpPr>
          <p:cNvPr id="22" name="Text 20"/>
          <p:cNvSpPr/>
          <p:nvPr/>
        </p:nvSpPr>
        <p:spPr>
          <a:xfrm>
            <a:off x="6766560" y="2286000"/>
            <a:ext cx="4937760" cy="320040"/>
          </a:xfrm>
          <a:prstGeom prst="rect">
            <a:avLst/>
          </a:prstGeom>
          <a:noFill/>
          <a:ln/>
        </p:spPr>
        <p:txBody>
          <a:bodyPr wrap="square" lIns="0" tIns="0" rIns="0" bIns="0" rtlCol="0" anchor="ctr"/>
          <a:lstStyle/>
          <a:p>
            <a:pPr algn="l" indent="0" marL="0">
              <a:buNone/>
            </a:pPr>
            <a:r>
              <a:rPr lang="en-US" sz="1300" b="1" dirty="0">
                <a:solidFill>
                  <a:srgbClr val="FFFFFF"/>
                </a:solidFill>
                <a:latin typeface="Montserrat" pitchFamily="34" charset="0"/>
                <a:ea typeface="Montserrat" pitchFamily="34" charset="-122"/>
                <a:cs typeface="Montserrat" pitchFamily="34" charset="-120"/>
              </a:rPr>
              <a:t>We control and capture the full lot.</a:t>
            </a:r>
            <a:endParaRPr lang="en-US" sz="1300" dirty="0"/>
          </a:p>
        </p:txBody>
      </p:sp>
      <p:sp>
        <p:nvSpPr>
          <p:cNvPr id="23" name="Text 21"/>
          <p:cNvSpPr/>
          <p:nvPr/>
        </p:nvSpPr>
        <p:spPr>
          <a:xfrm>
            <a:off x="6766560" y="2706624"/>
            <a:ext cx="4937760" cy="9144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We fund the roads, sewer and utilities and sell finished lots — capturing the builder's development margin and controlling quality, timing and absorption.</a:t>
            </a:r>
            <a:endParaRPr lang="en-US" sz="1050" dirty="0"/>
          </a:p>
        </p:txBody>
      </p:sp>
      <p:sp>
        <p:nvSpPr>
          <p:cNvPr id="24" name="Shape 22"/>
          <p:cNvSpPr/>
          <p:nvPr/>
        </p:nvSpPr>
        <p:spPr>
          <a:xfrm>
            <a:off x="457200" y="3931920"/>
            <a:ext cx="2743200" cy="365760"/>
          </a:xfrm>
          <a:prstGeom prst="rect">
            <a:avLst/>
          </a:prstGeom>
          <a:solidFill>
            <a:srgbClr val="0B163C"/>
          </a:solidFill>
          <a:ln/>
        </p:spPr>
      </p:sp>
      <p:sp>
        <p:nvSpPr>
          <p:cNvPr id="25" name="Text 23"/>
          <p:cNvSpPr/>
          <p:nvPr/>
        </p:nvSpPr>
        <p:spPr>
          <a:xfrm>
            <a:off x="457200" y="393192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Phase</a:t>
            </a:r>
            <a:endParaRPr lang="en-US" sz="900" dirty="0"/>
          </a:p>
        </p:txBody>
      </p:sp>
      <p:sp>
        <p:nvSpPr>
          <p:cNvPr id="26" name="Shape 24"/>
          <p:cNvSpPr/>
          <p:nvPr/>
        </p:nvSpPr>
        <p:spPr>
          <a:xfrm>
            <a:off x="3200400" y="3931920"/>
            <a:ext cx="3017520" cy="365760"/>
          </a:xfrm>
          <a:prstGeom prst="rect">
            <a:avLst/>
          </a:prstGeom>
          <a:solidFill>
            <a:srgbClr val="0B163C"/>
          </a:solidFill>
          <a:ln/>
        </p:spPr>
      </p:sp>
      <p:sp>
        <p:nvSpPr>
          <p:cNvPr id="27" name="Text 25"/>
          <p:cNvSpPr/>
          <p:nvPr/>
        </p:nvSpPr>
        <p:spPr>
          <a:xfrm>
            <a:off x="3200400" y="3931920"/>
            <a:ext cx="3017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Approach</a:t>
            </a:r>
            <a:endParaRPr lang="en-US" sz="900" dirty="0"/>
          </a:p>
        </p:txBody>
      </p:sp>
      <p:sp>
        <p:nvSpPr>
          <p:cNvPr id="28" name="Shape 26"/>
          <p:cNvSpPr/>
          <p:nvPr/>
        </p:nvSpPr>
        <p:spPr>
          <a:xfrm>
            <a:off x="6217920" y="3931920"/>
            <a:ext cx="2011680" cy="365760"/>
          </a:xfrm>
          <a:prstGeom prst="rect">
            <a:avLst/>
          </a:prstGeom>
          <a:solidFill>
            <a:srgbClr val="0B163C"/>
          </a:solidFill>
          <a:ln/>
        </p:spPr>
      </p:sp>
      <p:sp>
        <p:nvSpPr>
          <p:cNvPr id="29" name="Text 27"/>
          <p:cNvSpPr/>
          <p:nvPr/>
        </p:nvSpPr>
        <p:spPr>
          <a:xfrm>
            <a:off x="6217920" y="3931920"/>
            <a:ext cx="20116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Capital</a:t>
            </a:r>
            <a:endParaRPr lang="en-US" sz="900" dirty="0"/>
          </a:p>
        </p:txBody>
      </p:sp>
      <p:sp>
        <p:nvSpPr>
          <p:cNvPr id="30" name="Shape 28"/>
          <p:cNvSpPr/>
          <p:nvPr/>
        </p:nvSpPr>
        <p:spPr>
          <a:xfrm>
            <a:off x="8229600" y="3931920"/>
            <a:ext cx="3502152" cy="365760"/>
          </a:xfrm>
          <a:prstGeom prst="rect">
            <a:avLst/>
          </a:prstGeom>
          <a:solidFill>
            <a:srgbClr val="0B163C"/>
          </a:solidFill>
          <a:ln/>
        </p:spPr>
      </p:sp>
      <p:sp>
        <p:nvSpPr>
          <p:cNvPr id="31" name="Text 29"/>
          <p:cNvSpPr/>
          <p:nvPr/>
        </p:nvSpPr>
        <p:spPr>
          <a:xfrm>
            <a:off x="8229600" y="3931920"/>
            <a:ext cx="350215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Who funds</a:t>
            </a:r>
            <a:endParaRPr lang="en-US" sz="900" dirty="0"/>
          </a:p>
        </p:txBody>
      </p:sp>
      <p:sp>
        <p:nvSpPr>
          <p:cNvPr id="32" name="Shape 30"/>
          <p:cNvSpPr/>
          <p:nvPr/>
        </p:nvSpPr>
        <p:spPr>
          <a:xfrm>
            <a:off x="457200" y="4297680"/>
            <a:ext cx="2743200" cy="457200"/>
          </a:xfrm>
          <a:prstGeom prst="rect">
            <a:avLst/>
          </a:prstGeom>
          <a:solidFill>
            <a:srgbClr val="FFFFFF"/>
          </a:solidFill>
          <a:ln/>
        </p:spPr>
      </p:sp>
      <p:sp>
        <p:nvSpPr>
          <p:cNvPr id="33" name="Text 31"/>
          <p:cNvSpPr/>
          <p:nvPr/>
        </p:nvSpPr>
        <p:spPr>
          <a:xfrm>
            <a:off x="457200" y="42976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1 — Entitle</a:t>
            </a:r>
            <a:endParaRPr lang="en-US" sz="1000" dirty="0"/>
          </a:p>
        </p:txBody>
      </p:sp>
      <p:sp>
        <p:nvSpPr>
          <p:cNvPr id="34" name="Shape 32"/>
          <p:cNvSpPr/>
          <p:nvPr/>
        </p:nvSpPr>
        <p:spPr>
          <a:xfrm>
            <a:off x="3200400" y="4297680"/>
            <a:ext cx="3017520" cy="457200"/>
          </a:xfrm>
          <a:prstGeom prst="rect">
            <a:avLst/>
          </a:prstGeom>
          <a:solidFill>
            <a:srgbClr val="FFFFFF"/>
          </a:solidFill>
          <a:ln/>
        </p:spPr>
      </p:sp>
      <p:sp>
        <p:nvSpPr>
          <p:cNvPr id="35" name="Text 33"/>
          <p:cNvSpPr/>
          <p:nvPr/>
        </p:nvSpPr>
        <p:spPr>
          <a:xfrm>
            <a:off x="3200400" y="42976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Approvals for lots</a:t>
            </a:r>
            <a:endParaRPr lang="en-US" sz="950" dirty="0"/>
          </a:p>
        </p:txBody>
      </p:sp>
      <p:sp>
        <p:nvSpPr>
          <p:cNvPr id="36" name="Shape 34"/>
          <p:cNvSpPr/>
          <p:nvPr/>
        </p:nvSpPr>
        <p:spPr>
          <a:xfrm>
            <a:off x="6217920" y="4297680"/>
            <a:ext cx="2011680" cy="457200"/>
          </a:xfrm>
          <a:prstGeom prst="rect">
            <a:avLst/>
          </a:prstGeom>
          <a:solidFill>
            <a:srgbClr val="FFFFFF"/>
          </a:solidFill>
          <a:ln/>
        </p:spPr>
      </p:sp>
      <p:sp>
        <p:nvSpPr>
          <p:cNvPr id="37" name="Text 35"/>
          <p:cNvSpPr/>
          <p:nvPr/>
        </p:nvSpPr>
        <p:spPr>
          <a:xfrm>
            <a:off x="6217920" y="42976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$1–3M</a:t>
            </a:r>
            <a:endParaRPr lang="en-US" sz="1000" dirty="0"/>
          </a:p>
        </p:txBody>
      </p:sp>
      <p:sp>
        <p:nvSpPr>
          <p:cNvPr id="38" name="Shape 36"/>
          <p:cNvSpPr/>
          <p:nvPr/>
        </p:nvSpPr>
        <p:spPr>
          <a:xfrm>
            <a:off x="8229600" y="4297680"/>
            <a:ext cx="3502152" cy="457200"/>
          </a:xfrm>
          <a:prstGeom prst="rect">
            <a:avLst/>
          </a:prstGeom>
          <a:solidFill>
            <a:srgbClr val="FFFFFF"/>
          </a:solidFill>
          <a:ln/>
        </p:spPr>
      </p:sp>
      <p:sp>
        <p:nvSpPr>
          <p:cNvPr id="39" name="Text 37"/>
          <p:cNvSpPr/>
          <p:nvPr/>
        </p:nvSpPr>
        <p:spPr>
          <a:xfrm>
            <a:off x="8229600" y="42976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Capital H6 (soft costs, light)</a:t>
            </a:r>
            <a:endParaRPr lang="en-US" sz="900" dirty="0"/>
          </a:p>
        </p:txBody>
      </p:sp>
      <p:sp>
        <p:nvSpPr>
          <p:cNvPr id="40" name="Shape 38"/>
          <p:cNvSpPr/>
          <p:nvPr/>
        </p:nvSpPr>
        <p:spPr>
          <a:xfrm>
            <a:off x="457200" y="4754880"/>
            <a:ext cx="2743200" cy="457200"/>
          </a:xfrm>
          <a:prstGeom prst="rect">
            <a:avLst/>
          </a:prstGeom>
          <a:solidFill>
            <a:srgbClr val="F4F2ED"/>
          </a:solidFill>
          <a:ln/>
        </p:spPr>
      </p:sp>
      <p:sp>
        <p:nvSpPr>
          <p:cNvPr id="41" name="Text 39"/>
          <p:cNvSpPr/>
          <p:nvPr/>
        </p:nvSpPr>
        <p:spPr>
          <a:xfrm>
            <a:off x="457200" y="47548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2 — Develop</a:t>
            </a:r>
            <a:endParaRPr lang="en-US" sz="1000" dirty="0"/>
          </a:p>
        </p:txBody>
      </p:sp>
      <p:sp>
        <p:nvSpPr>
          <p:cNvPr id="42" name="Shape 40"/>
          <p:cNvSpPr/>
          <p:nvPr/>
        </p:nvSpPr>
        <p:spPr>
          <a:xfrm>
            <a:off x="3200400" y="4754880"/>
            <a:ext cx="3017520" cy="457200"/>
          </a:xfrm>
          <a:prstGeom prst="rect">
            <a:avLst/>
          </a:prstGeom>
          <a:solidFill>
            <a:srgbClr val="F4F2ED"/>
          </a:solidFill>
          <a:ln/>
        </p:spPr>
      </p:sp>
      <p:sp>
        <p:nvSpPr>
          <p:cNvPr id="43" name="Text 41"/>
          <p:cNvSpPr/>
          <p:nvPr/>
        </p:nvSpPr>
        <p:spPr>
          <a:xfrm>
            <a:off x="3200400" y="47548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Roads, sewer &amp; utilities</a:t>
            </a:r>
            <a:endParaRPr lang="en-US" sz="950" dirty="0"/>
          </a:p>
        </p:txBody>
      </p:sp>
      <p:sp>
        <p:nvSpPr>
          <p:cNvPr id="44" name="Shape 42"/>
          <p:cNvSpPr/>
          <p:nvPr/>
        </p:nvSpPr>
        <p:spPr>
          <a:xfrm>
            <a:off x="6217920" y="4754880"/>
            <a:ext cx="2011680" cy="457200"/>
          </a:xfrm>
          <a:prstGeom prst="rect">
            <a:avLst/>
          </a:prstGeom>
          <a:solidFill>
            <a:srgbClr val="F4F2ED"/>
          </a:solidFill>
          <a:ln/>
        </p:spPr>
      </p:sp>
      <p:sp>
        <p:nvSpPr>
          <p:cNvPr id="45" name="Text 43"/>
          <p:cNvSpPr/>
          <p:nvPr/>
        </p:nvSpPr>
        <p:spPr>
          <a:xfrm>
            <a:off x="6217920" y="47548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~$16.8M</a:t>
            </a:r>
            <a:endParaRPr lang="en-US" sz="1000" dirty="0"/>
          </a:p>
        </p:txBody>
      </p:sp>
      <p:sp>
        <p:nvSpPr>
          <p:cNvPr id="46" name="Shape 44"/>
          <p:cNvSpPr/>
          <p:nvPr/>
        </p:nvSpPr>
        <p:spPr>
          <a:xfrm>
            <a:off x="8229600" y="4754880"/>
            <a:ext cx="3502152" cy="457200"/>
          </a:xfrm>
          <a:prstGeom prst="rect">
            <a:avLst/>
          </a:prstGeom>
          <a:solidFill>
            <a:srgbClr val="F4F2ED"/>
          </a:solidFill>
          <a:ln/>
        </p:spPr>
      </p:sp>
      <p:sp>
        <p:nvSpPr>
          <p:cNvPr id="47" name="Text 45"/>
          <p:cNvSpPr/>
          <p:nvPr/>
        </p:nvSpPr>
        <p:spPr>
          <a:xfrm>
            <a:off x="8229600" y="47548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Development loan + equity (we fund)</a:t>
            </a:r>
            <a:endParaRPr lang="en-US" sz="900" dirty="0"/>
          </a:p>
        </p:txBody>
      </p:sp>
      <p:sp>
        <p:nvSpPr>
          <p:cNvPr id="48" name="Shape 46"/>
          <p:cNvSpPr/>
          <p:nvPr/>
        </p:nvSpPr>
        <p:spPr>
          <a:xfrm>
            <a:off x="457200" y="5212080"/>
            <a:ext cx="2743200" cy="457200"/>
          </a:xfrm>
          <a:prstGeom prst="rect">
            <a:avLst/>
          </a:prstGeom>
          <a:solidFill>
            <a:srgbClr val="FFFFFF"/>
          </a:solidFill>
          <a:ln/>
        </p:spPr>
      </p:sp>
      <p:sp>
        <p:nvSpPr>
          <p:cNvPr id="49" name="Text 47"/>
          <p:cNvSpPr/>
          <p:nvPr/>
        </p:nvSpPr>
        <p:spPr>
          <a:xfrm>
            <a:off x="457200" y="52120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3 — Deliver</a:t>
            </a:r>
            <a:endParaRPr lang="en-US" sz="1000" dirty="0"/>
          </a:p>
        </p:txBody>
      </p:sp>
      <p:sp>
        <p:nvSpPr>
          <p:cNvPr id="50" name="Shape 48"/>
          <p:cNvSpPr/>
          <p:nvPr/>
        </p:nvSpPr>
        <p:spPr>
          <a:xfrm>
            <a:off x="3200400" y="5212080"/>
            <a:ext cx="3017520" cy="457200"/>
          </a:xfrm>
          <a:prstGeom prst="rect">
            <a:avLst/>
          </a:prstGeom>
          <a:solidFill>
            <a:srgbClr val="FFFFFF"/>
          </a:solidFill>
          <a:ln/>
        </p:spPr>
      </p:sp>
      <p:sp>
        <p:nvSpPr>
          <p:cNvPr id="51" name="Text 49"/>
          <p:cNvSpPr/>
          <p:nvPr/>
        </p:nvSpPr>
        <p:spPr>
          <a:xfrm>
            <a:off x="3200400" y="52120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Sell finished lots</a:t>
            </a:r>
            <a:endParaRPr lang="en-US" sz="950" dirty="0"/>
          </a:p>
        </p:txBody>
      </p:sp>
      <p:sp>
        <p:nvSpPr>
          <p:cNvPr id="52" name="Shape 50"/>
          <p:cNvSpPr/>
          <p:nvPr/>
        </p:nvSpPr>
        <p:spPr>
          <a:xfrm>
            <a:off x="6217920" y="5212080"/>
            <a:ext cx="2011680" cy="457200"/>
          </a:xfrm>
          <a:prstGeom prst="rect">
            <a:avLst/>
          </a:prstGeom>
          <a:solidFill>
            <a:srgbClr val="FFFFFF"/>
          </a:solidFill>
          <a:ln/>
        </p:spPr>
      </p:sp>
      <p:sp>
        <p:nvSpPr>
          <p:cNvPr id="53" name="Text 51"/>
          <p:cNvSpPr/>
          <p:nvPr/>
        </p:nvSpPr>
        <p:spPr>
          <a:xfrm>
            <a:off x="6217920" y="52120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Self-funding</a:t>
            </a:r>
            <a:endParaRPr lang="en-US" sz="1000" dirty="0"/>
          </a:p>
        </p:txBody>
      </p:sp>
      <p:sp>
        <p:nvSpPr>
          <p:cNvPr id="54" name="Shape 52"/>
          <p:cNvSpPr/>
          <p:nvPr/>
        </p:nvSpPr>
        <p:spPr>
          <a:xfrm>
            <a:off x="8229600" y="5212080"/>
            <a:ext cx="3502152" cy="457200"/>
          </a:xfrm>
          <a:prstGeom prst="rect">
            <a:avLst/>
          </a:prstGeom>
          <a:solidFill>
            <a:srgbClr val="FFFFFF"/>
          </a:solidFill>
          <a:ln/>
        </p:spPr>
      </p:sp>
      <p:sp>
        <p:nvSpPr>
          <p:cNvPr id="55" name="Text 53"/>
          <p:cNvSpPr/>
          <p:nvPr/>
        </p:nvSpPr>
        <p:spPr>
          <a:xfrm>
            <a:off x="8229600" y="52120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Builders build homes; proceeds recycle</a:t>
            </a:r>
            <a:endParaRPr lang="en-US" sz="900" dirty="0"/>
          </a:p>
        </p:txBody>
      </p:sp>
      <p:sp>
        <p:nvSpPr>
          <p:cNvPr id="56" name="Shape 54"/>
          <p:cNvSpPr/>
          <p:nvPr/>
        </p:nvSpPr>
        <p:spPr>
          <a:xfrm>
            <a:off x="457200" y="5943600"/>
            <a:ext cx="11274552" cy="420624"/>
          </a:xfrm>
          <a:prstGeom prst="rect">
            <a:avLst/>
          </a:prstGeom>
          <a:solidFill>
            <a:srgbClr val="3A243A"/>
          </a:solidFill>
          <a:ln/>
        </p:spPr>
      </p:sp>
      <p:sp>
        <p:nvSpPr>
          <p:cNvPr id="57" name="Text 5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We carry the development to finished lots — capturing the builder's margin and controlling quality, timing &amp; absorption.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budget, and the returns.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finished-lot development: Capital H6 contributes the land, a development loan plus equity funds the horizontal, and we sell ~280 finished lots to homebuilders. Illustrative — for discussion.</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USES OF CAPITAL</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contribution (~140 dev. ac)</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Horizontal site development ($60K/lot)</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costs (entitle, civil, env, legal)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$2.8M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Marketing &amp; brokerage (~3%)</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$1.3M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Contingency (7% of hard)</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$1.2M</a:t>
            </a:r>
            <a:endParaRPr lang="en-US" sz="950" dirty="0"/>
          </a:p>
        </p:txBody>
      </p:sp>
      <p:sp>
        <p:nvSpPr>
          <p:cNvPr id="35" name="Shape 33"/>
          <p:cNvSpPr/>
          <p:nvPr/>
        </p:nvSpPr>
        <p:spPr>
          <a:xfrm>
            <a:off x="457200" y="4389120"/>
            <a:ext cx="3611880" cy="438912"/>
          </a:xfrm>
          <a:prstGeom prst="rect">
            <a:avLst/>
          </a:prstGeom>
          <a:solidFill>
            <a:srgbClr val="F4F2ED"/>
          </a:solidFill>
          <a:ln/>
        </p:spPr>
      </p:sp>
      <p:sp>
        <p:nvSpPr>
          <p:cNvPr id="36" name="Text 34"/>
          <p:cNvSpPr/>
          <p:nvPr/>
        </p:nvSpPr>
        <p:spPr>
          <a:xfrm>
            <a:off x="457200" y="438912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Financing / interest carry</a:t>
            </a:r>
            <a:endParaRPr lang="en-US" sz="950" dirty="0"/>
          </a:p>
        </p:txBody>
      </p:sp>
      <p:sp>
        <p:nvSpPr>
          <p:cNvPr id="37" name="Shape 35"/>
          <p:cNvSpPr/>
          <p:nvPr/>
        </p:nvSpPr>
        <p:spPr>
          <a:xfrm>
            <a:off x="4069080" y="4389120"/>
            <a:ext cx="1417320" cy="438912"/>
          </a:xfrm>
          <a:prstGeom prst="rect">
            <a:avLst/>
          </a:prstGeom>
          <a:solidFill>
            <a:srgbClr val="F4F2ED"/>
          </a:solidFill>
          <a:ln/>
        </p:spPr>
      </p:sp>
      <p:sp>
        <p:nvSpPr>
          <p:cNvPr id="38" name="Text 36"/>
          <p:cNvSpPr/>
          <p:nvPr/>
        </p:nvSpPr>
        <p:spPr>
          <a:xfrm>
            <a:off x="4069080" y="438912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$1.4M</a:t>
            </a:r>
            <a:endParaRPr lang="en-US" sz="950" dirty="0"/>
          </a:p>
        </p:txBody>
      </p:sp>
      <p:sp>
        <p:nvSpPr>
          <p:cNvPr id="39" name="Shape 37"/>
          <p:cNvSpPr/>
          <p:nvPr/>
        </p:nvSpPr>
        <p:spPr>
          <a:xfrm>
            <a:off x="457200" y="4828032"/>
            <a:ext cx="3611880" cy="438912"/>
          </a:xfrm>
          <a:prstGeom prst="rect">
            <a:avLst/>
          </a:prstGeom>
          <a:solidFill>
            <a:srgbClr val="FFFFFF"/>
          </a:solidFill>
          <a:ln/>
        </p:spPr>
      </p:sp>
      <p:sp>
        <p:nvSpPr>
          <p:cNvPr id="40" name="Text 38"/>
          <p:cNvSpPr/>
          <p:nvPr/>
        </p:nvSpPr>
        <p:spPr>
          <a:xfrm>
            <a:off x="457200" y="4828032"/>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PROJECT COST</a:t>
            </a:r>
            <a:endParaRPr lang="en-US" sz="950" dirty="0"/>
          </a:p>
        </p:txBody>
      </p:sp>
      <p:sp>
        <p:nvSpPr>
          <p:cNvPr id="41" name="Shape 39"/>
          <p:cNvSpPr/>
          <p:nvPr/>
        </p:nvSpPr>
        <p:spPr>
          <a:xfrm>
            <a:off x="4069080" y="4828032"/>
            <a:ext cx="1417320" cy="438912"/>
          </a:xfrm>
          <a:prstGeom prst="rect">
            <a:avLst/>
          </a:prstGeom>
          <a:solidFill>
            <a:srgbClr val="FFFFFF"/>
          </a:solidFill>
          <a:ln/>
        </p:spPr>
      </p:sp>
      <p:sp>
        <p:nvSpPr>
          <p:cNvPr id="42" name="Text 40"/>
          <p:cNvSpPr/>
          <p:nvPr/>
        </p:nvSpPr>
        <p:spPr>
          <a:xfrm>
            <a:off x="4069080" y="4828032"/>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43" name="Shape 41"/>
          <p:cNvSpPr/>
          <p:nvPr/>
        </p:nvSpPr>
        <p:spPr>
          <a:xfrm>
            <a:off x="5577840" y="1828800"/>
            <a:ext cx="1874520" cy="365760"/>
          </a:xfrm>
          <a:prstGeom prst="rect">
            <a:avLst/>
          </a:prstGeom>
          <a:solidFill>
            <a:srgbClr val="0B163C"/>
          </a:solidFill>
          <a:ln/>
        </p:spPr>
      </p:sp>
      <p:sp>
        <p:nvSpPr>
          <p:cNvPr id="44" name="Text 42"/>
          <p:cNvSpPr/>
          <p:nvPr/>
        </p:nvSpPr>
        <p:spPr>
          <a:xfrm>
            <a:off x="5577840" y="1828800"/>
            <a:ext cx="1874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SOURCES OF CAPITAL</a:t>
            </a:r>
            <a:endParaRPr lang="en-US" sz="900" dirty="0"/>
          </a:p>
        </p:txBody>
      </p:sp>
      <p:sp>
        <p:nvSpPr>
          <p:cNvPr id="45" name="Shape 43"/>
          <p:cNvSpPr/>
          <p:nvPr/>
        </p:nvSpPr>
        <p:spPr>
          <a:xfrm>
            <a:off x="7452360" y="1828800"/>
            <a:ext cx="960120" cy="365760"/>
          </a:xfrm>
          <a:prstGeom prst="rect">
            <a:avLst/>
          </a:prstGeom>
          <a:solidFill>
            <a:srgbClr val="0B163C"/>
          </a:solidFill>
          <a:ln/>
        </p:spPr>
      </p:sp>
      <p:sp>
        <p:nvSpPr>
          <p:cNvPr id="46" name="Text 44"/>
          <p:cNvSpPr/>
          <p:nvPr/>
        </p:nvSpPr>
        <p:spPr>
          <a:xfrm>
            <a:off x="7452360" y="1828800"/>
            <a:ext cx="960120" cy="365760"/>
          </a:xfrm>
          <a:prstGeom prst="rect">
            <a:avLst/>
          </a:prstGeom>
          <a:noFill/>
          <a:ln/>
        </p:spPr>
        <p:txBody>
          <a:bodyPr wrap="square" lIns="25400" tIns="76200" rIns="76200" bIns="25400" rtlCol="0" anchor="ctr"/>
          <a:lstStyle/>
          <a:p>
            <a:pPr algn="r" indent="0" marL="0">
              <a:buNone/>
            </a:pPr>
            <a:endParaRPr lang="en-US" sz="900" dirty="0"/>
          </a:p>
        </p:txBody>
      </p:sp>
      <p:sp>
        <p:nvSpPr>
          <p:cNvPr id="47" name="Shape 45"/>
          <p:cNvSpPr/>
          <p:nvPr/>
        </p:nvSpPr>
        <p:spPr>
          <a:xfrm>
            <a:off x="5577840" y="2194560"/>
            <a:ext cx="1874520" cy="438912"/>
          </a:xfrm>
          <a:prstGeom prst="rect">
            <a:avLst/>
          </a:prstGeom>
          <a:solidFill>
            <a:srgbClr val="FFFFFF"/>
          </a:solidFill>
          <a:ln/>
        </p:spPr>
      </p:sp>
      <p:sp>
        <p:nvSpPr>
          <p:cNvPr id="48" name="Text 46"/>
          <p:cNvSpPr/>
          <p:nvPr/>
        </p:nvSpPr>
        <p:spPr>
          <a:xfrm>
            <a:off x="5577840" y="2194560"/>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Development loan (60% LTC)</a:t>
            </a:r>
            <a:endParaRPr lang="en-US" sz="950" dirty="0"/>
          </a:p>
        </p:txBody>
      </p:sp>
      <p:sp>
        <p:nvSpPr>
          <p:cNvPr id="49" name="Shape 47"/>
          <p:cNvSpPr/>
          <p:nvPr/>
        </p:nvSpPr>
        <p:spPr>
          <a:xfrm>
            <a:off x="7452360" y="2194560"/>
            <a:ext cx="960120" cy="438912"/>
          </a:xfrm>
          <a:prstGeom prst="rect">
            <a:avLst/>
          </a:prstGeom>
          <a:solidFill>
            <a:srgbClr val="FFFFFF"/>
          </a:solidFill>
          <a:ln/>
        </p:spPr>
      </p:sp>
      <p:sp>
        <p:nvSpPr>
          <p:cNvPr id="50" name="Text 48"/>
          <p:cNvSpPr/>
          <p:nvPr/>
        </p:nvSpPr>
        <p:spPr>
          <a:xfrm>
            <a:off x="7452360" y="2194560"/>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$16.5M</a:t>
            </a:r>
            <a:endParaRPr lang="en-US" sz="950" dirty="0"/>
          </a:p>
        </p:txBody>
      </p:sp>
      <p:sp>
        <p:nvSpPr>
          <p:cNvPr id="51" name="Shape 49"/>
          <p:cNvSpPr/>
          <p:nvPr/>
        </p:nvSpPr>
        <p:spPr>
          <a:xfrm>
            <a:off x="5577840" y="2633472"/>
            <a:ext cx="1874520" cy="438912"/>
          </a:xfrm>
          <a:prstGeom prst="rect">
            <a:avLst/>
          </a:prstGeom>
          <a:solidFill>
            <a:srgbClr val="F4F2ED"/>
          </a:solidFill>
          <a:ln/>
        </p:spPr>
      </p:sp>
      <p:sp>
        <p:nvSpPr>
          <p:cNvPr id="52" name="Text 50"/>
          <p:cNvSpPr/>
          <p:nvPr/>
        </p:nvSpPr>
        <p:spPr>
          <a:xfrm>
            <a:off x="5577840" y="2633472"/>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equity</a:t>
            </a:r>
            <a:endParaRPr lang="en-US" sz="950" dirty="0"/>
          </a:p>
        </p:txBody>
      </p:sp>
      <p:sp>
        <p:nvSpPr>
          <p:cNvPr id="53" name="Shape 51"/>
          <p:cNvSpPr/>
          <p:nvPr/>
        </p:nvSpPr>
        <p:spPr>
          <a:xfrm>
            <a:off x="7452360" y="2633472"/>
            <a:ext cx="960120" cy="438912"/>
          </a:xfrm>
          <a:prstGeom prst="rect">
            <a:avLst/>
          </a:prstGeom>
          <a:solidFill>
            <a:srgbClr val="F4F2ED"/>
          </a:solidFill>
          <a:ln/>
        </p:spPr>
      </p:sp>
      <p:sp>
        <p:nvSpPr>
          <p:cNvPr id="54" name="Text 52"/>
          <p:cNvSpPr/>
          <p:nvPr/>
        </p:nvSpPr>
        <p:spPr>
          <a:xfrm>
            <a:off x="7452360" y="2633472"/>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55" name="Shape 53"/>
          <p:cNvSpPr/>
          <p:nvPr/>
        </p:nvSpPr>
        <p:spPr>
          <a:xfrm>
            <a:off x="5577840" y="3072384"/>
            <a:ext cx="1874520" cy="438912"/>
          </a:xfrm>
          <a:prstGeom prst="rect">
            <a:avLst/>
          </a:prstGeom>
          <a:solidFill>
            <a:srgbClr val="FFFFFF"/>
          </a:solidFill>
          <a:ln/>
        </p:spPr>
      </p:sp>
      <p:sp>
        <p:nvSpPr>
          <p:cNvPr id="56" name="Text 54"/>
          <p:cNvSpPr/>
          <p:nvPr/>
        </p:nvSpPr>
        <p:spPr>
          <a:xfrm>
            <a:off x="5577840" y="3072384"/>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Cash equity</a:t>
            </a:r>
            <a:endParaRPr lang="en-US" sz="950" dirty="0"/>
          </a:p>
        </p:txBody>
      </p:sp>
      <p:sp>
        <p:nvSpPr>
          <p:cNvPr id="57" name="Shape 55"/>
          <p:cNvSpPr/>
          <p:nvPr/>
        </p:nvSpPr>
        <p:spPr>
          <a:xfrm>
            <a:off x="7452360" y="3072384"/>
            <a:ext cx="960120" cy="438912"/>
          </a:xfrm>
          <a:prstGeom prst="rect">
            <a:avLst/>
          </a:prstGeom>
          <a:solidFill>
            <a:srgbClr val="FFFFFF"/>
          </a:solidFill>
          <a:ln/>
        </p:spPr>
      </p:sp>
      <p:sp>
        <p:nvSpPr>
          <p:cNvPr id="58" name="Text 56"/>
          <p:cNvSpPr/>
          <p:nvPr/>
        </p:nvSpPr>
        <p:spPr>
          <a:xfrm>
            <a:off x="7452360" y="3072384"/>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$7.0M</a:t>
            </a:r>
            <a:endParaRPr lang="en-US" sz="950" dirty="0"/>
          </a:p>
        </p:txBody>
      </p:sp>
      <p:sp>
        <p:nvSpPr>
          <p:cNvPr id="59" name="Shape 57"/>
          <p:cNvSpPr/>
          <p:nvPr/>
        </p:nvSpPr>
        <p:spPr>
          <a:xfrm>
            <a:off x="5577840" y="3511296"/>
            <a:ext cx="1874520" cy="438912"/>
          </a:xfrm>
          <a:prstGeom prst="rect">
            <a:avLst/>
          </a:prstGeom>
          <a:solidFill>
            <a:srgbClr val="F4F2ED"/>
          </a:solidFill>
          <a:ln/>
        </p:spPr>
      </p:sp>
      <p:sp>
        <p:nvSpPr>
          <p:cNvPr id="60" name="Text 58"/>
          <p:cNvSpPr/>
          <p:nvPr/>
        </p:nvSpPr>
        <p:spPr>
          <a:xfrm>
            <a:off x="5577840" y="3511296"/>
            <a:ext cx="187452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a:t>
            </a:r>
            <a:endParaRPr lang="en-US" sz="950" dirty="0"/>
          </a:p>
        </p:txBody>
      </p:sp>
      <p:sp>
        <p:nvSpPr>
          <p:cNvPr id="61" name="Shape 59"/>
          <p:cNvSpPr/>
          <p:nvPr/>
        </p:nvSpPr>
        <p:spPr>
          <a:xfrm>
            <a:off x="7452360" y="3511296"/>
            <a:ext cx="960120" cy="438912"/>
          </a:xfrm>
          <a:prstGeom prst="rect">
            <a:avLst/>
          </a:prstGeom>
          <a:solidFill>
            <a:srgbClr val="F4F2ED"/>
          </a:solidFill>
          <a:ln/>
        </p:spPr>
      </p:sp>
      <p:sp>
        <p:nvSpPr>
          <p:cNvPr id="62" name="Text 60"/>
          <p:cNvSpPr/>
          <p:nvPr/>
        </p:nvSpPr>
        <p:spPr>
          <a:xfrm>
            <a:off x="7452360" y="3511296"/>
            <a:ext cx="9601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63" name="Shape 61"/>
          <p:cNvSpPr/>
          <p:nvPr/>
        </p:nvSpPr>
        <p:spPr>
          <a:xfrm>
            <a:off x="5577840" y="3977640"/>
            <a:ext cx="2834640" cy="1289304"/>
          </a:xfrm>
          <a:prstGeom prst="rect">
            <a:avLst/>
          </a:prstGeom>
          <a:solidFill>
            <a:srgbClr val="0B163C"/>
          </a:solidFill>
          <a:ln/>
        </p:spPr>
      </p:sp>
      <p:sp>
        <p:nvSpPr>
          <p:cNvPr id="64" name="Shape 62"/>
          <p:cNvSpPr/>
          <p:nvPr/>
        </p:nvSpPr>
        <p:spPr>
          <a:xfrm>
            <a:off x="5577840" y="3977640"/>
            <a:ext cx="91440" cy="1289304"/>
          </a:xfrm>
          <a:prstGeom prst="rect">
            <a:avLst/>
          </a:prstGeom>
          <a:solidFill>
            <a:srgbClr val="3A243A"/>
          </a:solidFill>
          <a:ln/>
        </p:spPr>
      </p:sp>
      <p:sp>
        <p:nvSpPr>
          <p:cNvPr id="65" name="Text 63"/>
          <p:cNvSpPr/>
          <p:nvPr/>
        </p:nvSpPr>
        <p:spPr>
          <a:xfrm>
            <a:off x="5779008" y="4069080"/>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ASSUMPTIONS</a:t>
            </a:r>
            <a:endParaRPr lang="en-US" sz="850" dirty="0"/>
          </a:p>
        </p:txBody>
      </p:sp>
      <p:sp>
        <p:nvSpPr>
          <p:cNvPr id="66" name="Text 64"/>
          <p:cNvSpPr/>
          <p:nvPr/>
        </p:nvSpPr>
        <p:spPr>
          <a:xfrm>
            <a:off x="5779008" y="4315968"/>
            <a:ext cx="2542032" cy="91440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$150K finished lot  ·  280 lots  ·  we fund the horizontal ($60K/lot)  ·  60% LTC loan  ·  8% pref + tiered promote (see waterfall)</a:t>
            </a:r>
            <a:endParaRPr lang="en-US" sz="850" dirty="0"/>
          </a:p>
        </p:txBody>
      </p:sp>
      <p:sp>
        <p:nvSpPr>
          <p:cNvPr id="67" name="Shape 65"/>
          <p:cNvSpPr/>
          <p:nvPr/>
        </p:nvSpPr>
        <p:spPr>
          <a:xfrm>
            <a:off x="8503920" y="1828800"/>
            <a:ext cx="3227832" cy="3438144"/>
          </a:xfrm>
          <a:prstGeom prst="rect">
            <a:avLst/>
          </a:prstGeom>
          <a:solidFill>
            <a:srgbClr val="0B163C"/>
          </a:solidFill>
          <a:ln/>
        </p:spPr>
      </p:sp>
      <p:sp>
        <p:nvSpPr>
          <p:cNvPr id="68" name="Shape 66"/>
          <p:cNvSpPr/>
          <p:nvPr/>
        </p:nvSpPr>
        <p:spPr>
          <a:xfrm>
            <a:off x="8503920" y="1828800"/>
            <a:ext cx="109728" cy="3438144"/>
          </a:xfrm>
          <a:prstGeom prst="rect">
            <a:avLst/>
          </a:prstGeom>
          <a:solidFill>
            <a:srgbClr val="3A243A"/>
          </a:solidFill>
          <a:ln/>
        </p:spPr>
      </p:sp>
      <p:sp>
        <p:nvSpPr>
          <p:cNvPr id="69" name="Text 67"/>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70" name="Text 68"/>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$42.0M</a:t>
            </a:r>
            <a:endParaRPr lang="en-US" sz="1700" dirty="0"/>
          </a:p>
        </p:txBody>
      </p:sp>
      <p:sp>
        <p:nvSpPr>
          <p:cNvPr id="71" name="Text 69"/>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Gross lot revenue</a:t>
            </a:r>
            <a:endParaRPr lang="en-US" sz="850" dirty="0"/>
          </a:p>
        </p:txBody>
      </p:sp>
      <p:sp>
        <p:nvSpPr>
          <p:cNvPr id="72" name="Text 70"/>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$14.5M</a:t>
            </a:r>
            <a:endParaRPr lang="en-US" sz="1700" dirty="0"/>
          </a:p>
        </p:txBody>
      </p:sp>
      <p:sp>
        <p:nvSpPr>
          <p:cNvPr id="73" name="Text 71"/>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Net development profit</a:t>
            </a:r>
            <a:endParaRPr lang="en-US" sz="850" dirty="0"/>
          </a:p>
        </p:txBody>
      </p:sp>
      <p:sp>
        <p:nvSpPr>
          <p:cNvPr id="74" name="Text 72"/>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5" name="Text 73"/>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equity multiple</a:t>
            </a:r>
            <a:endParaRPr lang="en-US" sz="850" dirty="0"/>
          </a:p>
        </p:txBody>
      </p:sp>
      <p:sp>
        <p:nvSpPr>
          <p:cNvPr id="76" name="Text 74"/>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~31%</a:t>
            </a:r>
            <a:endParaRPr lang="en-US" sz="1700" dirty="0"/>
          </a:p>
        </p:txBody>
      </p:sp>
      <p:sp>
        <p:nvSpPr>
          <p:cNvPr id="77" name="Text 75"/>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IRR (levered)</a:t>
            </a:r>
            <a:endParaRPr lang="en-US" sz="850" dirty="0"/>
          </a:p>
        </p:txBody>
      </p:sp>
      <p:sp>
        <p:nvSpPr>
          <p:cNvPr id="78" name="Text 76"/>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~27%</a:t>
            </a:r>
            <a:endParaRPr lang="en-US" sz="1700" dirty="0"/>
          </a:p>
        </p:txBody>
      </p:sp>
      <p:sp>
        <p:nvSpPr>
          <p:cNvPr id="79" name="Text 77"/>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LP IRR (after promote)</a:t>
            </a:r>
            <a:endParaRPr lang="en-US" sz="850" dirty="0"/>
          </a:p>
        </p:txBody>
      </p:sp>
      <p:sp>
        <p:nvSpPr>
          <p:cNvPr id="80" name="Shape 78"/>
          <p:cNvSpPr/>
          <p:nvPr/>
        </p:nvSpPr>
        <p:spPr>
          <a:xfrm>
            <a:off x="457200" y="5440680"/>
            <a:ext cx="11274552" cy="411480"/>
          </a:xfrm>
          <a:prstGeom prst="rect">
            <a:avLst/>
          </a:prstGeom>
          <a:solidFill>
            <a:srgbClr val="3A243A"/>
          </a:solidFill>
          <a:ln/>
        </p:spPr>
      </p:sp>
      <p:sp>
        <p:nvSpPr>
          <p:cNvPr id="81" name="Text 79"/>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Illustrative: ~$14.5M profit on ~$27.5M cost — 60% LTC → ~2.3× equity, ~31% levered (27% LP after promote). We deliver finished lots; builders just build.</a:t>
            </a:r>
            <a:endParaRPr lang="en-US" sz="1050" dirty="0"/>
          </a:p>
        </p:txBody>
      </p:sp>
      <p:sp>
        <p:nvSpPr>
          <p:cNvPr id="82" name="Text 80"/>
          <p:cNvSpPr/>
          <p:nvPr/>
        </p:nvSpPr>
        <p:spPr>
          <a:xfrm>
            <a:off x="457200" y="6016752"/>
            <a:ext cx="11274552" cy="237744"/>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Illustrative pro forma for discussion only — basis and sources on the following slide; figures subject to confirmation.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BASIS &amp; SOURCES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What the pro forma assumes — and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Every input, its value, and the reasoning. Market figures are from public sources; deal-specific figures (acreage, land basis, density) are to be confirmed in diligence.</a:t>
            </a:r>
            <a:endParaRPr lang="en-US" sz="1300" dirty="0"/>
          </a:p>
        </p:txBody>
      </p:sp>
      <p:sp>
        <p:nvSpPr>
          <p:cNvPr id="11" name="Shape 9"/>
          <p:cNvSpPr/>
          <p:nvPr/>
        </p:nvSpPr>
        <p:spPr>
          <a:xfrm>
            <a:off x="457200" y="1920240"/>
            <a:ext cx="2651760" cy="365760"/>
          </a:xfrm>
          <a:prstGeom prst="rect">
            <a:avLst/>
          </a:prstGeom>
          <a:solidFill>
            <a:srgbClr val="0B163C"/>
          </a:solidFill>
          <a:ln/>
        </p:spPr>
      </p:sp>
      <p:sp>
        <p:nvSpPr>
          <p:cNvPr id="12" name="Text 10"/>
          <p:cNvSpPr/>
          <p:nvPr/>
        </p:nvSpPr>
        <p:spPr>
          <a:xfrm>
            <a:off x="45720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Assumption</a:t>
            </a:r>
            <a:endParaRPr lang="en-US" sz="900" dirty="0"/>
          </a:p>
        </p:txBody>
      </p:sp>
      <p:sp>
        <p:nvSpPr>
          <p:cNvPr id="13" name="Shape 11"/>
          <p:cNvSpPr/>
          <p:nvPr/>
        </p:nvSpPr>
        <p:spPr>
          <a:xfrm>
            <a:off x="3108960" y="1920240"/>
            <a:ext cx="1554480" cy="365760"/>
          </a:xfrm>
          <a:prstGeom prst="rect">
            <a:avLst/>
          </a:prstGeom>
          <a:solidFill>
            <a:srgbClr val="0B163C"/>
          </a:solidFill>
          <a:ln/>
        </p:spPr>
      </p:sp>
      <p:sp>
        <p:nvSpPr>
          <p:cNvPr id="14" name="Text 12"/>
          <p:cNvSpPr/>
          <p:nvPr/>
        </p:nvSpPr>
        <p:spPr>
          <a:xfrm>
            <a:off x="3108960" y="1920240"/>
            <a:ext cx="15544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Value</a:t>
            </a:r>
            <a:endParaRPr lang="en-US" sz="900" dirty="0"/>
          </a:p>
        </p:txBody>
      </p:sp>
      <p:sp>
        <p:nvSpPr>
          <p:cNvPr id="15" name="Shape 13"/>
          <p:cNvSpPr/>
          <p:nvPr/>
        </p:nvSpPr>
        <p:spPr>
          <a:xfrm>
            <a:off x="4663440" y="1920240"/>
            <a:ext cx="7068312" cy="365760"/>
          </a:xfrm>
          <a:prstGeom prst="rect">
            <a:avLst/>
          </a:prstGeom>
          <a:solidFill>
            <a:srgbClr val="0B163C"/>
          </a:solidFill>
          <a:ln/>
        </p:spPr>
      </p:sp>
      <p:sp>
        <p:nvSpPr>
          <p:cNvPr id="16" name="Text 14"/>
          <p:cNvSpPr/>
          <p:nvPr/>
        </p:nvSpPr>
        <p:spPr>
          <a:xfrm>
            <a:off x="4663440" y="1920240"/>
            <a:ext cx="706831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 / reasoning</a:t>
            </a:r>
            <a:endParaRPr lang="en-US" sz="900" dirty="0"/>
          </a:p>
        </p:txBody>
      </p:sp>
      <p:sp>
        <p:nvSpPr>
          <p:cNvPr id="17" name="Shape 15"/>
          <p:cNvSpPr/>
          <p:nvPr/>
        </p:nvSpPr>
        <p:spPr>
          <a:xfrm>
            <a:off x="457200" y="2286000"/>
            <a:ext cx="2651760" cy="438912"/>
          </a:xfrm>
          <a:prstGeom prst="rect">
            <a:avLst/>
          </a:prstGeom>
          <a:solidFill>
            <a:srgbClr val="FFFFFF"/>
          </a:solidFill>
          <a:ln/>
        </p:spPr>
      </p:sp>
      <p:sp>
        <p:nvSpPr>
          <p:cNvPr id="18" name="Text 16"/>
          <p:cNvSpPr/>
          <p:nvPr/>
        </p:nvSpPr>
        <p:spPr>
          <a:xfrm>
            <a:off x="457200" y="228600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developable acreage</a:t>
            </a:r>
            <a:endParaRPr lang="en-US" sz="950" dirty="0"/>
          </a:p>
        </p:txBody>
      </p:sp>
      <p:sp>
        <p:nvSpPr>
          <p:cNvPr id="19" name="Shape 17"/>
          <p:cNvSpPr/>
          <p:nvPr/>
        </p:nvSpPr>
        <p:spPr>
          <a:xfrm>
            <a:off x="3108960" y="2286000"/>
            <a:ext cx="1554480" cy="438912"/>
          </a:xfrm>
          <a:prstGeom prst="rect">
            <a:avLst/>
          </a:prstGeom>
          <a:solidFill>
            <a:srgbClr val="FFFFFF"/>
          </a:solidFill>
          <a:ln/>
        </p:spPr>
      </p:sp>
      <p:sp>
        <p:nvSpPr>
          <p:cNvPr id="20" name="Text 18"/>
          <p:cNvSpPr/>
          <p:nvPr/>
        </p:nvSpPr>
        <p:spPr>
          <a:xfrm>
            <a:off x="3108960" y="228600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~140 ac</a:t>
            </a:r>
            <a:endParaRPr lang="en-US" sz="950" dirty="0"/>
          </a:p>
        </p:txBody>
      </p:sp>
      <p:sp>
        <p:nvSpPr>
          <p:cNvPr id="21" name="Shape 19"/>
          <p:cNvSpPr/>
          <p:nvPr/>
        </p:nvSpPr>
        <p:spPr>
          <a:xfrm>
            <a:off x="4663440" y="2286000"/>
            <a:ext cx="7068312" cy="438912"/>
          </a:xfrm>
          <a:prstGeom prst="rect">
            <a:avLst/>
          </a:prstGeom>
          <a:solidFill>
            <a:srgbClr val="FFFFFF"/>
          </a:solidFill>
          <a:ln/>
        </p:spPr>
      </p:sp>
      <p:sp>
        <p:nvSpPr>
          <p:cNvPr id="22" name="Text 20"/>
          <p:cNvSpPr/>
          <p:nvPr/>
        </p:nvSpPr>
        <p:spPr>
          <a:xfrm>
            <a:off x="4663440" y="228600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700 gross − 198 conservation − ~300 golf − ~60 Critical Area; survey to confirm</a:t>
            </a:r>
            <a:endParaRPr lang="en-US" sz="900" dirty="0"/>
          </a:p>
        </p:txBody>
      </p:sp>
      <p:sp>
        <p:nvSpPr>
          <p:cNvPr id="23" name="Shape 21"/>
          <p:cNvSpPr/>
          <p:nvPr/>
        </p:nvSpPr>
        <p:spPr>
          <a:xfrm>
            <a:off x="457200" y="2724912"/>
            <a:ext cx="2651760" cy="438912"/>
          </a:xfrm>
          <a:prstGeom prst="rect">
            <a:avLst/>
          </a:prstGeom>
          <a:solidFill>
            <a:srgbClr val="F4F2ED"/>
          </a:solidFill>
          <a:ln/>
        </p:spPr>
      </p:sp>
      <p:sp>
        <p:nvSpPr>
          <p:cNvPr id="24" name="Text 22"/>
          <p:cNvSpPr/>
          <p:nvPr/>
        </p:nvSpPr>
        <p:spPr>
          <a:xfrm>
            <a:off x="457200" y="272491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density</a:t>
            </a:r>
            <a:endParaRPr lang="en-US" sz="950" dirty="0"/>
          </a:p>
        </p:txBody>
      </p:sp>
      <p:sp>
        <p:nvSpPr>
          <p:cNvPr id="25" name="Shape 23"/>
          <p:cNvSpPr/>
          <p:nvPr/>
        </p:nvSpPr>
        <p:spPr>
          <a:xfrm>
            <a:off x="3108960" y="2724912"/>
            <a:ext cx="1554480" cy="438912"/>
          </a:xfrm>
          <a:prstGeom prst="rect">
            <a:avLst/>
          </a:prstGeom>
          <a:solidFill>
            <a:srgbClr val="F4F2ED"/>
          </a:solidFill>
          <a:ln/>
        </p:spPr>
      </p:sp>
      <p:sp>
        <p:nvSpPr>
          <p:cNvPr id="26" name="Text 24"/>
          <p:cNvSpPr/>
          <p:nvPr/>
        </p:nvSpPr>
        <p:spPr>
          <a:xfrm>
            <a:off x="3108960" y="272491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~2.0 / ac</a:t>
            </a:r>
            <a:endParaRPr lang="en-US" sz="950" dirty="0"/>
          </a:p>
        </p:txBody>
      </p:sp>
      <p:sp>
        <p:nvSpPr>
          <p:cNvPr id="27" name="Shape 25"/>
          <p:cNvSpPr/>
          <p:nvPr/>
        </p:nvSpPr>
        <p:spPr>
          <a:xfrm>
            <a:off x="4663440" y="2724912"/>
            <a:ext cx="7068312" cy="438912"/>
          </a:xfrm>
          <a:prstGeom prst="rect">
            <a:avLst/>
          </a:prstGeom>
          <a:solidFill>
            <a:srgbClr val="F4F2ED"/>
          </a:solidFill>
          <a:ln/>
        </p:spPr>
      </p:sp>
      <p:sp>
        <p:nvSpPr>
          <p:cNvPr id="28" name="Text 26"/>
          <p:cNvSpPr/>
          <p:nvPr/>
        </p:nvSpPr>
        <p:spPr>
          <a:xfrm>
            <a:off x="4663440" y="272491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Blended for the developable (non-Critical-Area) land; Queen Anne's County zoning to confirm</a:t>
            </a:r>
            <a:endParaRPr lang="en-US" sz="900" dirty="0"/>
          </a:p>
        </p:txBody>
      </p:sp>
      <p:sp>
        <p:nvSpPr>
          <p:cNvPr id="29" name="Shape 27"/>
          <p:cNvSpPr/>
          <p:nvPr/>
        </p:nvSpPr>
        <p:spPr>
          <a:xfrm>
            <a:off x="457200" y="3163824"/>
            <a:ext cx="2651760" cy="438912"/>
          </a:xfrm>
          <a:prstGeom prst="rect">
            <a:avLst/>
          </a:prstGeom>
          <a:solidFill>
            <a:srgbClr val="FFFFFF"/>
          </a:solidFill>
          <a:ln/>
        </p:spPr>
      </p:sp>
      <p:sp>
        <p:nvSpPr>
          <p:cNvPr id="30" name="Text 28"/>
          <p:cNvSpPr/>
          <p:nvPr/>
        </p:nvSpPr>
        <p:spPr>
          <a:xfrm>
            <a:off x="457200" y="316382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Finished lot price</a:t>
            </a:r>
            <a:endParaRPr lang="en-US" sz="950" dirty="0"/>
          </a:p>
        </p:txBody>
      </p:sp>
      <p:sp>
        <p:nvSpPr>
          <p:cNvPr id="31" name="Shape 29"/>
          <p:cNvSpPr/>
          <p:nvPr/>
        </p:nvSpPr>
        <p:spPr>
          <a:xfrm>
            <a:off x="3108960" y="3163824"/>
            <a:ext cx="1554480" cy="438912"/>
          </a:xfrm>
          <a:prstGeom prst="rect">
            <a:avLst/>
          </a:prstGeom>
          <a:solidFill>
            <a:srgbClr val="FFFFFF"/>
          </a:solidFill>
          <a:ln/>
        </p:spPr>
      </p:sp>
      <p:sp>
        <p:nvSpPr>
          <p:cNvPr id="32" name="Text 30"/>
          <p:cNvSpPr/>
          <p:nvPr/>
        </p:nvSpPr>
        <p:spPr>
          <a:xfrm>
            <a:off x="3108960" y="316382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$150K</a:t>
            </a:r>
            <a:endParaRPr lang="en-US" sz="950" dirty="0"/>
          </a:p>
        </p:txBody>
      </p:sp>
      <p:sp>
        <p:nvSpPr>
          <p:cNvPr id="33" name="Shape 31"/>
          <p:cNvSpPr/>
          <p:nvPr/>
        </p:nvSpPr>
        <p:spPr>
          <a:xfrm>
            <a:off x="4663440" y="3163824"/>
            <a:ext cx="7068312" cy="438912"/>
          </a:xfrm>
          <a:prstGeom prst="rect">
            <a:avLst/>
          </a:prstGeom>
          <a:solidFill>
            <a:srgbClr val="FFFFFF"/>
          </a:solidFill>
          <a:ln/>
        </p:spPr>
      </p:sp>
      <p:sp>
        <p:nvSpPr>
          <p:cNvPr id="34" name="Text 32"/>
          <p:cNvSpPr/>
          <p:nvPr/>
        </p:nvSpPr>
        <p:spPr>
          <a:xfrm>
            <a:off x="4663440" y="316382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Conservative — QAC building lots average ~$237K; new homes $600–705K (lot ≈ 24% of home)</a:t>
            </a:r>
            <a:endParaRPr lang="en-US" sz="900" dirty="0"/>
          </a:p>
        </p:txBody>
      </p:sp>
      <p:sp>
        <p:nvSpPr>
          <p:cNvPr id="35" name="Shape 33"/>
          <p:cNvSpPr/>
          <p:nvPr/>
        </p:nvSpPr>
        <p:spPr>
          <a:xfrm>
            <a:off x="457200" y="3602736"/>
            <a:ext cx="2651760" cy="438912"/>
          </a:xfrm>
          <a:prstGeom prst="rect">
            <a:avLst/>
          </a:prstGeom>
          <a:solidFill>
            <a:srgbClr val="F4F2ED"/>
          </a:solidFill>
          <a:ln/>
        </p:spPr>
      </p:sp>
      <p:sp>
        <p:nvSpPr>
          <p:cNvPr id="36" name="Text 34"/>
          <p:cNvSpPr/>
          <p:nvPr/>
        </p:nvSpPr>
        <p:spPr>
          <a:xfrm>
            <a:off x="457200" y="3602736"/>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Horizontal site development</a:t>
            </a:r>
            <a:endParaRPr lang="en-US" sz="950" dirty="0"/>
          </a:p>
        </p:txBody>
      </p:sp>
      <p:sp>
        <p:nvSpPr>
          <p:cNvPr id="37" name="Shape 35"/>
          <p:cNvSpPr/>
          <p:nvPr/>
        </p:nvSpPr>
        <p:spPr>
          <a:xfrm>
            <a:off x="3108960" y="3602736"/>
            <a:ext cx="1554480" cy="438912"/>
          </a:xfrm>
          <a:prstGeom prst="rect">
            <a:avLst/>
          </a:prstGeom>
          <a:solidFill>
            <a:srgbClr val="F4F2ED"/>
          </a:solidFill>
          <a:ln/>
        </p:spPr>
      </p:sp>
      <p:sp>
        <p:nvSpPr>
          <p:cNvPr id="38" name="Text 36"/>
          <p:cNvSpPr/>
          <p:nvPr/>
        </p:nvSpPr>
        <p:spPr>
          <a:xfrm>
            <a:off x="3108960" y="3602736"/>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$60K / lot</a:t>
            </a:r>
            <a:endParaRPr lang="en-US" sz="950" dirty="0"/>
          </a:p>
        </p:txBody>
      </p:sp>
      <p:sp>
        <p:nvSpPr>
          <p:cNvPr id="39" name="Shape 37"/>
          <p:cNvSpPr/>
          <p:nvPr/>
        </p:nvSpPr>
        <p:spPr>
          <a:xfrm>
            <a:off x="4663440" y="3602736"/>
            <a:ext cx="7068312" cy="438912"/>
          </a:xfrm>
          <a:prstGeom prst="rect">
            <a:avLst/>
          </a:prstGeom>
          <a:solidFill>
            <a:srgbClr val="F4F2ED"/>
          </a:solidFill>
          <a:ln/>
        </p:spPr>
      </p:sp>
      <p:sp>
        <p:nvSpPr>
          <p:cNvPr id="40" name="Text 38"/>
          <p:cNvSpPr/>
          <p:nvPr/>
        </p:nvSpPr>
        <p:spPr>
          <a:xfrm>
            <a:off x="4663440" y="3602736"/>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JV-funded — roads, sewer, utilities; national benchmark $50–150K / acre</a:t>
            </a:r>
            <a:endParaRPr lang="en-US" sz="900" dirty="0"/>
          </a:p>
        </p:txBody>
      </p:sp>
      <p:sp>
        <p:nvSpPr>
          <p:cNvPr id="41" name="Shape 39"/>
          <p:cNvSpPr/>
          <p:nvPr/>
        </p:nvSpPr>
        <p:spPr>
          <a:xfrm>
            <a:off x="457200" y="4041648"/>
            <a:ext cx="2651760" cy="438912"/>
          </a:xfrm>
          <a:prstGeom prst="rect">
            <a:avLst/>
          </a:prstGeom>
          <a:solidFill>
            <a:srgbClr val="FFFFFF"/>
          </a:solidFill>
          <a:ln/>
        </p:spPr>
      </p:sp>
      <p:sp>
        <p:nvSpPr>
          <p:cNvPr id="42" name="Text 40"/>
          <p:cNvSpPr/>
          <p:nvPr/>
        </p:nvSpPr>
        <p:spPr>
          <a:xfrm>
            <a:off x="457200" y="4041648"/>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Soft costs</a:t>
            </a:r>
            <a:endParaRPr lang="en-US" sz="950" dirty="0"/>
          </a:p>
        </p:txBody>
      </p:sp>
      <p:sp>
        <p:nvSpPr>
          <p:cNvPr id="43" name="Shape 41"/>
          <p:cNvSpPr/>
          <p:nvPr/>
        </p:nvSpPr>
        <p:spPr>
          <a:xfrm>
            <a:off x="3108960" y="4041648"/>
            <a:ext cx="1554480" cy="438912"/>
          </a:xfrm>
          <a:prstGeom prst="rect">
            <a:avLst/>
          </a:prstGeom>
          <a:solidFill>
            <a:srgbClr val="FFFFFF"/>
          </a:solidFill>
          <a:ln/>
        </p:spPr>
      </p:sp>
      <p:sp>
        <p:nvSpPr>
          <p:cNvPr id="44" name="Text 42"/>
          <p:cNvSpPr/>
          <p:nvPr/>
        </p:nvSpPr>
        <p:spPr>
          <a:xfrm>
            <a:off x="3108960" y="4041648"/>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~$2.8M</a:t>
            </a:r>
            <a:endParaRPr lang="en-US" sz="950" dirty="0"/>
          </a:p>
        </p:txBody>
      </p:sp>
      <p:sp>
        <p:nvSpPr>
          <p:cNvPr id="45" name="Shape 43"/>
          <p:cNvSpPr/>
          <p:nvPr/>
        </p:nvSpPr>
        <p:spPr>
          <a:xfrm>
            <a:off x="4663440" y="4041648"/>
            <a:ext cx="7068312" cy="438912"/>
          </a:xfrm>
          <a:prstGeom prst="rect">
            <a:avLst/>
          </a:prstGeom>
          <a:solidFill>
            <a:srgbClr val="FFFFFF"/>
          </a:solidFill>
          <a:ln/>
        </p:spPr>
      </p:sp>
      <p:sp>
        <p:nvSpPr>
          <p:cNvPr id="46" name="Text 44"/>
          <p:cNvSpPr/>
          <p:nvPr/>
        </p:nvSpPr>
        <p:spPr>
          <a:xfrm>
            <a:off x="4663440" y="4041648"/>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Entitlement, civil &amp; environmental, legal / zoning and management</a:t>
            </a:r>
            <a:endParaRPr lang="en-US" sz="900" dirty="0"/>
          </a:p>
        </p:txBody>
      </p:sp>
      <p:sp>
        <p:nvSpPr>
          <p:cNvPr id="47" name="Shape 45"/>
          <p:cNvSpPr/>
          <p:nvPr/>
        </p:nvSpPr>
        <p:spPr>
          <a:xfrm>
            <a:off x="457200" y="4480560"/>
            <a:ext cx="2651760" cy="438912"/>
          </a:xfrm>
          <a:prstGeom prst="rect">
            <a:avLst/>
          </a:prstGeom>
          <a:solidFill>
            <a:srgbClr val="F4F2ED"/>
          </a:solidFill>
          <a:ln/>
        </p:spPr>
      </p:sp>
      <p:sp>
        <p:nvSpPr>
          <p:cNvPr id="48" name="Text 46"/>
          <p:cNvSpPr/>
          <p:nvPr/>
        </p:nvSpPr>
        <p:spPr>
          <a:xfrm>
            <a:off x="457200" y="448056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Development loan</a:t>
            </a:r>
            <a:endParaRPr lang="en-US" sz="950" dirty="0"/>
          </a:p>
        </p:txBody>
      </p:sp>
      <p:sp>
        <p:nvSpPr>
          <p:cNvPr id="49" name="Shape 47"/>
          <p:cNvSpPr/>
          <p:nvPr/>
        </p:nvSpPr>
        <p:spPr>
          <a:xfrm>
            <a:off x="3108960" y="4480560"/>
            <a:ext cx="1554480" cy="438912"/>
          </a:xfrm>
          <a:prstGeom prst="rect">
            <a:avLst/>
          </a:prstGeom>
          <a:solidFill>
            <a:srgbClr val="F4F2ED"/>
          </a:solidFill>
          <a:ln/>
        </p:spPr>
      </p:sp>
      <p:sp>
        <p:nvSpPr>
          <p:cNvPr id="50" name="Text 48"/>
          <p:cNvSpPr/>
          <p:nvPr/>
        </p:nvSpPr>
        <p:spPr>
          <a:xfrm>
            <a:off x="3108960" y="448056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 LTC</a:t>
            </a:r>
            <a:endParaRPr lang="en-US" sz="950" dirty="0"/>
          </a:p>
        </p:txBody>
      </p:sp>
      <p:sp>
        <p:nvSpPr>
          <p:cNvPr id="51" name="Shape 49"/>
          <p:cNvSpPr/>
          <p:nvPr/>
        </p:nvSpPr>
        <p:spPr>
          <a:xfrm>
            <a:off x="4663440" y="4480560"/>
            <a:ext cx="7068312" cy="438912"/>
          </a:xfrm>
          <a:prstGeom prst="rect">
            <a:avLst/>
          </a:prstGeom>
          <a:solidFill>
            <a:srgbClr val="F4F2ED"/>
          </a:solidFill>
          <a:ln/>
        </p:spPr>
      </p:sp>
      <p:sp>
        <p:nvSpPr>
          <p:cNvPr id="52" name="Text 50"/>
          <p:cNvSpPr/>
          <p:nvPr/>
        </p:nvSpPr>
        <p:spPr>
          <a:xfrm>
            <a:off x="4663440" y="448056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land-development / A&amp;D financing on the horizontal</a:t>
            </a:r>
            <a:endParaRPr lang="en-US" sz="900" dirty="0"/>
          </a:p>
        </p:txBody>
      </p:sp>
      <p:sp>
        <p:nvSpPr>
          <p:cNvPr id="53" name="Shape 51"/>
          <p:cNvSpPr/>
          <p:nvPr/>
        </p:nvSpPr>
        <p:spPr>
          <a:xfrm>
            <a:off x="457200" y="4919472"/>
            <a:ext cx="2651760" cy="438912"/>
          </a:xfrm>
          <a:prstGeom prst="rect">
            <a:avLst/>
          </a:prstGeom>
          <a:solidFill>
            <a:srgbClr val="FFFFFF"/>
          </a:solidFill>
          <a:ln/>
        </p:spPr>
      </p:sp>
      <p:sp>
        <p:nvSpPr>
          <p:cNvPr id="54" name="Text 52"/>
          <p:cNvSpPr/>
          <p:nvPr/>
        </p:nvSpPr>
        <p:spPr>
          <a:xfrm>
            <a:off x="457200" y="491947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Land basis (contributed)</a:t>
            </a:r>
            <a:endParaRPr lang="en-US" sz="950" dirty="0"/>
          </a:p>
        </p:txBody>
      </p:sp>
      <p:sp>
        <p:nvSpPr>
          <p:cNvPr id="55" name="Shape 53"/>
          <p:cNvSpPr/>
          <p:nvPr/>
        </p:nvSpPr>
        <p:spPr>
          <a:xfrm>
            <a:off x="3108960" y="4919472"/>
            <a:ext cx="1554480" cy="438912"/>
          </a:xfrm>
          <a:prstGeom prst="rect">
            <a:avLst/>
          </a:prstGeom>
          <a:solidFill>
            <a:srgbClr val="FFFFFF"/>
          </a:solidFill>
          <a:ln/>
        </p:spPr>
      </p:sp>
      <p:sp>
        <p:nvSpPr>
          <p:cNvPr id="56" name="Text 54"/>
          <p:cNvSpPr/>
          <p:nvPr/>
        </p:nvSpPr>
        <p:spPr>
          <a:xfrm>
            <a:off x="3108960" y="491947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~$4.0M</a:t>
            </a:r>
            <a:endParaRPr lang="en-US" sz="950" dirty="0"/>
          </a:p>
        </p:txBody>
      </p:sp>
      <p:sp>
        <p:nvSpPr>
          <p:cNvPr id="57" name="Shape 55"/>
          <p:cNvSpPr/>
          <p:nvPr/>
        </p:nvSpPr>
        <p:spPr>
          <a:xfrm>
            <a:off x="4663440" y="4919472"/>
            <a:ext cx="7068312" cy="438912"/>
          </a:xfrm>
          <a:prstGeom prst="rect">
            <a:avLst/>
          </a:prstGeom>
          <a:solidFill>
            <a:srgbClr val="FFFFFF"/>
          </a:solidFill>
          <a:ln/>
        </p:spPr>
      </p:sp>
      <p:sp>
        <p:nvSpPr>
          <p:cNvPr id="58" name="Text 56"/>
          <p:cNvSpPr/>
          <p:nvPr/>
        </p:nvSpPr>
        <p:spPr>
          <a:xfrm>
            <a:off x="4663440" y="491947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Allocated from the $25M H6 purchase (~$29K / ac); joint appraisal to set</a:t>
            </a:r>
            <a:endParaRPr lang="en-US" sz="900" dirty="0"/>
          </a:p>
        </p:txBody>
      </p:sp>
      <p:sp>
        <p:nvSpPr>
          <p:cNvPr id="59" name="Shape 57"/>
          <p:cNvSpPr/>
          <p:nvPr/>
        </p:nvSpPr>
        <p:spPr>
          <a:xfrm>
            <a:off x="457200" y="5358384"/>
            <a:ext cx="2651760" cy="438912"/>
          </a:xfrm>
          <a:prstGeom prst="rect">
            <a:avLst/>
          </a:prstGeom>
          <a:solidFill>
            <a:srgbClr val="F4F2ED"/>
          </a:solidFill>
          <a:ln/>
        </p:spPr>
      </p:sp>
      <p:sp>
        <p:nvSpPr>
          <p:cNvPr id="60" name="Text 58"/>
          <p:cNvSpPr/>
          <p:nvPr/>
        </p:nvSpPr>
        <p:spPr>
          <a:xfrm>
            <a:off x="457200" y="535838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Waterfall</a:t>
            </a:r>
            <a:endParaRPr lang="en-US" sz="950" dirty="0"/>
          </a:p>
        </p:txBody>
      </p:sp>
      <p:sp>
        <p:nvSpPr>
          <p:cNvPr id="61" name="Shape 59"/>
          <p:cNvSpPr/>
          <p:nvPr/>
        </p:nvSpPr>
        <p:spPr>
          <a:xfrm>
            <a:off x="3108960" y="5358384"/>
            <a:ext cx="1554480" cy="438912"/>
          </a:xfrm>
          <a:prstGeom prst="rect">
            <a:avLst/>
          </a:prstGeom>
          <a:solidFill>
            <a:srgbClr val="F4F2ED"/>
          </a:solidFill>
          <a:ln/>
        </p:spPr>
      </p:sp>
      <p:sp>
        <p:nvSpPr>
          <p:cNvPr id="62" name="Text 60"/>
          <p:cNvSpPr/>
          <p:nvPr/>
        </p:nvSpPr>
        <p:spPr>
          <a:xfrm>
            <a:off x="3108960" y="535838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8% pref · co-GP</a:t>
            </a:r>
            <a:endParaRPr lang="en-US" sz="950" dirty="0"/>
          </a:p>
        </p:txBody>
      </p:sp>
      <p:sp>
        <p:nvSpPr>
          <p:cNvPr id="63" name="Shape 61"/>
          <p:cNvSpPr/>
          <p:nvPr/>
        </p:nvSpPr>
        <p:spPr>
          <a:xfrm>
            <a:off x="4663440" y="5358384"/>
            <a:ext cx="7068312" cy="438912"/>
          </a:xfrm>
          <a:prstGeom prst="rect">
            <a:avLst/>
          </a:prstGeom>
          <a:solidFill>
            <a:srgbClr val="F4F2ED"/>
          </a:solidFill>
          <a:ln/>
        </p:spPr>
      </p:sp>
      <p:sp>
        <p:nvSpPr>
          <p:cNvPr id="64" name="Text 62"/>
          <p:cNvSpPr/>
          <p:nvPr/>
        </p:nvSpPr>
        <p:spPr>
          <a:xfrm>
            <a:off x="4663440" y="535838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JV promote structure — for discussion</a:t>
            </a:r>
            <a:endParaRPr lang="en-US" sz="900" dirty="0"/>
          </a:p>
        </p:txBody>
      </p:sp>
      <p:sp>
        <p:nvSpPr>
          <p:cNvPr id="65" name="Text 63"/>
          <p:cNvSpPr/>
          <p:nvPr/>
        </p:nvSpPr>
        <p:spPr>
          <a:xfrm>
            <a:off x="457200" y="603504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nd.com — QAC lots" history="1" highlightClick="0" endSnd="0">
                  <a:extLst>
                    <a:ext uri="{A12FA001-AC4F-418D-AE19-62706E023703}">
                      <ahyp:hlinkClr xmlns:ahyp="http://schemas.microsoft.com/office/drawing/2018/hyperlinkcolor" val="tx"/>
                    </a:ext>
                  </a:extLst>
                </a:hlinkClick>
              </a:rPr>
              <a:t>Land.com — QAC lots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Zillow — QAC new homes" history="1" highlightClick="0" endSnd="0">
                  <a:extLst>
                    <a:ext uri="{A12FA001-AC4F-418D-AE19-62706E023703}">
                      <ahyp:hlinkClr xmlns:ahyp="http://schemas.microsoft.com/office/drawing/2018/hyperlinkcolor" val="tx"/>
                    </a:ext>
                  </a:extLst>
                </a:hlinkClick>
              </a:rPr>
              <a:t>Zillow — QAC new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meGuide — land dev cost" history="1" highlightClick="0" endSnd="0">
                  <a:extLst>
                    <a:ext uri="{A12FA001-AC4F-418D-AE19-62706E023703}">
                      <ahyp:hlinkClr xmlns:ahyp="http://schemas.microsoft.com/office/drawing/2018/hyperlinkcolor" val="tx"/>
                    </a:ext>
                  </a:extLst>
                </a:hlinkClick>
              </a:rPr>
              <a:t>HomeGuide — land dev cost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RETURNS WATERFALL  ·  PHASE 1</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the LP IRR is built.</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market structure: 8% preferred return, then a tiered promote. At 60% LTC the LP (90% of equity) nets ~27% after the promote; reaching the 30%+ range takes higher leverage or pricing (see the sensitivity). The GP — Capital H6, Bob &amp; JAL + partners — earns the carry; JAL shares in it.</a:t>
            </a:r>
            <a:endParaRPr lang="en-US" sz="1300" dirty="0"/>
          </a:p>
        </p:txBody>
      </p:sp>
      <p:sp>
        <p:nvSpPr>
          <p:cNvPr id="11" name="Shape 9"/>
          <p:cNvSpPr/>
          <p:nvPr/>
        </p:nvSpPr>
        <p:spPr>
          <a:xfrm>
            <a:off x="457200" y="1920240"/>
            <a:ext cx="3657600" cy="365760"/>
          </a:xfrm>
          <a:prstGeom prst="rect">
            <a:avLst/>
          </a:prstGeom>
          <a:solidFill>
            <a:srgbClr val="0B163C"/>
          </a:solidFill>
          <a:ln/>
        </p:spPr>
      </p:sp>
      <p:sp>
        <p:nvSpPr>
          <p:cNvPr id="12" name="Text 10"/>
          <p:cNvSpPr/>
          <p:nvPr/>
        </p:nvSpPr>
        <p:spPr>
          <a:xfrm>
            <a:off x="457200" y="1920240"/>
            <a:ext cx="36576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PROMOTE WATERFALL</a:t>
            </a:r>
            <a:endParaRPr lang="en-US" sz="900" dirty="0"/>
          </a:p>
        </p:txBody>
      </p:sp>
      <p:sp>
        <p:nvSpPr>
          <p:cNvPr id="13" name="Shape 11"/>
          <p:cNvSpPr/>
          <p:nvPr/>
        </p:nvSpPr>
        <p:spPr>
          <a:xfrm>
            <a:off x="4114800" y="1920240"/>
            <a:ext cx="1828800" cy="365760"/>
          </a:xfrm>
          <a:prstGeom prst="rect">
            <a:avLst/>
          </a:prstGeom>
          <a:solidFill>
            <a:srgbClr val="0B163C"/>
          </a:solidFill>
          <a:ln/>
        </p:spPr>
      </p:sp>
      <p:sp>
        <p:nvSpPr>
          <p:cNvPr id="14" name="Text 12"/>
          <p:cNvSpPr/>
          <p:nvPr/>
        </p:nvSpPr>
        <p:spPr>
          <a:xfrm>
            <a:off x="4114800" y="1920240"/>
            <a:ext cx="18288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LP / GP</a:t>
            </a:r>
            <a:endParaRPr lang="en-US" sz="900" dirty="0"/>
          </a:p>
        </p:txBody>
      </p:sp>
      <p:sp>
        <p:nvSpPr>
          <p:cNvPr id="15" name="Shape 13"/>
          <p:cNvSpPr/>
          <p:nvPr/>
        </p:nvSpPr>
        <p:spPr>
          <a:xfrm>
            <a:off x="457200" y="2286000"/>
            <a:ext cx="3657600" cy="548640"/>
          </a:xfrm>
          <a:prstGeom prst="rect">
            <a:avLst/>
          </a:prstGeom>
          <a:solidFill>
            <a:srgbClr val="FFFFFF"/>
          </a:solidFill>
          <a:ln/>
        </p:spPr>
      </p:sp>
      <p:sp>
        <p:nvSpPr>
          <p:cNvPr id="16" name="Text 14"/>
          <p:cNvSpPr/>
          <p:nvPr/>
        </p:nvSpPr>
        <p:spPr>
          <a:xfrm>
            <a:off x="457200" y="228600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1 · Return of capital + 8% pref</a:t>
            </a:r>
            <a:endParaRPr lang="en-US" sz="950" dirty="0"/>
          </a:p>
        </p:txBody>
      </p:sp>
      <p:sp>
        <p:nvSpPr>
          <p:cNvPr id="17" name="Shape 15"/>
          <p:cNvSpPr/>
          <p:nvPr/>
        </p:nvSpPr>
        <p:spPr>
          <a:xfrm>
            <a:off x="4114800" y="2286000"/>
            <a:ext cx="1828800" cy="548640"/>
          </a:xfrm>
          <a:prstGeom prst="rect">
            <a:avLst/>
          </a:prstGeom>
          <a:solidFill>
            <a:srgbClr val="FFFFFF"/>
          </a:solidFill>
          <a:ln/>
        </p:spPr>
      </p:sp>
      <p:sp>
        <p:nvSpPr>
          <p:cNvPr id="18" name="Text 16"/>
          <p:cNvSpPr/>
          <p:nvPr/>
        </p:nvSpPr>
        <p:spPr>
          <a:xfrm>
            <a:off x="4114800" y="228600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90 / 10</a:t>
            </a:r>
            <a:endParaRPr lang="en-US" sz="1000" dirty="0"/>
          </a:p>
        </p:txBody>
      </p:sp>
      <p:sp>
        <p:nvSpPr>
          <p:cNvPr id="19" name="Shape 17"/>
          <p:cNvSpPr/>
          <p:nvPr/>
        </p:nvSpPr>
        <p:spPr>
          <a:xfrm>
            <a:off x="457200" y="2834640"/>
            <a:ext cx="3657600" cy="548640"/>
          </a:xfrm>
          <a:prstGeom prst="rect">
            <a:avLst/>
          </a:prstGeom>
          <a:solidFill>
            <a:srgbClr val="F4F2ED"/>
          </a:solidFill>
          <a:ln/>
        </p:spPr>
      </p:sp>
      <p:sp>
        <p:nvSpPr>
          <p:cNvPr id="20" name="Text 18"/>
          <p:cNvSpPr/>
          <p:nvPr/>
        </p:nvSpPr>
        <p:spPr>
          <a:xfrm>
            <a:off x="457200" y="283464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2 · Promote — to a 15% LP IRR</a:t>
            </a:r>
            <a:endParaRPr lang="en-US" sz="950" dirty="0"/>
          </a:p>
        </p:txBody>
      </p:sp>
      <p:sp>
        <p:nvSpPr>
          <p:cNvPr id="21" name="Shape 19"/>
          <p:cNvSpPr/>
          <p:nvPr/>
        </p:nvSpPr>
        <p:spPr>
          <a:xfrm>
            <a:off x="4114800" y="2834640"/>
            <a:ext cx="1828800" cy="548640"/>
          </a:xfrm>
          <a:prstGeom prst="rect">
            <a:avLst/>
          </a:prstGeom>
          <a:solidFill>
            <a:srgbClr val="F4F2ED"/>
          </a:solidFill>
          <a:ln/>
        </p:spPr>
      </p:sp>
      <p:sp>
        <p:nvSpPr>
          <p:cNvPr id="22" name="Text 20"/>
          <p:cNvSpPr/>
          <p:nvPr/>
        </p:nvSpPr>
        <p:spPr>
          <a:xfrm>
            <a:off x="4114800" y="283464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80 / 20</a:t>
            </a:r>
            <a:endParaRPr lang="en-US" sz="1000" dirty="0"/>
          </a:p>
        </p:txBody>
      </p:sp>
      <p:sp>
        <p:nvSpPr>
          <p:cNvPr id="23" name="Shape 21"/>
          <p:cNvSpPr/>
          <p:nvPr/>
        </p:nvSpPr>
        <p:spPr>
          <a:xfrm>
            <a:off x="457200" y="3383280"/>
            <a:ext cx="3657600" cy="548640"/>
          </a:xfrm>
          <a:prstGeom prst="rect">
            <a:avLst/>
          </a:prstGeom>
          <a:solidFill>
            <a:srgbClr val="FFFFFF"/>
          </a:solidFill>
          <a:ln/>
        </p:spPr>
      </p:sp>
      <p:sp>
        <p:nvSpPr>
          <p:cNvPr id="24" name="Text 22"/>
          <p:cNvSpPr/>
          <p:nvPr/>
        </p:nvSpPr>
        <p:spPr>
          <a:xfrm>
            <a:off x="457200" y="338328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3 · Promote — 15% to 20% LP IRR</a:t>
            </a:r>
            <a:endParaRPr lang="en-US" sz="950" dirty="0"/>
          </a:p>
        </p:txBody>
      </p:sp>
      <p:sp>
        <p:nvSpPr>
          <p:cNvPr id="25" name="Shape 23"/>
          <p:cNvSpPr/>
          <p:nvPr/>
        </p:nvSpPr>
        <p:spPr>
          <a:xfrm>
            <a:off x="4114800" y="3383280"/>
            <a:ext cx="1828800" cy="548640"/>
          </a:xfrm>
          <a:prstGeom prst="rect">
            <a:avLst/>
          </a:prstGeom>
          <a:solidFill>
            <a:srgbClr val="FFFFFF"/>
          </a:solidFill>
          <a:ln/>
        </p:spPr>
      </p:sp>
      <p:sp>
        <p:nvSpPr>
          <p:cNvPr id="26" name="Text 24"/>
          <p:cNvSpPr/>
          <p:nvPr/>
        </p:nvSpPr>
        <p:spPr>
          <a:xfrm>
            <a:off x="4114800" y="338328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70 / 30</a:t>
            </a:r>
            <a:endParaRPr lang="en-US" sz="1000" dirty="0"/>
          </a:p>
        </p:txBody>
      </p:sp>
      <p:sp>
        <p:nvSpPr>
          <p:cNvPr id="27" name="Shape 25"/>
          <p:cNvSpPr/>
          <p:nvPr/>
        </p:nvSpPr>
        <p:spPr>
          <a:xfrm>
            <a:off x="457200" y="3931920"/>
            <a:ext cx="3657600" cy="548640"/>
          </a:xfrm>
          <a:prstGeom prst="rect">
            <a:avLst/>
          </a:prstGeom>
          <a:solidFill>
            <a:srgbClr val="F4F2ED"/>
          </a:solidFill>
          <a:ln/>
        </p:spPr>
      </p:sp>
      <p:sp>
        <p:nvSpPr>
          <p:cNvPr id="28" name="Text 26"/>
          <p:cNvSpPr/>
          <p:nvPr/>
        </p:nvSpPr>
        <p:spPr>
          <a:xfrm>
            <a:off x="457200" y="3931920"/>
            <a:ext cx="3657600" cy="548640"/>
          </a:xfrm>
          <a:prstGeom prst="rect">
            <a:avLst/>
          </a:prstGeom>
          <a:noFill/>
          <a:ln/>
        </p:spPr>
        <p:txBody>
          <a:bodyPr wrap="square" lIns="25400" tIns="76200" rIns="76200" bIns="25400" rtlCol="0" anchor="ctr"/>
          <a:lstStyle/>
          <a:p>
            <a:pPr algn="l" indent="0" marL="0">
              <a:lnSpc>
                <a:spcPts val="1100"/>
              </a:lnSpc>
              <a:buNone/>
            </a:pPr>
            <a:r>
              <a:rPr lang="en-US" sz="950" b="1" dirty="0">
                <a:solidFill>
                  <a:srgbClr val="0B163C"/>
                </a:solidFill>
                <a:latin typeface="Montserrat" pitchFamily="34" charset="0"/>
                <a:ea typeface="Montserrat" pitchFamily="34" charset="-122"/>
                <a:cs typeface="Montserrat" pitchFamily="34" charset="-120"/>
              </a:rPr>
              <a:t>4 · Promote — above a 20% LP IRR</a:t>
            </a:r>
            <a:endParaRPr lang="en-US" sz="950" dirty="0"/>
          </a:p>
        </p:txBody>
      </p:sp>
      <p:sp>
        <p:nvSpPr>
          <p:cNvPr id="29" name="Shape 27"/>
          <p:cNvSpPr/>
          <p:nvPr/>
        </p:nvSpPr>
        <p:spPr>
          <a:xfrm>
            <a:off x="4114800" y="3931920"/>
            <a:ext cx="1828800" cy="548640"/>
          </a:xfrm>
          <a:prstGeom prst="rect">
            <a:avLst/>
          </a:prstGeom>
          <a:solidFill>
            <a:srgbClr val="F4F2ED"/>
          </a:solidFill>
          <a:ln/>
        </p:spPr>
      </p:sp>
      <p:sp>
        <p:nvSpPr>
          <p:cNvPr id="30" name="Text 28"/>
          <p:cNvSpPr/>
          <p:nvPr/>
        </p:nvSpPr>
        <p:spPr>
          <a:xfrm>
            <a:off x="4114800" y="3931920"/>
            <a:ext cx="1828800" cy="54864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60 / 40</a:t>
            </a:r>
            <a:endParaRPr lang="en-US" sz="1000" dirty="0"/>
          </a:p>
        </p:txBody>
      </p:sp>
      <p:sp>
        <p:nvSpPr>
          <p:cNvPr id="31" name="Shape 29"/>
          <p:cNvSpPr/>
          <p:nvPr/>
        </p:nvSpPr>
        <p:spPr>
          <a:xfrm>
            <a:off x="457200" y="4572000"/>
            <a:ext cx="5486400" cy="1280160"/>
          </a:xfrm>
          <a:prstGeom prst="rect">
            <a:avLst/>
          </a:prstGeom>
          <a:solidFill>
            <a:srgbClr val="0B163C"/>
          </a:solidFill>
          <a:ln/>
        </p:spPr>
      </p:sp>
      <p:sp>
        <p:nvSpPr>
          <p:cNvPr id="32" name="Shape 30"/>
          <p:cNvSpPr/>
          <p:nvPr/>
        </p:nvSpPr>
        <p:spPr>
          <a:xfrm>
            <a:off x="457200" y="4572000"/>
            <a:ext cx="91440" cy="1280160"/>
          </a:xfrm>
          <a:prstGeom prst="rect">
            <a:avLst/>
          </a:prstGeom>
          <a:solidFill>
            <a:srgbClr val="3A243A"/>
          </a:solidFill>
          <a:ln/>
        </p:spPr>
      </p:sp>
      <p:sp>
        <p:nvSpPr>
          <p:cNvPr id="33" name="Text 31"/>
          <p:cNvSpPr/>
          <p:nvPr/>
        </p:nvSpPr>
        <p:spPr>
          <a:xfrm>
            <a:off x="685800" y="4663440"/>
            <a:ext cx="5120640" cy="27432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CAPITAL STACK  ·  60% LTC</a:t>
            </a:r>
            <a:endParaRPr lang="en-US" sz="900" dirty="0"/>
          </a:p>
        </p:txBody>
      </p:sp>
      <p:sp>
        <p:nvSpPr>
          <p:cNvPr id="34" name="Text 32"/>
          <p:cNvSpPr/>
          <p:nvPr/>
        </p:nvSpPr>
        <p:spPr>
          <a:xfrm>
            <a:off x="685800" y="4919472"/>
            <a:ext cx="5074920" cy="868680"/>
          </a:xfrm>
          <a:prstGeom prst="rect">
            <a:avLst/>
          </a:prstGeom>
          <a:noFill/>
          <a:ln/>
        </p:spPr>
        <p:txBody>
          <a:bodyPr wrap="square" lIns="0" tIns="0" rIns="0" bIns="0" rtlCol="0" anchor="t"/>
          <a:lstStyle/>
          <a:p>
            <a:pPr algn="l" indent="0" marL="0">
              <a:lnSpc>
                <a:spcPts val="1350"/>
              </a:lnSpc>
              <a:buNone/>
            </a:pPr>
            <a:r>
              <a:rPr lang="en-US" sz="1000" dirty="0">
                <a:solidFill>
                  <a:srgbClr val="F4F2ED"/>
                </a:solidFill>
                <a:latin typeface="DM Sans" pitchFamily="34" charset="0"/>
                <a:ea typeface="DM Sans" pitchFamily="34" charset="-122"/>
                <a:cs typeface="DM Sans" pitchFamily="34" charset="-120"/>
              </a:rPr>
              <a:t>$27.5M cost  =  $16.5M development loan (60%)  +  $11M equity.  Equity: LP 90% ($9.9M)  ·  GP — H6 · Bob · JAL + partners 10% ($1.1M).</a:t>
            </a:r>
            <a:endParaRPr lang="en-US" sz="1000" dirty="0"/>
          </a:p>
        </p:txBody>
      </p:sp>
      <p:sp>
        <p:nvSpPr>
          <p:cNvPr id="35" name="Shape 33"/>
          <p:cNvSpPr/>
          <p:nvPr/>
        </p:nvSpPr>
        <p:spPr>
          <a:xfrm>
            <a:off x="6245352" y="1920240"/>
            <a:ext cx="5486400" cy="1810512"/>
          </a:xfrm>
          <a:prstGeom prst="rect">
            <a:avLst/>
          </a:prstGeom>
          <a:solidFill>
            <a:srgbClr val="0B163C"/>
          </a:solidFill>
          <a:ln/>
        </p:spPr>
      </p:sp>
      <p:sp>
        <p:nvSpPr>
          <p:cNvPr id="36" name="Shape 34"/>
          <p:cNvSpPr/>
          <p:nvPr/>
        </p:nvSpPr>
        <p:spPr>
          <a:xfrm>
            <a:off x="6245352" y="1920240"/>
            <a:ext cx="109728" cy="1810512"/>
          </a:xfrm>
          <a:prstGeom prst="rect">
            <a:avLst/>
          </a:prstGeom>
          <a:solidFill>
            <a:srgbClr val="3A243A"/>
          </a:solidFill>
          <a:ln/>
        </p:spPr>
      </p:sp>
      <p:sp>
        <p:nvSpPr>
          <p:cNvPr id="37" name="Text 35"/>
          <p:cNvSpPr/>
          <p:nvPr/>
        </p:nvSpPr>
        <p:spPr>
          <a:xfrm>
            <a:off x="6492240" y="2048256"/>
            <a:ext cx="5120640" cy="274320"/>
          </a:xfrm>
          <a:prstGeom prst="rect">
            <a:avLst/>
          </a:prstGeom>
          <a:noFill/>
          <a:ln/>
        </p:spPr>
        <p:txBody>
          <a:bodyPr wrap="square" lIns="0" tIns="0" rIns="0" bIns="0" rtlCol="0" anchor="ctr"/>
          <a:lstStyle/>
          <a:p>
            <a:pPr algn="l" indent="0" marL="0">
              <a:buNone/>
            </a:pPr>
            <a:r>
              <a:rPr lang="en-US" sz="1000" b="1" spc="150" kern="0" dirty="0">
                <a:solidFill>
                  <a:srgbClr val="C4B8C4"/>
                </a:solidFill>
                <a:latin typeface="Montserrat" pitchFamily="34" charset="0"/>
                <a:ea typeface="Montserrat" pitchFamily="34" charset="-122"/>
                <a:cs typeface="Montserrat" pitchFamily="34" charset="-120"/>
              </a:rPr>
              <a:t>LP — EQUITY INVESTORS  (90% of equity)</a:t>
            </a:r>
            <a:endParaRPr lang="en-US" sz="1000" dirty="0"/>
          </a:p>
        </p:txBody>
      </p:sp>
      <p:sp>
        <p:nvSpPr>
          <p:cNvPr id="38" name="Text 36"/>
          <p:cNvSpPr/>
          <p:nvPr/>
        </p:nvSpPr>
        <p:spPr>
          <a:xfrm>
            <a:off x="6492240" y="2331720"/>
            <a:ext cx="2286000" cy="777240"/>
          </a:xfrm>
          <a:prstGeom prst="rect">
            <a:avLst/>
          </a:prstGeom>
          <a:noFill/>
          <a:ln/>
        </p:spPr>
        <p:txBody>
          <a:bodyPr wrap="square" lIns="0" tIns="0" rIns="0" bIns="0" rtlCol="0" anchor="ctr"/>
          <a:lstStyle/>
          <a:p>
            <a:pPr algn="l" indent="0" marL="0">
              <a:buNone/>
            </a:pPr>
            <a:r>
              <a:rPr lang="en-US" sz="3800" b="1" dirty="0">
                <a:solidFill>
                  <a:srgbClr val="FFFFFF"/>
                </a:solidFill>
                <a:latin typeface="Montserrat" pitchFamily="34" charset="0"/>
                <a:ea typeface="Montserrat" pitchFamily="34" charset="-122"/>
                <a:cs typeface="Montserrat" pitchFamily="34" charset="-120"/>
              </a:rPr>
              <a:t>~27%</a:t>
            </a:r>
            <a:endParaRPr lang="en-US" sz="3800" dirty="0"/>
          </a:p>
        </p:txBody>
      </p:sp>
      <p:sp>
        <p:nvSpPr>
          <p:cNvPr id="39" name="Text 37"/>
          <p:cNvSpPr/>
          <p:nvPr/>
        </p:nvSpPr>
        <p:spPr>
          <a:xfrm>
            <a:off x="6492240" y="3127248"/>
            <a:ext cx="2286000" cy="457200"/>
          </a:xfrm>
          <a:prstGeom prst="rect">
            <a:avLst/>
          </a:prstGeom>
          <a:noFill/>
          <a:ln/>
        </p:spPr>
        <p:txBody>
          <a:bodyPr wrap="square" lIns="0" tIns="0" rIns="0" bIns="0" rtlCol="0" anchor="t"/>
          <a:lstStyle/>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LP IRR</a:t>
            </a:r>
            <a:endParaRPr lang="en-US" sz="1000" dirty="0"/>
          </a:p>
          <a:p>
            <a:pPr algn="l" indent="0" marL="0">
              <a:lnSpc>
                <a:spcPts val="1200"/>
              </a:lnSpc>
              <a:buNone/>
            </a:pPr>
            <a:r>
              <a:rPr lang="en-US" sz="1000" dirty="0">
                <a:solidFill>
                  <a:srgbClr val="F4F2ED"/>
                </a:solidFill>
                <a:latin typeface="DM Sans" pitchFamily="34" charset="0"/>
                <a:ea typeface="DM Sans" pitchFamily="34" charset="-122"/>
                <a:cs typeface="DM Sans" pitchFamily="34" charset="-120"/>
              </a:rPr>
              <a:t>after promote</a:t>
            </a:r>
            <a:endParaRPr lang="en-US" sz="1000" dirty="0"/>
          </a:p>
        </p:txBody>
      </p:sp>
      <p:sp>
        <p:nvSpPr>
          <p:cNvPr id="40" name="Text 38"/>
          <p:cNvSpPr/>
          <p:nvPr/>
        </p:nvSpPr>
        <p:spPr>
          <a:xfrm>
            <a:off x="8869680" y="2395728"/>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$9.9M invested</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 $20.3M back</a:t>
            </a:r>
            <a:endParaRPr lang="en-US" sz="1100" dirty="0"/>
          </a:p>
          <a:p>
            <a:pPr algn="l" indent="0" marL="0">
              <a:lnSpc>
                <a:spcPts val="1500"/>
              </a:lnSpc>
              <a:buNone/>
            </a:pPr>
            <a:r>
              <a:rPr lang="en-US" sz="1100" dirty="0">
                <a:solidFill>
                  <a:srgbClr val="F4F2ED"/>
                </a:solidFill>
                <a:latin typeface="DM Sans" pitchFamily="34" charset="0"/>
                <a:ea typeface="DM Sans" pitchFamily="34" charset="-122"/>
                <a:cs typeface="DM Sans" pitchFamily="34" charset="-120"/>
              </a:rPr>
              <a:t>2.05× equity multiple</a:t>
            </a:r>
            <a:endParaRPr lang="en-US" sz="1100" dirty="0"/>
          </a:p>
        </p:txBody>
      </p:sp>
      <p:sp>
        <p:nvSpPr>
          <p:cNvPr id="41" name="Shape 39"/>
          <p:cNvSpPr/>
          <p:nvPr/>
        </p:nvSpPr>
        <p:spPr>
          <a:xfrm>
            <a:off x="6245352" y="3913632"/>
            <a:ext cx="5486400" cy="1810512"/>
          </a:xfrm>
          <a:prstGeom prst="rect">
            <a:avLst/>
          </a:prstGeom>
          <a:solidFill>
            <a:srgbClr val="FFFFFF"/>
          </a:solidFill>
          <a:ln w="9525">
            <a:solidFill>
              <a:srgbClr val="E6E1DB"/>
            </a:solidFill>
            <a:prstDash val="solid"/>
          </a:ln>
        </p:spPr>
      </p:sp>
      <p:sp>
        <p:nvSpPr>
          <p:cNvPr id="42" name="Text 40"/>
          <p:cNvSpPr/>
          <p:nvPr/>
        </p:nvSpPr>
        <p:spPr>
          <a:xfrm>
            <a:off x="6492240" y="4041648"/>
            <a:ext cx="5120640" cy="274320"/>
          </a:xfrm>
          <a:prstGeom prst="rect">
            <a:avLst/>
          </a:prstGeom>
          <a:noFill/>
          <a:ln/>
        </p:spPr>
        <p:txBody>
          <a:bodyPr wrap="square" lIns="0" tIns="0" rIns="0" bIns="0" rtlCol="0" anchor="ctr"/>
          <a:lstStyle/>
          <a:p>
            <a:pPr algn="l" indent="0" marL="0">
              <a:buNone/>
            </a:pPr>
            <a:r>
              <a:rPr lang="en-US" sz="950" b="1" spc="100" kern="0" dirty="0">
                <a:solidFill>
                  <a:srgbClr val="3A243A"/>
                </a:solidFill>
                <a:latin typeface="Montserrat" pitchFamily="34" charset="0"/>
                <a:ea typeface="Montserrat" pitchFamily="34" charset="-122"/>
                <a:cs typeface="Montserrat" pitchFamily="34" charset="-120"/>
              </a:rPr>
              <a:t>GP — SPONSOR GROUP  (Capital H6 · Bob · JAL + partners)</a:t>
            </a:r>
            <a:endParaRPr lang="en-US" sz="950" dirty="0"/>
          </a:p>
        </p:txBody>
      </p:sp>
      <p:sp>
        <p:nvSpPr>
          <p:cNvPr id="43" name="Text 41"/>
          <p:cNvSpPr/>
          <p:nvPr/>
        </p:nvSpPr>
        <p:spPr>
          <a:xfrm>
            <a:off x="6492240" y="4325112"/>
            <a:ext cx="2377440" cy="731520"/>
          </a:xfrm>
          <a:prstGeom prst="rect">
            <a:avLst/>
          </a:prstGeom>
          <a:noFill/>
          <a:ln/>
        </p:spPr>
        <p:txBody>
          <a:bodyPr wrap="square" lIns="0" tIns="0" rIns="0" bIns="0" rtlCol="0" anchor="ctr"/>
          <a:lstStyle/>
          <a:p>
            <a:pPr algn="l" indent="0" marL="0">
              <a:buNone/>
            </a:pPr>
            <a:r>
              <a:rPr lang="en-US" sz="3200" b="1" dirty="0">
                <a:solidFill>
                  <a:srgbClr val="0B163C"/>
                </a:solidFill>
                <a:latin typeface="Montserrat" pitchFamily="34" charset="0"/>
                <a:ea typeface="Montserrat" pitchFamily="34" charset="-122"/>
                <a:cs typeface="Montserrat" pitchFamily="34" charset="-120"/>
              </a:rPr>
              <a:t>~$4.1M</a:t>
            </a:r>
            <a:endParaRPr lang="en-US" sz="3200" dirty="0"/>
          </a:p>
        </p:txBody>
      </p:sp>
      <p:sp>
        <p:nvSpPr>
          <p:cNvPr id="44" name="Text 42"/>
          <p:cNvSpPr/>
          <p:nvPr/>
        </p:nvSpPr>
        <p:spPr>
          <a:xfrm>
            <a:off x="6492240" y="5074920"/>
            <a:ext cx="2743200" cy="274320"/>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GP promote / carry (group)</a:t>
            </a:r>
            <a:endParaRPr lang="en-US" sz="1000" dirty="0"/>
          </a:p>
        </p:txBody>
      </p:sp>
      <p:sp>
        <p:nvSpPr>
          <p:cNvPr id="45" name="Text 43"/>
          <p:cNvSpPr/>
          <p:nvPr/>
        </p:nvSpPr>
        <p:spPr>
          <a:xfrm>
            <a:off x="8869680" y="4370832"/>
            <a:ext cx="2743200" cy="1188720"/>
          </a:xfrm>
          <a:prstGeom prst="rect">
            <a:avLst/>
          </a:prstGeom>
          <a:noFill/>
          <a:ln/>
        </p:spPr>
        <p:txBody>
          <a:bodyPr wrap="square" lIns="0" tIns="0" rIns="0" bIns="0" rtlCol="0" anchor="ctr"/>
          <a:lstStyle/>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$1.1M co-invest → $5.2M</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~59% GP IRR</a:t>
            </a:r>
            <a:endParaRPr lang="en-US" sz="1100" dirty="0"/>
          </a:p>
          <a:p>
            <a:pPr algn="l" indent="0" marL="0">
              <a:lnSpc>
                <a:spcPts val="1500"/>
              </a:lnSpc>
              <a:buNone/>
            </a:pPr>
            <a:r>
              <a:rPr lang="en-US" sz="1100" dirty="0">
                <a:solidFill>
                  <a:srgbClr val="6B5A6B"/>
                </a:solidFill>
                <a:latin typeface="DM Sans" pitchFamily="34" charset="0"/>
                <a:ea typeface="DM Sans" pitchFamily="34" charset="-122"/>
                <a:cs typeface="DM Sans" pitchFamily="34" charset="-120"/>
              </a:rPr>
              <a:t>JAL earns a share</a:t>
            </a:r>
            <a:endParaRPr lang="en-US" sz="1100" dirty="0"/>
          </a:p>
        </p:txBody>
      </p:sp>
      <p:sp>
        <p:nvSpPr>
          <p:cNvPr id="46" name="Shape 44"/>
          <p:cNvSpPr/>
          <p:nvPr/>
        </p:nvSpPr>
        <p:spPr>
          <a:xfrm>
            <a:off x="457200" y="5943600"/>
            <a:ext cx="11274552" cy="420624"/>
          </a:xfrm>
          <a:prstGeom prst="rect">
            <a:avLst/>
          </a:prstGeom>
          <a:solidFill>
            <a:srgbClr val="3A243A"/>
          </a:solidFill>
          <a:ln/>
        </p:spPr>
      </p:sp>
      <p:sp>
        <p:nvSpPr>
          <p:cNvPr id="47" name="Text 4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Market 8% pref + tiered promote → the LP nets ~27% at 60% LTC; the GP (H6 · Bob · JAL + partners) earns ~$4.1M of carry — JAL takes a share.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SENSITIVITY  ·  PHASE 1 LP IRR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robust is the LP IRR?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LP IRR (after the promote) across finished-lot price and leverage. The base case — $150K lots, 60% LTC — pencils to ~27%; the high-20s / low-30s is reachable with stronger pricing or modestly more leverage.</a:t>
            </a:r>
            <a:endParaRPr lang="en-US" sz="1300" dirty="0"/>
          </a:p>
        </p:txBody>
      </p:sp>
      <p:sp>
        <p:nvSpPr>
          <p:cNvPr id="11" name="Shape 9"/>
          <p:cNvSpPr/>
          <p:nvPr/>
        </p:nvSpPr>
        <p:spPr>
          <a:xfrm>
            <a:off x="457200" y="2103120"/>
            <a:ext cx="2194560" cy="365760"/>
          </a:xfrm>
          <a:prstGeom prst="rect">
            <a:avLst/>
          </a:prstGeom>
          <a:solidFill>
            <a:srgbClr val="0B163C"/>
          </a:solidFill>
          <a:ln/>
        </p:spPr>
      </p:sp>
      <p:sp>
        <p:nvSpPr>
          <p:cNvPr id="12" name="Text 10"/>
          <p:cNvSpPr/>
          <p:nvPr/>
        </p:nvSpPr>
        <p:spPr>
          <a:xfrm>
            <a:off x="457200" y="2103120"/>
            <a:ext cx="21945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LP IRR   (lot price / LTC)</a:t>
            </a:r>
            <a:endParaRPr lang="en-US" sz="900" dirty="0"/>
          </a:p>
        </p:txBody>
      </p:sp>
      <p:sp>
        <p:nvSpPr>
          <p:cNvPr id="13" name="Shape 11"/>
          <p:cNvSpPr/>
          <p:nvPr/>
        </p:nvSpPr>
        <p:spPr>
          <a:xfrm>
            <a:off x="2651760" y="2103120"/>
            <a:ext cx="2263140" cy="365760"/>
          </a:xfrm>
          <a:prstGeom prst="rect">
            <a:avLst/>
          </a:prstGeom>
          <a:solidFill>
            <a:srgbClr val="0B163C"/>
          </a:solidFill>
          <a:ln/>
        </p:spPr>
      </p:sp>
      <p:sp>
        <p:nvSpPr>
          <p:cNvPr id="14" name="Text 12"/>
          <p:cNvSpPr/>
          <p:nvPr/>
        </p:nvSpPr>
        <p:spPr>
          <a:xfrm>
            <a:off x="265176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55% LTC</a:t>
            </a:r>
            <a:endParaRPr lang="en-US" sz="900" dirty="0"/>
          </a:p>
        </p:txBody>
      </p:sp>
      <p:sp>
        <p:nvSpPr>
          <p:cNvPr id="15" name="Shape 13"/>
          <p:cNvSpPr/>
          <p:nvPr/>
        </p:nvSpPr>
        <p:spPr>
          <a:xfrm>
            <a:off x="4914900" y="2103120"/>
            <a:ext cx="2263140" cy="365760"/>
          </a:xfrm>
          <a:prstGeom prst="rect">
            <a:avLst/>
          </a:prstGeom>
          <a:solidFill>
            <a:srgbClr val="0B163C"/>
          </a:solidFill>
          <a:ln/>
        </p:spPr>
      </p:sp>
      <p:sp>
        <p:nvSpPr>
          <p:cNvPr id="16" name="Text 14"/>
          <p:cNvSpPr/>
          <p:nvPr/>
        </p:nvSpPr>
        <p:spPr>
          <a:xfrm>
            <a:off x="491490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60% LTC</a:t>
            </a:r>
            <a:endParaRPr lang="en-US" sz="900" dirty="0"/>
          </a:p>
        </p:txBody>
      </p:sp>
      <p:sp>
        <p:nvSpPr>
          <p:cNvPr id="17" name="Shape 15"/>
          <p:cNvSpPr/>
          <p:nvPr/>
        </p:nvSpPr>
        <p:spPr>
          <a:xfrm>
            <a:off x="7178040" y="2103120"/>
            <a:ext cx="2263140" cy="365760"/>
          </a:xfrm>
          <a:prstGeom prst="rect">
            <a:avLst/>
          </a:prstGeom>
          <a:solidFill>
            <a:srgbClr val="0B163C"/>
          </a:solidFill>
          <a:ln/>
        </p:spPr>
      </p:sp>
      <p:sp>
        <p:nvSpPr>
          <p:cNvPr id="18" name="Text 16"/>
          <p:cNvSpPr/>
          <p:nvPr/>
        </p:nvSpPr>
        <p:spPr>
          <a:xfrm>
            <a:off x="717804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65% LTC</a:t>
            </a:r>
            <a:endParaRPr lang="en-US" sz="900" dirty="0"/>
          </a:p>
        </p:txBody>
      </p:sp>
      <p:sp>
        <p:nvSpPr>
          <p:cNvPr id="19" name="Shape 17"/>
          <p:cNvSpPr/>
          <p:nvPr/>
        </p:nvSpPr>
        <p:spPr>
          <a:xfrm>
            <a:off x="9441180" y="2103120"/>
            <a:ext cx="2263140" cy="365760"/>
          </a:xfrm>
          <a:prstGeom prst="rect">
            <a:avLst/>
          </a:prstGeom>
          <a:solidFill>
            <a:srgbClr val="0B163C"/>
          </a:solidFill>
          <a:ln/>
        </p:spPr>
      </p:sp>
      <p:sp>
        <p:nvSpPr>
          <p:cNvPr id="20" name="Text 18"/>
          <p:cNvSpPr/>
          <p:nvPr/>
        </p:nvSpPr>
        <p:spPr>
          <a:xfrm>
            <a:off x="944118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70% LTC</a:t>
            </a:r>
            <a:endParaRPr lang="en-US" sz="900" dirty="0"/>
          </a:p>
        </p:txBody>
      </p:sp>
      <p:sp>
        <p:nvSpPr>
          <p:cNvPr id="21" name="Shape 19"/>
          <p:cNvSpPr/>
          <p:nvPr/>
        </p:nvSpPr>
        <p:spPr>
          <a:xfrm>
            <a:off x="457200" y="2468880"/>
            <a:ext cx="2194560" cy="777240"/>
          </a:xfrm>
          <a:prstGeom prst="rect">
            <a:avLst/>
          </a:prstGeom>
          <a:solidFill>
            <a:srgbClr val="FFFFFF"/>
          </a:solidFill>
          <a:ln/>
        </p:spPr>
      </p:sp>
      <p:sp>
        <p:nvSpPr>
          <p:cNvPr id="22" name="Text 20"/>
          <p:cNvSpPr/>
          <p:nvPr/>
        </p:nvSpPr>
        <p:spPr>
          <a:xfrm>
            <a:off x="457200" y="246888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$130K / lot</a:t>
            </a:r>
            <a:endParaRPr lang="en-US" sz="1000" dirty="0"/>
          </a:p>
        </p:txBody>
      </p:sp>
      <p:sp>
        <p:nvSpPr>
          <p:cNvPr id="23" name="Shape 21"/>
          <p:cNvSpPr/>
          <p:nvPr/>
        </p:nvSpPr>
        <p:spPr>
          <a:xfrm>
            <a:off x="2651760" y="2468880"/>
            <a:ext cx="2263140" cy="777240"/>
          </a:xfrm>
          <a:prstGeom prst="rect">
            <a:avLst/>
          </a:prstGeom>
          <a:solidFill>
            <a:srgbClr val="FFFFFF"/>
          </a:solidFill>
          <a:ln/>
        </p:spPr>
      </p:sp>
      <p:sp>
        <p:nvSpPr>
          <p:cNvPr id="24" name="Text 22"/>
          <p:cNvSpPr/>
          <p:nvPr/>
        </p:nvSpPr>
        <p:spPr>
          <a:xfrm>
            <a:off x="265176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18.1%</a:t>
            </a:r>
            <a:endParaRPr lang="en-US" sz="1200" dirty="0"/>
          </a:p>
        </p:txBody>
      </p:sp>
      <p:sp>
        <p:nvSpPr>
          <p:cNvPr id="25" name="Shape 23"/>
          <p:cNvSpPr/>
          <p:nvPr/>
        </p:nvSpPr>
        <p:spPr>
          <a:xfrm>
            <a:off x="4914900" y="2468880"/>
            <a:ext cx="2263140" cy="777240"/>
          </a:xfrm>
          <a:prstGeom prst="rect">
            <a:avLst/>
          </a:prstGeom>
          <a:solidFill>
            <a:srgbClr val="FFFFFF"/>
          </a:solidFill>
          <a:ln/>
        </p:spPr>
      </p:sp>
      <p:sp>
        <p:nvSpPr>
          <p:cNvPr id="26" name="Text 24"/>
          <p:cNvSpPr/>
          <p:nvPr/>
        </p:nvSpPr>
        <p:spPr>
          <a:xfrm>
            <a:off x="491490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19.7%</a:t>
            </a:r>
            <a:endParaRPr lang="en-US" sz="1200" dirty="0"/>
          </a:p>
        </p:txBody>
      </p:sp>
      <p:sp>
        <p:nvSpPr>
          <p:cNvPr id="27" name="Shape 25"/>
          <p:cNvSpPr/>
          <p:nvPr/>
        </p:nvSpPr>
        <p:spPr>
          <a:xfrm>
            <a:off x="7178040" y="2468880"/>
            <a:ext cx="2263140" cy="777240"/>
          </a:xfrm>
          <a:prstGeom prst="rect">
            <a:avLst/>
          </a:prstGeom>
          <a:solidFill>
            <a:srgbClr val="FFFFFF"/>
          </a:solidFill>
          <a:ln/>
        </p:spPr>
      </p:sp>
      <p:sp>
        <p:nvSpPr>
          <p:cNvPr id="28" name="Text 26"/>
          <p:cNvSpPr/>
          <p:nvPr/>
        </p:nvSpPr>
        <p:spPr>
          <a:xfrm>
            <a:off x="717804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21.6%</a:t>
            </a:r>
            <a:endParaRPr lang="en-US" sz="1200" dirty="0"/>
          </a:p>
        </p:txBody>
      </p:sp>
      <p:sp>
        <p:nvSpPr>
          <p:cNvPr id="29" name="Shape 27"/>
          <p:cNvSpPr/>
          <p:nvPr/>
        </p:nvSpPr>
        <p:spPr>
          <a:xfrm>
            <a:off x="9441180" y="2468880"/>
            <a:ext cx="2263140" cy="777240"/>
          </a:xfrm>
          <a:prstGeom prst="rect">
            <a:avLst/>
          </a:prstGeom>
          <a:solidFill>
            <a:srgbClr val="FFFFFF"/>
          </a:solidFill>
          <a:ln/>
        </p:spPr>
      </p:sp>
      <p:sp>
        <p:nvSpPr>
          <p:cNvPr id="30" name="Text 28"/>
          <p:cNvSpPr/>
          <p:nvPr/>
        </p:nvSpPr>
        <p:spPr>
          <a:xfrm>
            <a:off x="944118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23.9%</a:t>
            </a:r>
            <a:endParaRPr lang="en-US" sz="1200" dirty="0"/>
          </a:p>
        </p:txBody>
      </p:sp>
      <p:sp>
        <p:nvSpPr>
          <p:cNvPr id="31" name="Shape 29"/>
          <p:cNvSpPr/>
          <p:nvPr/>
        </p:nvSpPr>
        <p:spPr>
          <a:xfrm>
            <a:off x="457200" y="3246120"/>
            <a:ext cx="2194560" cy="777240"/>
          </a:xfrm>
          <a:prstGeom prst="rect">
            <a:avLst/>
          </a:prstGeom>
          <a:solidFill>
            <a:srgbClr val="F4F2ED"/>
          </a:solidFill>
          <a:ln/>
        </p:spPr>
      </p:sp>
      <p:sp>
        <p:nvSpPr>
          <p:cNvPr id="32" name="Text 30"/>
          <p:cNvSpPr/>
          <p:nvPr/>
        </p:nvSpPr>
        <p:spPr>
          <a:xfrm>
            <a:off x="457200" y="324612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$150K / lot  (base)</a:t>
            </a:r>
            <a:endParaRPr lang="en-US" sz="1000" dirty="0"/>
          </a:p>
        </p:txBody>
      </p:sp>
      <p:sp>
        <p:nvSpPr>
          <p:cNvPr id="33" name="Shape 31"/>
          <p:cNvSpPr/>
          <p:nvPr/>
        </p:nvSpPr>
        <p:spPr>
          <a:xfrm>
            <a:off x="2651760" y="3246120"/>
            <a:ext cx="2263140" cy="777240"/>
          </a:xfrm>
          <a:prstGeom prst="rect">
            <a:avLst/>
          </a:prstGeom>
          <a:solidFill>
            <a:srgbClr val="F4F2ED"/>
          </a:solidFill>
          <a:ln/>
        </p:spPr>
      </p:sp>
      <p:sp>
        <p:nvSpPr>
          <p:cNvPr id="34" name="Text 32"/>
          <p:cNvSpPr/>
          <p:nvPr/>
        </p:nvSpPr>
        <p:spPr>
          <a:xfrm>
            <a:off x="265176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24.8%</a:t>
            </a:r>
            <a:endParaRPr lang="en-US" sz="1200" dirty="0"/>
          </a:p>
        </p:txBody>
      </p:sp>
      <p:sp>
        <p:nvSpPr>
          <p:cNvPr id="35" name="Shape 33"/>
          <p:cNvSpPr/>
          <p:nvPr/>
        </p:nvSpPr>
        <p:spPr>
          <a:xfrm>
            <a:off x="4914900" y="3246120"/>
            <a:ext cx="2263140" cy="777240"/>
          </a:xfrm>
          <a:prstGeom prst="rect">
            <a:avLst/>
          </a:prstGeom>
          <a:solidFill>
            <a:srgbClr val="F4F2ED"/>
          </a:solidFill>
          <a:ln/>
        </p:spPr>
      </p:sp>
      <p:sp>
        <p:nvSpPr>
          <p:cNvPr id="36" name="Text 34"/>
          <p:cNvSpPr/>
          <p:nvPr/>
        </p:nvSpPr>
        <p:spPr>
          <a:xfrm>
            <a:off x="4914900" y="3246120"/>
            <a:ext cx="2263140" cy="777240"/>
          </a:xfrm>
          <a:prstGeom prst="rect">
            <a:avLst/>
          </a:prstGeom>
          <a:noFill/>
          <a:ln/>
        </p:spPr>
        <p:txBody>
          <a:bodyPr wrap="square" lIns="25400" tIns="76200" rIns="76200" bIns="25400" rtlCol="0" anchor="ctr"/>
          <a:lstStyle/>
          <a:p>
            <a:pPr algn="ctr" indent="0" marL="0">
              <a:buNone/>
            </a:pPr>
            <a:r>
              <a:rPr lang="en-US" sz="1200" b="1" dirty="0">
                <a:solidFill>
                  <a:srgbClr val="3A243A"/>
                </a:solidFill>
                <a:latin typeface="Montserrat" pitchFamily="34" charset="0"/>
                <a:ea typeface="Montserrat" pitchFamily="34" charset="-122"/>
                <a:cs typeface="Montserrat" pitchFamily="34" charset="-120"/>
              </a:rPr>
              <a:t>26.8%</a:t>
            </a:r>
            <a:endParaRPr lang="en-US" sz="1200" dirty="0"/>
          </a:p>
        </p:txBody>
      </p:sp>
      <p:sp>
        <p:nvSpPr>
          <p:cNvPr id="37" name="Shape 35"/>
          <p:cNvSpPr/>
          <p:nvPr/>
        </p:nvSpPr>
        <p:spPr>
          <a:xfrm>
            <a:off x="7178040" y="3246120"/>
            <a:ext cx="2263140" cy="777240"/>
          </a:xfrm>
          <a:prstGeom prst="rect">
            <a:avLst/>
          </a:prstGeom>
          <a:solidFill>
            <a:srgbClr val="F4F2ED"/>
          </a:solidFill>
          <a:ln/>
        </p:spPr>
      </p:sp>
      <p:sp>
        <p:nvSpPr>
          <p:cNvPr id="38" name="Text 36"/>
          <p:cNvSpPr/>
          <p:nvPr/>
        </p:nvSpPr>
        <p:spPr>
          <a:xfrm>
            <a:off x="717804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29.4%</a:t>
            </a:r>
            <a:endParaRPr lang="en-US" sz="1200" dirty="0"/>
          </a:p>
        </p:txBody>
      </p:sp>
      <p:sp>
        <p:nvSpPr>
          <p:cNvPr id="39" name="Shape 37"/>
          <p:cNvSpPr/>
          <p:nvPr/>
        </p:nvSpPr>
        <p:spPr>
          <a:xfrm>
            <a:off x="9441180" y="3246120"/>
            <a:ext cx="2263140" cy="777240"/>
          </a:xfrm>
          <a:prstGeom prst="rect">
            <a:avLst/>
          </a:prstGeom>
          <a:solidFill>
            <a:srgbClr val="F4F2ED"/>
          </a:solidFill>
          <a:ln/>
        </p:spPr>
      </p:sp>
      <p:sp>
        <p:nvSpPr>
          <p:cNvPr id="40" name="Text 38"/>
          <p:cNvSpPr/>
          <p:nvPr/>
        </p:nvSpPr>
        <p:spPr>
          <a:xfrm>
            <a:off x="944118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32.8%</a:t>
            </a:r>
            <a:endParaRPr lang="en-US" sz="1200" dirty="0"/>
          </a:p>
        </p:txBody>
      </p:sp>
      <p:sp>
        <p:nvSpPr>
          <p:cNvPr id="41" name="Shape 39"/>
          <p:cNvSpPr/>
          <p:nvPr/>
        </p:nvSpPr>
        <p:spPr>
          <a:xfrm>
            <a:off x="457200" y="4023360"/>
            <a:ext cx="2194560" cy="777240"/>
          </a:xfrm>
          <a:prstGeom prst="rect">
            <a:avLst/>
          </a:prstGeom>
          <a:solidFill>
            <a:srgbClr val="FFFFFF"/>
          </a:solidFill>
          <a:ln/>
        </p:spPr>
      </p:sp>
      <p:sp>
        <p:nvSpPr>
          <p:cNvPr id="42" name="Text 40"/>
          <p:cNvSpPr/>
          <p:nvPr/>
        </p:nvSpPr>
        <p:spPr>
          <a:xfrm>
            <a:off x="457200" y="4023360"/>
            <a:ext cx="2194560" cy="77724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$170K / lot</a:t>
            </a:r>
            <a:endParaRPr lang="en-US" sz="1000" dirty="0"/>
          </a:p>
        </p:txBody>
      </p:sp>
      <p:sp>
        <p:nvSpPr>
          <p:cNvPr id="43" name="Shape 41"/>
          <p:cNvSpPr/>
          <p:nvPr/>
        </p:nvSpPr>
        <p:spPr>
          <a:xfrm>
            <a:off x="2651760" y="4023360"/>
            <a:ext cx="2263140" cy="777240"/>
          </a:xfrm>
          <a:prstGeom prst="rect">
            <a:avLst/>
          </a:prstGeom>
          <a:solidFill>
            <a:srgbClr val="FFFFFF"/>
          </a:solidFill>
          <a:ln/>
        </p:spPr>
      </p:sp>
      <p:sp>
        <p:nvSpPr>
          <p:cNvPr id="44" name="Text 42"/>
          <p:cNvSpPr/>
          <p:nvPr/>
        </p:nvSpPr>
        <p:spPr>
          <a:xfrm>
            <a:off x="265176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30.7%</a:t>
            </a:r>
            <a:endParaRPr lang="en-US" sz="1200" dirty="0"/>
          </a:p>
        </p:txBody>
      </p:sp>
      <p:sp>
        <p:nvSpPr>
          <p:cNvPr id="45" name="Shape 43"/>
          <p:cNvSpPr/>
          <p:nvPr/>
        </p:nvSpPr>
        <p:spPr>
          <a:xfrm>
            <a:off x="4914900" y="4023360"/>
            <a:ext cx="2263140" cy="777240"/>
          </a:xfrm>
          <a:prstGeom prst="rect">
            <a:avLst/>
          </a:prstGeom>
          <a:solidFill>
            <a:srgbClr val="FFFFFF"/>
          </a:solidFill>
          <a:ln/>
        </p:spPr>
      </p:sp>
      <p:sp>
        <p:nvSpPr>
          <p:cNvPr id="46" name="Text 44"/>
          <p:cNvSpPr/>
          <p:nvPr/>
        </p:nvSpPr>
        <p:spPr>
          <a:xfrm>
            <a:off x="491490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33.3%</a:t>
            </a:r>
            <a:endParaRPr lang="en-US" sz="1200" dirty="0"/>
          </a:p>
        </p:txBody>
      </p:sp>
      <p:sp>
        <p:nvSpPr>
          <p:cNvPr id="47" name="Shape 45"/>
          <p:cNvSpPr/>
          <p:nvPr/>
        </p:nvSpPr>
        <p:spPr>
          <a:xfrm>
            <a:off x="7178040" y="4023360"/>
            <a:ext cx="2263140" cy="777240"/>
          </a:xfrm>
          <a:prstGeom prst="rect">
            <a:avLst/>
          </a:prstGeom>
          <a:solidFill>
            <a:srgbClr val="FFFFFF"/>
          </a:solidFill>
          <a:ln/>
        </p:spPr>
      </p:sp>
      <p:sp>
        <p:nvSpPr>
          <p:cNvPr id="48" name="Text 46"/>
          <p:cNvSpPr/>
          <p:nvPr/>
        </p:nvSpPr>
        <p:spPr>
          <a:xfrm>
            <a:off x="717804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36.5%</a:t>
            </a:r>
            <a:endParaRPr lang="en-US" sz="1200" dirty="0"/>
          </a:p>
        </p:txBody>
      </p:sp>
      <p:sp>
        <p:nvSpPr>
          <p:cNvPr id="49" name="Shape 47"/>
          <p:cNvSpPr/>
          <p:nvPr/>
        </p:nvSpPr>
        <p:spPr>
          <a:xfrm>
            <a:off x="9441180" y="4023360"/>
            <a:ext cx="2263140" cy="777240"/>
          </a:xfrm>
          <a:prstGeom prst="rect">
            <a:avLst/>
          </a:prstGeom>
          <a:solidFill>
            <a:srgbClr val="FFFFFF"/>
          </a:solidFill>
          <a:ln/>
        </p:spPr>
      </p:sp>
      <p:sp>
        <p:nvSpPr>
          <p:cNvPr id="50" name="Text 48"/>
          <p:cNvSpPr/>
          <p:nvPr/>
        </p:nvSpPr>
        <p:spPr>
          <a:xfrm>
            <a:off x="944118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40.7%</a:t>
            </a:r>
            <a:endParaRPr lang="en-US" sz="1200" dirty="0"/>
          </a:p>
        </p:txBody>
      </p:sp>
      <p:sp>
        <p:nvSpPr>
          <p:cNvPr id="51" name="Shape 49"/>
          <p:cNvSpPr/>
          <p:nvPr/>
        </p:nvSpPr>
        <p:spPr>
          <a:xfrm>
            <a:off x="457200" y="5074920"/>
            <a:ext cx="11274552" cy="420624"/>
          </a:xfrm>
          <a:prstGeom prst="rect">
            <a:avLst/>
          </a:prstGeom>
          <a:solidFill>
            <a:srgbClr val="3A243A"/>
          </a:solidFill>
          <a:ln/>
        </p:spPr>
      </p:sp>
      <p:sp>
        <p:nvSpPr>
          <p:cNvPr id="52" name="Text 50"/>
          <p:cNvSpPr/>
          <p:nvPr/>
        </p:nvSpPr>
        <p:spPr>
          <a:xfrm>
            <a:off x="640080" y="50749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Base ($150K, 60% LTC) → ~27% LP. The 30%+ range is realistic — ~$170K lots, or 65–70% LTC.</a:t>
            </a:r>
            <a:endParaRPr lang="en-US" sz="1100" dirty="0"/>
          </a:p>
        </p:txBody>
      </p:sp>
      <p:sp>
        <p:nvSpPr>
          <p:cNvPr id="53" name="Text 51"/>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LP IRR after the 8% pref + tiered promote; each cell re-runs the full waterfall in the model. Illustrative — drivers in order of impact: lot price · LTC · absorption pace.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LOT LIQUIDITY  ·  BUYER UNIVERSE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deep pool of lot buyers.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Regional and national homebuilders are actively building across Queen Anne's County and the Eastern Shore. Entitled, finished lots trade readily — multiple credible takeout buyers let us run a competitive process and de-risk the exit.</a:t>
            </a:r>
            <a:endParaRPr lang="en-US" sz="1300" dirty="0"/>
          </a:p>
        </p:txBody>
      </p:sp>
      <p:sp>
        <p:nvSpPr>
          <p:cNvPr id="11" name="Shape 9"/>
          <p:cNvSpPr/>
          <p:nvPr/>
        </p:nvSpPr>
        <p:spPr>
          <a:xfrm>
            <a:off x="457200" y="1920240"/>
            <a:ext cx="2834640" cy="365760"/>
          </a:xfrm>
          <a:prstGeom prst="rect">
            <a:avLst/>
          </a:prstGeom>
          <a:solidFill>
            <a:srgbClr val="0B163C"/>
          </a:solidFill>
          <a:ln/>
        </p:spPr>
      </p:sp>
      <p:sp>
        <p:nvSpPr>
          <p:cNvPr id="12" name="Text 10"/>
          <p:cNvSpPr/>
          <p:nvPr/>
        </p:nvSpPr>
        <p:spPr>
          <a:xfrm>
            <a:off x="457200" y="1920240"/>
            <a:ext cx="283464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Builder</a:t>
            </a:r>
            <a:endParaRPr lang="en-US" sz="900" dirty="0"/>
          </a:p>
        </p:txBody>
      </p:sp>
      <p:sp>
        <p:nvSpPr>
          <p:cNvPr id="13" name="Shape 11"/>
          <p:cNvSpPr/>
          <p:nvPr/>
        </p:nvSpPr>
        <p:spPr>
          <a:xfrm>
            <a:off x="3291840" y="1920240"/>
            <a:ext cx="2103120" cy="365760"/>
          </a:xfrm>
          <a:prstGeom prst="rect">
            <a:avLst/>
          </a:prstGeom>
          <a:solidFill>
            <a:srgbClr val="0B163C"/>
          </a:solidFill>
          <a:ln/>
        </p:spPr>
      </p:sp>
      <p:sp>
        <p:nvSpPr>
          <p:cNvPr id="14" name="Text 12"/>
          <p:cNvSpPr/>
          <p:nvPr/>
        </p:nvSpPr>
        <p:spPr>
          <a:xfrm>
            <a:off x="3291840" y="1920240"/>
            <a:ext cx="210312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Reach</a:t>
            </a:r>
            <a:endParaRPr lang="en-US" sz="900" dirty="0"/>
          </a:p>
        </p:txBody>
      </p:sp>
      <p:sp>
        <p:nvSpPr>
          <p:cNvPr id="15" name="Shape 13"/>
          <p:cNvSpPr/>
          <p:nvPr/>
        </p:nvSpPr>
        <p:spPr>
          <a:xfrm>
            <a:off x="5394960" y="1920240"/>
            <a:ext cx="6336792" cy="365760"/>
          </a:xfrm>
          <a:prstGeom prst="rect">
            <a:avLst/>
          </a:prstGeom>
          <a:solidFill>
            <a:srgbClr val="0B163C"/>
          </a:solidFill>
          <a:ln/>
        </p:spPr>
      </p:sp>
      <p:sp>
        <p:nvSpPr>
          <p:cNvPr id="16" name="Text 14"/>
          <p:cNvSpPr/>
          <p:nvPr/>
        </p:nvSpPr>
        <p:spPr>
          <a:xfrm>
            <a:off x="5394960" y="1920240"/>
            <a:ext cx="63367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Footprint / relevance</a:t>
            </a:r>
            <a:endParaRPr lang="en-US" sz="900" dirty="0"/>
          </a:p>
        </p:txBody>
      </p:sp>
      <p:sp>
        <p:nvSpPr>
          <p:cNvPr id="17" name="Shape 15"/>
          <p:cNvSpPr/>
          <p:nvPr/>
        </p:nvSpPr>
        <p:spPr>
          <a:xfrm>
            <a:off x="457200" y="2286000"/>
            <a:ext cx="2834640" cy="420624"/>
          </a:xfrm>
          <a:prstGeom prst="rect">
            <a:avLst/>
          </a:prstGeom>
          <a:solidFill>
            <a:srgbClr val="FFFFFF"/>
          </a:solidFill>
          <a:ln/>
        </p:spPr>
      </p:sp>
      <p:sp>
        <p:nvSpPr>
          <p:cNvPr id="18" name="Text 16"/>
          <p:cNvSpPr/>
          <p:nvPr/>
        </p:nvSpPr>
        <p:spPr>
          <a:xfrm>
            <a:off x="457200" y="228600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NVR / Ryan Homes</a:t>
            </a:r>
            <a:endParaRPr lang="en-US" sz="1000" dirty="0"/>
          </a:p>
        </p:txBody>
      </p:sp>
      <p:sp>
        <p:nvSpPr>
          <p:cNvPr id="19" name="Shape 17"/>
          <p:cNvSpPr/>
          <p:nvPr/>
        </p:nvSpPr>
        <p:spPr>
          <a:xfrm>
            <a:off x="3291840" y="2286000"/>
            <a:ext cx="2103120" cy="420624"/>
          </a:xfrm>
          <a:prstGeom prst="rect">
            <a:avLst/>
          </a:prstGeom>
          <a:solidFill>
            <a:srgbClr val="FFFFFF"/>
          </a:solidFill>
          <a:ln/>
        </p:spPr>
      </p:sp>
      <p:sp>
        <p:nvSpPr>
          <p:cNvPr id="20" name="Text 18"/>
          <p:cNvSpPr/>
          <p:nvPr/>
        </p:nvSpPr>
        <p:spPr>
          <a:xfrm>
            <a:off x="3291840" y="228600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1" name="Shape 19"/>
          <p:cNvSpPr/>
          <p:nvPr/>
        </p:nvSpPr>
        <p:spPr>
          <a:xfrm>
            <a:off x="5394960" y="2286000"/>
            <a:ext cx="6336792" cy="420624"/>
          </a:xfrm>
          <a:prstGeom prst="rect">
            <a:avLst/>
          </a:prstGeom>
          <a:solidFill>
            <a:srgbClr val="FFFFFF"/>
          </a:solidFill>
          <a:ln/>
        </p:spPr>
      </p:sp>
      <p:sp>
        <p:nvSpPr>
          <p:cNvPr id="22" name="Text 20"/>
          <p:cNvSpPr/>
          <p:nvPr/>
        </p:nvSpPr>
        <p:spPr>
          <a:xfrm>
            <a:off x="5394960" y="228600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Largest builder in Maryland; routine acquirer of finished / entitled lots</a:t>
            </a:r>
            <a:endParaRPr lang="en-US" sz="900" dirty="0"/>
          </a:p>
        </p:txBody>
      </p:sp>
      <p:sp>
        <p:nvSpPr>
          <p:cNvPr id="23" name="Shape 21"/>
          <p:cNvSpPr/>
          <p:nvPr/>
        </p:nvSpPr>
        <p:spPr>
          <a:xfrm>
            <a:off x="457200" y="2706624"/>
            <a:ext cx="2834640" cy="420624"/>
          </a:xfrm>
          <a:prstGeom prst="rect">
            <a:avLst/>
          </a:prstGeom>
          <a:solidFill>
            <a:srgbClr val="F4F2ED"/>
          </a:solidFill>
          <a:ln/>
        </p:spPr>
      </p:sp>
      <p:sp>
        <p:nvSpPr>
          <p:cNvPr id="24" name="Text 22"/>
          <p:cNvSpPr/>
          <p:nvPr/>
        </p:nvSpPr>
        <p:spPr>
          <a:xfrm>
            <a:off x="457200" y="270662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D.R. Horton</a:t>
            </a:r>
            <a:endParaRPr lang="en-US" sz="1000" dirty="0"/>
          </a:p>
        </p:txBody>
      </p:sp>
      <p:sp>
        <p:nvSpPr>
          <p:cNvPr id="25" name="Shape 23"/>
          <p:cNvSpPr/>
          <p:nvPr/>
        </p:nvSpPr>
        <p:spPr>
          <a:xfrm>
            <a:off x="3291840" y="2706624"/>
            <a:ext cx="2103120" cy="420624"/>
          </a:xfrm>
          <a:prstGeom prst="rect">
            <a:avLst/>
          </a:prstGeom>
          <a:solidFill>
            <a:srgbClr val="F4F2ED"/>
          </a:solidFill>
          <a:ln/>
        </p:spPr>
      </p:sp>
      <p:sp>
        <p:nvSpPr>
          <p:cNvPr id="26" name="Text 24"/>
          <p:cNvSpPr/>
          <p:nvPr/>
        </p:nvSpPr>
        <p:spPr>
          <a:xfrm>
            <a:off x="3291840" y="270662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7" name="Shape 25"/>
          <p:cNvSpPr/>
          <p:nvPr/>
        </p:nvSpPr>
        <p:spPr>
          <a:xfrm>
            <a:off x="5394960" y="2706624"/>
            <a:ext cx="6336792" cy="420624"/>
          </a:xfrm>
          <a:prstGeom prst="rect">
            <a:avLst/>
          </a:prstGeom>
          <a:solidFill>
            <a:srgbClr val="F4F2ED"/>
          </a:solidFill>
          <a:ln/>
        </p:spPr>
      </p:sp>
      <p:sp>
        <p:nvSpPr>
          <p:cNvPr id="28" name="Text 26"/>
          <p:cNvSpPr/>
          <p:nvPr/>
        </p:nvSpPr>
        <p:spPr>
          <a:xfrm>
            <a:off x="5394960" y="270662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#1 U.S. homebuilder; active Maryland operations</a:t>
            </a:r>
            <a:endParaRPr lang="en-US" sz="900" dirty="0"/>
          </a:p>
        </p:txBody>
      </p:sp>
      <p:sp>
        <p:nvSpPr>
          <p:cNvPr id="29" name="Shape 27"/>
          <p:cNvSpPr/>
          <p:nvPr/>
        </p:nvSpPr>
        <p:spPr>
          <a:xfrm>
            <a:off x="457200" y="3127248"/>
            <a:ext cx="2834640" cy="420624"/>
          </a:xfrm>
          <a:prstGeom prst="rect">
            <a:avLst/>
          </a:prstGeom>
          <a:solidFill>
            <a:srgbClr val="FFFFFF"/>
          </a:solidFill>
          <a:ln/>
        </p:spPr>
      </p:sp>
      <p:sp>
        <p:nvSpPr>
          <p:cNvPr id="30" name="Text 28"/>
          <p:cNvSpPr/>
          <p:nvPr/>
        </p:nvSpPr>
        <p:spPr>
          <a:xfrm>
            <a:off x="457200" y="3127248"/>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Lennar</a:t>
            </a:r>
            <a:endParaRPr lang="en-US" sz="1000" dirty="0"/>
          </a:p>
        </p:txBody>
      </p:sp>
      <p:sp>
        <p:nvSpPr>
          <p:cNvPr id="31" name="Shape 29"/>
          <p:cNvSpPr/>
          <p:nvPr/>
        </p:nvSpPr>
        <p:spPr>
          <a:xfrm>
            <a:off x="3291840" y="3127248"/>
            <a:ext cx="2103120" cy="420624"/>
          </a:xfrm>
          <a:prstGeom prst="rect">
            <a:avLst/>
          </a:prstGeom>
          <a:solidFill>
            <a:srgbClr val="FFFFFF"/>
          </a:solidFill>
          <a:ln/>
        </p:spPr>
      </p:sp>
      <p:sp>
        <p:nvSpPr>
          <p:cNvPr id="32" name="Text 30"/>
          <p:cNvSpPr/>
          <p:nvPr/>
        </p:nvSpPr>
        <p:spPr>
          <a:xfrm>
            <a:off x="3291840" y="3127248"/>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33" name="Shape 31"/>
          <p:cNvSpPr/>
          <p:nvPr/>
        </p:nvSpPr>
        <p:spPr>
          <a:xfrm>
            <a:off x="5394960" y="3127248"/>
            <a:ext cx="6336792" cy="420624"/>
          </a:xfrm>
          <a:prstGeom prst="rect">
            <a:avLst/>
          </a:prstGeom>
          <a:solidFill>
            <a:srgbClr val="FFFFFF"/>
          </a:solidFill>
          <a:ln/>
        </p:spPr>
      </p:sp>
      <p:sp>
        <p:nvSpPr>
          <p:cNvPr id="34" name="Text 32"/>
          <p:cNvSpPr/>
          <p:nvPr/>
        </p:nvSpPr>
        <p:spPr>
          <a:xfrm>
            <a:off x="5394960" y="3127248"/>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Top-3 U.S. builder; Maryland division</a:t>
            </a:r>
            <a:endParaRPr lang="en-US" sz="900" dirty="0"/>
          </a:p>
        </p:txBody>
      </p:sp>
      <p:sp>
        <p:nvSpPr>
          <p:cNvPr id="35" name="Shape 33"/>
          <p:cNvSpPr/>
          <p:nvPr/>
        </p:nvSpPr>
        <p:spPr>
          <a:xfrm>
            <a:off x="457200" y="3547872"/>
            <a:ext cx="2834640" cy="420624"/>
          </a:xfrm>
          <a:prstGeom prst="rect">
            <a:avLst/>
          </a:prstGeom>
          <a:solidFill>
            <a:srgbClr val="F4F2ED"/>
          </a:solidFill>
          <a:ln/>
        </p:spPr>
      </p:sp>
      <p:sp>
        <p:nvSpPr>
          <p:cNvPr id="36" name="Text 34"/>
          <p:cNvSpPr/>
          <p:nvPr/>
        </p:nvSpPr>
        <p:spPr>
          <a:xfrm>
            <a:off x="457200" y="3547872"/>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Lacrosse Homes</a:t>
            </a:r>
            <a:endParaRPr lang="en-US" sz="1000" dirty="0"/>
          </a:p>
        </p:txBody>
      </p:sp>
      <p:sp>
        <p:nvSpPr>
          <p:cNvPr id="37" name="Shape 35"/>
          <p:cNvSpPr/>
          <p:nvPr/>
        </p:nvSpPr>
        <p:spPr>
          <a:xfrm>
            <a:off x="3291840" y="3547872"/>
            <a:ext cx="2103120" cy="420624"/>
          </a:xfrm>
          <a:prstGeom prst="rect">
            <a:avLst/>
          </a:prstGeom>
          <a:solidFill>
            <a:srgbClr val="F4F2ED"/>
          </a:solidFill>
          <a:ln/>
        </p:spPr>
      </p:sp>
      <p:sp>
        <p:nvSpPr>
          <p:cNvPr id="38" name="Text 36"/>
          <p:cNvSpPr/>
          <p:nvPr/>
        </p:nvSpPr>
        <p:spPr>
          <a:xfrm>
            <a:off x="3291840" y="3547872"/>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39" name="Shape 37"/>
          <p:cNvSpPr/>
          <p:nvPr/>
        </p:nvSpPr>
        <p:spPr>
          <a:xfrm>
            <a:off x="5394960" y="3547872"/>
            <a:ext cx="6336792" cy="420624"/>
          </a:xfrm>
          <a:prstGeom prst="rect">
            <a:avLst/>
          </a:prstGeom>
          <a:solidFill>
            <a:srgbClr val="F4F2ED"/>
          </a:solidFill>
          <a:ln/>
        </p:spPr>
      </p:sp>
      <p:sp>
        <p:nvSpPr>
          <p:cNvPr id="40" name="Text 38"/>
          <p:cNvSpPr/>
          <p:nvPr/>
        </p:nvSpPr>
        <p:spPr>
          <a:xfrm>
            <a:off x="5394960" y="3547872"/>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Centreville, Queen Anne's Co. — Meadow Creek, Kent Island Estates</a:t>
            </a:r>
            <a:endParaRPr lang="en-US" sz="900" dirty="0"/>
          </a:p>
        </p:txBody>
      </p:sp>
      <p:sp>
        <p:nvSpPr>
          <p:cNvPr id="41" name="Shape 39"/>
          <p:cNvSpPr/>
          <p:nvPr/>
        </p:nvSpPr>
        <p:spPr>
          <a:xfrm>
            <a:off x="457200" y="3968496"/>
            <a:ext cx="2834640" cy="420624"/>
          </a:xfrm>
          <a:prstGeom prst="rect">
            <a:avLst/>
          </a:prstGeom>
          <a:solidFill>
            <a:srgbClr val="FFFFFF"/>
          </a:solidFill>
          <a:ln/>
        </p:spPr>
      </p:sp>
      <p:sp>
        <p:nvSpPr>
          <p:cNvPr id="42" name="Text 40"/>
          <p:cNvSpPr/>
          <p:nvPr/>
        </p:nvSpPr>
        <p:spPr>
          <a:xfrm>
            <a:off x="457200" y="3968496"/>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Caruso Homes</a:t>
            </a:r>
            <a:endParaRPr lang="en-US" sz="1000" dirty="0"/>
          </a:p>
        </p:txBody>
      </p:sp>
      <p:sp>
        <p:nvSpPr>
          <p:cNvPr id="43" name="Shape 41"/>
          <p:cNvSpPr/>
          <p:nvPr/>
        </p:nvSpPr>
        <p:spPr>
          <a:xfrm>
            <a:off x="3291840" y="3968496"/>
            <a:ext cx="2103120" cy="420624"/>
          </a:xfrm>
          <a:prstGeom prst="rect">
            <a:avLst/>
          </a:prstGeom>
          <a:solidFill>
            <a:srgbClr val="FFFFFF"/>
          </a:solidFill>
          <a:ln/>
        </p:spPr>
      </p:sp>
      <p:sp>
        <p:nvSpPr>
          <p:cNvPr id="44" name="Text 42"/>
          <p:cNvSpPr/>
          <p:nvPr/>
        </p:nvSpPr>
        <p:spPr>
          <a:xfrm>
            <a:off x="3291840" y="3968496"/>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45" name="Shape 43"/>
          <p:cNvSpPr/>
          <p:nvPr/>
        </p:nvSpPr>
        <p:spPr>
          <a:xfrm>
            <a:off x="5394960" y="3968496"/>
            <a:ext cx="6336792" cy="420624"/>
          </a:xfrm>
          <a:prstGeom prst="rect">
            <a:avLst/>
          </a:prstGeom>
          <a:solidFill>
            <a:srgbClr val="FFFFFF"/>
          </a:solidFill>
          <a:ln/>
        </p:spPr>
      </p:sp>
      <p:sp>
        <p:nvSpPr>
          <p:cNvPr id="46" name="Text 44"/>
          <p:cNvSpPr/>
          <p:nvPr/>
        </p:nvSpPr>
        <p:spPr>
          <a:xfrm>
            <a:off x="5394960" y="3968496"/>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communities + build-on-your-lot across Maryland</a:t>
            </a:r>
            <a:endParaRPr lang="en-US" sz="900" dirty="0"/>
          </a:p>
        </p:txBody>
      </p:sp>
      <p:sp>
        <p:nvSpPr>
          <p:cNvPr id="47" name="Shape 45"/>
          <p:cNvSpPr/>
          <p:nvPr/>
        </p:nvSpPr>
        <p:spPr>
          <a:xfrm>
            <a:off x="457200" y="4389120"/>
            <a:ext cx="2834640" cy="420624"/>
          </a:xfrm>
          <a:prstGeom prst="rect">
            <a:avLst/>
          </a:prstGeom>
          <a:solidFill>
            <a:srgbClr val="F4F2ED"/>
          </a:solidFill>
          <a:ln/>
        </p:spPr>
      </p:sp>
      <p:sp>
        <p:nvSpPr>
          <p:cNvPr id="48" name="Text 46"/>
          <p:cNvSpPr/>
          <p:nvPr/>
        </p:nvSpPr>
        <p:spPr>
          <a:xfrm>
            <a:off x="457200" y="438912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Gemcraft Homes</a:t>
            </a:r>
            <a:endParaRPr lang="en-US" sz="1000" dirty="0"/>
          </a:p>
        </p:txBody>
      </p:sp>
      <p:sp>
        <p:nvSpPr>
          <p:cNvPr id="49" name="Shape 47"/>
          <p:cNvSpPr/>
          <p:nvPr/>
        </p:nvSpPr>
        <p:spPr>
          <a:xfrm>
            <a:off x="3291840" y="4389120"/>
            <a:ext cx="2103120" cy="420624"/>
          </a:xfrm>
          <a:prstGeom prst="rect">
            <a:avLst/>
          </a:prstGeom>
          <a:solidFill>
            <a:srgbClr val="F4F2ED"/>
          </a:solidFill>
          <a:ln/>
        </p:spPr>
      </p:sp>
      <p:sp>
        <p:nvSpPr>
          <p:cNvPr id="50" name="Text 48"/>
          <p:cNvSpPr/>
          <p:nvPr/>
        </p:nvSpPr>
        <p:spPr>
          <a:xfrm>
            <a:off x="3291840" y="438912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51" name="Shape 49"/>
          <p:cNvSpPr/>
          <p:nvPr/>
        </p:nvSpPr>
        <p:spPr>
          <a:xfrm>
            <a:off x="5394960" y="4389120"/>
            <a:ext cx="6336792" cy="420624"/>
          </a:xfrm>
          <a:prstGeom prst="rect">
            <a:avLst/>
          </a:prstGeom>
          <a:solidFill>
            <a:srgbClr val="F4F2ED"/>
          </a:solidFill>
          <a:ln/>
        </p:spPr>
      </p:sp>
      <p:sp>
        <p:nvSpPr>
          <p:cNvPr id="52" name="Text 50"/>
          <p:cNvSpPr/>
          <p:nvPr/>
        </p:nvSpPr>
        <p:spPr>
          <a:xfrm>
            <a:off x="5394960" y="438912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Mid-Atlantic production builder (MD · DE · VA · PA)</a:t>
            </a:r>
            <a:endParaRPr lang="en-US" sz="900" dirty="0"/>
          </a:p>
        </p:txBody>
      </p:sp>
      <p:sp>
        <p:nvSpPr>
          <p:cNvPr id="53" name="Shape 51"/>
          <p:cNvSpPr/>
          <p:nvPr/>
        </p:nvSpPr>
        <p:spPr>
          <a:xfrm>
            <a:off x="457200" y="4809744"/>
            <a:ext cx="2834640" cy="420624"/>
          </a:xfrm>
          <a:prstGeom prst="rect">
            <a:avLst/>
          </a:prstGeom>
          <a:solidFill>
            <a:srgbClr val="FFFFFF"/>
          </a:solidFill>
          <a:ln/>
        </p:spPr>
      </p:sp>
      <p:sp>
        <p:nvSpPr>
          <p:cNvPr id="54" name="Text 52"/>
          <p:cNvSpPr/>
          <p:nvPr/>
        </p:nvSpPr>
        <p:spPr>
          <a:xfrm>
            <a:off x="457200" y="480974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Bay to Beach · Baldwin Homes</a:t>
            </a:r>
            <a:endParaRPr lang="en-US" sz="1000" dirty="0"/>
          </a:p>
        </p:txBody>
      </p:sp>
      <p:sp>
        <p:nvSpPr>
          <p:cNvPr id="55" name="Shape 53"/>
          <p:cNvSpPr/>
          <p:nvPr/>
        </p:nvSpPr>
        <p:spPr>
          <a:xfrm>
            <a:off x="3291840" y="4809744"/>
            <a:ext cx="2103120" cy="420624"/>
          </a:xfrm>
          <a:prstGeom prst="rect">
            <a:avLst/>
          </a:prstGeom>
          <a:solidFill>
            <a:srgbClr val="FFFFFF"/>
          </a:solidFill>
          <a:ln/>
        </p:spPr>
      </p:sp>
      <p:sp>
        <p:nvSpPr>
          <p:cNvPr id="56" name="Text 54"/>
          <p:cNvSpPr/>
          <p:nvPr/>
        </p:nvSpPr>
        <p:spPr>
          <a:xfrm>
            <a:off x="3291840" y="480974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 · custom</a:t>
            </a:r>
            <a:endParaRPr lang="en-US" sz="900" dirty="0"/>
          </a:p>
        </p:txBody>
      </p:sp>
      <p:sp>
        <p:nvSpPr>
          <p:cNvPr id="57" name="Shape 55"/>
          <p:cNvSpPr/>
          <p:nvPr/>
        </p:nvSpPr>
        <p:spPr>
          <a:xfrm>
            <a:off x="5394960" y="4809744"/>
            <a:ext cx="6336792" cy="420624"/>
          </a:xfrm>
          <a:prstGeom prst="rect">
            <a:avLst/>
          </a:prstGeom>
          <a:solidFill>
            <a:srgbClr val="FFFFFF"/>
          </a:solidFill>
          <a:ln/>
        </p:spPr>
      </p:sp>
      <p:sp>
        <p:nvSpPr>
          <p:cNvPr id="58" name="Text 56"/>
          <p:cNvSpPr/>
          <p:nvPr/>
        </p:nvSpPr>
        <p:spPr>
          <a:xfrm>
            <a:off x="5394960" y="480974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custom / semi-custom builders</a:t>
            </a:r>
            <a:endParaRPr lang="en-US" sz="900" dirty="0"/>
          </a:p>
        </p:txBody>
      </p:sp>
      <p:sp>
        <p:nvSpPr>
          <p:cNvPr id="59" name="Shape 57"/>
          <p:cNvSpPr/>
          <p:nvPr/>
        </p:nvSpPr>
        <p:spPr>
          <a:xfrm>
            <a:off x="457200" y="5394960"/>
            <a:ext cx="11274552" cy="420624"/>
          </a:xfrm>
          <a:prstGeom prst="rect">
            <a:avLst/>
          </a:prstGeom>
          <a:solidFill>
            <a:srgbClr val="3A243A"/>
          </a:solidFill>
          <a:ln/>
        </p:spPr>
      </p:sp>
      <p:sp>
        <p:nvSpPr>
          <p:cNvPr id="60" name="Text 58"/>
          <p:cNvSpPr/>
          <p:nvPr/>
        </p:nvSpPr>
        <p:spPr>
          <a:xfrm>
            <a:off x="640080" y="539496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Multiple well-capitalized buyers = a liquid exit — phased lot takedowns or a bulk sale, marketed competitively.</a:t>
            </a:r>
            <a:endParaRPr lang="en-US" sz="1100" dirty="0"/>
          </a:p>
        </p:txBody>
      </p:sp>
      <p:sp>
        <p:nvSpPr>
          <p:cNvPr id="61" name="Text 59"/>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crosse Homes (Centreville, QAC)" history="1" highlightClick="0" endSnd="0">
                  <a:extLst>
                    <a:ext uri="{A12FA001-AC4F-418D-AE19-62706E023703}">
                      <ahyp:hlinkClr xmlns:ahyp="http://schemas.microsoft.com/office/drawing/2018/hyperlinkcolor" val="tx"/>
                    </a:ext>
                  </a:extLst>
                </a:hlinkClick>
              </a:rPr>
              <a:t>Lacrosse Homes (Centreville, QAC)</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Caruso Homes" history="1" highlightClick="0" endSnd="0">
                  <a:extLst>
                    <a:ext uri="{A12FA001-AC4F-418D-AE19-62706E023703}">
                      <ahyp:hlinkClr xmlns:ahyp="http://schemas.microsoft.com/office/drawing/2018/hyperlinkcolor" val="tx"/>
                    </a:ext>
                  </a:extLst>
                </a:hlinkClick>
              </a:rPr>
              <a:t>Caruso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Gemcraft Homes" history="1" highlightClick="0" endSnd="0">
                  <a:extLst>
                    <a:ext uri="{A12FA001-AC4F-418D-AE19-62706E023703}">
                      <ahyp:hlinkClr xmlns:ahyp="http://schemas.microsoft.com/office/drawing/2018/hyperlinkcolor" val="tx"/>
                    </a:ext>
                  </a:extLst>
                </a:hlinkClick>
              </a:rPr>
              <a:t>Gemcraft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Zillow — MD new communities" history="1" highlightClick="0" endSnd="0">
                  <a:extLst>
                    <a:ext uri="{A12FA001-AC4F-418D-AE19-62706E023703}">
                      <ahyp:hlinkClr xmlns:ahyp="http://schemas.microsoft.com/office/drawing/2018/hyperlinkcolor" val="tx"/>
                    </a:ext>
                  </a:extLst>
                </a:hlinkClick>
              </a:rPr>
              <a:t>Zillow — MD new communities</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15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HOSPITALITY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add a hotel and restaurants.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VIVÂMEE-led resort; a 120-key resort &amp; spa is already designed (FILLAT+ Architecture). JAL leads capital formation. Held for income it yields ~8% / ~12% IRR; to clear a mid-to-high-20s return we build to core, recapitalizing at stabilization (~Yr 4).</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DEVELOPMENT COST</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(100 keys × $325K)</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$32.5M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Restaurants (16K SF × $550)</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$8.8M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 hospitality parcel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$2.0M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 FF&amp;E / pre-opening</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$3.7M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DEVELOPMENT COST</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$47.0M</a:t>
            </a:r>
            <a:endParaRPr lang="en-US" sz="950" dirty="0"/>
          </a:p>
        </p:txBody>
      </p:sp>
      <p:sp>
        <p:nvSpPr>
          <p:cNvPr id="35" name="Shape 33"/>
          <p:cNvSpPr/>
          <p:nvPr/>
        </p:nvSpPr>
        <p:spPr>
          <a:xfrm>
            <a:off x="5577840" y="1828800"/>
            <a:ext cx="1783080" cy="365760"/>
          </a:xfrm>
          <a:prstGeom prst="rect">
            <a:avLst/>
          </a:prstGeom>
          <a:solidFill>
            <a:srgbClr val="0B163C"/>
          </a:solidFill>
          <a:ln/>
        </p:spPr>
      </p:sp>
      <p:sp>
        <p:nvSpPr>
          <p:cNvPr id="36" name="Text 34"/>
          <p:cNvSpPr/>
          <p:nvPr/>
        </p:nvSpPr>
        <p:spPr>
          <a:xfrm>
            <a:off x="5577840" y="1828800"/>
            <a:ext cx="1783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STABILIZED NOI</a:t>
            </a:r>
            <a:endParaRPr lang="en-US" sz="900" dirty="0"/>
          </a:p>
        </p:txBody>
      </p:sp>
      <p:sp>
        <p:nvSpPr>
          <p:cNvPr id="37" name="Shape 35"/>
          <p:cNvSpPr/>
          <p:nvPr/>
        </p:nvSpPr>
        <p:spPr>
          <a:xfrm>
            <a:off x="7360920" y="1828800"/>
            <a:ext cx="594360" cy="365760"/>
          </a:xfrm>
          <a:prstGeom prst="rect">
            <a:avLst/>
          </a:prstGeom>
          <a:solidFill>
            <a:srgbClr val="0B163C"/>
          </a:solidFill>
          <a:ln/>
        </p:spPr>
      </p:sp>
      <p:sp>
        <p:nvSpPr>
          <p:cNvPr id="38" name="Text 36"/>
          <p:cNvSpPr/>
          <p:nvPr/>
        </p:nvSpPr>
        <p:spPr>
          <a:xfrm>
            <a:off x="7360920" y="1828800"/>
            <a:ext cx="594360" cy="365760"/>
          </a:xfrm>
          <a:prstGeom prst="rect">
            <a:avLst/>
          </a:prstGeom>
          <a:noFill/>
          <a:ln/>
        </p:spPr>
        <p:txBody>
          <a:bodyPr wrap="square" lIns="25400" tIns="76200" rIns="76200" bIns="25400" rtlCol="0" anchor="ctr"/>
          <a:lstStyle/>
          <a:p>
            <a:pPr algn="r" indent="0" marL="0">
              <a:buNone/>
            </a:pPr>
            <a:endParaRPr lang="en-US" sz="900" dirty="0"/>
          </a:p>
        </p:txBody>
      </p:sp>
      <p:sp>
        <p:nvSpPr>
          <p:cNvPr id="39" name="Shape 37"/>
          <p:cNvSpPr/>
          <p:nvPr/>
        </p:nvSpPr>
        <p:spPr>
          <a:xfrm>
            <a:off x="7955280" y="1828800"/>
            <a:ext cx="457200" cy="365760"/>
          </a:xfrm>
          <a:prstGeom prst="rect">
            <a:avLst/>
          </a:prstGeom>
          <a:solidFill>
            <a:srgbClr val="0B163C"/>
          </a:solidFill>
          <a:ln/>
        </p:spPr>
      </p:sp>
      <p:sp>
        <p:nvSpPr>
          <p:cNvPr id="40" name="Text 38"/>
          <p:cNvSpPr/>
          <p:nvPr/>
        </p:nvSpPr>
        <p:spPr>
          <a:xfrm>
            <a:off x="7955280" y="1828800"/>
            <a:ext cx="45720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YoC</a:t>
            </a:r>
            <a:endParaRPr lang="en-US" sz="900" dirty="0"/>
          </a:p>
        </p:txBody>
      </p:sp>
      <p:sp>
        <p:nvSpPr>
          <p:cNvPr id="41" name="Shape 39"/>
          <p:cNvSpPr/>
          <p:nvPr/>
        </p:nvSpPr>
        <p:spPr>
          <a:xfrm>
            <a:off x="5577840" y="2194560"/>
            <a:ext cx="1783080" cy="438912"/>
          </a:xfrm>
          <a:prstGeom prst="rect">
            <a:avLst/>
          </a:prstGeom>
          <a:solidFill>
            <a:srgbClr val="FFFFFF"/>
          </a:solidFill>
          <a:ln/>
        </p:spPr>
      </p:sp>
      <p:sp>
        <p:nvSpPr>
          <p:cNvPr id="42" name="Text 40"/>
          <p:cNvSpPr/>
          <p:nvPr/>
        </p:nvSpPr>
        <p:spPr>
          <a:xfrm>
            <a:off x="5577840" y="2194560"/>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Hotel NOI</a:t>
            </a:r>
            <a:endParaRPr lang="en-US" sz="950" dirty="0"/>
          </a:p>
        </p:txBody>
      </p:sp>
      <p:sp>
        <p:nvSpPr>
          <p:cNvPr id="43" name="Shape 41"/>
          <p:cNvSpPr/>
          <p:nvPr/>
        </p:nvSpPr>
        <p:spPr>
          <a:xfrm>
            <a:off x="7360920" y="2194560"/>
            <a:ext cx="594360" cy="438912"/>
          </a:xfrm>
          <a:prstGeom prst="rect">
            <a:avLst/>
          </a:prstGeom>
          <a:solidFill>
            <a:srgbClr val="FFFFFF"/>
          </a:solidFill>
          <a:ln/>
        </p:spPr>
      </p:sp>
      <p:sp>
        <p:nvSpPr>
          <p:cNvPr id="44" name="Text 42"/>
          <p:cNvSpPr/>
          <p:nvPr/>
        </p:nvSpPr>
        <p:spPr>
          <a:xfrm>
            <a:off x="7360920" y="2194560"/>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$3.4M</a:t>
            </a:r>
            <a:endParaRPr lang="en-US" sz="900" dirty="0"/>
          </a:p>
        </p:txBody>
      </p:sp>
      <p:sp>
        <p:nvSpPr>
          <p:cNvPr id="45" name="Shape 43"/>
          <p:cNvSpPr/>
          <p:nvPr/>
        </p:nvSpPr>
        <p:spPr>
          <a:xfrm>
            <a:off x="7955280" y="2194560"/>
            <a:ext cx="457200" cy="438912"/>
          </a:xfrm>
          <a:prstGeom prst="rect">
            <a:avLst/>
          </a:prstGeom>
          <a:solidFill>
            <a:srgbClr val="FFFFFF"/>
          </a:solidFill>
          <a:ln/>
        </p:spPr>
      </p:sp>
      <p:sp>
        <p:nvSpPr>
          <p:cNvPr id="46" name="Text 44"/>
          <p:cNvSpPr/>
          <p:nvPr/>
        </p:nvSpPr>
        <p:spPr>
          <a:xfrm>
            <a:off x="7955280" y="2194560"/>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a:t>
            </a:r>
            <a:endParaRPr lang="en-US" sz="800" dirty="0"/>
          </a:p>
        </p:txBody>
      </p:sp>
      <p:sp>
        <p:nvSpPr>
          <p:cNvPr id="47" name="Shape 45"/>
          <p:cNvSpPr/>
          <p:nvPr/>
        </p:nvSpPr>
        <p:spPr>
          <a:xfrm>
            <a:off x="5577840" y="2633472"/>
            <a:ext cx="1783080" cy="438912"/>
          </a:xfrm>
          <a:prstGeom prst="rect">
            <a:avLst/>
          </a:prstGeom>
          <a:solidFill>
            <a:srgbClr val="F4F2ED"/>
          </a:solidFill>
          <a:ln/>
        </p:spPr>
      </p:sp>
      <p:sp>
        <p:nvSpPr>
          <p:cNvPr id="48" name="Text 46"/>
          <p:cNvSpPr/>
          <p:nvPr/>
        </p:nvSpPr>
        <p:spPr>
          <a:xfrm>
            <a:off x="5577840" y="2633472"/>
            <a:ext cx="17830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Restaurant NOI</a:t>
            </a:r>
            <a:endParaRPr lang="en-US" sz="950" dirty="0"/>
          </a:p>
        </p:txBody>
      </p:sp>
      <p:sp>
        <p:nvSpPr>
          <p:cNvPr id="49" name="Shape 47"/>
          <p:cNvSpPr/>
          <p:nvPr/>
        </p:nvSpPr>
        <p:spPr>
          <a:xfrm>
            <a:off x="7360920" y="2633472"/>
            <a:ext cx="594360" cy="438912"/>
          </a:xfrm>
          <a:prstGeom prst="rect">
            <a:avLst/>
          </a:prstGeom>
          <a:solidFill>
            <a:srgbClr val="F4F2ED"/>
          </a:solidFill>
          <a:ln/>
        </p:spPr>
      </p:sp>
      <p:sp>
        <p:nvSpPr>
          <p:cNvPr id="50" name="Text 48"/>
          <p:cNvSpPr/>
          <p:nvPr/>
        </p:nvSpPr>
        <p:spPr>
          <a:xfrm>
            <a:off x="7360920" y="2633472"/>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$1.2M</a:t>
            </a:r>
            <a:endParaRPr lang="en-US" sz="900" dirty="0"/>
          </a:p>
        </p:txBody>
      </p:sp>
      <p:sp>
        <p:nvSpPr>
          <p:cNvPr id="51" name="Shape 49"/>
          <p:cNvSpPr/>
          <p:nvPr/>
        </p:nvSpPr>
        <p:spPr>
          <a:xfrm>
            <a:off x="7955280" y="2633472"/>
            <a:ext cx="457200" cy="438912"/>
          </a:xfrm>
          <a:prstGeom prst="rect">
            <a:avLst/>
          </a:prstGeom>
          <a:solidFill>
            <a:srgbClr val="F4F2ED"/>
          </a:solidFill>
          <a:ln/>
        </p:spPr>
      </p:sp>
      <p:sp>
        <p:nvSpPr>
          <p:cNvPr id="52" name="Text 50"/>
          <p:cNvSpPr/>
          <p:nvPr/>
        </p:nvSpPr>
        <p:spPr>
          <a:xfrm>
            <a:off x="7955280" y="2633472"/>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a:t>
            </a:r>
            <a:endParaRPr lang="en-US" sz="800" dirty="0"/>
          </a:p>
        </p:txBody>
      </p:sp>
      <p:sp>
        <p:nvSpPr>
          <p:cNvPr id="53" name="Shape 51"/>
          <p:cNvSpPr/>
          <p:nvPr/>
        </p:nvSpPr>
        <p:spPr>
          <a:xfrm>
            <a:off x="5577840" y="3072384"/>
            <a:ext cx="1783080" cy="438912"/>
          </a:xfrm>
          <a:prstGeom prst="rect">
            <a:avLst/>
          </a:prstGeom>
          <a:solidFill>
            <a:srgbClr val="FFFFFF"/>
          </a:solidFill>
          <a:ln/>
        </p:spPr>
      </p:sp>
      <p:sp>
        <p:nvSpPr>
          <p:cNvPr id="54" name="Text 52"/>
          <p:cNvSpPr/>
          <p:nvPr/>
        </p:nvSpPr>
        <p:spPr>
          <a:xfrm>
            <a:off x="5577840" y="3072384"/>
            <a:ext cx="17830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STABILIZED NOI</a:t>
            </a:r>
            <a:endParaRPr lang="en-US" sz="950" dirty="0"/>
          </a:p>
        </p:txBody>
      </p:sp>
      <p:sp>
        <p:nvSpPr>
          <p:cNvPr id="55" name="Shape 53"/>
          <p:cNvSpPr/>
          <p:nvPr/>
        </p:nvSpPr>
        <p:spPr>
          <a:xfrm>
            <a:off x="7360920" y="3072384"/>
            <a:ext cx="594360" cy="438912"/>
          </a:xfrm>
          <a:prstGeom prst="rect">
            <a:avLst/>
          </a:prstGeom>
          <a:solidFill>
            <a:srgbClr val="FFFFFF"/>
          </a:solidFill>
          <a:ln/>
        </p:spPr>
      </p:sp>
      <p:sp>
        <p:nvSpPr>
          <p:cNvPr id="56" name="Text 54"/>
          <p:cNvSpPr/>
          <p:nvPr/>
        </p:nvSpPr>
        <p:spPr>
          <a:xfrm>
            <a:off x="7360920" y="3072384"/>
            <a:ext cx="594360" cy="438912"/>
          </a:xfrm>
          <a:prstGeom prst="rect">
            <a:avLst/>
          </a:prstGeom>
          <a:noFill/>
          <a:ln/>
        </p:spPr>
        <p:txBody>
          <a:bodyPr wrap="square" lIns="25400" tIns="76200" rIns="76200" bIns="25400" rtlCol="0" anchor="ctr"/>
          <a:lstStyle/>
          <a:p>
            <a:pPr algn="r" indent="0" marL="0">
              <a:buNone/>
            </a:pPr>
            <a:r>
              <a:rPr lang="en-US" sz="900" b="1" dirty="0">
                <a:solidFill>
                  <a:srgbClr val="3A243A"/>
                </a:solidFill>
                <a:latin typeface="Montserrat" pitchFamily="34" charset="0"/>
                <a:ea typeface="Montserrat" pitchFamily="34" charset="-122"/>
                <a:cs typeface="Montserrat" pitchFamily="34" charset="-120"/>
              </a:rPr>
              <a:t>$4.7M</a:t>
            </a:r>
            <a:endParaRPr lang="en-US" sz="900" dirty="0"/>
          </a:p>
        </p:txBody>
      </p:sp>
      <p:sp>
        <p:nvSpPr>
          <p:cNvPr id="57" name="Shape 55"/>
          <p:cNvSpPr/>
          <p:nvPr/>
        </p:nvSpPr>
        <p:spPr>
          <a:xfrm>
            <a:off x="7955280" y="3072384"/>
            <a:ext cx="457200" cy="438912"/>
          </a:xfrm>
          <a:prstGeom prst="rect">
            <a:avLst/>
          </a:prstGeom>
          <a:solidFill>
            <a:srgbClr val="FFFFFF"/>
          </a:solidFill>
          <a:ln/>
        </p:spPr>
      </p:sp>
      <p:sp>
        <p:nvSpPr>
          <p:cNvPr id="58" name="Text 56"/>
          <p:cNvSpPr/>
          <p:nvPr/>
        </p:nvSpPr>
        <p:spPr>
          <a:xfrm>
            <a:off x="7955280" y="3072384"/>
            <a:ext cx="457200" cy="438912"/>
          </a:xfrm>
          <a:prstGeom prst="rect">
            <a:avLst/>
          </a:prstGeom>
          <a:noFill/>
          <a:ln/>
        </p:spPr>
        <p:txBody>
          <a:bodyPr wrap="square" lIns="25400" tIns="76200" rIns="76200" bIns="2540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9.9%</a:t>
            </a:r>
            <a:endParaRPr lang="en-US" sz="800" dirty="0"/>
          </a:p>
        </p:txBody>
      </p:sp>
      <p:sp>
        <p:nvSpPr>
          <p:cNvPr id="59" name="Shape 57"/>
          <p:cNvSpPr/>
          <p:nvPr/>
        </p:nvSpPr>
        <p:spPr>
          <a:xfrm>
            <a:off x="5577840" y="3584448"/>
            <a:ext cx="2834640" cy="1682496"/>
          </a:xfrm>
          <a:prstGeom prst="rect">
            <a:avLst/>
          </a:prstGeom>
          <a:solidFill>
            <a:srgbClr val="0B163C"/>
          </a:solidFill>
          <a:ln/>
        </p:spPr>
      </p:sp>
      <p:sp>
        <p:nvSpPr>
          <p:cNvPr id="60" name="Shape 58"/>
          <p:cNvSpPr/>
          <p:nvPr/>
        </p:nvSpPr>
        <p:spPr>
          <a:xfrm>
            <a:off x="5577840" y="3584448"/>
            <a:ext cx="91440" cy="1682496"/>
          </a:xfrm>
          <a:prstGeom prst="rect">
            <a:avLst/>
          </a:prstGeom>
          <a:solidFill>
            <a:srgbClr val="3A243A"/>
          </a:solidFill>
          <a:ln/>
        </p:spPr>
      </p:sp>
      <p:sp>
        <p:nvSpPr>
          <p:cNvPr id="61" name="Text 59"/>
          <p:cNvSpPr/>
          <p:nvPr/>
        </p:nvSpPr>
        <p:spPr>
          <a:xfrm>
            <a:off x="5779008" y="3675888"/>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METRICS</a:t>
            </a:r>
            <a:endParaRPr lang="en-US" sz="850" dirty="0"/>
          </a:p>
        </p:txBody>
      </p:sp>
      <p:sp>
        <p:nvSpPr>
          <p:cNvPr id="62" name="Text 60"/>
          <p:cNvSpPr/>
          <p:nvPr/>
        </p:nvSpPr>
        <p:spPr>
          <a:xfrm>
            <a:off x="5779008" y="3931920"/>
            <a:ext cx="2542032" cy="128016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Build-to-core: recap / sell ~Yr 4  ·  7.5% exit cap → ~$62M  ·  65% LTC  ·  premium NOI (VIVÂMEE)  ·  ~2.4-pt development spread  ·  land contributed</a:t>
            </a:r>
            <a:endParaRPr lang="en-US" sz="850" dirty="0"/>
          </a:p>
        </p:txBody>
      </p:sp>
      <p:sp>
        <p:nvSpPr>
          <p:cNvPr id="63" name="Shape 61"/>
          <p:cNvSpPr/>
          <p:nvPr/>
        </p:nvSpPr>
        <p:spPr>
          <a:xfrm>
            <a:off x="8503920" y="1828800"/>
            <a:ext cx="3227832" cy="3438144"/>
          </a:xfrm>
          <a:prstGeom prst="rect">
            <a:avLst/>
          </a:prstGeom>
          <a:solidFill>
            <a:srgbClr val="0B163C"/>
          </a:solidFill>
          <a:ln/>
        </p:spPr>
      </p:sp>
      <p:sp>
        <p:nvSpPr>
          <p:cNvPr id="64" name="Shape 62"/>
          <p:cNvSpPr/>
          <p:nvPr/>
        </p:nvSpPr>
        <p:spPr>
          <a:xfrm>
            <a:off x="8503920" y="1828800"/>
            <a:ext cx="109728" cy="3438144"/>
          </a:xfrm>
          <a:prstGeom prst="rect">
            <a:avLst/>
          </a:prstGeom>
          <a:solidFill>
            <a:srgbClr val="3A243A"/>
          </a:solidFill>
          <a:ln/>
        </p:spPr>
      </p:sp>
      <p:sp>
        <p:nvSpPr>
          <p:cNvPr id="65" name="Text 63"/>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66" name="Text 64"/>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$47.0M</a:t>
            </a:r>
            <a:endParaRPr lang="en-US" sz="1700" dirty="0"/>
          </a:p>
        </p:txBody>
      </p:sp>
      <p:sp>
        <p:nvSpPr>
          <p:cNvPr id="67" name="Text 65"/>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Total project cost</a:t>
            </a:r>
            <a:endParaRPr lang="en-US" sz="850" dirty="0"/>
          </a:p>
        </p:txBody>
      </p:sp>
      <p:sp>
        <p:nvSpPr>
          <p:cNvPr id="68" name="Text 66"/>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$4.7M</a:t>
            </a:r>
            <a:endParaRPr lang="en-US" sz="1700" dirty="0"/>
          </a:p>
        </p:txBody>
      </p:sp>
      <p:sp>
        <p:nvSpPr>
          <p:cNvPr id="69" name="Text 67"/>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Stabilized NOI (premium)</a:t>
            </a:r>
            <a:endParaRPr lang="en-US" sz="850" dirty="0"/>
          </a:p>
        </p:txBody>
      </p:sp>
      <p:sp>
        <p:nvSpPr>
          <p:cNvPr id="70" name="Text 68"/>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9.9%</a:t>
            </a:r>
            <a:endParaRPr lang="en-US" sz="1700" dirty="0"/>
          </a:p>
        </p:txBody>
      </p:sp>
      <p:sp>
        <p:nvSpPr>
          <p:cNvPr id="71" name="Text 69"/>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Yield on cost</a:t>
            </a:r>
            <a:endParaRPr lang="en-US" sz="850" dirty="0"/>
          </a:p>
        </p:txBody>
      </p:sp>
      <p:sp>
        <p:nvSpPr>
          <p:cNvPr id="72" name="Text 70"/>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3" name="Text 71"/>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 (~4-yr)</a:t>
            </a:r>
            <a:endParaRPr lang="en-US" sz="850" dirty="0"/>
          </a:p>
        </p:txBody>
      </p:sp>
      <p:sp>
        <p:nvSpPr>
          <p:cNvPr id="74" name="Text 72"/>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~28%</a:t>
            </a:r>
            <a:endParaRPr lang="en-US" sz="1700" dirty="0"/>
          </a:p>
        </p:txBody>
      </p:sp>
      <p:sp>
        <p:nvSpPr>
          <p:cNvPr id="75" name="Text 73"/>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Build-to-core IRR</a:t>
            </a:r>
            <a:endParaRPr lang="en-US" sz="850" dirty="0"/>
          </a:p>
        </p:txBody>
      </p:sp>
      <p:sp>
        <p:nvSpPr>
          <p:cNvPr id="76" name="Shape 74"/>
          <p:cNvSpPr/>
          <p:nvPr/>
        </p:nvSpPr>
        <p:spPr>
          <a:xfrm>
            <a:off x="457200" y="5440680"/>
            <a:ext cx="11274552" cy="411480"/>
          </a:xfrm>
          <a:prstGeom prst="rect">
            <a:avLst/>
          </a:prstGeom>
          <a:solidFill>
            <a:srgbClr val="3A243A"/>
          </a:solidFill>
          <a:ln/>
        </p:spPr>
      </p:sp>
      <p:sp>
        <p:nvSpPr>
          <p:cNvPr id="77" name="Text 75"/>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Built to core (recap at stabilization), the hotel clears ~28% IRR / ~2.3×. Held for income it's ~12% — the spread is the contributed land + VIVÂMEE's premium NOI.</a:t>
            </a:r>
            <a:endParaRPr lang="en-US" sz="1050" dirty="0"/>
          </a:p>
        </p:txBody>
      </p:sp>
      <p:sp>
        <p:nvSpPr>
          <p:cNvPr id="78" name="Text 76"/>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FILLAT+ — resort design" history="1" highlightClick="0" endSnd="0">
                  <a:extLst>
                    <a:ext uri="{A12FA001-AC4F-418D-AE19-62706E023703}">
                      <ahyp:hlinkClr xmlns:ahyp="http://schemas.microsoft.com/office/drawing/2018/hyperlinkcolor" val="tx"/>
                    </a:ext>
                  </a:extLst>
                </a:hlinkClick>
              </a:rPr>
              <a:t>FILLAT+ — resort design</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HVS — hotel dev cost 2025" history="1" highlightClick="0" endSnd="0">
                  <a:extLst>
                    <a:ext uri="{A12FA001-AC4F-418D-AE19-62706E023703}">
                      <ahyp:hlinkClr xmlns:ahyp="http://schemas.microsoft.com/office/drawing/2018/hyperlinkcolor" val="tx"/>
                    </a:ext>
                  </a:extLst>
                </a:hlinkClick>
              </a:rPr>
              <a:t>HVS — hotel dev cost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tel cap rates 2025" history="1" highlightClick="0" endSnd="0">
                  <a:extLst>
                    <a:ext uri="{A12FA001-AC4F-418D-AE19-62706E023703}">
                      <ahyp:hlinkClr xmlns:ahyp="http://schemas.microsoft.com/office/drawing/2018/hyperlinkcolor" val="tx"/>
                    </a:ext>
                  </a:extLst>
                </a:hlinkClick>
              </a:rPr>
              <a:t>hotel cap rates 2025</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restaurant build cost" history="1" highlightClick="0" endSnd="0">
                  <a:extLst>
                    <a:ext uri="{A12FA001-AC4F-418D-AE19-62706E023703}">
                      <ahyp:hlinkClr xmlns:ahyp="http://schemas.microsoft.com/office/drawing/2018/hyperlinkcolor" val="tx"/>
                    </a:ext>
                  </a:extLst>
                </a:hlinkClick>
              </a:rPr>
              <a:t>restaurant build cost</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16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SENSITIVITY  ·  PHASE 2 BUILD-TO-CORE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robust is the hotel return?</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Build-to-core IRR (65% LTC, recap at stabilization) across stabilized NOI and exit cap — the two biggest swing factors. Base ($4.65M NOI, 7.5% cap) → ~28%; it holds in the mid-20s+ as long as NOI lands and caps stay sub-8%.</a:t>
            </a:r>
            <a:endParaRPr lang="en-US" sz="1300" dirty="0"/>
          </a:p>
        </p:txBody>
      </p:sp>
      <p:sp>
        <p:nvSpPr>
          <p:cNvPr id="11" name="Shape 9"/>
          <p:cNvSpPr/>
          <p:nvPr/>
        </p:nvSpPr>
        <p:spPr>
          <a:xfrm>
            <a:off x="457200" y="2103120"/>
            <a:ext cx="2194560" cy="365760"/>
          </a:xfrm>
          <a:prstGeom prst="rect">
            <a:avLst/>
          </a:prstGeom>
          <a:solidFill>
            <a:srgbClr val="0B163C"/>
          </a:solidFill>
          <a:ln/>
        </p:spPr>
      </p:sp>
      <p:sp>
        <p:nvSpPr>
          <p:cNvPr id="12" name="Text 10"/>
          <p:cNvSpPr/>
          <p:nvPr/>
        </p:nvSpPr>
        <p:spPr>
          <a:xfrm>
            <a:off x="457200" y="2103120"/>
            <a:ext cx="21945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BUILD-TO-CORE IRR  (NOI / cap)</a:t>
            </a:r>
            <a:endParaRPr lang="en-US" sz="900" dirty="0"/>
          </a:p>
        </p:txBody>
      </p:sp>
      <p:sp>
        <p:nvSpPr>
          <p:cNvPr id="13" name="Shape 11"/>
          <p:cNvSpPr/>
          <p:nvPr/>
        </p:nvSpPr>
        <p:spPr>
          <a:xfrm>
            <a:off x="2651760" y="2103120"/>
            <a:ext cx="2263140" cy="365760"/>
          </a:xfrm>
          <a:prstGeom prst="rect">
            <a:avLst/>
          </a:prstGeom>
          <a:solidFill>
            <a:srgbClr val="0B163C"/>
          </a:solidFill>
          <a:ln/>
        </p:spPr>
      </p:sp>
      <p:sp>
        <p:nvSpPr>
          <p:cNvPr id="14" name="Text 12"/>
          <p:cNvSpPr/>
          <p:nvPr/>
        </p:nvSpPr>
        <p:spPr>
          <a:xfrm>
            <a:off x="265176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7.0% cap</a:t>
            </a:r>
            <a:endParaRPr lang="en-US" sz="900" dirty="0"/>
          </a:p>
        </p:txBody>
      </p:sp>
      <p:sp>
        <p:nvSpPr>
          <p:cNvPr id="15" name="Shape 13"/>
          <p:cNvSpPr/>
          <p:nvPr/>
        </p:nvSpPr>
        <p:spPr>
          <a:xfrm>
            <a:off x="4914900" y="2103120"/>
            <a:ext cx="2263140" cy="365760"/>
          </a:xfrm>
          <a:prstGeom prst="rect">
            <a:avLst/>
          </a:prstGeom>
          <a:solidFill>
            <a:srgbClr val="0B163C"/>
          </a:solidFill>
          <a:ln/>
        </p:spPr>
      </p:sp>
      <p:sp>
        <p:nvSpPr>
          <p:cNvPr id="16" name="Text 14"/>
          <p:cNvSpPr/>
          <p:nvPr/>
        </p:nvSpPr>
        <p:spPr>
          <a:xfrm>
            <a:off x="491490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7.5% cap</a:t>
            </a:r>
            <a:endParaRPr lang="en-US" sz="900" dirty="0"/>
          </a:p>
        </p:txBody>
      </p:sp>
      <p:sp>
        <p:nvSpPr>
          <p:cNvPr id="17" name="Shape 15"/>
          <p:cNvSpPr/>
          <p:nvPr/>
        </p:nvSpPr>
        <p:spPr>
          <a:xfrm>
            <a:off x="7178040" y="2103120"/>
            <a:ext cx="2263140" cy="365760"/>
          </a:xfrm>
          <a:prstGeom prst="rect">
            <a:avLst/>
          </a:prstGeom>
          <a:solidFill>
            <a:srgbClr val="0B163C"/>
          </a:solidFill>
          <a:ln/>
        </p:spPr>
      </p:sp>
      <p:sp>
        <p:nvSpPr>
          <p:cNvPr id="18" name="Text 16"/>
          <p:cNvSpPr/>
          <p:nvPr/>
        </p:nvSpPr>
        <p:spPr>
          <a:xfrm>
            <a:off x="717804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8.0% cap</a:t>
            </a:r>
            <a:endParaRPr lang="en-US" sz="900" dirty="0"/>
          </a:p>
        </p:txBody>
      </p:sp>
      <p:sp>
        <p:nvSpPr>
          <p:cNvPr id="19" name="Shape 17"/>
          <p:cNvSpPr/>
          <p:nvPr/>
        </p:nvSpPr>
        <p:spPr>
          <a:xfrm>
            <a:off x="9441180" y="2103120"/>
            <a:ext cx="2263140" cy="365760"/>
          </a:xfrm>
          <a:prstGeom prst="rect">
            <a:avLst/>
          </a:prstGeom>
          <a:solidFill>
            <a:srgbClr val="0B163C"/>
          </a:solidFill>
          <a:ln/>
        </p:spPr>
      </p:sp>
      <p:sp>
        <p:nvSpPr>
          <p:cNvPr id="20" name="Text 18"/>
          <p:cNvSpPr/>
          <p:nvPr/>
        </p:nvSpPr>
        <p:spPr>
          <a:xfrm>
            <a:off x="9441180" y="2103120"/>
            <a:ext cx="226314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8.5% cap</a:t>
            </a:r>
            <a:endParaRPr lang="en-US" sz="900" dirty="0"/>
          </a:p>
        </p:txBody>
      </p:sp>
      <p:sp>
        <p:nvSpPr>
          <p:cNvPr id="21" name="Shape 19"/>
          <p:cNvSpPr/>
          <p:nvPr/>
        </p:nvSpPr>
        <p:spPr>
          <a:xfrm>
            <a:off x="457200" y="2468880"/>
            <a:ext cx="2194560" cy="777240"/>
          </a:xfrm>
          <a:prstGeom prst="rect">
            <a:avLst/>
          </a:prstGeom>
          <a:solidFill>
            <a:srgbClr val="FFFFFF"/>
          </a:solidFill>
          <a:ln/>
        </p:spPr>
      </p:sp>
      <p:sp>
        <p:nvSpPr>
          <p:cNvPr id="22" name="Text 20"/>
          <p:cNvSpPr/>
          <p:nvPr/>
        </p:nvSpPr>
        <p:spPr>
          <a:xfrm>
            <a:off x="457200" y="246888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$4.2M NOI</a:t>
            </a:r>
            <a:endParaRPr lang="en-US" sz="950" dirty="0"/>
          </a:p>
        </p:txBody>
      </p:sp>
      <p:sp>
        <p:nvSpPr>
          <p:cNvPr id="23" name="Shape 21"/>
          <p:cNvSpPr/>
          <p:nvPr/>
        </p:nvSpPr>
        <p:spPr>
          <a:xfrm>
            <a:off x="2651760" y="2468880"/>
            <a:ext cx="2263140" cy="777240"/>
          </a:xfrm>
          <a:prstGeom prst="rect">
            <a:avLst/>
          </a:prstGeom>
          <a:solidFill>
            <a:srgbClr val="FFFFFF"/>
          </a:solidFill>
          <a:ln/>
        </p:spPr>
      </p:sp>
      <p:sp>
        <p:nvSpPr>
          <p:cNvPr id="24" name="Text 22"/>
          <p:cNvSpPr/>
          <p:nvPr/>
        </p:nvSpPr>
        <p:spPr>
          <a:xfrm>
            <a:off x="265176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24.1%</a:t>
            </a:r>
            <a:endParaRPr lang="en-US" sz="1200" dirty="0"/>
          </a:p>
        </p:txBody>
      </p:sp>
      <p:sp>
        <p:nvSpPr>
          <p:cNvPr id="25" name="Shape 23"/>
          <p:cNvSpPr/>
          <p:nvPr/>
        </p:nvSpPr>
        <p:spPr>
          <a:xfrm>
            <a:off x="4914900" y="2468880"/>
            <a:ext cx="2263140" cy="777240"/>
          </a:xfrm>
          <a:prstGeom prst="rect">
            <a:avLst/>
          </a:prstGeom>
          <a:solidFill>
            <a:srgbClr val="FFFFFF"/>
          </a:solidFill>
          <a:ln/>
        </p:spPr>
      </p:sp>
      <p:sp>
        <p:nvSpPr>
          <p:cNvPr id="26" name="Text 24"/>
          <p:cNvSpPr/>
          <p:nvPr/>
        </p:nvSpPr>
        <p:spPr>
          <a:xfrm>
            <a:off x="491490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19.8%</a:t>
            </a:r>
            <a:endParaRPr lang="en-US" sz="1200" dirty="0"/>
          </a:p>
        </p:txBody>
      </p:sp>
      <p:sp>
        <p:nvSpPr>
          <p:cNvPr id="27" name="Shape 25"/>
          <p:cNvSpPr/>
          <p:nvPr/>
        </p:nvSpPr>
        <p:spPr>
          <a:xfrm>
            <a:off x="7178040" y="2468880"/>
            <a:ext cx="2263140" cy="777240"/>
          </a:xfrm>
          <a:prstGeom prst="rect">
            <a:avLst/>
          </a:prstGeom>
          <a:solidFill>
            <a:srgbClr val="FFFFFF"/>
          </a:solidFill>
          <a:ln/>
        </p:spPr>
      </p:sp>
      <p:sp>
        <p:nvSpPr>
          <p:cNvPr id="28" name="Text 26"/>
          <p:cNvSpPr/>
          <p:nvPr/>
        </p:nvSpPr>
        <p:spPr>
          <a:xfrm>
            <a:off x="717804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15.6%</a:t>
            </a:r>
            <a:endParaRPr lang="en-US" sz="1200" dirty="0"/>
          </a:p>
        </p:txBody>
      </p:sp>
      <p:sp>
        <p:nvSpPr>
          <p:cNvPr id="29" name="Shape 27"/>
          <p:cNvSpPr/>
          <p:nvPr/>
        </p:nvSpPr>
        <p:spPr>
          <a:xfrm>
            <a:off x="9441180" y="2468880"/>
            <a:ext cx="2263140" cy="777240"/>
          </a:xfrm>
          <a:prstGeom prst="rect">
            <a:avLst/>
          </a:prstGeom>
          <a:solidFill>
            <a:srgbClr val="FFFFFF"/>
          </a:solidFill>
          <a:ln/>
        </p:spPr>
      </p:sp>
      <p:sp>
        <p:nvSpPr>
          <p:cNvPr id="30" name="Text 28"/>
          <p:cNvSpPr/>
          <p:nvPr/>
        </p:nvSpPr>
        <p:spPr>
          <a:xfrm>
            <a:off x="9441180" y="246888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11.6%</a:t>
            </a:r>
            <a:endParaRPr lang="en-US" sz="1200" dirty="0"/>
          </a:p>
        </p:txBody>
      </p:sp>
      <p:sp>
        <p:nvSpPr>
          <p:cNvPr id="31" name="Shape 29"/>
          <p:cNvSpPr/>
          <p:nvPr/>
        </p:nvSpPr>
        <p:spPr>
          <a:xfrm>
            <a:off x="457200" y="3246120"/>
            <a:ext cx="2194560" cy="777240"/>
          </a:xfrm>
          <a:prstGeom prst="rect">
            <a:avLst/>
          </a:prstGeom>
          <a:solidFill>
            <a:srgbClr val="F4F2ED"/>
          </a:solidFill>
          <a:ln/>
        </p:spPr>
      </p:sp>
      <p:sp>
        <p:nvSpPr>
          <p:cNvPr id="32" name="Text 30"/>
          <p:cNvSpPr/>
          <p:nvPr/>
        </p:nvSpPr>
        <p:spPr>
          <a:xfrm>
            <a:off x="457200" y="324612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$4.65M NOI  (base)</a:t>
            </a:r>
            <a:endParaRPr lang="en-US" sz="950" dirty="0"/>
          </a:p>
        </p:txBody>
      </p:sp>
      <p:sp>
        <p:nvSpPr>
          <p:cNvPr id="33" name="Shape 31"/>
          <p:cNvSpPr/>
          <p:nvPr/>
        </p:nvSpPr>
        <p:spPr>
          <a:xfrm>
            <a:off x="2651760" y="3246120"/>
            <a:ext cx="2263140" cy="777240"/>
          </a:xfrm>
          <a:prstGeom prst="rect">
            <a:avLst/>
          </a:prstGeom>
          <a:solidFill>
            <a:srgbClr val="F4F2ED"/>
          </a:solidFill>
          <a:ln/>
        </p:spPr>
      </p:sp>
      <p:sp>
        <p:nvSpPr>
          <p:cNvPr id="34" name="Text 32"/>
          <p:cNvSpPr/>
          <p:nvPr/>
        </p:nvSpPr>
        <p:spPr>
          <a:xfrm>
            <a:off x="265176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31.7%</a:t>
            </a:r>
            <a:endParaRPr lang="en-US" sz="1200" dirty="0"/>
          </a:p>
        </p:txBody>
      </p:sp>
      <p:sp>
        <p:nvSpPr>
          <p:cNvPr id="35" name="Shape 33"/>
          <p:cNvSpPr/>
          <p:nvPr/>
        </p:nvSpPr>
        <p:spPr>
          <a:xfrm>
            <a:off x="4914900" y="3246120"/>
            <a:ext cx="2263140" cy="777240"/>
          </a:xfrm>
          <a:prstGeom prst="rect">
            <a:avLst/>
          </a:prstGeom>
          <a:solidFill>
            <a:srgbClr val="F4F2ED"/>
          </a:solidFill>
          <a:ln/>
        </p:spPr>
      </p:sp>
      <p:sp>
        <p:nvSpPr>
          <p:cNvPr id="36" name="Text 34"/>
          <p:cNvSpPr/>
          <p:nvPr/>
        </p:nvSpPr>
        <p:spPr>
          <a:xfrm>
            <a:off x="4914900" y="3246120"/>
            <a:ext cx="2263140" cy="777240"/>
          </a:xfrm>
          <a:prstGeom prst="rect">
            <a:avLst/>
          </a:prstGeom>
          <a:noFill/>
          <a:ln/>
        </p:spPr>
        <p:txBody>
          <a:bodyPr wrap="square" lIns="25400" tIns="76200" rIns="76200" bIns="25400" rtlCol="0" anchor="ctr"/>
          <a:lstStyle/>
          <a:p>
            <a:pPr algn="ctr" indent="0" marL="0">
              <a:buNone/>
            </a:pPr>
            <a:r>
              <a:rPr lang="en-US" sz="1200" b="1" dirty="0">
                <a:solidFill>
                  <a:srgbClr val="3A243A"/>
                </a:solidFill>
                <a:latin typeface="Montserrat" pitchFamily="34" charset="0"/>
                <a:ea typeface="Montserrat" pitchFamily="34" charset="-122"/>
                <a:cs typeface="Montserrat" pitchFamily="34" charset="-120"/>
              </a:rPr>
              <a:t>27.6%</a:t>
            </a:r>
            <a:endParaRPr lang="en-US" sz="1200" dirty="0"/>
          </a:p>
        </p:txBody>
      </p:sp>
      <p:sp>
        <p:nvSpPr>
          <p:cNvPr id="37" name="Shape 35"/>
          <p:cNvSpPr/>
          <p:nvPr/>
        </p:nvSpPr>
        <p:spPr>
          <a:xfrm>
            <a:off x="7178040" y="3246120"/>
            <a:ext cx="2263140" cy="777240"/>
          </a:xfrm>
          <a:prstGeom prst="rect">
            <a:avLst/>
          </a:prstGeom>
          <a:solidFill>
            <a:srgbClr val="F4F2ED"/>
          </a:solidFill>
          <a:ln/>
        </p:spPr>
      </p:sp>
      <p:sp>
        <p:nvSpPr>
          <p:cNvPr id="38" name="Text 36"/>
          <p:cNvSpPr/>
          <p:nvPr/>
        </p:nvSpPr>
        <p:spPr>
          <a:xfrm>
            <a:off x="717804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23.7%</a:t>
            </a:r>
            <a:endParaRPr lang="en-US" sz="1200" dirty="0"/>
          </a:p>
        </p:txBody>
      </p:sp>
      <p:sp>
        <p:nvSpPr>
          <p:cNvPr id="39" name="Shape 37"/>
          <p:cNvSpPr/>
          <p:nvPr/>
        </p:nvSpPr>
        <p:spPr>
          <a:xfrm>
            <a:off x="9441180" y="3246120"/>
            <a:ext cx="2263140" cy="777240"/>
          </a:xfrm>
          <a:prstGeom prst="rect">
            <a:avLst/>
          </a:prstGeom>
          <a:solidFill>
            <a:srgbClr val="F4F2ED"/>
          </a:solidFill>
          <a:ln/>
        </p:spPr>
      </p:sp>
      <p:sp>
        <p:nvSpPr>
          <p:cNvPr id="40" name="Text 38"/>
          <p:cNvSpPr/>
          <p:nvPr/>
        </p:nvSpPr>
        <p:spPr>
          <a:xfrm>
            <a:off x="9441180" y="324612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19.9%</a:t>
            </a:r>
            <a:endParaRPr lang="en-US" sz="1200" dirty="0"/>
          </a:p>
        </p:txBody>
      </p:sp>
      <p:sp>
        <p:nvSpPr>
          <p:cNvPr id="41" name="Shape 39"/>
          <p:cNvSpPr/>
          <p:nvPr/>
        </p:nvSpPr>
        <p:spPr>
          <a:xfrm>
            <a:off x="457200" y="4023360"/>
            <a:ext cx="2194560" cy="777240"/>
          </a:xfrm>
          <a:prstGeom prst="rect">
            <a:avLst/>
          </a:prstGeom>
          <a:solidFill>
            <a:srgbClr val="FFFFFF"/>
          </a:solidFill>
          <a:ln/>
        </p:spPr>
      </p:sp>
      <p:sp>
        <p:nvSpPr>
          <p:cNvPr id="42" name="Text 40"/>
          <p:cNvSpPr/>
          <p:nvPr/>
        </p:nvSpPr>
        <p:spPr>
          <a:xfrm>
            <a:off x="457200" y="4023360"/>
            <a:ext cx="2194560" cy="7772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$5.15M NOI</a:t>
            </a:r>
            <a:endParaRPr lang="en-US" sz="950" dirty="0"/>
          </a:p>
        </p:txBody>
      </p:sp>
      <p:sp>
        <p:nvSpPr>
          <p:cNvPr id="43" name="Shape 41"/>
          <p:cNvSpPr/>
          <p:nvPr/>
        </p:nvSpPr>
        <p:spPr>
          <a:xfrm>
            <a:off x="2651760" y="4023360"/>
            <a:ext cx="2263140" cy="777240"/>
          </a:xfrm>
          <a:prstGeom prst="rect">
            <a:avLst/>
          </a:prstGeom>
          <a:solidFill>
            <a:srgbClr val="FFFFFF"/>
          </a:solidFill>
          <a:ln/>
        </p:spPr>
      </p:sp>
      <p:sp>
        <p:nvSpPr>
          <p:cNvPr id="44" name="Text 42"/>
          <p:cNvSpPr/>
          <p:nvPr/>
        </p:nvSpPr>
        <p:spPr>
          <a:xfrm>
            <a:off x="265176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38.8%</a:t>
            </a:r>
            <a:endParaRPr lang="en-US" sz="1200" dirty="0"/>
          </a:p>
        </p:txBody>
      </p:sp>
      <p:sp>
        <p:nvSpPr>
          <p:cNvPr id="45" name="Shape 43"/>
          <p:cNvSpPr/>
          <p:nvPr/>
        </p:nvSpPr>
        <p:spPr>
          <a:xfrm>
            <a:off x="4914900" y="4023360"/>
            <a:ext cx="2263140" cy="777240"/>
          </a:xfrm>
          <a:prstGeom prst="rect">
            <a:avLst/>
          </a:prstGeom>
          <a:solidFill>
            <a:srgbClr val="FFFFFF"/>
          </a:solidFill>
          <a:ln/>
        </p:spPr>
      </p:sp>
      <p:sp>
        <p:nvSpPr>
          <p:cNvPr id="46" name="Text 44"/>
          <p:cNvSpPr/>
          <p:nvPr/>
        </p:nvSpPr>
        <p:spPr>
          <a:xfrm>
            <a:off x="491490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34.8%</a:t>
            </a:r>
            <a:endParaRPr lang="en-US" sz="1200" dirty="0"/>
          </a:p>
        </p:txBody>
      </p:sp>
      <p:sp>
        <p:nvSpPr>
          <p:cNvPr id="47" name="Shape 45"/>
          <p:cNvSpPr/>
          <p:nvPr/>
        </p:nvSpPr>
        <p:spPr>
          <a:xfrm>
            <a:off x="7178040" y="4023360"/>
            <a:ext cx="2263140" cy="777240"/>
          </a:xfrm>
          <a:prstGeom prst="rect">
            <a:avLst/>
          </a:prstGeom>
          <a:solidFill>
            <a:srgbClr val="FFFFFF"/>
          </a:solidFill>
          <a:ln/>
        </p:spPr>
      </p:sp>
      <p:sp>
        <p:nvSpPr>
          <p:cNvPr id="48" name="Text 46"/>
          <p:cNvSpPr/>
          <p:nvPr/>
        </p:nvSpPr>
        <p:spPr>
          <a:xfrm>
            <a:off x="717804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31.1%</a:t>
            </a:r>
            <a:endParaRPr lang="en-US" sz="1200" dirty="0"/>
          </a:p>
        </p:txBody>
      </p:sp>
      <p:sp>
        <p:nvSpPr>
          <p:cNvPr id="49" name="Shape 47"/>
          <p:cNvSpPr/>
          <p:nvPr/>
        </p:nvSpPr>
        <p:spPr>
          <a:xfrm>
            <a:off x="9441180" y="4023360"/>
            <a:ext cx="2263140" cy="777240"/>
          </a:xfrm>
          <a:prstGeom prst="rect">
            <a:avLst/>
          </a:prstGeom>
          <a:solidFill>
            <a:srgbClr val="FFFFFF"/>
          </a:solidFill>
          <a:ln/>
        </p:spPr>
      </p:sp>
      <p:sp>
        <p:nvSpPr>
          <p:cNvPr id="50" name="Text 48"/>
          <p:cNvSpPr/>
          <p:nvPr/>
        </p:nvSpPr>
        <p:spPr>
          <a:xfrm>
            <a:off x="9441180" y="4023360"/>
            <a:ext cx="2263140" cy="777240"/>
          </a:xfrm>
          <a:prstGeom prst="rect">
            <a:avLst/>
          </a:prstGeom>
          <a:noFill/>
          <a:ln/>
        </p:spPr>
        <p:txBody>
          <a:bodyPr wrap="square" lIns="25400" tIns="76200" rIns="76200" bIns="25400" rtlCol="0" anchor="ctr"/>
          <a:lstStyle/>
          <a:p>
            <a:pPr algn="ctr" indent="0" marL="0">
              <a:buNone/>
            </a:pPr>
            <a:r>
              <a:rPr lang="en-US" sz="1200" dirty="0">
                <a:solidFill>
                  <a:srgbClr val="0B163C"/>
                </a:solidFill>
                <a:latin typeface="DM Sans" pitchFamily="34" charset="0"/>
                <a:ea typeface="DM Sans" pitchFamily="34" charset="-122"/>
                <a:cs typeface="DM Sans" pitchFamily="34" charset="-120"/>
              </a:rPr>
              <a:t>27.5%</a:t>
            </a:r>
            <a:endParaRPr lang="en-US" sz="1200" dirty="0"/>
          </a:p>
        </p:txBody>
      </p:sp>
      <p:sp>
        <p:nvSpPr>
          <p:cNvPr id="51" name="Shape 49"/>
          <p:cNvSpPr/>
          <p:nvPr/>
        </p:nvSpPr>
        <p:spPr>
          <a:xfrm>
            <a:off x="457200" y="5074920"/>
            <a:ext cx="11274552" cy="420624"/>
          </a:xfrm>
          <a:prstGeom prst="rect">
            <a:avLst/>
          </a:prstGeom>
          <a:solidFill>
            <a:srgbClr val="3A243A"/>
          </a:solidFill>
          <a:ln/>
        </p:spPr>
      </p:sp>
      <p:sp>
        <p:nvSpPr>
          <p:cNvPr id="52" name="Text 50"/>
          <p:cNvSpPr/>
          <p:nvPr/>
        </p:nvSpPr>
        <p:spPr>
          <a:xfrm>
            <a:off x="640080" y="50749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Base ~28%. Strong NOI + a sub-8% cap → low-to-high 30s; soft NOI or an 8.5% cap pulls it toward the high-teens / low-20s.</a:t>
            </a:r>
            <a:endParaRPr lang="en-US" sz="1100" dirty="0"/>
          </a:p>
        </p:txBody>
      </p:sp>
      <p:sp>
        <p:nvSpPr>
          <p:cNvPr id="53" name="Text 51"/>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Build-to-core project IRR (65% LTC, recap ~Yr 4). VIVÂMEE-led; JAL leads capital formation. Each cell re-runs the model. Illustrative.</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17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1  ·  PRO FORMA CASH FLOW</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1 — pro forma cash flow.</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development, project cash flow ($M). Land and entitlement up front; the horizontal funds in Yr 1–2; lots sell Yr 2–4. Net profit ~$14.5M. Illustrative.</a:t>
            </a:r>
            <a:endParaRPr lang="en-US" sz="1300" dirty="0"/>
          </a:p>
        </p:txBody>
      </p:sp>
      <p:sp>
        <p:nvSpPr>
          <p:cNvPr id="11" name="Shape 9"/>
          <p:cNvSpPr/>
          <p:nvPr/>
        </p:nvSpPr>
        <p:spPr>
          <a:xfrm>
            <a:off x="457200" y="2057400"/>
            <a:ext cx="2743200" cy="365760"/>
          </a:xfrm>
          <a:prstGeom prst="rect">
            <a:avLst/>
          </a:prstGeom>
          <a:solidFill>
            <a:srgbClr val="0B163C"/>
          </a:solidFill>
          <a:ln/>
        </p:spPr>
      </p:sp>
      <p:sp>
        <p:nvSpPr>
          <p:cNvPr id="12" name="Text 10"/>
          <p:cNvSpPr/>
          <p:nvPr/>
        </p:nvSpPr>
        <p:spPr>
          <a:xfrm>
            <a:off x="457200" y="205740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$M</a:t>
            </a:r>
            <a:endParaRPr lang="en-US" sz="900" dirty="0"/>
          </a:p>
        </p:txBody>
      </p:sp>
      <p:sp>
        <p:nvSpPr>
          <p:cNvPr id="13" name="Shape 11"/>
          <p:cNvSpPr/>
          <p:nvPr/>
        </p:nvSpPr>
        <p:spPr>
          <a:xfrm>
            <a:off x="3200400" y="2057400"/>
            <a:ext cx="1371600" cy="365760"/>
          </a:xfrm>
          <a:prstGeom prst="rect">
            <a:avLst/>
          </a:prstGeom>
          <a:solidFill>
            <a:srgbClr val="0B163C"/>
          </a:solidFill>
          <a:ln/>
        </p:spPr>
      </p:sp>
      <p:sp>
        <p:nvSpPr>
          <p:cNvPr id="14" name="Text 12"/>
          <p:cNvSpPr/>
          <p:nvPr/>
        </p:nvSpPr>
        <p:spPr>
          <a:xfrm>
            <a:off x="32004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0</a:t>
            </a:r>
            <a:endParaRPr lang="en-US" sz="900" dirty="0"/>
          </a:p>
        </p:txBody>
      </p:sp>
      <p:sp>
        <p:nvSpPr>
          <p:cNvPr id="15" name="Shape 13"/>
          <p:cNvSpPr/>
          <p:nvPr/>
        </p:nvSpPr>
        <p:spPr>
          <a:xfrm>
            <a:off x="4572000" y="2057400"/>
            <a:ext cx="1371600" cy="365760"/>
          </a:xfrm>
          <a:prstGeom prst="rect">
            <a:avLst/>
          </a:prstGeom>
          <a:solidFill>
            <a:srgbClr val="0B163C"/>
          </a:solidFill>
          <a:ln/>
        </p:spPr>
      </p:sp>
      <p:sp>
        <p:nvSpPr>
          <p:cNvPr id="16" name="Text 14"/>
          <p:cNvSpPr/>
          <p:nvPr/>
        </p:nvSpPr>
        <p:spPr>
          <a:xfrm>
            <a:off x="45720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1</a:t>
            </a:r>
            <a:endParaRPr lang="en-US" sz="900" dirty="0"/>
          </a:p>
        </p:txBody>
      </p:sp>
      <p:sp>
        <p:nvSpPr>
          <p:cNvPr id="17" name="Shape 15"/>
          <p:cNvSpPr/>
          <p:nvPr/>
        </p:nvSpPr>
        <p:spPr>
          <a:xfrm>
            <a:off x="5943600" y="2057400"/>
            <a:ext cx="1371600" cy="365760"/>
          </a:xfrm>
          <a:prstGeom prst="rect">
            <a:avLst/>
          </a:prstGeom>
          <a:solidFill>
            <a:srgbClr val="0B163C"/>
          </a:solidFill>
          <a:ln/>
        </p:spPr>
      </p:sp>
      <p:sp>
        <p:nvSpPr>
          <p:cNvPr id="18" name="Text 16"/>
          <p:cNvSpPr/>
          <p:nvPr/>
        </p:nvSpPr>
        <p:spPr>
          <a:xfrm>
            <a:off x="59436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2</a:t>
            </a:r>
            <a:endParaRPr lang="en-US" sz="900" dirty="0"/>
          </a:p>
        </p:txBody>
      </p:sp>
      <p:sp>
        <p:nvSpPr>
          <p:cNvPr id="19" name="Shape 17"/>
          <p:cNvSpPr/>
          <p:nvPr/>
        </p:nvSpPr>
        <p:spPr>
          <a:xfrm>
            <a:off x="7315200" y="2057400"/>
            <a:ext cx="1371600" cy="365760"/>
          </a:xfrm>
          <a:prstGeom prst="rect">
            <a:avLst/>
          </a:prstGeom>
          <a:solidFill>
            <a:srgbClr val="0B163C"/>
          </a:solidFill>
          <a:ln/>
        </p:spPr>
      </p:sp>
      <p:sp>
        <p:nvSpPr>
          <p:cNvPr id="20" name="Text 18"/>
          <p:cNvSpPr/>
          <p:nvPr/>
        </p:nvSpPr>
        <p:spPr>
          <a:xfrm>
            <a:off x="73152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3</a:t>
            </a:r>
            <a:endParaRPr lang="en-US" sz="900" dirty="0"/>
          </a:p>
        </p:txBody>
      </p:sp>
      <p:sp>
        <p:nvSpPr>
          <p:cNvPr id="21" name="Shape 19"/>
          <p:cNvSpPr/>
          <p:nvPr/>
        </p:nvSpPr>
        <p:spPr>
          <a:xfrm>
            <a:off x="8686800" y="2057400"/>
            <a:ext cx="1371600" cy="365760"/>
          </a:xfrm>
          <a:prstGeom prst="rect">
            <a:avLst/>
          </a:prstGeom>
          <a:solidFill>
            <a:srgbClr val="0B163C"/>
          </a:solidFill>
          <a:ln/>
        </p:spPr>
      </p:sp>
      <p:sp>
        <p:nvSpPr>
          <p:cNvPr id="22" name="Text 20"/>
          <p:cNvSpPr/>
          <p:nvPr/>
        </p:nvSpPr>
        <p:spPr>
          <a:xfrm>
            <a:off x="86868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4</a:t>
            </a:r>
            <a:endParaRPr lang="en-US" sz="900" dirty="0"/>
          </a:p>
        </p:txBody>
      </p:sp>
      <p:sp>
        <p:nvSpPr>
          <p:cNvPr id="23" name="Shape 21"/>
          <p:cNvSpPr/>
          <p:nvPr/>
        </p:nvSpPr>
        <p:spPr>
          <a:xfrm>
            <a:off x="10058400" y="2057400"/>
            <a:ext cx="1645920" cy="365760"/>
          </a:xfrm>
          <a:prstGeom prst="rect">
            <a:avLst/>
          </a:prstGeom>
          <a:solidFill>
            <a:srgbClr val="0B163C"/>
          </a:solidFill>
          <a:ln/>
        </p:spPr>
      </p:sp>
      <p:sp>
        <p:nvSpPr>
          <p:cNvPr id="24" name="Text 22"/>
          <p:cNvSpPr/>
          <p:nvPr/>
        </p:nvSpPr>
        <p:spPr>
          <a:xfrm>
            <a:off x="10058400" y="2057400"/>
            <a:ext cx="164592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Total</a:t>
            </a:r>
            <a:endParaRPr lang="en-US" sz="900" dirty="0"/>
          </a:p>
        </p:txBody>
      </p:sp>
      <p:sp>
        <p:nvSpPr>
          <p:cNvPr id="25" name="Shape 23"/>
          <p:cNvSpPr/>
          <p:nvPr/>
        </p:nvSpPr>
        <p:spPr>
          <a:xfrm>
            <a:off x="457200" y="2423160"/>
            <a:ext cx="2743200" cy="548640"/>
          </a:xfrm>
          <a:prstGeom prst="rect">
            <a:avLst/>
          </a:prstGeom>
          <a:solidFill>
            <a:srgbClr val="FFFFFF"/>
          </a:solidFill>
          <a:ln/>
        </p:spPr>
      </p:sp>
      <p:sp>
        <p:nvSpPr>
          <p:cNvPr id="26" name="Text 24"/>
          <p:cNvSpPr/>
          <p:nvPr/>
        </p:nvSpPr>
        <p:spPr>
          <a:xfrm>
            <a:off x="457200" y="242316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revenue</a:t>
            </a:r>
            <a:endParaRPr lang="en-US" sz="950" dirty="0"/>
          </a:p>
        </p:txBody>
      </p:sp>
      <p:sp>
        <p:nvSpPr>
          <p:cNvPr id="27" name="Shape 25"/>
          <p:cNvSpPr/>
          <p:nvPr/>
        </p:nvSpPr>
        <p:spPr>
          <a:xfrm>
            <a:off x="3200400" y="2423160"/>
            <a:ext cx="1371600" cy="548640"/>
          </a:xfrm>
          <a:prstGeom prst="rect">
            <a:avLst/>
          </a:prstGeom>
          <a:solidFill>
            <a:srgbClr val="FFFFFF"/>
          </a:solidFill>
          <a:ln/>
        </p:spPr>
      </p:sp>
      <p:sp>
        <p:nvSpPr>
          <p:cNvPr id="28" name="Text 26"/>
          <p:cNvSpPr/>
          <p:nvPr/>
        </p:nvSpPr>
        <p:spPr>
          <a:xfrm>
            <a:off x="32004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29" name="Shape 27"/>
          <p:cNvSpPr/>
          <p:nvPr/>
        </p:nvSpPr>
        <p:spPr>
          <a:xfrm>
            <a:off x="4572000" y="2423160"/>
            <a:ext cx="1371600" cy="548640"/>
          </a:xfrm>
          <a:prstGeom prst="rect">
            <a:avLst/>
          </a:prstGeom>
          <a:solidFill>
            <a:srgbClr val="FFFFFF"/>
          </a:solidFill>
          <a:ln/>
        </p:spPr>
      </p:sp>
      <p:sp>
        <p:nvSpPr>
          <p:cNvPr id="30" name="Text 28"/>
          <p:cNvSpPr/>
          <p:nvPr/>
        </p:nvSpPr>
        <p:spPr>
          <a:xfrm>
            <a:off x="45720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31" name="Shape 29"/>
          <p:cNvSpPr/>
          <p:nvPr/>
        </p:nvSpPr>
        <p:spPr>
          <a:xfrm>
            <a:off x="5943600" y="2423160"/>
            <a:ext cx="1371600" cy="548640"/>
          </a:xfrm>
          <a:prstGeom prst="rect">
            <a:avLst/>
          </a:prstGeom>
          <a:solidFill>
            <a:srgbClr val="FFFFFF"/>
          </a:solidFill>
          <a:ln/>
        </p:spPr>
      </p:sp>
      <p:sp>
        <p:nvSpPr>
          <p:cNvPr id="32" name="Text 30"/>
          <p:cNvSpPr/>
          <p:nvPr/>
        </p:nvSpPr>
        <p:spPr>
          <a:xfrm>
            <a:off x="59436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8.0</a:t>
            </a:r>
            <a:endParaRPr lang="en-US" sz="1000" dirty="0"/>
          </a:p>
        </p:txBody>
      </p:sp>
      <p:sp>
        <p:nvSpPr>
          <p:cNvPr id="33" name="Shape 31"/>
          <p:cNvSpPr/>
          <p:nvPr/>
        </p:nvSpPr>
        <p:spPr>
          <a:xfrm>
            <a:off x="7315200" y="2423160"/>
            <a:ext cx="1371600" cy="548640"/>
          </a:xfrm>
          <a:prstGeom prst="rect">
            <a:avLst/>
          </a:prstGeom>
          <a:solidFill>
            <a:srgbClr val="FFFFFF"/>
          </a:solidFill>
          <a:ln/>
        </p:spPr>
      </p:sp>
      <p:sp>
        <p:nvSpPr>
          <p:cNvPr id="34" name="Text 32"/>
          <p:cNvSpPr/>
          <p:nvPr/>
        </p:nvSpPr>
        <p:spPr>
          <a:xfrm>
            <a:off x="73152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17.0</a:t>
            </a:r>
            <a:endParaRPr lang="en-US" sz="1000" dirty="0"/>
          </a:p>
        </p:txBody>
      </p:sp>
      <p:sp>
        <p:nvSpPr>
          <p:cNvPr id="35" name="Shape 33"/>
          <p:cNvSpPr/>
          <p:nvPr/>
        </p:nvSpPr>
        <p:spPr>
          <a:xfrm>
            <a:off x="8686800" y="2423160"/>
            <a:ext cx="1371600" cy="548640"/>
          </a:xfrm>
          <a:prstGeom prst="rect">
            <a:avLst/>
          </a:prstGeom>
          <a:solidFill>
            <a:srgbClr val="FFFFFF"/>
          </a:solidFill>
          <a:ln/>
        </p:spPr>
      </p:sp>
      <p:sp>
        <p:nvSpPr>
          <p:cNvPr id="36" name="Text 34"/>
          <p:cNvSpPr/>
          <p:nvPr/>
        </p:nvSpPr>
        <p:spPr>
          <a:xfrm>
            <a:off x="86868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17.0</a:t>
            </a:r>
            <a:endParaRPr lang="en-US" sz="1000" dirty="0"/>
          </a:p>
        </p:txBody>
      </p:sp>
      <p:sp>
        <p:nvSpPr>
          <p:cNvPr id="37" name="Shape 35"/>
          <p:cNvSpPr/>
          <p:nvPr/>
        </p:nvSpPr>
        <p:spPr>
          <a:xfrm>
            <a:off x="10058400" y="2423160"/>
            <a:ext cx="1645920" cy="548640"/>
          </a:xfrm>
          <a:prstGeom prst="rect">
            <a:avLst/>
          </a:prstGeom>
          <a:solidFill>
            <a:srgbClr val="FFFFFF"/>
          </a:solidFill>
          <a:ln/>
        </p:spPr>
      </p:sp>
      <p:sp>
        <p:nvSpPr>
          <p:cNvPr id="38" name="Text 36"/>
          <p:cNvSpPr/>
          <p:nvPr/>
        </p:nvSpPr>
        <p:spPr>
          <a:xfrm>
            <a:off x="10058400" y="242316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42.0</a:t>
            </a:r>
            <a:endParaRPr lang="en-US" sz="1000" dirty="0"/>
          </a:p>
        </p:txBody>
      </p:sp>
      <p:sp>
        <p:nvSpPr>
          <p:cNvPr id="39" name="Shape 37"/>
          <p:cNvSpPr/>
          <p:nvPr/>
        </p:nvSpPr>
        <p:spPr>
          <a:xfrm>
            <a:off x="457200" y="2971800"/>
            <a:ext cx="2743200" cy="548640"/>
          </a:xfrm>
          <a:prstGeom prst="rect">
            <a:avLst/>
          </a:prstGeom>
          <a:solidFill>
            <a:srgbClr val="F4F2ED"/>
          </a:solidFill>
          <a:ln/>
        </p:spPr>
      </p:sp>
      <p:sp>
        <p:nvSpPr>
          <p:cNvPr id="40" name="Text 38"/>
          <p:cNvSpPr/>
          <p:nvPr/>
        </p:nvSpPr>
        <p:spPr>
          <a:xfrm>
            <a:off x="457200" y="297180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Less: land contribution</a:t>
            </a:r>
            <a:endParaRPr lang="en-US" sz="950" dirty="0"/>
          </a:p>
        </p:txBody>
      </p:sp>
      <p:sp>
        <p:nvSpPr>
          <p:cNvPr id="41" name="Shape 39"/>
          <p:cNvSpPr/>
          <p:nvPr/>
        </p:nvSpPr>
        <p:spPr>
          <a:xfrm>
            <a:off x="3200400" y="2971800"/>
            <a:ext cx="1371600" cy="548640"/>
          </a:xfrm>
          <a:prstGeom prst="rect">
            <a:avLst/>
          </a:prstGeom>
          <a:solidFill>
            <a:srgbClr val="F4F2ED"/>
          </a:solidFill>
          <a:ln/>
        </p:spPr>
      </p:sp>
      <p:sp>
        <p:nvSpPr>
          <p:cNvPr id="42" name="Text 40"/>
          <p:cNvSpPr/>
          <p:nvPr/>
        </p:nvSpPr>
        <p:spPr>
          <a:xfrm>
            <a:off x="32004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(4.0)</a:t>
            </a:r>
            <a:endParaRPr lang="en-US" sz="1000" dirty="0"/>
          </a:p>
        </p:txBody>
      </p:sp>
      <p:sp>
        <p:nvSpPr>
          <p:cNvPr id="43" name="Shape 41"/>
          <p:cNvSpPr/>
          <p:nvPr/>
        </p:nvSpPr>
        <p:spPr>
          <a:xfrm>
            <a:off x="4572000" y="2971800"/>
            <a:ext cx="1371600" cy="548640"/>
          </a:xfrm>
          <a:prstGeom prst="rect">
            <a:avLst/>
          </a:prstGeom>
          <a:solidFill>
            <a:srgbClr val="F4F2ED"/>
          </a:solidFill>
          <a:ln/>
        </p:spPr>
      </p:sp>
      <p:sp>
        <p:nvSpPr>
          <p:cNvPr id="44" name="Text 42"/>
          <p:cNvSpPr/>
          <p:nvPr/>
        </p:nvSpPr>
        <p:spPr>
          <a:xfrm>
            <a:off x="45720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5" name="Shape 43"/>
          <p:cNvSpPr/>
          <p:nvPr/>
        </p:nvSpPr>
        <p:spPr>
          <a:xfrm>
            <a:off x="5943600" y="2971800"/>
            <a:ext cx="1371600" cy="548640"/>
          </a:xfrm>
          <a:prstGeom prst="rect">
            <a:avLst/>
          </a:prstGeom>
          <a:solidFill>
            <a:srgbClr val="F4F2ED"/>
          </a:solidFill>
          <a:ln/>
        </p:spPr>
      </p:sp>
      <p:sp>
        <p:nvSpPr>
          <p:cNvPr id="46" name="Text 44"/>
          <p:cNvSpPr/>
          <p:nvPr/>
        </p:nvSpPr>
        <p:spPr>
          <a:xfrm>
            <a:off x="59436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7" name="Shape 45"/>
          <p:cNvSpPr/>
          <p:nvPr/>
        </p:nvSpPr>
        <p:spPr>
          <a:xfrm>
            <a:off x="7315200" y="2971800"/>
            <a:ext cx="1371600" cy="548640"/>
          </a:xfrm>
          <a:prstGeom prst="rect">
            <a:avLst/>
          </a:prstGeom>
          <a:solidFill>
            <a:srgbClr val="F4F2ED"/>
          </a:solidFill>
          <a:ln/>
        </p:spPr>
      </p:sp>
      <p:sp>
        <p:nvSpPr>
          <p:cNvPr id="48" name="Text 46"/>
          <p:cNvSpPr/>
          <p:nvPr/>
        </p:nvSpPr>
        <p:spPr>
          <a:xfrm>
            <a:off x="73152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9" name="Shape 47"/>
          <p:cNvSpPr/>
          <p:nvPr/>
        </p:nvSpPr>
        <p:spPr>
          <a:xfrm>
            <a:off x="8686800" y="2971800"/>
            <a:ext cx="1371600" cy="548640"/>
          </a:xfrm>
          <a:prstGeom prst="rect">
            <a:avLst/>
          </a:prstGeom>
          <a:solidFill>
            <a:srgbClr val="F4F2ED"/>
          </a:solidFill>
          <a:ln/>
        </p:spPr>
      </p:sp>
      <p:sp>
        <p:nvSpPr>
          <p:cNvPr id="50" name="Text 48"/>
          <p:cNvSpPr/>
          <p:nvPr/>
        </p:nvSpPr>
        <p:spPr>
          <a:xfrm>
            <a:off x="86868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51" name="Shape 49"/>
          <p:cNvSpPr/>
          <p:nvPr/>
        </p:nvSpPr>
        <p:spPr>
          <a:xfrm>
            <a:off x="10058400" y="2971800"/>
            <a:ext cx="1645920" cy="548640"/>
          </a:xfrm>
          <a:prstGeom prst="rect">
            <a:avLst/>
          </a:prstGeom>
          <a:solidFill>
            <a:srgbClr val="F4F2ED"/>
          </a:solidFill>
          <a:ln/>
        </p:spPr>
      </p:sp>
      <p:sp>
        <p:nvSpPr>
          <p:cNvPr id="52" name="Text 50"/>
          <p:cNvSpPr/>
          <p:nvPr/>
        </p:nvSpPr>
        <p:spPr>
          <a:xfrm>
            <a:off x="10058400" y="297180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(4.0)</a:t>
            </a:r>
            <a:endParaRPr lang="en-US" sz="1000" dirty="0"/>
          </a:p>
        </p:txBody>
      </p:sp>
      <p:sp>
        <p:nvSpPr>
          <p:cNvPr id="53" name="Shape 51"/>
          <p:cNvSpPr/>
          <p:nvPr/>
        </p:nvSpPr>
        <p:spPr>
          <a:xfrm>
            <a:off x="457200" y="3520440"/>
            <a:ext cx="2743200" cy="548640"/>
          </a:xfrm>
          <a:prstGeom prst="rect">
            <a:avLst/>
          </a:prstGeom>
          <a:solidFill>
            <a:srgbClr val="FFFFFF"/>
          </a:solidFill>
          <a:ln/>
        </p:spPr>
      </p:sp>
      <p:sp>
        <p:nvSpPr>
          <p:cNvPr id="54" name="Text 52"/>
          <p:cNvSpPr/>
          <p:nvPr/>
        </p:nvSpPr>
        <p:spPr>
          <a:xfrm>
            <a:off x="457200" y="352044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Less: horizontal + soft costs</a:t>
            </a:r>
            <a:endParaRPr lang="en-US" sz="950" dirty="0"/>
          </a:p>
        </p:txBody>
      </p:sp>
      <p:sp>
        <p:nvSpPr>
          <p:cNvPr id="55" name="Shape 53"/>
          <p:cNvSpPr/>
          <p:nvPr/>
        </p:nvSpPr>
        <p:spPr>
          <a:xfrm>
            <a:off x="3200400" y="3520440"/>
            <a:ext cx="1371600" cy="548640"/>
          </a:xfrm>
          <a:prstGeom prst="rect">
            <a:avLst/>
          </a:prstGeom>
          <a:solidFill>
            <a:srgbClr val="FFFFFF"/>
          </a:solidFill>
          <a:ln/>
        </p:spPr>
      </p:sp>
      <p:sp>
        <p:nvSpPr>
          <p:cNvPr id="56" name="Text 54"/>
          <p:cNvSpPr/>
          <p:nvPr/>
        </p:nvSpPr>
        <p:spPr>
          <a:xfrm>
            <a:off x="32004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(2.0)</a:t>
            </a:r>
            <a:endParaRPr lang="en-US" sz="1000" dirty="0"/>
          </a:p>
        </p:txBody>
      </p:sp>
      <p:sp>
        <p:nvSpPr>
          <p:cNvPr id="57" name="Shape 55"/>
          <p:cNvSpPr/>
          <p:nvPr/>
        </p:nvSpPr>
        <p:spPr>
          <a:xfrm>
            <a:off x="4572000" y="3520440"/>
            <a:ext cx="1371600" cy="548640"/>
          </a:xfrm>
          <a:prstGeom prst="rect">
            <a:avLst/>
          </a:prstGeom>
          <a:solidFill>
            <a:srgbClr val="FFFFFF"/>
          </a:solidFill>
          <a:ln/>
        </p:spPr>
      </p:sp>
      <p:sp>
        <p:nvSpPr>
          <p:cNvPr id="58" name="Text 56"/>
          <p:cNvSpPr/>
          <p:nvPr/>
        </p:nvSpPr>
        <p:spPr>
          <a:xfrm>
            <a:off x="45720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(10.4)</a:t>
            </a:r>
            <a:endParaRPr lang="en-US" sz="1000" dirty="0"/>
          </a:p>
        </p:txBody>
      </p:sp>
      <p:sp>
        <p:nvSpPr>
          <p:cNvPr id="59" name="Shape 57"/>
          <p:cNvSpPr/>
          <p:nvPr/>
        </p:nvSpPr>
        <p:spPr>
          <a:xfrm>
            <a:off x="5943600" y="3520440"/>
            <a:ext cx="1371600" cy="548640"/>
          </a:xfrm>
          <a:prstGeom prst="rect">
            <a:avLst/>
          </a:prstGeom>
          <a:solidFill>
            <a:srgbClr val="FFFFFF"/>
          </a:solidFill>
          <a:ln/>
        </p:spPr>
      </p:sp>
      <p:sp>
        <p:nvSpPr>
          <p:cNvPr id="60" name="Text 58"/>
          <p:cNvSpPr/>
          <p:nvPr/>
        </p:nvSpPr>
        <p:spPr>
          <a:xfrm>
            <a:off x="59436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(9.9)</a:t>
            </a:r>
            <a:endParaRPr lang="en-US" sz="1000" dirty="0"/>
          </a:p>
        </p:txBody>
      </p:sp>
      <p:sp>
        <p:nvSpPr>
          <p:cNvPr id="61" name="Shape 59"/>
          <p:cNvSpPr/>
          <p:nvPr/>
        </p:nvSpPr>
        <p:spPr>
          <a:xfrm>
            <a:off x="7315200" y="3520440"/>
            <a:ext cx="1371600" cy="548640"/>
          </a:xfrm>
          <a:prstGeom prst="rect">
            <a:avLst/>
          </a:prstGeom>
          <a:solidFill>
            <a:srgbClr val="FFFFFF"/>
          </a:solidFill>
          <a:ln/>
        </p:spPr>
      </p:sp>
      <p:sp>
        <p:nvSpPr>
          <p:cNvPr id="62" name="Text 60"/>
          <p:cNvSpPr/>
          <p:nvPr/>
        </p:nvSpPr>
        <p:spPr>
          <a:xfrm>
            <a:off x="73152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(1.0)</a:t>
            </a:r>
            <a:endParaRPr lang="en-US" sz="1000" dirty="0"/>
          </a:p>
        </p:txBody>
      </p:sp>
      <p:sp>
        <p:nvSpPr>
          <p:cNvPr id="63" name="Shape 61"/>
          <p:cNvSpPr/>
          <p:nvPr/>
        </p:nvSpPr>
        <p:spPr>
          <a:xfrm>
            <a:off x="8686800" y="3520440"/>
            <a:ext cx="1371600" cy="548640"/>
          </a:xfrm>
          <a:prstGeom prst="rect">
            <a:avLst/>
          </a:prstGeom>
          <a:solidFill>
            <a:srgbClr val="FFFFFF"/>
          </a:solidFill>
          <a:ln/>
        </p:spPr>
      </p:sp>
      <p:sp>
        <p:nvSpPr>
          <p:cNvPr id="64" name="Text 62"/>
          <p:cNvSpPr/>
          <p:nvPr/>
        </p:nvSpPr>
        <p:spPr>
          <a:xfrm>
            <a:off x="86868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(0.2)</a:t>
            </a:r>
            <a:endParaRPr lang="en-US" sz="1000" dirty="0"/>
          </a:p>
        </p:txBody>
      </p:sp>
      <p:sp>
        <p:nvSpPr>
          <p:cNvPr id="65" name="Shape 63"/>
          <p:cNvSpPr/>
          <p:nvPr/>
        </p:nvSpPr>
        <p:spPr>
          <a:xfrm>
            <a:off x="10058400" y="3520440"/>
            <a:ext cx="1645920" cy="548640"/>
          </a:xfrm>
          <a:prstGeom prst="rect">
            <a:avLst/>
          </a:prstGeom>
          <a:solidFill>
            <a:srgbClr val="FFFFFF"/>
          </a:solidFill>
          <a:ln/>
        </p:spPr>
      </p:sp>
      <p:sp>
        <p:nvSpPr>
          <p:cNvPr id="66" name="Text 64"/>
          <p:cNvSpPr/>
          <p:nvPr/>
        </p:nvSpPr>
        <p:spPr>
          <a:xfrm>
            <a:off x="10058400" y="352044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(23.5)</a:t>
            </a:r>
            <a:endParaRPr lang="en-US" sz="1000" dirty="0"/>
          </a:p>
        </p:txBody>
      </p:sp>
      <p:sp>
        <p:nvSpPr>
          <p:cNvPr id="67" name="Shape 65"/>
          <p:cNvSpPr/>
          <p:nvPr/>
        </p:nvSpPr>
        <p:spPr>
          <a:xfrm>
            <a:off x="457200" y="4069080"/>
            <a:ext cx="2743200" cy="548640"/>
          </a:xfrm>
          <a:prstGeom prst="rect">
            <a:avLst/>
          </a:prstGeom>
          <a:solidFill>
            <a:srgbClr val="F4F2ED"/>
          </a:solidFill>
          <a:ln/>
        </p:spPr>
      </p:sp>
      <p:sp>
        <p:nvSpPr>
          <p:cNvPr id="68" name="Text 66"/>
          <p:cNvSpPr/>
          <p:nvPr/>
        </p:nvSpPr>
        <p:spPr>
          <a:xfrm>
            <a:off x="457200" y="406908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project cash flow</a:t>
            </a:r>
            <a:endParaRPr lang="en-US" sz="950" dirty="0"/>
          </a:p>
        </p:txBody>
      </p:sp>
      <p:sp>
        <p:nvSpPr>
          <p:cNvPr id="69" name="Shape 67"/>
          <p:cNvSpPr/>
          <p:nvPr/>
        </p:nvSpPr>
        <p:spPr>
          <a:xfrm>
            <a:off x="3200400" y="4069080"/>
            <a:ext cx="1371600" cy="548640"/>
          </a:xfrm>
          <a:prstGeom prst="rect">
            <a:avLst/>
          </a:prstGeom>
          <a:solidFill>
            <a:srgbClr val="F4F2ED"/>
          </a:solidFill>
          <a:ln/>
        </p:spPr>
      </p:sp>
      <p:sp>
        <p:nvSpPr>
          <p:cNvPr id="70" name="Text 68"/>
          <p:cNvSpPr/>
          <p:nvPr/>
        </p:nvSpPr>
        <p:spPr>
          <a:xfrm>
            <a:off x="32004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(6.0)</a:t>
            </a:r>
            <a:endParaRPr lang="en-US" sz="1000" dirty="0"/>
          </a:p>
        </p:txBody>
      </p:sp>
      <p:sp>
        <p:nvSpPr>
          <p:cNvPr id="71" name="Shape 69"/>
          <p:cNvSpPr/>
          <p:nvPr/>
        </p:nvSpPr>
        <p:spPr>
          <a:xfrm>
            <a:off x="4572000" y="4069080"/>
            <a:ext cx="1371600" cy="548640"/>
          </a:xfrm>
          <a:prstGeom prst="rect">
            <a:avLst/>
          </a:prstGeom>
          <a:solidFill>
            <a:srgbClr val="F4F2ED"/>
          </a:solidFill>
          <a:ln/>
        </p:spPr>
      </p:sp>
      <p:sp>
        <p:nvSpPr>
          <p:cNvPr id="72" name="Text 70"/>
          <p:cNvSpPr/>
          <p:nvPr/>
        </p:nvSpPr>
        <p:spPr>
          <a:xfrm>
            <a:off x="45720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(10.4)</a:t>
            </a:r>
            <a:endParaRPr lang="en-US" sz="1000" dirty="0"/>
          </a:p>
        </p:txBody>
      </p:sp>
      <p:sp>
        <p:nvSpPr>
          <p:cNvPr id="73" name="Shape 71"/>
          <p:cNvSpPr/>
          <p:nvPr/>
        </p:nvSpPr>
        <p:spPr>
          <a:xfrm>
            <a:off x="5943600" y="4069080"/>
            <a:ext cx="1371600" cy="548640"/>
          </a:xfrm>
          <a:prstGeom prst="rect">
            <a:avLst/>
          </a:prstGeom>
          <a:solidFill>
            <a:srgbClr val="F4F2ED"/>
          </a:solidFill>
          <a:ln/>
        </p:spPr>
      </p:sp>
      <p:sp>
        <p:nvSpPr>
          <p:cNvPr id="74" name="Text 72"/>
          <p:cNvSpPr/>
          <p:nvPr/>
        </p:nvSpPr>
        <p:spPr>
          <a:xfrm>
            <a:off x="59436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(1.9)</a:t>
            </a:r>
            <a:endParaRPr lang="en-US" sz="1000" dirty="0"/>
          </a:p>
        </p:txBody>
      </p:sp>
      <p:sp>
        <p:nvSpPr>
          <p:cNvPr id="75" name="Shape 73"/>
          <p:cNvSpPr/>
          <p:nvPr/>
        </p:nvSpPr>
        <p:spPr>
          <a:xfrm>
            <a:off x="7315200" y="4069080"/>
            <a:ext cx="1371600" cy="548640"/>
          </a:xfrm>
          <a:prstGeom prst="rect">
            <a:avLst/>
          </a:prstGeom>
          <a:solidFill>
            <a:srgbClr val="F4F2ED"/>
          </a:solidFill>
          <a:ln/>
        </p:spPr>
      </p:sp>
      <p:sp>
        <p:nvSpPr>
          <p:cNvPr id="76" name="Text 74"/>
          <p:cNvSpPr/>
          <p:nvPr/>
        </p:nvSpPr>
        <p:spPr>
          <a:xfrm>
            <a:off x="73152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16.0</a:t>
            </a:r>
            <a:endParaRPr lang="en-US" sz="1000" dirty="0"/>
          </a:p>
        </p:txBody>
      </p:sp>
      <p:sp>
        <p:nvSpPr>
          <p:cNvPr id="77" name="Shape 75"/>
          <p:cNvSpPr/>
          <p:nvPr/>
        </p:nvSpPr>
        <p:spPr>
          <a:xfrm>
            <a:off x="8686800" y="4069080"/>
            <a:ext cx="1371600" cy="548640"/>
          </a:xfrm>
          <a:prstGeom prst="rect">
            <a:avLst/>
          </a:prstGeom>
          <a:solidFill>
            <a:srgbClr val="F4F2ED"/>
          </a:solidFill>
          <a:ln/>
        </p:spPr>
      </p:sp>
      <p:sp>
        <p:nvSpPr>
          <p:cNvPr id="78" name="Text 76"/>
          <p:cNvSpPr/>
          <p:nvPr/>
        </p:nvSpPr>
        <p:spPr>
          <a:xfrm>
            <a:off x="86868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16.8</a:t>
            </a:r>
            <a:endParaRPr lang="en-US" sz="1000" dirty="0"/>
          </a:p>
        </p:txBody>
      </p:sp>
      <p:sp>
        <p:nvSpPr>
          <p:cNvPr id="79" name="Shape 77"/>
          <p:cNvSpPr/>
          <p:nvPr/>
        </p:nvSpPr>
        <p:spPr>
          <a:xfrm>
            <a:off x="10058400" y="4069080"/>
            <a:ext cx="1645920" cy="548640"/>
          </a:xfrm>
          <a:prstGeom prst="rect">
            <a:avLst/>
          </a:prstGeom>
          <a:solidFill>
            <a:srgbClr val="F4F2ED"/>
          </a:solidFill>
          <a:ln/>
        </p:spPr>
      </p:sp>
      <p:sp>
        <p:nvSpPr>
          <p:cNvPr id="80" name="Text 78"/>
          <p:cNvSpPr/>
          <p:nvPr/>
        </p:nvSpPr>
        <p:spPr>
          <a:xfrm>
            <a:off x="10058400" y="406908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14.5</a:t>
            </a:r>
            <a:endParaRPr lang="en-US" sz="1000" dirty="0"/>
          </a:p>
        </p:txBody>
      </p:sp>
      <p:sp>
        <p:nvSpPr>
          <p:cNvPr id="81" name="Shape 79"/>
          <p:cNvSpPr/>
          <p:nvPr/>
        </p:nvSpPr>
        <p:spPr>
          <a:xfrm>
            <a:off x="457200" y="4617720"/>
            <a:ext cx="2743200" cy="548640"/>
          </a:xfrm>
          <a:prstGeom prst="rect">
            <a:avLst/>
          </a:prstGeom>
          <a:solidFill>
            <a:srgbClr val="FFFFFF"/>
          </a:solidFill>
          <a:ln/>
        </p:spPr>
      </p:sp>
      <p:sp>
        <p:nvSpPr>
          <p:cNvPr id="82" name="Text 80"/>
          <p:cNvSpPr/>
          <p:nvPr/>
        </p:nvSpPr>
        <p:spPr>
          <a:xfrm>
            <a:off x="457200" y="461772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Cumulative cash flow</a:t>
            </a:r>
            <a:endParaRPr lang="en-US" sz="950" dirty="0"/>
          </a:p>
        </p:txBody>
      </p:sp>
      <p:sp>
        <p:nvSpPr>
          <p:cNvPr id="83" name="Shape 81"/>
          <p:cNvSpPr/>
          <p:nvPr/>
        </p:nvSpPr>
        <p:spPr>
          <a:xfrm>
            <a:off x="3200400" y="4617720"/>
            <a:ext cx="1371600" cy="548640"/>
          </a:xfrm>
          <a:prstGeom prst="rect">
            <a:avLst/>
          </a:prstGeom>
          <a:solidFill>
            <a:srgbClr val="FFFFFF"/>
          </a:solidFill>
          <a:ln/>
        </p:spPr>
      </p:sp>
      <p:sp>
        <p:nvSpPr>
          <p:cNvPr id="84" name="Text 82"/>
          <p:cNvSpPr/>
          <p:nvPr/>
        </p:nvSpPr>
        <p:spPr>
          <a:xfrm>
            <a:off x="32004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(6.0)</a:t>
            </a:r>
            <a:endParaRPr lang="en-US" sz="1000" dirty="0"/>
          </a:p>
        </p:txBody>
      </p:sp>
      <p:sp>
        <p:nvSpPr>
          <p:cNvPr id="85" name="Shape 83"/>
          <p:cNvSpPr/>
          <p:nvPr/>
        </p:nvSpPr>
        <p:spPr>
          <a:xfrm>
            <a:off x="4572000" y="4617720"/>
            <a:ext cx="1371600" cy="548640"/>
          </a:xfrm>
          <a:prstGeom prst="rect">
            <a:avLst/>
          </a:prstGeom>
          <a:solidFill>
            <a:srgbClr val="FFFFFF"/>
          </a:solidFill>
          <a:ln/>
        </p:spPr>
      </p:sp>
      <p:sp>
        <p:nvSpPr>
          <p:cNvPr id="86" name="Text 84"/>
          <p:cNvSpPr/>
          <p:nvPr/>
        </p:nvSpPr>
        <p:spPr>
          <a:xfrm>
            <a:off x="45720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(16.4)</a:t>
            </a:r>
            <a:endParaRPr lang="en-US" sz="1000" dirty="0"/>
          </a:p>
        </p:txBody>
      </p:sp>
      <p:sp>
        <p:nvSpPr>
          <p:cNvPr id="87" name="Shape 85"/>
          <p:cNvSpPr/>
          <p:nvPr/>
        </p:nvSpPr>
        <p:spPr>
          <a:xfrm>
            <a:off x="5943600" y="4617720"/>
            <a:ext cx="1371600" cy="548640"/>
          </a:xfrm>
          <a:prstGeom prst="rect">
            <a:avLst/>
          </a:prstGeom>
          <a:solidFill>
            <a:srgbClr val="FFFFFF"/>
          </a:solidFill>
          <a:ln/>
        </p:spPr>
      </p:sp>
      <p:sp>
        <p:nvSpPr>
          <p:cNvPr id="88" name="Text 86"/>
          <p:cNvSpPr/>
          <p:nvPr/>
        </p:nvSpPr>
        <p:spPr>
          <a:xfrm>
            <a:off x="59436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(18.3)</a:t>
            </a:r>
            <a:endParaRPr lang="en-US" sz="1000" dirty="0"/>
          </a:p>
        </p:txBody>
      </p:sp>
      <p:sp>
        <p:nvSpPr>
          <p:cNvPr id="89" name="Shape 87"/>
          <p:cNvSpPr/>
          <p:nvPr/>
        </p:nvSpPr>
        <p:spPr>
          <a:xfrm>
            <a:off x="7315200" y="4617720"/>
            <a:ext cx="1371600" cy="548640"/>
          </a:xfrm>
          <a:prstGeom prst="rect">
            <a:avLst/>
          </a:prstGeom>
          <a:solidFill>
            <a:srgbClr val="FFFFFF"/>
          </a:solidFill>
          <a:ln/>
        </p:spPr>
      </p:sp>
      <p:sp>
        <p:nvSpPr>
          <p:cNvPr id="90" name="Text 88"/>
          <p:cNvSpPr/>
          <p:nvPr/>
        </p:nvSpPr>
        <p:spPr>
          <a:xfrm>
            <a:off x="73152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(2.3)</a:t>
            </a:r>
            <a:endParaRPr lang="en-US" sz="1000" dirty="0"/>
          </a:p>
        </p:txBody>
      </p:sp>
      <p:sp>
        <p:nvSpPr>
          <p:cNvPr id="91" name="Shape 89"/>
          <p:cNvSpPr/>
          <p:nvPr/>
        </p:nvSpPr>
        <p:spPr>
          <a:xfrm>
            <a:off x="8686800" y="4617720"/>
            <a:ext cx="1371600" cy="548640"/>
          </a:xfrm>
          <a:prstGeom prst="rect">
            <a:avLst/>
          </a:prstGeom>
          <a:solidFill>
            <a:srgbClr val="FFFFFF"/>
          </a:solidFill>
          <a:ln/>
        </p:spPr>
      </p:sp>
      <p:sp>
        <p:nvSpPr>
          <p:cNvPr id="92" name="Text 90"/>
          <p:cNvSpPr/>
          <p:nvPr/>
        </p:nvSpPr>
        <p:spPr>
          <a:xfrm>
            <a:off x="86868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14.5</a:t>
            </a:r>
            <a:endParaRPr lang="en-US" sz="1000" dirty="0"/>
          </a:p>
        </p:txBody>
      </p:sp>
      <p:sp>
        <p:nvSpPr>
          <p:cNvPr id="93" name="Shape 91"/>
          <p:cNvSpPr/>
          <p:nvPr/>
        </p:nvSpPr>
        <p:spPr>
          <a:xfrm>
            <a:off x="10058400" y="4617720"/>
            <a:ext cx="1645920" cy="548640"/>
          </a:xfrm>
          <a:prstGeom prst="rect">
            <a:avLst/>
          </a:prstGeom>
          <a:solidFill>
            <a:srgbClr val="FFFFFF"/>
          </a:solidFill>
          <a:ln/>
        </p:spPr>
      </p:sp>
      <p:sp>
        <p:nvSpPr>
          <p:cNvPr id="94" name="Text 92"/>
          <p:cNvSpPr/>
          <p:nvPr/>
        </p:nvSpPr>
        <p:spPr>
          <a:xfrm>
            <a:off x="10058400" y="4617720"/>
            <a:ext cx="1645920" cy="548640"/>
          </a:xfrm>
          <a:prstGeom prst="rect">
            <a:avLst/>
          </a:prstGeom>
          <a:noFill/>
          <a:ln/>
        </p:spPr>
        <p:txBody>
          <a:bodyPr wrap="square" lIns="25400" tIns="76200" rIns="76200" bIns="25400" rtlCol="0" anchor="ctr"/>
          <a:lstStyle/>
          <a:p>
            <a:pPr algn="r" indent="0" marL="0">
              <a:buNone/>
            </a:pPr>
            <a:endParaRPr lang="en-US" sz="1000" dirty="0"/>
          </a:p>
        </p:txBody>
      </p:sp>
      <p:sp>
        <p:nvSpPr>
          <p:cNvPr id="95" name="Shape 93"/>
          <p:cNvSpPr/>
          <p:nvPr/>
        </p:nvSpPr>
        <p:spPr>
          <a:xfrm>
            <a:off x="457200" y="5303520"/>
            <a:ext cx="11274552" cy="420624"/>
          </a:xfrm>
          <a:prstGeom prst="rect">
            <a:avLst/>
          </a:prstGeom>
          <a:solidFill>
            <a:srgbClr val="3A243A"/>
          </a:solidFill>
          <a:ln/>
        </p:spPr>
      </p:sp>
      <p:sp>
        <p:nvSpPr>
          <p:cNvPr id="96" name="Text 94"/>
          <p:cNvSpPr/>
          <p:nvPr/>
        </p:nvSpPr>
        <p:spPr>
          <a:xfrm>
            <a:off x="640080" y="53035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Net profit ~$14.5M  ·  ~24% unlevered / ~31% levered project IRR  ·  LP ~27% after the promote (60% LTC).</a:t>
            </a:r>
            <a:endParaRPr lang="en-US" sz="1100" dirty="0"/>
          </a:p>
        </p:txBody>
      </p:sp>
      <p:sp>
        <p:nvSpPr>
          <p:cNvPr id="97" name="Text 95"/>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Project-level cash flow; illustrative phasing. Equity, leverage and the promote waterfall are on slides 10–13. Figures subject to confirmation.</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18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PHASE 2  ·  PRO FORMA CASH FLOW</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Phase 2 — pro forma cash flow.</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Hospitality build-to-core, project cash flow ($M). Develop Yr 0–2; stabilize, then recap / sell at ~Yr 4 (~$62M @ a 7.5% cap). VIVÂMEE operates. Illustrative.</a:t>
            </a:r>
            <a:endParaRPr lang="en-US" sz="1300" dirty="0"/>
          </a:p>
        </p:txBody>
      </p:sp>
      <p:sp>
        <p:nvSpPr>
          <p:cNvPr id="11" name="Shape 9"/>
          <p:cNvSpPr/>
          <p:nvPr/>
        </p:nvSpPr>
        <p:spPr>
          <a:xfrm>
            <a:off x="457200" y="2057400"/>
            <a:ext cx="2743200" cy="365760"/>
          </a:xfrm>
          <a:prstGeom prst="rect">
            <a:avLst/>
          </a:prstGeom>
          <a:solidFill>
            <a:srgbClr val="0B163C"/>
          </a:solidFill>
          <a:ln/>
        </p:spPr>
      </p:sp>
      <p:sp>
        <p:nvSpPr>
          <p:cNvPr id="12" name="Text 10"/>
          <p:cNvSpPr/>
          <p:nvPr/>
        </p:nvSpPr>
        <p:spPr>
          <a:xfrm>
            <a:off x="457200" y="205740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$M</a:t>
            </a:r>
            <a:endParaRPr lang="en-US" sz="900" dirty="0"/>
          </a:p>
        </p:txBody>
      </p:sp>
      <p:sp>
        <p:nvSpPr>
          <p:cNvPr id="13" name="Shape 11"/>
          <p:cNvSpPr/>
          <p:nvPr/>
        </p:nvSpPr>
        <p:spPr>
          <a:xfrm>
            <a:off x="3200400" y="2057400"/>
            <a:ext cx="1371600" cy="365760"/>
          </a:xfrm>
          <a:prstGeom prst="rect">
            <a:avLst/>
          </a:prstGeom>
          <a:solidFill>
            <a:srgbClr val="0B163C"/>
          </a:solidFill>
          <a:ln/>
        </p:spPr>
      </p:sp>
      <p:sp>
        <p:nvSpPr>
          <p:cNvPr id="14" name="Text 12"/>
          <p:cNvSpPr/>
          <p:nvPr/>
        </p:nvSpPr>
        <p:spPr>
          <a:xfrm>
            <a:off x="32004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0</a:t>
            </a:r>
            <a:endParaRPr lang="en-US" sz="900" dirty="0"/>
          </a:p>
        </p:txBody>
      </p:sp>
      <p:sp>
        <p:nvSpPr>
          <p:cNvPr id="15" name="Shape 13"/>
          <p:cNvSpPr/>
          <p:nvPr/>
        </p:nvSpPr>
        <p:spPr>
          <a:xfrm>
            <a:off x="4572000" y="2057400"/>
            <a:ext cx="1371600" cy="365760"/>
          </a:xfrm>
          <a:prstGeom prst="rect">
            <a:avLst/>
          </a:prstGeom>
          <a:solidFill>
            <a:srgbClr val="0B163C"/>
          </a:solidFill>
          <a:ln/>
        </p:spPr>
      </p:sp>
      <p:sp>
        <p:nvSpPr>
          <p:cNvPr id="16" name="Text 14"/>
          <p:cNvSpPr/>
          <p:nvPr/>
        </p:nvSpPr>
        <p:spPr>
          <a:xfrm>
            <a:off x="45720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1</a:t>
            </a:r>
            <a:endParaRPr lang="en-US" sz="900" dirty="0"/>
          </a:p>
        </p:txBody>
      </p:sp>
      <p:sp>
        <p:nvSpPr>
          <p:cNvPr id="17" name="Shape 15"/>
          <p:cNvSpPr/>
          <p:nvPr/>
        </p:nvSpPr>
        <p:spPr>
          <a:xfrm>
            <a:off x="5943600" y="2057400"/>
            <a:ext cx="1371600" cy="365760"/>
          </a:xfrm>
          <a:prstGeom prst="rect">
            <a:avLst/>
          </a:prstGeom>
          <a:solidFill>
            <a:srgbClr val="0B163C"/>
          </a:solidFill>
          <a:ln/>
        </p:spPr>
      </p:sp>
      <p:sp>
        <p:nvSpPr>
          <p:cNvPr id="18" name="Text 16"/>
          <p:cNvSpPr/>
          <p:nvPr/>
        </p:nvSpPr>
        <p:spPr>
          <a:xfrm>
            <a:off x="59436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2</a:t>
            </a:r>
            <a:endParaRPr lang="en-US" sz="900" dirty="0"/>
          </a:p>
        </p:txBody>
      </p:sp>
      <p:sp>
        <p:nvSpPr>
          <p:cNvPr id="19" name="Shape 17"/>
          <p:cNvSpPr/>
          <p:nvPr/>
        </p:nvSpPr>
        <p:spPr>
          <a:xfrm>
            <a:off x="7315200" y="2057400"/>
            <a:ext cx="1371600" cy="365760"/>
          </a:xfrm>
          <a:prstGeom prst="rect">
            <a:avLst/>
          </a:prstGeom>
          <a:solidFill>
            <a:srgbClr val="0B163C"/>
          </a:solidFill>
          <a:ln/>
        </p:spPr>
      </p:sp>
      <p:sp>
        <p:nvSpPr>
          <p:cNvPr id="20" name="Text 18"/>
          <p:cNvSpPr/>
          <p:nvPr/>
        </p:nvSpPr>
        <p:spPr>
          <a:xfrm>
            <a:off x="73152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3</a:t>
            </a:r>
            <a:endParaRPr lang="en-US" sz="900" dirty="0"/>
          </a:p>
        </p:txBody>
      </p:sp>
      <p:sp>
        <p:nvSpPr>
          <p:cNvPr id="21" name="Shape 19"/>
          <p:cNvSpPr/>
          <p:nvPr/>
        </p:nvSpPr>
        <p:spPr>
          <a:xfrm>
            <a:off x="8686800" y="2057400"/>
            <a:ext cx="1371600" cy="365760"/>
          </a:xfrm>
          <a:prstGeom prst="rect">
            <a:avLst/>
          </a:prstGeom>
          <a:solidFill>
            <a:srgbClr val="0B163C"/>
          </a:solidFill>
          <a:ln/>
        </p:spPr>
      </p:sp>
      <p:sp>
        <p:nvSpPr>
          <p:cNvPr id="22" name="Text 20"/>
          <p:cNvSpPr/>
          <p:nvPr/>
        </p:nvSpPr>
        <p:spPr>
          <a:xfrm>
            <a:off x="8686800" y="2057400"/>
            <a:ext cx="13716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Yr 4</a:t>
            </a:r>
            <a:endParaRPr lang="en-US" sz="900" dirty="0"/>
          </a:p>
        </p:txBody>
      </p:sp>
      <p:sp>
        <p:nvSpPr>
          <p:cNvPr id="23" name="Shape 21"/>
          <p:cNvSpPr/>
          <p:nvPr/>
        </p:nvSpPr>
        <p:spPr>
          <a:xfrm>
            <a:off x="10058400" y="2057400"/>
            <a:ext cx="1645920" cy="365760"/>
          </a:xfrm>
          <a:prstGeom prst="rect">
            <a:avLst/>
          </a:prstGeom>
          <a:solidFill>
            <a:srgbClr val="0B163C"/>
          </a:solidFill>
          <a:ln/>
        </p:spPr>
      </p:sp>
      <p:sp>
        <p:nvSpPr>
          <p:cNvPr id="24" name="Text 22"/>
          <p:cNvSpPr/>
          <p:nvPr/>
        </p:nvSpPr>
        <p:spPr>
          <a:xfrm>
            <a:off x="10058400" y="2057400"/>
            <a:ext cx="1645920"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Total</a:t>
            </a:r>
            <a:endParaRPr lang="en-US" sz="900" dirty="0"/>
          </a:p>
        </p:txBody>
      </p:sp>
      <p:sp>
        <p:nvSpPr>
          <p:cNvPr id="25" name="Shape 23"/>
          <p:cNvSpPr/>
          <p:nvPr/>
        </p:nvSpPr>
        <p:spPr>
          <a:xfrm>
            <a:off x="457200" y="2423160"/>
            <a:ext cx="2743200" cy="548640"/>
          </a:xfrm>
          <a:prstGeom prst="rect">
            <a:avLst/>
          </a:prstGeom>
          <a:solidFill>
            <a:srgbClr val="FFFFFF"/>
          </a:solidFill>
          <a:ln/>
        </p:spPr>
      </p:sp>
      <p:sp>
        <p:nvSpPr>
          <p:cNvPr id="26" name="Text 24"/>
          <p:cNvSpPr/>
          <p:nvPr/>
        </p:nvSpPr>
        <p:spPr>
          <a:xfrm>
            <a:off x="457200" y="242316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operating income</a:t>
            </a:r>
            <a:endParaRPr lang="en-US" sz="950" dirty="0"/>
          </a:p>
        </p:txBody>
      </p:sp>
      <p:sp>
        <p:nvSpPr>
          <p:cNvPr id="27" name="Shape 25"/>
          <p:cNvSpPr/>
          <p:nvPr/>
        </p:nvSpPr>
        <p:spPr>
          <a:xfrm>
            <a:off x="3200400" y="2423160"/>
            <a:ext cx="1371600" cy="548640"/>
          </a:xfrm>
          <a:prstGeom prst="rect">
            <a:avLst/>
          </a:prstGeom>
          <a:solidFill>
            <a:srgbClr val="FFFFFF"/>
          </a:solidFill>
          <a:ln/>
        </p:spPr>
      </p:sp>
      <p:sp>
        <p:nvSpPr>
          <p:cNvPr id="28" name="Text 26"/>
          <p:cNvSpPr/>
          <p:nvPr/>
        </p:nvSpPr>
        <p:spPr>
          <a:xfrm>
            <a:off x="32004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29" name="Shape 27"/>
          <p:cNvSpPr/>
          <p:nvPr/>
        </p:nvSpPr>
        <p:spPr>
          <a:xfrm>
            <a:off x="4572000" y="2423160"/>
            <a:ext cx="1371600" cy="548640"/>
          </a:xfrm>
          <a:prstGeom prst="rect">
            <a:avLst/>
          </a:prstGeom>
          <a:solidFill>
            <a:srgbClr val="FFFFFF"/>
          </a:solidFill>
          <a:ln/>
        </p:spPr>
      </p:sp>
      <p:sp>
        <p:nvSpPr>
          <p:cNvPr id="30" name="Text 28"/>
          <p:cNvSpPr/>
          <p:nvPr/>
        </p:nvSpPr>
        <p:spPr>
          <a:xfrm>
            <a:off x="45720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31" name="Shape 29"/>
          <p:cNvSpPr/>
          <p:nvPr/>
        </p:nvSpPr>
        <p:spPr>
          <a:xfrm>
            <a:off x="5943600" y="2423160"/>
            <a:ext cx="1371600" cy="548640"/>
          </a:xfrm>
          <a:prstGeom prst="rect">
            <a:avLst/>
          </a:prstGeom>
          <a:solidFill>
            <a:srgbClr val="FFFFFF"/>
          </a:solidFill>
          <a:ln/>
        </p:spPr>
      </p:sp>
      <p:sp>
        <p:nvSpPr>
          <p:cNvPr id="32" name="Text 30"/>
          <p:cNvSpPr/>
          <p:nvPr/>
        </p:nvSpPr>
        <p:spPr>
          <a:xfrm>
            <a:off x="59436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1.9</a:t>
            </a:r>
            <a:endParaRPr lang="en-US" sz="1000" dirty="0"/>
          </a:p>
        </p:txBody>
      </p:sp>
      <p:sp>
        <p:nvSpPr>
          <p:cNvPr id="33" name="Shape 31"/>
          <p:cNvSpPr/>
          <p:nvPr/>
        </p:nvSpPr>
        <p:spPr>
          <a:xfrm>
            <a:off x="7315200" y="2423160"/>
            <a:ext cx="1371600" cy="548640"/>
          </a:xfrm>
          <a:prstGeom prst="rect">
            <a:avLst/>
          </a:prstGeom>
          <a:solidFill>
            <a:srgbClr val="FFFFFF"/>
          </a:solidFill>
          <a:ln/>
        </p:spPr>
      </p:sp>
      <p:sp>
        <p:nvSpPr>
          <p:cNvPr id="34" name="Text 32"/>
          <p:cNvSpPr/>
          <p:nvPr/>
        </p:nvSpPr>
        <p:spPr>
          <a:xfrm>
            <a:off x="73152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4.7</a:t>
            </a:r>
            <a:endParaRPr lang="en-US" sz="1000" dirty="0"/>
          </a:p>
        </p:txBody>
      </p:sp>
      <p:sp>
        <p:nvSpPr>
          <p:cNvPr id="35" name="Shape 33"/>
          <p:cNvSpPr/>
          <p:nvPr/>
        </p:nvSpPr>
        <p:spPr>
          <a:xfrm>
            <a:off x="8686800" y="2423160"/>
            <a:ext cx="1371600" cy="548640"/>
          </a:xfrm>
          <a:prstGeom prst="rect">
            <a:avLst/>
          </a:prstGeom>
          <a:solidFill>
            <a:srgbClr val="FFFFFF"/>
          </a:solidFill>
          <a:ln/>
        </p:spPr>
      </p:sp>
      <p:sp>
        <p:nvSpPr>
          <p:cNvPr id="36" name="Text 34"/>
          <p:cNvSpPr/>
          <p:nvPr/>
        </p:nvSpPr>
        <p:spPr>
          <a:xfrm>
            <a:off x="8686800" y="242316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4.7</a:t>
            </a:r>
            <a:endParaRPr lang="en-US" sz="1000" dirty="0"/>
          </a:p>
        </p:txBody>
      </p:sp>
      <p:sp>
        <p:nvSpPr>
          <p:cNvPr id="37" name="Shape 35"/>
          <p:cNvSpPr/>
          <p:nvPr/>
        </p:nvSpPr>
        <p:spPr>
          <a:xfrm>
            <a:off x="10058400" y="2423160"/>
            <a:ext cx="1645920" cy="548640"/>
          </a:xfrm>
          <a:prstGeom prst="rect">
            <a:avLst/>
          </a:prstGeom>
          <a:solidFill>
            <a:srgbClr val="FFFFFF"/>
          </a:solidFill>
          <a:ln/>
        </p:spPr>
      </p:sp>
      <p:sp>
        <p:nvSpPr>
          <p:cNvPr id="38" name="Text 36"/>
          <p:cNvSpPr/>
          <p:nvPr/>
        </p:nvSpPr>
        <p:spPr>
          <a:xfrm>
            <a:off x="10058400" y="242316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11.3</a:t>
            </a:r>
            <a:endParaRPr lang="en-US" sz="1000" dirty="0"/>
          </a:p>
        </p:txBody>
      </p:sp>
      <p:sp>
        <p:nvSpPr>
          <p:cNvPr id="39" name="Shape 37"/>
          <p:cNvSpPr/>
          <p:nvPr/>
        </p:nvSpPr>
        <p:spPr>
          <a:xfrm>
            <a:off x="457200" y="2971800"/>
            <a:ext cx="2743200" cy="548640"/>
          </a:xfrm>
          <a:prstGeom prst="rect">
            <a:avLst/>
          </a:prstGeom>
          <a:solidFill>
            <a:srgbClr val="F4F2ED"/>
          </a:solidFill>
          <a:ln/>
        </p:spPr>
      </p:sp>
      <p:sp>
        <p:nvSpPr>
          <p:cNvPr id="40" name="Text 38"/>
          <p:cNvSpPr/>
          <p:nvPr/>
        </p:nvSpPr>
        <p:spPr>
          <a:xfrm>
            <a:off x="457200" y="297180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Recap / sale proceeds</a:t>
            </a:r>
            <a:endParaRPr lang="en-US" sz="950" dirty="0"/>
          </a:p>
        </p:txBody>
      </p:sp>
      <p:sp>
        <p:nvSpPr>
          <p:cNvPr id="41" name="Shape 39"/>
          <p:cNvSpPr/>
          <p:nvPr/>
        </p:nvSpPr>
        <p:spPr>
          <a:xfrm>
            <a:off x="3200400" y="2971800"/>
            <a:ext cx="1371600" cy="548640"/>
          </a:xfrm>
          <a:prstGeom prst="rect">
            <a:avLst/>
          </a:prstGeom>
          <a:solidFill>
            <a:srgbClr val="F4F2ED"/>
          </a:solidFill>
          <a:ln/>
        </p:spPr>
      </p:sp>
      <p:sp>
        <p:nvSpPr>
          <p:cNvPr id="42" name="Text 40"/>
          <p:cNvSpPr/>
          <p:nvPr/>
        </p:nvSpPr>
        <p:spPr>
          <a:xfrm>
            <a:off x="32004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3" name="Shape 41"/>
          <p:cNvSpPr/>
          <p:nvPr/>
        </p:nvSpPr>
        <p:spPr>
          <a:xfrm>
            <a:off x="4572000" y="2971800"/>
            <a:ext cx="1371600" cy="548640"/>
          </a:xfrm>
          <a:prstGeom prst="rect">
            <a:avLst/>
          </a:prstGeom>
          <a:solidFill>
            <a:srgbClr val="F4F2ED"/>
          </a:solidFill>
          <a:ln/>
        </p:spPr>
      </p:sp>
      <p:sp>
        <p:nvSpPr>
          <p:cNvPr id="44" name="Text 42"/>
          <p:cNvSpPr/>
          <p:nvPr/>
        </p:nvSpPr>
        <p:spPr>
          <a:xfrm>
            <a:off x="45720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5" name="Shape 43"/>
          <p:cNvSpPr/>
          <p:nvPr/>
        </p:nvSpPr>
        <p:spPr>
          <a:xfrm>
            <a:off x="5943600" y="2971800"/>
            <a:ext cx="1371600" cy="548640"/>
          </a:xfrm>
          <a:prstGeom prst="rect">
            <a:avLst/>
          </a:prstGeom>
          <a:solidFill>
            <a:srgbClr val="F4F2ED"/>
          </a:solidFill>
          <a:ln/>
        </p:spPr>
      </p:sp>
      <p:sp>
        <p:nvSpPr>
          <p:cNvPr id="46" name="Text 44"/>
          <p:cNvSpPr/>
          <p:nvPr/>
        </p:nvSpPr>
        <p:spPr>
          <a:xfrm>
            <a:off x="59436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7" name="Shape 45"/>
          <p:cNvSpPr/>
          <p:nvPr/>
        </p:nvSpPr>
        <p:spPr>
          <a:xfrm>
            <a:off x="7315200" y="2971800"/>
            <a:ext cx="1371600" cy="548640"/>
          </a:xfrm>
          <a:prstGeom prst="rect">
            <a:avLst/>
          </a:prstGeom>
          <a:solidFill>
            <a:srgbClr val="F4F2ED"/>
          </a:solidFill>
          <a:ln/>
        </p:spPr>
      </p:sp>
      <p:sp>
        <p:nvSpPr>
          <p:cNvPr id="48" name="Text 46"/>
          <p:cNvSpPr/>
          <p:nvPr/>
        </p:nvSpPr>
        <p:spPr>
          <a:xfrm>
            <a:off x="73152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49" name="Shape 47"/>
          <p:cNvSpPr/>
          <p:nvPr/>
        </p:nvSpPr>
        <p:spPr>
          <a:xfrm>
            <a:off x="8686800" y="2971800"/>
            <a:ext cx="1371600" cy="548640"/>
          </a:xfrm>
          <a:prstGeom prst="rect">
            <a:avLst/>
          </a:prstGeom>
          <a:solidFill>
            <a:srgbClr val="F4F2ED"/>
          </a:solidFill>
          <a:ln/>
        </p:spPr>
      </p:sp>
      <p:sp>
        <p:nvSpPr>
          <p:cNvPr id="50" name="Text 48"/>
          <p:cNvSpPr/>
          <p:nvPr/>
        </p:nvSpPr>
        <p:spPr>
          <a:xfrm>
            <a:off x="8686800" y="297180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62.0</a:t>
            </a:r>
            <a:endParaRPr lang="en-US" sz="1000" dirty="0"/>
          </a:p>
        </p:txBody>
      </p:sp>
      <p:sp>
        <p:nvSpPr>
          <p:cNvPr id="51" name="Shape 49"/>
          <p:cNvSpPr/>
          <p:nvPr/>
        </p:nvSpPr>
        <p:spPr>
          <a:xfrm>
            <a:off x="10058400" y="2971800"/>
            <a:ext cx="1645920" cy="548640"/>
          </a:xfrm>
          <a:prstGeom prst="rect">
            <a:avLst/>
          </a:prstGeom>
          <a:solidFill>
            <a:srgbClr val="F4F2ED"/>
          </a:solidFill>
          <a:ln/>
        </p:spPr>
      </p:sp>
      <p:sp>
        <p:nvSpPr>
          <p:cNvPr id="52" name="Text 50"/>
          <p:cNvSpPr/>
          <p:nvPr/>
        </p:nvSpPr>
        <p:spPr>
          <a:xfrm>
            <a:off x="10058400" y="297180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62.0</a:t>
            </a:r>
            <a:endParaRPr lang="en-US" sz="1000" dirty="0"/>
          </a:p>
        </p:txBody>
      </p:sp>
      <p:sp>
        <p:nvSpPr>
          <p:cNvPr id="53" name="Shape 51"/>
          <p:cNvSpPr/>
          <p:nvPr/>
        </p:nvSpPr>
        <p:spPr>
          <a:xfrm>
            <a:off x="457200" y="3520440"/>
            <a:ext cx="2743200" cy="548640"/>
          </a:xfrm>
          <a:prstGeom prst="rect">
            <a:avLst/>
          </a:prstGeom>
          <a:solidFill>
            <a:srgbClr val="FFFFFF"/>
          </a:solidFill>
          <a:ln/>
        </p:spPr>
      </p:sp>
      <p:sp>
        <p:nvSpPr>
          <p:cNvPr id="54" name="Text 52"/>
          <p:cNvSpPr/>
          <p:nvPr/>
        </p:nvSpPr>
        <p:spPr>
          <a:xfrm>
            <a:off x="457200" y="352044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Less: development cost</a:t>
            </a:r>
            <a:endParaRPr lang="en-US" sz="950" dirty="0"/>
          </a:p>
        </p:txBody>
      </p:sp>
      <p:sp>
        <p:nvSpPr>
          <p:cNvPr id="55" name="Shape 53"/>
          <p:cNvSpPr/>
          <p:nvPr/>
        </p:nvSpPr>
        <p:spPr>
          <a:xfrm>
            <a:off x="3200400" y="3520440"/>
            <a:ext cx="1371600" cy="548640"/>
          </a:xfrm>
          <a:prstGeom prst="rect">
            <a:avLst/>
          </a:prstGeom>
          <a:solidFill>
            <a:srgbClr val="FFFFFF"/>
          </a:solidFill>
          <a:ln/>
        </p:spPr>
      </p:sp>
      <p:sp>
        <p:nvSpPr>
          <p:cNvPr id="56" name="Text 54"/>
          <p:cNvSpPr/>
          <p:nvPr/>
        </p:nvSpPr>
        <p:spPr>
          <a:xfrm>
            <a:off x="32004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(15.0)</a:t>
            </a:r>
            <a:endParaRPr lang="en-US" sz="1000" dirty="0"/>
          </a:p>
        </p:txBody>
      </p:sp>
      <p:sp>
        <p:nvSpPr>
          <p:cNvPr id="57" name="Shape 55"/>
          <p:cNvSpPr/>
          <p:nvPr/>
        </p:nvSpPr>
        <p:spPr>
          <a:xfrm>
            <a:off x="4572000" y="3520440"/>
            <a:ext cx="1371600" cy="548640"/>
          </a:xfrm>
          <a:prstGeom prst="rect">
            <a:avLst/>
          </a:prstGeom>
          <a:solidFill>
            <a:srgbClr val="FFFFFF"/>
          </a:solidFill>
          <a:ln/>
        </p:spPr>
      </p:sp>
      <p:sp>
        <p:nvSpPr>
          <p:cNvPr id="58" name="Text 56"/>
          <p:cNvSpPr/>
          <p:nvPr/>
        </p:nvSpPr>
        <p:spPr>
          <a:xfrm>
            <a:off x="45720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(20.0)</a:t>
            </a:r>
            <a:endParaRPr lang="en-US" sz="1000" dirty="0"/>
          </a:p>
        </p:txBody>
      </p:sp>
      <p:sp>
        <p:nvSpPr>
          <p:cNvPr id="59" name="Shape 57"/>
          <p:cNvSpPr/>
          <p:nvPr/>
        </p:nvSpPr>
        <p:spPr>
          <a:xfrm>
            <a:off x="5943600" y="3520440"/>
            <a:ext cx="1371600" cy="548640"/>
          </a:xfrm>
          <a:prstGeom prst="rect">
            <a:avLst/>
          </a:prstGeom>
          <a:solidFill>
            <a:srgbClr val="FFFFFF"/>
          </a:solidFill>
          <a:ln/>
        </p:spPr>
      </p:sp>
      <p:sp>
        <p:nvSpPr>
          <p:cNvPr id="60" name="Text 58"/>
          <p:cNvSpPr/>
          <p:nvPr/>
        </p:nvSpPr>
        <p:spPr>
          <a:xfrm>
            <a:off x="59436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(12.0)</a:t>
            </a:r>
            <a:endParaRPr lang="en-US" sz="1000" dirty="0"/>
          </a:p>
        </p:txBody>
      </p:sp>
      <p:sp>
        <p:nvSpPr>
          <p:cNvPr id="61" name="Shape 59"/>
          <p:cNvSpPr/>
          <p:nvPr/>
        </p:nvSpPr>
        <p:spPr>
          <a:xfrm>
            <a:off x="7315200" y="3520440"/>
            <a:ext cx="1371600" cy="548640"/>
          </a:xfrm>
          <a:prstGeom prst="rect">
            <a:avLst/>
          </a:prstGeom>
          <a:solidFill>
            <a:srgbClr val="FFFFFF"/>
          </a:solidFill>
          <a:ln/>
        </p:spPr>
      </p:sp>
      <p:sp>
        <p:nvSpPr>
          <p:cNvPr id="62" name="Text 60"/>
          <p:cNvSpPr/>
          <p:nvPr/>
        </p:nvSpPr>
        <p:spPr>
          <a:xfrm>
            <a:off x="73152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63" name="Shape 61"/>
          <p:cNvSpPr/>
          <p:nvPr/>
        </p:nvSpPr>
        <p:spPr>
          <a:xfrm>
            <a:off x="8686800" y="3520440"/>
            <a:ext cx="1371600" cy="548640"/>
          </a:xfrm>
          <a:prstGeom prst="rect">
            <a:avLst/>
          </a:prstGeom>
          <a:solidFill>
            <a:srgbClr val="FFFFFF"/>
          </a:solidFill>
          <a:ln/>
        </p:spPr>
      </p:sp>
      <p:sp>
        <p:nvSpPr>
          <p:cNvPr id="64" name="Text 62"/>
          <p:cNvSpPr/>
          <p:nvPr/>
        </p:nvSpPr>
        <p:spPr>
          <a:xfrm>
            <a:off x="8686800" y="352044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a:t>
            </a:r>
            <a:endParaRPr lang="en-US" sz="1000" dirty="0"/>
          </a:p>
        </p:txBody>
      </p:sp>
      <p:sp>
        <p:nvSpPr>
          <p:cNvPr id="65" name="Shape 63"/>
          <p:cNvSpPr/>
          <p:nvPr/>
        </p:nvSpPr>
        <p:spPr>
          <a:xfrm>
            <a:off x="10058400" y="3520440"/>
            <a:ext cx="1645920" cy="548640"/>
          </a:xfrm>
          <a:prstGeom prst="rect">
            <a:avLst/>
          </a:prstGeom>
          <a:solidFill>
            <a:srgbClr val="FFFFFF"/>
          </a:solidFill>
          <a:ln/>
        </p:spPr>
      </p:sp>
      <p:sp>
        <p:nvSpPr>
          <p:cNvPr id="66" name="Text 64"/>
          <p:cNvSpPr/>
          <p:nvPr/>
        </p:nvSpPr>
        <p:spPr>
          <a:xfrm>
            <a:off x="10058400" y="352044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(47.0)</a:t>
            </a:r>
            <a:endParaRPr lang="en-US" sz="1000" dirty="0"/>
          </a:p>
        </p:txBody>
      </p:sp>
      <p:sp>
        <p:nvSpPr>
          <p:cNvPr id="67" name="Shape 65"/>
          <p:cNvSpPr/>
          <p:nvPr/>
        </p:nvSpPr>
        <p:spPr>
          <a:xfrm>
            <a:off x="457200" y="4069080"/>
            <a:ext cx="2743200" cy="548640"/>
          </a:xfrm>
          <a:prstGeom prst="rect">
            <a:avLst/>
          </a:prstGeom>
          <a:solidFill>
            <a:srgbClr val="F4F2ED"/>
          </a:solidFill>
          <a:ln/>
        </p:spPr>
      </p:sp>
      <p:sp>
        <p:nvSpPr>
          <p:cNvPr id="68" name="Text 66"/>
          <p:cNvSpPr/>
          <p:nvPr/>
        </p:nvSpPr>
        <p:spPr>
          <a:xfrm>
            <a:off x="457200" y="406908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project cash flow</a:t>
            </a:r>
            <a:endParaRPr lang="en-US" sz="950" dirty="0"/>
          </a:p>
        </p:txBody>
      </p:sp>
      <p:sp>
        <p:nvSpPr>
          <p:cNvPr id="69" name="Shape 67"/>
          <p:cNvSpPr/>
          <p:nvPr/>
        </p:nvSpPr>
        <p:spPr>
          <a:xfrm>
            <a:off x="3200400" y="4069080"/>
            <a:ext cx="1371600" cy="548640"/>
          </a:xfrm>
          <a:prstGeom prst="rect">
            <a:avLst/>
          </a:prstGeom>
          <a:solidFill>
            <a:srgbClr val="F4F2ED"/>
          </a:solidFill>
          <a:ln/>
        </p:spPr>
      </p:sp>
      <p:sp>
        <p:nvSpPr>
          <p:cNvPr id="70" name="Text 68"/>
          <p:cNvSpPr/>
          <p:nvPr/>
        </p:nvSpPr>
        <p:spPr>
          <a:xfrm>
            <a:off x="32004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(15.0)</a:t>
            </a:r>
            <a:endParaRPr lang="en-US" sz="1000" dirty="0"/>
          </a:p>
        </p:txBody>
      </p:sp>
      <p:sp>
        <p:nvSpPr>
          <p:cNvPr id="71" name="Shape 69"/>
          <p:cNvSpPr/>
          <p:nvPr/>
        </p:nvSpPr>
        <p:spPr>
          <a:xfrm>
            <a:off x="4572000" y="4069080"/>
            <a:ext cx="1371600" cy="548640"/>
          </a:xfrm>
          <a:prstGeom prst="rect">
            <a:avLst/>
          </a:prstGeom>
          <a:solidFill>
            <a:srgbClr val="F4F2ED"/>
          </a:solidFill>
          <a:ln/>
        </p:spPr>
      </p:sp>
      <p:sp>
        <p:nvSpPr>
          <p:cNvPr id="72" name="Text 70"/>
          <p:cNvSpPr/>
          <p:nvPr/>
        </p:nvSpPr>
        <p:spPr>
          <a:xfrm>
            <a:off x="45720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(20.0)</a:t>
            </a:r>
            <a:endParaRPr lang="en-US" sz="1000" dirty="0"/>
          </a:p>
        </p:txBody>
      </p:sp>
      <p:sp>
        <p:nvSpPr>
          <p:cNvPr id="73" name="Shape 71"/>
          <p:cNvSpPr/>
          <p:nvPr/>
        </p:nvSpPr>
        <p:spPr>
          <a:xfrm>
            <a:off x="5943600" y="4069080"/>
            <a:ext cx="1371600" cy="548640"/>
          </a:xfrm>
          <a:prstGeom prst="rect">
            <a:avLst/>
          </a:prstGeom>
          <a:solidFill>
            <a:srgbClr val="F4F2ED"/>
          </a:solidFill>
          <a:ln/>
        </p:spPr>
      </p:sp>
      <p:sp>
        <p:nvSpPr>
          <p:cNvPr id="74" name="Text 72"/>
          <p:cNvSpPr/>
          <p:nvPr/>
        </p:nvSpPr>
        <p:spPr>
          <a:xfrm>
            <a:off x="59436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(10.1)</a:t>
            </a:r>
            <a:endParaRPr lang="en-US" sz="1000" dirty="0"/>
          </a:p>
        </p:txBody>
      </p:sp>
      <p:sp>
        <p:nvSpPr>
          <p:cNvPr id="75" name="Shape 73"/>
          <p:cNvSpPr/>
          <p:nvPr/>
        </p:nvSpPr>
        <p:spPr>
          <a:xfrm>
            <a:off x="7315200" y="4069080"/>
            <a:ext cx="1371600" cy="548640"/>
          </a:xfrm>
          <a:prstGeom prst="rect">
            <a:avLst/>
          </a:prstGeom>
          <a:solidFill>
            <a:srgbClr val="F4F2ED"/>
          </a:solidFill>
          <a:ln/>
        </p:spPr>
      </p:sp>
      <p:sp>
        <p:nvSpPr>
          <p:cNvPr id="76" name="Text 74"/>
          <p:cNvSpPr/>
          <p:nvPr/>
        </p:nvSpPr>
        <p:spPr>
          <a:xfrm>
            <a:off x="73152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4.7</a:t>
            </a:r>
            <a:endParaRPr lang="en-US" sz="1000" dirty="0"/>
          </a:p>
        </p:txBody>
      </p:sp>
      <p:sp>
        <p:nvSpPr>
          <p:cNvPr id="77" name="Shape 75"/>
          <p:cNvSpPr/>
          <p:nvPr/>
        </p:nvSpPr>
        <p:spPr>
          <a:xfrm>
            <a:off x="8686800" y="4069080"/>
            <a:ext cx="1371600" cy="548640"/>
          </a:xfrm>
          <a:prstGeom prst="rect">
            <a:avLst/>
          </a:prstGeom>
          <a:solidFill>
            <a:srgbClr val="F4F2ED"/>
          </a:solidFill>
          <a:ln/>
        </p:spPr>
      </p:sp>
      <p:sp>
        <p:nvSpPr>
          <p:cNvPr id="78" name="Text 76"/>
          <p:cNvSpPr/>
          <p:nvPr/>
        </p:nvSpPr>
        <p:spPr>
          <a:xfrm>
            <a:off x="8686800" y="4069080"/>
            <a:ext cx="1371600" cy="548640"/>
          </a:xfrm>
          <a:prstGeom prst="rect">
            <a:avLst/>
          </a:prstGeom>
          <a:noFill/>
          <a:ln/>
        </p:spPr>
        <p:txBody>
          <a:bodyPr wrap="square" lIns="25400" tIns="76200" rIns="76200" bIns="25400" rtlCol="0" anchor="ctr"/>
          <a:lstStyle/>
          <a:p>
            <a:pPr algn="ctr" indent="0" marL="0">
              <a:buNone/>
            </a:pPr>
            <a:r>
              <a:rPr lang="en-US" sz="1000" b="1" dirty="0">
                <a:solidFill>
                  <a:srgbClr val="0B163C"/>
                </a:solidFill>
                <a:latin typeface="Montserrat" pitchFamily="34" charset="0"/>
                <a:ea typeface="Montserrat" pitchFamily="34" charset="-122"/>
                <a:cs typeface="Montserrat" pitchFamily="34" charset="-120"/>
              </a:rPr>
              <a:t>66.7</a:t>
            </a:r>
            <a:endParaRPr lang="en-US" sz="1000" dirty="0"/>
          </a:p>
        </p:txBody>
      </p:sp>
      <p:sp>
        <p:nvSpPr>
          <p:cNvPr id="79" name="Shape 77"/>
          <p:cNvSpPr/>
          <p:nvPr/>
        </p:nvSpPr>
        <p:spPr>
          <a:xfrm>
            <a:off x="10058400" y="4069080"/>
            <a:ext cx="1645920" cy="548640"/>
          </a:xfrm>
          <a:prstGeom prst="rect">
            <a:avLst/>
          </a:prstGeom>
          <a:solidFill>
            <a:srgbClr val="F4F2ED"/>
          </a:solidFill>
          <a:ln/>
        </p:spPr>
      </p:sp>
      <p:sp>
        <p:nvSpPr>
          <p:cNvPr id="80" name="Text 78"/>
          <p:cNvSpPr/>
          <p:nvPr/>
        </p:nvSpPr>
        <p:spPr>
          <a:xfrm>
            <a:off x="10058400" y="4069080"/>
            <a:ext cx="1645920" cy="548640"/>
          </a:xfrm>
          <a:prstGeom prst="rect">
            <a:avLst/>
          </a:prstGeom>
          <a:noFill/>
          <a:ln/>
        </p:spPr>
        <p:txBody>
          <a:bodyPr wrap="square" lIns="25400" tIns="76200" rIns="76200" bIns="25400" rtlCol="0" anchor="ctr"/>
          <a:lstStyle/>
          <a:p>
            <a:pPr algn="r" indent="0" marL="0">
              <a:buNone/>
            </a:pPr>
            <a:r>
              <a:rPr lang="en-US" sz="1000" b="1" dirty="0">
                <a:solidFill>
                  <a:srgbClr val="3A243A"/>
                </a:solidFill>
                <a:latin typeface="Montserrat" pitchFamily="34" charset="0"/>
                <a:ea typeface="Montserrat" pitchFamily="34" charset="-122"/>
                <a:cs typeface="Montserrat" pitchFamily="34" charset="-120"/>
              </a:rPr>
              <a:t>26.3</a:t>
            </a:r>
            <a:endParaRPr lang="en-US" sz="1000" dirty="0"/>
          </a:p>
        </p:txBody>
      </p:sp>
      <p:sp>
        <p:nvSpPr>
          <p:cNvPr id="81" name="Shape 79"/>
          <p:cNvSpPr/>
          <p:nvPr/>
        </p:nvSpPr>
        <p:spPr>
          <a:xfrm>
            <a:off x="457200" y="4617720"/>
            <a:ext cx="2743200" cy="548640"/>
          </a:xfrm>
          <a:prstGeom prst="rect">
            <a:avLst/>
          </a:prstGeom>
          <a:solidFill>
            <a:srgbClr val="FFFFFF"/>
          </a:solidFill>
          <a:ln/>
        </p:spPr>
      </p:sp>
      <p:sp>
        <p:nvSpPr>
          <p:cNvPr id="82" name="Text 80"/>
          <p:cNvSpPr/>
          <p:nvPr/>
        </p:nvSpPr>
        <p:spPr>
          <a:xfrm>
            <a:off x="457200" y="4617720"/>
            <a:ext cx="2743200" cy="548640"/>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Cumulative cash flow</a:t>
            </a:r>
            <a:endParaRPr lang="en-US" sz="950" dirty="0"/>
          </a:p>
        </p:txBody>
      </p:sp>
      <p:sp>
        <p:nvSpPr>
          <p:cNvPr id="83" name="Shape 81"/>
          <p:cNvSpPr/>
          <p:nvPr/>
        </p:nvSpPr>
        <p:spPr>
          <a:xfrm>
            <a:off x="3200400" y="4617720"/>
            <a:ext cx="1371600" cy="548640"/>
          </a:xfrm>
          <a:prstGeom prst="rect">
            <a:avLst/>
          </a:prstGeom>
          <a:solidFill>
            <a:srgbClr val="FFFFFF"/>
          </a:solidFill>
          <a:ln/>
        </p:spPr>
      </p:sp>
      <p:sp>
        <p:nvSpPr>
          <p:cNvPr id="84" name="Text 82"/>
          <p:cNvSpPr/>
          <p:nvPr/>
        </p:nvSpPr>
        <p:spPr>
          <a:xfrm>
            <a:off x="32004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(15.0)</a:t>
            </a:r>
            <a:endParaRPr lang="en-US" sz="1000" dirty="0"/>
          </a:p>
        </p:txBody>
      </p:sp>
      <p:sp>
        <p:nvSpPr>
          <p:cNvPr id="85" name="Shape 83"/>
          <p:cNvSpPr/>
          <p:nvPr/>
        </p:nvSpPr>
        <p:spPr>
          <a:xfrm>
            <a:off x="4572000" y="4617720"/>
            <a:ext cx="1371600" cy="548640"/>
          </a:xfrm>
          <a:prstGeom prst="rect">
            <a:avLst/>
          </a:prstGeom>
          <a:solidFill>
            <a:srgbClr val="FFFFFF"/>
          </a:solidFill>
          <a:ln/>
        </p:spPr>
      </p:sp>
      <p:sp>
        <p:nvSpPr>
          <p:cNvPr id="86" name="Text 84"/>
          <p:cNvSpPr/>
          <p:nvPr/>
        </p:nvSpPr>
        <p:spPr>
          <a:xfrm>
            <a:off x="45720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(35.0)</a:t>
            </a:r>
            <a:endParaRPr lang="en-US" sz="1000" dirty="0"/>
          </a:p>
        </p:txBody>
      </p:sp>
      <p:sp>
        <p:nvSpPr>
          <p:cNvPr id="87" name="Shape 85"/>
          <p:cNvSpPr/>
          <p:nvPr/>
        </p:nvSpPr>
        <p:spPr>
          <a:xfrm>
            <a:off x="5943600" y="4617720"/>
            <a:ext cx="1371600" cy="548640"/>
          </a:xfrm>
          <a:prstGeom prst="rect">
            <a:avLst/>
          </a:prstGeom>
          <a:solidFill>
            <a:srgbClr val="FFFFFF"/>
          </a:solidFill>
          <a:ln/>
        </p:spPr>
      </p:sp>
      <p:sp>
        <p:nvSpPr>
          <p:cNvPr id="88" name="Text 86"/>
          <p:cNvSpPr/>
          <p:nvPr/>
        </p:nvSpPr>
        <p:spPr>
          <a:xfrm>
            <a:off x="59436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(45.1)</a:t>
            </a:r>
            <a:endParaRPr lang="en-US" sz="1000" dirty="0"/>
          </a:p>
        </p:txBody>
      </p:sp>
      <p:sp>
        <p:nvSpPr>
          <p:cNvPr id="89" name="Shape 87"/>
          <p:cNvSpPr/>
          <p:nvPr/>
        </p:nvSpPr>
        <p:spPr>
          <a:xfrm>
            <a:off x="7315200" y="4617720"/>
            <a:ext cx="1371600" cy="548640"/>
          </a:xfrm>
          <a:prstGeom prst="rect">
            <a:avLst/>
          </a:prstGeom>
          <a:solidFill>
            <a:srgbClr val="FFFFFF"/>
          </a:solidFill>
          <a:ln/>
        </p:spPr>
      </p:sp>
      <p:sp>
        <p:nvSpPr>
          <p:cNvPr id="90" name="Text 88"/>
          <p:cNvSpPr/>
          <p:nvPr/>
        </p:nvSpPr>
        <p:spPr>
          <a:xfrm>
            <a:off x="73152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(40.4)</a:t>
            </a:r>
            <a:endParaRPr lang="en-US" sz="1000" dirty="0"/>
          </a:p>
        </p:txBody>
      </p:sp>
      <p:sp>
        <p:nvSpPr>
          <p:cNvPr id="91" name="Shape 89"/>
          <p:cNvSpPr/>
          <p:nvPr/>
        </p:nvSpPr>
        <p:spPr>
          <a:xfrm>
            <a:off x="8686800" y="4617720"/>
            <a:ext cx="1371600" cy="548640"/>
          </a:xfrm>
          <a:prstGeom prst="rect">
            <a:avLst/>
          </a:prstGeom>
          <a:solidFill>
            <a:srgbClr val="FFFFFF"/>
          </a:solidFill>
          <a:ln/>
        </p:spPr>
      </p:sp>
      <p:sp>
        <p:nvSpPr>
          <p:cNvPr id="92" name="Text 90"/>
          <p:cNvSpPr/>
          <p:nvPr/>
        </p:nvSpPr>
        <p:spPr>
          <a:xfrm>
            <a:off x="8686800" y="4617720"/>
            <a:ext cx="1371600" cy="548640"/>
          </a:xfrm>
          <a:prstGeom prst="rect">
            <a:avLst/>
          </a:prstGeom>
          <a:noFill/>
          <a:ln/>
        </p:spPr>
        <p:txBody>
          <a:bodyPr wrap="square" lIns="25400" tIns="76200" rIns="76200" bIns="25400" rtlCol="0" anchor="ctr"/>
          <a:lstStyle/>
          <a:p>
            <a:pPr algn="ctr" indent="0" marL="0">
              <a:buNone/>
            </a:pPr>
            <a:r>
              <a:rPr lang="en-US" sz="1000" dirty="0">
                <a:solidFill>
                  <a:srgbClr val="0B163C"/>
                </a:solidFill>
                <a:latin typeface="DM Sans" pitchFamily="34" charset="0"/>
                <a:ea typeface="DM Sans" pitchFamily="34" charset="-122"/>
                <a:cs typeface="DM Sans" pitchFamily="34" charset="-120"/>
              </a:rPr>
              <a:t>26.3</a:t>
            </a:r>
            <a:endParaRPr lang="en-US" sz="1000" dirty="0"/>
          </a:p>
        </p:txBody>
      </p:sp>
      <p:sp>
        <p:nvSpPr>
          <p:cNvPr id="93" name="Shape 91"/>
          <p:cNvSpPr/>
          <p:nvPr/>
        </p:nvSpPr>
        <p:spPr>
          <a:xfrm>
            <a:off x="10058400" y="4617720"/>
            <a:ext cx="1645920" cy="548640"/>
          </a:xfrm>
          <a:prstGeom prst="rect">
            <a:avLst/>
          </a:prstGeom>
          <a:solidFill>
            <a:srgbClr val="FFFFFF"/>
          </a:solidFill>
          <a:ln/>
        </p:spPr>
      </p:sp>
      <p:sp>
        <p:nvSpPr>
          <p:cNvPr id="94" name="Text 92"/>
          <p:cNvSpPr/>
          <p:nvPr/>
        </p:nvSpPr>
        <p:spPr>
          <a:xfrm>
            <a:off x="10058400" y="4617720"/>
            <a:ext cx="1645920" cy="548640"/>
          </a:xfrm>
          <a:prstGeom prst="rect">
            <a:avLst/>
          </a:prstGeom>
          <a:noFill/>
          <a:ln/>
        </p:spPr>
        <p:txBody>
          <a:bodyPr wrap="square" lIns="25400" tIns="76200" rIns="76200" bIns="25400" rtlCol="0" anchor="ctr"/>
          <a:lstStyle/>
          <a:p>
            <a:pPr algn="r" indent="0" marL="0">
              <a:buNone/>
            </a:pPr>
            <a:endParaRPr lang="en-US" sz="1000" dirty="0"/>
          </a:p>
        </p:txBody>
      </p:sp>
      <p:sp>
        <p:nvSpPr>
          <p:cNvPr id="95" name="Shape 93"/>
          <p:cNvSpPr/>
          <p:nvPr/>
        </p:nvSpPr>
        <p:spPr>
          <a:xfrm>
            <a:off x="457200" y="5303520"/>
            <a:ext cx="11274552" cy="420624"/>
          </a:xfrm>
          <a:prstGeom prst="rect">
            <a:avLst/>
          </a:prstGeom>
          <a:solidFill>
            <a:srgbClr val="3A243A"/>
          </a:solidFill>
          <a:ln/>
        </p:spPr>
      </p:sp>
      <p:sp>
        <p:nvSpPr>
          <p:cNvPr id="96" name="Text 94"/>
          <p:cNvSpPr/>
          <p:nvPr/>
        </p:nvSpPr>
        <p:spPr>
          <a:xfrm>
            <a:off x="640080" y="530352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Develops to ~cost; value is created at the recap / sale. Build-to-core (65% LTC) levered IRR ~28% / ~2.3× — see the Phase 2 sensitivity.</a:t>
            </a:r>
            <a:endParaRPr lang="en-US" sz="1100" dirty="0"/>
          </a:p>
        </p:txBody>
      </p:sp>
      <p:sp>
        <p:nvSpPr>
          <p:cNvPr id="97" name="Text 95"/>
          <p:cNvSpPr/>
          <p:nvPr/>
        </p:nvSpPr>
        <p:spPr>
          <a:xfrm>
            <a:off x="457200" y="5989320"/>
            <a:ext cx="11274552" cy="256032"/>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Project-level cash flow; illustrative phasing. A 120-key resort &amp; spa is already designed (FILLAT+). Figures subject to confirmation.</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19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CAPITAL ACCESS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I bring the capital relationships.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When a parcel does call for equity or debt — or to move faster — here's the access. Active mandates, not a paper Rolodex.</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Equity being raised now</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Houston retail — family-office capital, closing summer 2026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$19.5M</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Debt already secured</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Lender committed on the same transaction</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Mid-20s%</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Target development IRR</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Investors expect mid-to-high 20s out-of-state</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$6.1B</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Career transaction volume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debt &amp; equity — Blackstone + Levcor</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NETWORK</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Where I place capital — equity and debt.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Family offices (Texas) — my core equity base; they'll travel for the right risk-adjusted return.</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Institutional equity — private-equity fund relationships.</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National debt — Goldman Sachs (met two weeks ago; national platform, Dallas team) + specialty lenders.</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bar for out-of-state development is mid-to-high-20s IRR — the fresh land basis helps clear it.</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20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STRUCTURE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vehicle inside the H6 platform.</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Capital H6 owns the land. Spin the developable parcels into a land-development entity — H6 contributes the acreage as equity; JAL runs entitlement, capital formation and lot sales alongside your team.</a:t>
            </a:r>
            <a:endParaRPr lang="en-US" sz="1300" dirty="0"/>
          </a:p>
        </p:txBody>
      </p:sp>
      <p:sp>
        <p:nvSpPr>
          <p:cNvPr id="11" name="Shape 9"/>
          <p:cNvSpPr/>
          <p:nvPr/>
        </p:nvSpPr>
        <p:spPr>
          <a:xfrm>
            <a:off x="457200" y="1783080"/>
            <a:ext cx="11274552" cy="786384"/>
          </a:xfrm>
          <a:prstGeom prst="rect">
            <a:avLst/>
          </a:prstGeom>
          <a:solidFill>
            <a:srgbClr val="0B163C"/>
          </a:solidFill>
          <a:ln/>
        </p:spPr>
      </p:sp>
      <p:sp>
        <p:nvSpPr>
          <p:cNvPr id="12" name="Shape 10"/>
          <p:cNvSpPr/>
          <p:nvPr/>
        </p:nvSpPr>
        <p:spPr>
          <a:xfrm>
            <a:off x="457200" y="1783080"/>
            <a:ext cx="109728" cy="786384"/>
          </a:xfrm>
          <a:prstGeom prst="rect">
            <a:avLst/>
          </a:prstGeom>
          <a:solidFill>
            <a:srgbClr val="3A243A"/>
          </a:solidFill>
          <a:ln/>
        </p:spPr>
      </p:sp>
      <p:sp>
        <p:nvSpPr>
          <p:cNvPr id="13" name="Text 11"/>
          <p:cNvSpPr/>
          <p:nvPr/>
        </p:nvSpPr>
        <p:spPr>
          <a:xfrm>
            <a:off x="777240" y="1883664"/>
            <a:ext cx="7955280"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Montserrat" pitchFamily="34" charset="0"/>
                <a:ea typeface="Montserrat" pitchFamily="34" charset="-122"/>
                <a:cs typeface="Montserrat" pitchFamily="34" charset="-120"/>
              </a:rPr>
              <a:t>QUEENSTOWN HARBOR LAND PARTNERS, LLC</a:t>
            </a:r>
            <a:endParaRPr lang="en-US" sz="1600" dirty="0"/>
          </a:p>
        </p:txBody>
      </p:sp>
      <p:sp>
        <p:nvSpPr>
          <p:cNvPr id="14" name="Text 12"/>
          <p:cNvSpPr/>
          <p:nvPr/>
        </p:nvSpPr>
        <p:spPr>
          <a:xfrm>
            <a:off x="777240" y="2249424"/>
            <a:ext cx="7772400" cy="274320"/>
          </a:xfrm>
          <a:prstGeom prst="rect">
            <a:avLst/>
          </a:prstGeom>
          <a:noFill/>
          <a:ln/>
        </p:spPr>
        <p:txBody>
          <a:bodyPr wrap="square" lIns="0" tIns="0" rIns="0" bIns="0" rtlCol="0" anchor="ctr"/>
          <a:lstStyle/>
          <a:p>
            <a:pPr algn="l" indent="0" marL="0">
              <a:buNone/>
            </a:pPr>
            <a:r>
              <a:rPr lang="en-US" sz="1000" dirty="0">
                <a:solidFill>
                  <a:srgbClr val="C4B8C4"/>
                </a:solidFill>
                <a:latin typeface="DM Sans" pitchFamily="34" charset="0"/>
                <a:ea typeface="DM Sans" pitchFamily="34" charset="-122"/>
                <a:cs typeface="DM Sans" pitchFamily="34" charset="-120"/>
              </a:rPr>
              <a:t>Working name</a:t>
            </a:r>
            <a:endParaRPr lang="en-US" sz="1000" dirty="0"/>
          </a:p>
        </p:txBody>
      </p:sp>
      <p:sp>
        <p:nvSpPr>
          <p:cNvPr id="15" name="Text 13"/>
          <p:cNvSpPr/>
          <p:nvPr/>
        </p:nvSpPr>
        <p:spPr>
          <a:xfrm>
            <a:off x="8595360" y="1783080"/>
            <a:ext cx="3108960" cy="786384"/>
          </a:xfrm>
          <a:prstGeom prst="rect">
            <a:avLst/>
          </a:prstGeom>
          <a:noFill/>
          <a:ln/>
        </p:spPr>
        <p:txBody>
          <a:bodyPr wrap="square" lIns="25400" tIns="76200" rIns="127000" bIns="25400" rtlCol="0" anchor="ctr"/>
          <a:lstStyle/>
          <a:p>
            <a:pPr algn="r" indent="0" marL="0">
              <a:buNone/>
            </a:pPr>
            <a:r>
              <a:rPr lang="en-US" sz="1000" dirty="0">
                <a:solidFill>
                  <a:srgbClr val="C4B8C4"/>
                </a:solidFill>
                <a:latin typeface="DM Sans" pitchFamily="34" charset="0"/>
                <a:ea typeface="DM Sans" pitchFamily="34" charset="-122"/>
                <a:cs typeface="DM Sans" pitchFamily="34" charset="-120"/>
              </a:rPr>
              <a:t>Land-development vehicle under Capital H6</a:t>
            </a:r>
            <a:endParaRPr lang="en-US" sz="1000" dirty="0"/>
          </a:p>
        </p:txBody>
      </p:sp>
      <p:sp>
        <p:nvSpPr>
          <p:cNvPr id="16" name="Shape 14"/>
          <p:cNvSpPr/>
          <p:nvPr/>
        </p:nvSpPr>
        <p:spPr>
          <a:xfrm>
            <a:off x="457200" y="2743200"/>
            <a:ext cx="3593592" cy="2606040"/>
          </a:xfrm>
          <a:prstGeom prst="rect">
            <a:avLst/>
          </a:prstGeom>
          <a:solidFill>
            <a:srgbClr val="FFFFFF"/>
          </a:solidFill>
          <a:ln w="9525">
            <a:solidFill>
              <a:srgbClr val="E6E1DB"/>
            </a:solidFill>
            <a:prstDash val="solid"/>
          </a:ln>
        </p:spPr>
      </p:sp>
      <p:sp>
        <p:nvSpPr>
          <p:cNvPr id="17" name="Text 15"/>
          <p:cNvSpPr/>
          <p:nvPr/>
        </p:nvSpPr>
        <p:spPr>
          <a:xfrm>
            <a:off x="685800"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LAND = EQUITY</a:t>
            </a:r>
            <a:endParaRPr lang="en-US" sz="1100" dirty="0"/>
          </a:p>
        </p:txBody>
      </p:sp>
      <p:sp>
        <p:nvSpPr>
          <p:cNvPr id="18" name="Text 16"/>
          <p:cNvSpPr/>
          <p:nvPr/>
        </p:nvSpPr>
        <p:spPr>
          <a:xfrm>
            <a:off x="685800" y="3200400"/>
            <a:ext cx="3136392" cy="548640"/>
          </a:xfrm>
          <a:prstGeom prst="rect">
            <a:avLst/>
          </a:prstGeom>
          <a:noFill/>
          <a:ln/>
        </p:spPr>
        <p:txBody>
          <a:bodyPr wrap="square" lIns="0" tIns="0" rIns="0" bIns="0" rtlCol="0" anchor="ctr"/>
          <a:lstStyle/>
          <a:p>
            <a:pPr algn="l" indent="0" marL="0">
              <a:buNone/>
            </a:pPr>
            <a:r>
              <a:rPr lang="en-US" sz="3000" b="1" dirty="0">
                <a:solidFill>
                  <a:srgbClr val="0B163C"/>
                </a:solidFill>
                <a:latin typeface="Montserrat" pitchFamily="34" charset="0"/>
                <a:ea typeface="Montserrat" pitchFamily="34" charset="-122"/>
                <a:cs typeface="Montserrat" pitchFamily="34" charset="-120"/>
              </a:rPr>
              <a:t>Owned</a:t>
            </a:r>
            <a:endParaRPr lang="en-US" sz="3000" dirty="0"/>
          </a:p>
        </p:txBody>
      </p:sp>
      <p:sp>
        <p:nvSpPr>
          <p:cNvPr id="19" name="Text 17"/>
          <p:cNvSpPr/>
          <p:nvPr/>
        </p:nvSpPr>
        <p:spPr>
          <a:xfrm>
            <a:off x="685800" y="3840480"/>
            <a:ext cx="3136392" cy="1371600"/>
          </a:xfrm>
          <a:prstGeom prst="rect">
            <a:avLst/>
          </a:prstGeom>
          <a:noFill/>
          <a:ln/>
        </p:spPr>
        <p:txBody>
          <a:bodyPr wrap="square" lIns="0" tIns="0" rIns="0" bIns="0" rtlCol="0" anchor="t"/>
          <a:lstStyle/>
          <a:p>
            <a:pPr algn="l" indent="0" marL="0">
              <a:lnSpc>
                <a:spcPts val="1400"/>
              </a:lnSpc>
              <a:buNone/>
            </a:pPr>
            <a:r>
              <a:rPr lang="en-US" sz="1050" dirty="0">
                <a:solidFill>
                  <a:srgbClr val="6B5A6B"/>
                </a:solidFill>
                <a:latin typeface="DM Sans" pitchFamily="34" charset="0"/>
                <a:ea typeface="DM Sans" pitchFamily="34" charset="-122"/>
                <a:cs typeface="DM Sans" pitchFamily="34" charset="-120"/>
              </a:rPr>
              <a:t>Developable acreage contributed by Capital H6 at appraised value — just acquired, at a low basis.</a:t>
            </a:r>
            <a:endParaRPr lang="en-US" sz="1050" dirty="0"/>
          </a:p>
        </p:txBody>
      </p:sp>
      <p:sp>
        <p:nvSpPr>
          <p:cNvPr id="20" name="Shape 18"/>
          <p:cNvSpPr/>
          <p:nvPr/>
        </p:nvSpPr>
        <p:spPr>
          <a:xfrm>
            <a:off x="4224528" y="2743200"/>
            <a:ext cx="3593592" cy="2606040"/>
          </a:xfrm>
          <a:prstGeom prst="rect">
            <a:avLst/>
          </a:prstGeom>
          <a:solidFill>
            <a:srgbClr val="FFFFFF"/>
          </a:solidFill>
          <a:ln w="9525">
            <a:solidFill>
              <a:srgbClr val="E6E1DB"/>
            </a:solidFill>
            <a:prstDash val="solid"/>
          </a:ln>
        </p:spPr>
      </p:sp>
      <p:sp>
        <p:nvSpPr>
          <p:cNvPr id="21" name="Text 19"/>
          <p:cNvSpPr/>
          <p:nvPr/>
        </p:nvSpPr>
        <p:spPr>
          <a:xfrm>
            <a:off x="4453128"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CAPITAL STACK</a:t>
            </a:r>
            <a:endParaRPr lang="en-US" sz="1100" dirty="0"/>
          </a:p>
        </p:txBody>
      </p:sp>
      <p:sp>
        <p:nvSpPr>
          <p:cNvPr id="22" name="Text 20"/>
          <p:cNvSpPr/>
          <p:nvPr/>
        </p:nvSpPr>
        <p:spPr>
          <a:xfrm>
            <a:off x="4453128" y="3163824"/>
            <a:ext cx="3136392" cy="228600"/>
          </a:xfrm>
          <a:prstGeom prst="rect">
            <a:avLst/>
          </a:prstGeom>
          <a:noFill/>
          <a:ln/>
        </p:spPr>
        <p:txBody>
          <a:bodyPr wrap="square" lIns="0" tIns="0" rIns="0" bIns="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Illustrative</a:t>
            </a:r>
            <a:endParaRPr lang="en-US" sz="900" dirty="0"/>
          </a:p>
        </p:txBody>
      </p:sp>
      <p:sp>
        <p:nvSpPr>
          <p:cNvPr id="23" name="Text 21"/>
          <p:cNvSpPr/>
          <p:nvPr/>
        </p:nvSpPr>
        <p:spPr>
          <a:xfrm>
            <a:off x="4453128" y="345643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Land equity</a:t>
            </a:r>
            <a:endParaRPr lang="en-US" sz="1000" dirty="0"/>
          </a:p>
        </p:txBody>
      </p:sp>
      <p:sp>
        <p:nvSpPr>
          <p:cNvPr id="24" name="Text 22"/>
          <p:cNvSpPr/>
          <p:nvPr/>
        </p:nvSpPr>
        <p:spPr>
          <a:xfrm>
            <a:off x="6601968" y="345643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Contributed</a:t>
            </a:r>
            <a:endParaRPr lang="en-US" sz="950" dirty="0"/>
          </a:p>
        </p:txBody>
      </p:sp>
      <p:sp>
        <p:nvSpPr>
          <p:cNvPr id="25" name="Shape 23"/>
          <p:cNvSpPr/>
          <p:nvPr/>
        </p:nvSpPr>
        <p:spPr>
          <a:xfrm>
            <a:off x="4453128" y="3785616"/>
            <a:ext cx="3136392" cy="9144"/>
          </a:xfrm>
          <a:prstGeom prst="rect">
            <a:avLst/>
          </a:prstGeom>
          <a:solidFill>
            <a:srgbClr val="C4B8C4"/>
          </a:solidFill>
          <a:ln/>
        </p:spPr>
      </p:sp>
      <p:sp>
        <p:nvSpPr>
          <p:cNvPr id="26" name="Text 24"/>
          <p:cNvSpPr/>
          <p:nvPr/>
        </p:nvSpPr>
        <p:spPr>
          <a:xfrm>
            <a:off x="4453128" y="395935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Builder-funded infra</a:t>
            </a:r>
            <a:endParaRPr lang="en-US" sz="1000" dirty="0"/>
          </a:p>
        </p:txBody>
      </p:sp>
      <p:sp>
        <p:nvSpPr>
          <p:cNvPr id="27" name="Text 25"/>
          <p:cNvSpPr/>
          <p:nvPr/>
        </p:nvSpPr>
        <p:spPr>
          <a:xfrm>
            <a:off x="6601968" y="395935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Horizontal</a:t>
            </a:r>
            <a:endParaRPr lang="en-US" sz="950" dirty="0"/>
          </a:p>
        </p:txBody>
      </p:sp>
      <p:sp>
        <p:nvSpPr>
          <p:cNvPr id="28" name="Shape 26"/>
          <p:cNvSpPr/>
          <p:nvPr/>
        </p:nvSpPr>
        <p:spPr>
          <a:xfrm>
            <a:off x="4453128" y="4288536"/>
            <a:ext cx="3136392" cy="9144"/>
          </a:xfrm>
          <a:prstGeom prst="rect">
            <a:avLst/>
          </a:prstGeom>
          <a:solidFill>
            <a:srgbClr val="C4B8C4"/>
          </a:solidFill>
          <a:ln/>
        </p:spPr>
      </p:sp>
      <p:sp>
        <p:nvSpPr>
          <p:cNvPr id="29" name="Text 27"/>
          <p:cNvSpPr/>
          <p:nvPr/>
        </p:nvSpPr>
        <p:spPr>
          <a:xfrm>
            <a:off x="4453128" y="446227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Cash equity</a:t>
            </a:r>
            <a:endParaRPr lang="en-US" sz="1000" dirty="0"/>
          </a:p>
        </p:txBody>
      </p:sp>
      <p:sp>
        <p:nvSpPr>
          <p:cNvPr id="30" name="Text 28"/>
          <p:cNvSpPr/>
          <p:nvPr/>
        </p:nvSpPr>
        <p:spPr>
          <a:xfrm>
            <a:off x="6601968" y="446227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Soft costs</a:t>
            </a:r>
            <a:endParaRPr lang="en-US" sz="950" dirty="0"/>
          </a:p>
        </p:txBody>
      </p:sp>
      <p:sp>
        <p:nvSpPr>
          <p:cNvPr id="31" name="Shape 29"/>
          <p:cNvSpPr/>
          <p:nvPr/>
        </p:nvSpPr>
        <p:spPr>
          <a:xfrm>
            <a:off x="4453128" y="4791456"/>
            <a:ext cx="3136392" cy="9144"/>
          </a:xfrm>
          <a:prstGeom prst="rect">
            <a:avLst/>
          </a:prstGeom>
          <a:solidFill>
            <a:srgbClr val="C4B8C4"/>
          </a:solidFill>
          <a:ln/>
        </p:spPr>
      </p:sp>
      <p:sp>
        <p:nvSpPr>
          <p:cNvPr id="32" name="Shape 30"/>
          <p:cNvSpPr/>
          <p:nvPr/>
        </p:nvSpPr>
        <p:spPr>
          <a:xfrm>
            <a:off x="7991856" y="2743200"/>
            <a:ext cx="3593592" cy="2606040"/>
          </a:xfrm>
          <a:prstGeom prst="rect">
            <a:avLst/>
          </a:prstGeom>
          <a:solidFill>
            <a:srgbClr val="0B163C"/>
          </a:solidFill>
          <a:ln/>
        </p:spPr>
      </p:sp>
      <p:sp>
        <p:nvSpPr>
          <p:cNvPr id="33" name="Shape 31"/>
          <p:cNvSpPr/>
          <p:nvPr/>
        </p:nvSpPr>
        <p:spPr>
          <a:xfrm>
            <a:off x="7991856" y="2743200"/>
            <a:ext cx="91440" cy="2606040"/>
          </a:xfrm>
          <a:prstGeom prst="rect">
            <a:avLst/>
          </a:prstGeom>
          <a:solidFill>
            <a:srgbClr val="3A243A"/>
          </a:solidFill>
          <a:ln/>
        </p:spPr>
      </p:sp>
      <p:sp>
        <p:nvSpPr>
          <p:cNvPr id="34" name="Text 32"/>
          <p:cNvSpPr/>
          <p:nvPr/>
        </p:nvSpPr>
        <p:spPr>
          <a:xfrm>
            <a:off x="8220456"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C4B8C4"/>
                </a:solidFill>
                <a:latin typeface="Montserrat" pitchFamily="34" charset="0"/>
                <a:ea typeface="Montserrat" pitchFamily="34" charset="-122"/>
                <a:cs typeface="Montserrat" pitchFamily="34" charset="-120"/>
              </a:rPr>
              <a:t>ROLES</a:t>
            </a:r>
            <a:endParaRPr lang="en-US" sz="1100" dirty="0"/>
          </a:p>
        </p:txBody>
      </p:sp>
      <p:sp>
        <p:nvSpPr>
          <p:cNvPr id="35" name="Text 33"/>
          <p:cNvSpPr/>
          <p:nvPr/>
        </p:nvSpPr>
        <p:spPr>
          <a:xfrm>
            <a:off x="8220456" y="3310128"/>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Josh McCallen / VIVÂMEE</a:t>
            </a:r>
            <a:endParaRPr lang="en-US" sz="1050" dirty="0"/>
          </a:p>
        </p:txBody>
      </p:sp>
      <p:sp>
        <p:nvSpPr>
          <p:cNvPr id="36" name="Text 34"/>
          <p:cNvSpPr/>
          <p:nvPr/>
        </p:nvSpPr>
        <p:spPr>
          <a:xfrm>
            <a:off x="8220456" y="3557016"/>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Resort owner-operator</a:t>
            </a:r>
            <a:endParaRPr lang="en-US" sz="950" dirty="0"/>
          </a:p>
        </p:txBody>
      </p:sp>
      <p:sp>
        <p:nvSpPr>
          <p:cNvPr id="37" name="Text 35"/>
          <p:cNvSpPr/>
          <p:nvPr/>
        </p:nvSpPr>
        <p:spPr>
          <a:xfrm>
            <a:off x="8220456" y="3968496"/>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Bob Connell / Capital H6</a:t>
            </a:r>
            <a:endParaRPr lang="en-US" sz="1050" dirty="0"/>
          </a:p>
        </p:txBody>
      </p:sp>
      <p:sp>
        <p:nvSpPr>
          <p:cNvPr id="38" name="Text 36"/>
          <p:cNvSpPr/>
          <p:nvPr/>
        </p:nvSpPr>
        <p:spPr>
          <a:xfrm>
            <a:off x="8220456" y="4215384"/>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Development lead (H6 GP)</a:t>
            </a:r>
            <a:endParaRPr lang="en-US" sz="950" dirty="0"/>
          </a:p>
        </p:txBody>
      </p:sp>
      <p:sp>
        <p:nvSpPr>
          <p:cNvPr id="39" name="Text 37"/>
          <p:cNvSpPr/>
          <p:nvPr/>
        </p:nvSpPr>
        <p:spPr>
          <a:xfrm>
            <a:off x="8220456" y="4626864"/>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JAL Strategies</a:t>
            </a:r>
            <a:endParaRPr lang="en-US" sz="1050" dirty="0"/>
          </a:p>
        </p:txBody>
      </p:sp>
      <p:sp>
        <p:nvSpPr>
          <p:cNvPr id="40" name="Text 38"/>
          <p:cNvSpPr/>
          <p:nvPr/>
        </p:nvSpPr>
        <p:spPr>
          <a:xfrm>
            <a:off x="8220456" y="4873752"/>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GP member — capital formation, entitlement &amp; sales</a:t>
            </a:r>
            <a:endParaRPr lang="en-US" sz="950" dirty="0"/>
          </a:p>
        </p:txBody>
      </p:sp>
      <p:sp>
        <p:nvSpPr>
          <p:cNvPr id="41" name="Shape 39"/>
          <p:cNvSpPr/>
          <p:nvPr/>
        </p:nvSpPr>
        <p:spPr>
          <a:xfrm>
            <a:off x="457200" y="5943600"/>
            <a:ext cx="11274552" cy="420624"/>
          </a:xfrm>
          <a:prstGeom prst="rect">
            <a:avLst/>
          </a:prstGeom>
          <a:solidFill>
            <a:srgbClr val="3A243A"/>
          </a:solidFill>
          <a:ln/>
        </p:spPr>
      </p:sp>
      <p:sp>
        <p:nvSpPr>
          <p:cNvPr id="42" name="Text 40"/>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JAL is a GP member — sharing the promote alongside Capital H6 and Bob, not just advising.</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21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ENGAGEMENT  ·  FOR DISCUSSION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I'd want to be engaged.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You asked how I'd like to be comped. My preference matches yours — a small base to fund the work, then real alignment on the value we create. For discussion only.</a:t>
            </a:r>
            <a:endParaRPr lang="en-US" sz="1300" dirty="0"/>
          </a:p>
        </p:txBody>
      </p:sp>
      <p:sp>
        <p:nvSpPr>
          <p:cNvPr id="11" name="Shape 9"/>
          <p:cNvSpPr/>
          <p:nvPr/>
        </p:nvSpPr>
        <p:spPr>
          <a:xfrm>
            <a:off x="457200" y="1783080"/>
            <a:ext cx="11274552" cy="868680"/>
          </a:xfrm>
          <a:prstGeom prst="rect">
            <a:avLst/>
          </a:prstGeom>
          <a:solidFill>
            <a:srgbClr val="0B163C"/>
          </a:solidFill>
          <a:ln/>
        </p:spPr>
      </p:sp>
      <p:sp>
        <p:nvSpPr>
          <p:cNvPr id="12" name="Shape 10"/>
          <p:cNvSpPr/>
          <p:nvPr/>
        </p:nvSpPr>
        <p:spPr>
          <a:xfrm>
            <a:off x="457200" y="1783080"/>
            <a:ext cx="109728" cy="868680"/>
          </a:xfrm>
          <a:prstGeom prst="rect">
            <a:avLst/>
          </a:prstGeom>
          <a:solidFill>
            <a:srgbClr val="3A243A"/>
          </a:solidFill>
          <a:ln/>
        </p:spPr>
      </p:sp>
      <p:sp>
        <p:nvSpPr>
          <p:cNvPr id="13" name="Text 11"/>
          <p:cNvSpPr/>
          <p:nvPr/>
        </p:nvSpPr>
        <p:spPr>
          <a:xfrm>
            <a:off x="777240" y="1847088"/>
            <a:ext cx="2743200" cy="731520"/>
          </a:xfrm>
          <a:prstGeom prst="rect">
            <a:avLst/>
          </a:prstGeom>
          <a:noFill/>
          <a:ln/>
        </p:spPr>
        <p:txBody>
          <a:bodyPr wrap="square" lIns="0" tIns="0" rIns="0" bIns="0" rtlCol="0" anchor="ctr"/>
          <a:lstStyle/>
          <a:p>
            <a:pPr algn="l" indent="0" marL="0">
              <a:buNone/>
            </a:pPr>
            <a:r>
              <a:rPr lang="en-US" sz="3000" b="1" dirty="0">
                <a:solidFill>
                  <a:srgbClr val="C4B8C4"/>
                </a:solidFill>
                <a:latin typeface="Montserrat" pitchFamily="34" charset="0"/>
                <a:ea typeface="Montserrat" pitchFamily="34" charset="-122"/>
                <a:cs typeface="Montserrat" pitchFamily="34" charset="-120"/>
              </a:rPr>
              <a:t>Hybrid</a:t>
            </a:r>
            <a:endParaRPr lang="en-US" sz="3000" dirty="0"/>
          </a:p>
        </p:txBody>
      </p:sp>
      <p:sp>
        <p:nvSpPr>
          <p:cNvPr id="14" name="Text 12"/>
          <p:cNvSpPr/>
          <p:nvPr/>
        </p:nvSpPr>
        <p:spPr>
          <a:xfrm>
            <a:off x="3291840" y="1883664"/>
            <a:ext cx="5349240" cy="365760"/>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$15K/mo + expenses, then success fees + carry</a:t>
            </a:r>
            <a:endParaRPr lang="en-US" sz="1350" dirty="0"/>
          </a:p>
        </p:txBody>
      </p:sp>
      <p:sp>
        <p:nvSpPr>
          <p:cNvPr id="15" name="Text 13"/>
          <p:cNvSpPr/>
          <p:nvPr/>
        </p:nvSpPr>
        <p:spPr>
          <a:xfrm>
            <a:off x="3291840" y="2249424"/>
            <a:ext cx="5349240" cy="320040"/>
          </a:xfrm>
          <a:prstGeom prst="rect">
            <a:avLst/>
          </a:prstGeom>
          <a:noFill/>
          <a:ln/>
        </p:spPr>
        <p:txBody>
          <a:bodyPr wrap="square" lIns="0" tIns="0" rIns="0" bIns="0" rtlCol="0" anchor="ctr"/>
          <a:lstStyle/>
          <a:p>
            <a:pPr algn="l" indent="0" marL="0">
              <a:buNone/>
            </a:pPr>
            <a:r>
              <a:rPr lang="en-US" sz="1000" dirty="0">
                <a:solidFill>
                  <a:srgbClr val="F4F2ED"/>
                </a:solidFill>
                <a:latin typeface="DM Sans" pitchFamily="34" charset="0"/>
                <a:ea typeface="DM Sans" pitchFamily="34" charset="-122"/>
                <a:cs typeface="DM Sans" pitchFamily="34" charset="-120"/>
              </a:rPr>
              <a:t>Aligned to lot-sale value created — not a flat consulting check.</a:t>
            </a:r>
            <a:endParaRPr lang="en-US" sz="1000" dirty="0"/>
          </a:p>
        </p:txBody>
      </p:sp>
      <p:sp>
        <p:nvSpPr>
          <p:cNvPr id="16" name="Text 14"/>
          <p:cNvSpPr/>
          <p:nvPr/>
        </p:nvSpPr>
        <p:spPr>
          <a:xfrm>
            <a:off x="8778240" y="1783080"/>
            <a:ext cx="2953512" cy="868680"/>
          </a:xfrm>
          <a:prstGeom prst="rect">
            <a:avLst/>
          </a:prstGeom>
          <a:noFill/>
          <a:ln/>
        </p:spPr>
        <p:txBody>
          <a:bodyPr wrap="square" lIns="25400" tIns="76200" rIns="127000" bIns="25400" rtlCol="0" anchor="ctr"/>
          <a:lstStyle/>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Aligned</a:t>
            </a:r>
            <a:endParaRPr lang="en-US" sz="1300" dirty="0"/>
          </a:p>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upside</a:t>
            </a:r>
            <a:endParaRPr lang="en-US" sz="1300" dirty="0"/>
          </a:p>
        </p:txBody>
      </p:sp>
      <p:sp>
        <p:nvSpPr>
          <p:cNvPr id="17" name="Shape 15"/>
          <p:cNvSpPr/>
          <p:nvPr/>
        </p:nvSpPr>
        <p:spPr>
          <a:xfrm>
            <a:off x="457200" y="2852928"/>
            <a:ext cx="3108960" cy="365760"/>
          </a:xfrm>
          <a:prstGeom prst="rect">
            <a:avLst/>
          </a:prstGeom>
          <a:solidFill>
            <a:srgbClr val="0B163C"/>
          </a:solidFill>
          <a:ln/>
        </p:spPr>
      </p:sp>
      <p:sp>
        <p:nvSpPr>
          <p:cNvPr id="18" name="Text 16"/>
          <p:cNvSpPr/>
          <p:nvPr/>
        </p:nvSpPr>
        <p:spPr>
          <a:xfrm>
            <a:off x="457200" y="2852928"/>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Component</a:t>
            </a:r>
            <a:endParaRPr lang="en-US" sz="900" dirty="0"/>
          </a:p>
        </p:txBody>
      </p:sp>
      <p:sp>
        <p:nvSpPr>
          <p:cNvPr id="19" name="Shape 17"/>
          <p:cNvSpPr/>
          <p:nvPr/>
        </p:nvSpPr>
        <p:spPr>
          <a:xfrm>
            <a:off x="3566160" y="2852928"/>
            <a:ext cx="2743200" cy="365760"/>
          </a:xfrm>
          <a:prstGeom prst="rect">
            <a:avLst/>
          </a:prstGeom>
          <a:solidFill>
            <a:srgbClr val="0B163C"/>
          </a:solidFill>
          <a:ln/>
        </p:spPr>
      </p:sp>
      <p:sp>
        <p:nvSpPr>
          <p:cNvPr id="20" name="Text 18"/>
          <p:cNvSpPr/>
          <p:nvPr/>
        </p:nvSpPr>
        <p:spPr>
          <a:xfrm>
            <a:off x="3566160" y="2852928"/>
            <a:ext cx="27432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Terms</a:t>
            </a:r>
            <a:endParaRPr lang="en-US" sz="900" dirty="0"/>
          </a:p>
        </p:txBody>
      </p:sp>
      <p:sp>
        <p:nvSpPr>
          <p:cNvPr id="21" name="Shape 19"/>
          <p:cNvSpPr/>
          <p:nvPr/>
        </p:nvSpPr>
        <p:spPr>
          <a:xfrm>
            <a:off x="6309360" y="2852928"/>
            <a:ext cx="5422392" cy="365760"/>
          </a:xfrm>
          <a:prstGeom prst="rect">
            <a:avLst/>
          </a:prstGeom>
          <a:solidFill>
            <a:srgbClr val="0B163C"/>
          </a:solidFill>
          <a:ln/>
        </p:spPr>
      </p:sp>
      <p:sp>
        <p:nvSpPr>
          <p:cNvPr id="22" name="Text 20"/>
          <p:cNvSpPr/>
          <p:nvPr/>
        </p:nvSpPr>
        <p:spPr>
          <a:xfrm>
            <a:off x="6309360" y="2852928"/>
            <a:ext cx="54223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What it covers</a:t>
            </a:r>
            <a:endParaRPr lang="en-US" sz="900" dirty="0"/>
          </a:p>
        </p:txBody>
      </p:sp>
      <p:sp>
        <p:nvSpPr>
          <p:cNvPr id="23" name="Shape 21"/>
          <p:cNvSpPr/>
          <p:nvPr/>
        </p:nvSpPr>
        <p:spPr>
          <a:xfrm>
            <a:off x="457200" y="3218688"/>
            <a:ext cx="3108960" cy="640080"/>
          </a:xfrm>
          <a:prstGeom prst="rect">
            <a:avLst/>
          </a:prstGeom>
          <a:solidFill>
            <a:srgbClr val="FFFFFF"/>
          </a:solidFill>
          <a:ln/>
        </p:spPr>
      </p:sp>
      <p:sp>
        <p:nvSpPr>
          <p:cNvPr id="24" name="Text 22"/>
          <p:cNvSpPr/>
          <p:nvPr/>
        </p:nvSpPr>
        <p:spPr>
          <a:xfrm>
            <a:off x="457200" y="321868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Advisory retainer</a:t>
            </a:r>
            <a:endParaRPr lang="en-US" sz="1100" dirty="0"/>
          </a:p>
        </p:txBody>
      </p:sp>
      <p:sp>
        <p:nvSpPr>
          <p:cNvPr id="25" name="Shape 23"/>
          <p:cNvSpPr/>
          <p:nvPr/>
        </p:nvSpPr>
        <p:spPr>
          <a:xfrm>
            <a:off x="3566160" y="3218688"/>
            <a:ext cx="2743200" cy="640080"/>
          </a:xfrm>
          <a:prstGeom prst="rect">
            <a:avLst/>
          </a:prstGeom>
          <a:solidFill>
            <a:srgbClr val="FFFFFF"/>
          </a:solidFill>
          <a:ln/>
        </p:spPr>
      </p:sp>
      <p:sp>
        <p:nvSpPr>
          <p:cNvPr id="26" name="Text 24"/>
          <p:cNvSpPr/>
          <p:nvPr/>
        </p:nvSpPr>
        <p:spPr>
          <a:xfrm>
            <a:off x="3566160" y="321868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$15K / mo</a:t>
            </a:r>
            <a:endParaRPr lang="en-US" sz="1100" dirty="0"/>
          </a:p>
        </p:txBody>
      </p:sp>
      <p:sp>
        <p:nvSpPr>
          <p:cNvPr id="27" name="Shape 25"/>
          <p:cNvSpPr/>
          <p:nvPr/>
        </p:nvSpPr>
        <p:spPr>
          <a:xfrm>
            <a:off x="6309360" y="3218688"/>
            <a:ext cx="5422392" cy="640080"/>
          </a:xfrm>
          <a:prstGeom prst="rect">
            <a:avLst/>
          </a:prstGeom>
          <a:solidFill>
            <a:srgbClr val="FFFFFF"/>
          </a:solidFill>
          <a:ln/>
        </p:spPr>
      </p:sp>
      <p:sp>
        <p:nvSpPr>
          <p:cNvPr id="28" name="Text 26"/>
          <p:cNvSpPr/>
          <p:nvPr/>
        </p:nvSpPr>
        <p:spPr>
          <a:xfrm>
            <a:off x="6309360" y="321868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Funds entitlement, underwriting &amp; capital sourcing during an initial term</a:t>
            </a:r>
            <a:endParaRPr lang="en-US" sz="950" dirty="0"/>
          </a:p>
        </p:txBody>
      </p:sp>
      <p:sp>
        <p:nvSpPr>
          <p:cNvPr id="29" name="Shape 27"/>
          <p:cNvSpPr/>
          <p:nvPr/>
        </p:nvSpPr>
        <p:spPr>
          <a:xfrm>
            <a:off x="457200" y="3858768"/>
            <a:ext cx="3108960" cy="640080"/>
          </a:xfrm>
          <a:prstGeom prst="rect">
            <a:avLst/>
          </a:prstGeom>
          <a:solidFill>
            <a:srgbClr val="F4F2ED"/>
          </a:solidFill>
          <a:ln/>
        </p:spPr>
      </p:sp>
      <p:sp>
        <p:nvSpPr>
          <p:cNvPr id="30" name="Text 28"/>
          <p:cNvSpPr/>
          <p:nvPr/>
        </p:nvSpPr>
        <p:spPr>
          <a:xfrm>
            <a:off x="457200" y="385876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Expenses</a:t>
            </a:r>
            <a:endParaRPr lang="en-US" sz="1100" dirty="0"/>
          </a:p>
        </p:txBody>
      </p:sp>
      <p:sp>
        <p:nvSpPr>
          <p:cNvPr id="31" name="Shape 29"/>
          <p:cNvSpPr/>
          <p:nvPr/>
        </p:nvSpPr>
        <p:spPr>
          <a:xfrm>
            <a:off x="3566160" y="3858768"/>
            <a:ext cx="2743200" cy="640080"/>
          </a:xfrm>
          <a:prstGeom prst="rect">
            <a:avLst/>
          </a:prstGeom>
          <a:solidFill>
            <a:srgbClr val="F4F2ED"/>
          </a:solidFill>
          <a:ln/>
        </p:spPr>
      </p:sp>
      <p:sp>
        <p:nvSpPr>
          <p:cNvPr id="32" name="Text 30"/>
          <p:cNvSpPr/>
          <p:nvPr/>
        </p:nvSpPr>
        <p:spPr>
          <a:xfrm>
            <a:off x="3566160" y="385876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Reimbursed at cost</a:t>
            </a:r>
            <a:endParaRPr lang="en-US" sz="1100" dirty="0"/>
          </a:p>
        </p:txBody>
      </p:sp>
      <p:sp>
        <p:nvSpPr>
          <p:cNvPr id="33" name="Shape 31"/>
          <p:cNvSpPr/>
          <p:nvPr/>
        </p:nvSpPr>
        <p:spPr>
          <a:xfrm>
            <a:off x="6309360" y="3858768"/>
            <a:ext cx="5422392" cy="640080"/>
          </a:xfrm>
          <a:prstGeom prst="rect">
            <a:avLst/>
          </a:prstGeom>
          <a:solidFill>
            <a:srgbClr val="F4F2ED"/>
          </a:solidFill>
          <a:ln/>
        </p:spPr>
      </p:sp>
      <p:sp>
        <p:nvSpPr>
          <p:cNvPr id="34" name="Text 32"/>
          <p:cNvSpPr/>
          <p:nvPr/>
        </p:nvSpPr>
        <p:spPr>
          <a:xfrm>
            <a:off x="6309360" y="385876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Travel, survey, market &amp; entitlement studies — billed separately, not netted from fees</a:t>
            </a:r>
            <a:endParaRPr lang="en-US" sz="950" dirty="0"/>
          </a:p>
        </p:txBody>
      </p:sp>
      <p:sp>
        <p:nvSpPr>
          <p:cNvPr id="35" name="Shape 33"/>
          <p:cNvSpPr/>
          <p:nvPr/>
        </p:nvSpPr>
        <p:spPr>
          <a:xfrm>
            <a:off x="457200" y="4498848"/>
            <a:ext cx="3108960" cy="640080"/>
          </a:xfrm>
          <a:prstGeom prst="rect">
            <a:avLst/>
          </a:prstGeom>
          <a:solidFill>
            <a:srgbClr val="FFFFFF"/>
          </a:solidFill>
          <a:ln/>
        </p:spPr>
      </p:sp>
      <p:sp>
        <p:nvSpPr>
          <p:cNvPr id="36" name="Text 34"/>
          <p:cNvSpPr/>
          <p:nvPr/>
        </p:nvSpPr>
        <p:spPr>
          <a:xfrm>
            <a:off x="457200" y="449884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Capital placement fee</a:t>
            </a:r>
            <a:endParaRPr lang="en-US" sz="1100" dirty="0"/>
          </a:p>
        </p:txBody>
      </p:sp>
      <p:sp>
        <p:nvSpPr>
          <p:cNvPr id="37" name="Shape 35"/>
          <p:cNvSpPr/>
          <p:nvPr/>
        </p:nvSpPr>
        <p:spPr>
          <a:xfrm>
            <a:off x="3566160" y="4498848"/>
            <a:ext cx="2743200" cy="640080"/>
          </a:xfrm>
          <a:prstGeom prst="rect">
            <a:avLst/>
          </a:prstGeom>
          <a:solidFill>
            <a:srgbClr val="FFFFFF"/>
          </a:solidFill>
          <a:ln/>
        </p:spPr>
      </p:sp>
      <p:sp>
        <p:nvSpPr>
          <p:cNvPr id="38" name="Text 36"/>
          <p:cNvSpPr/>
          <p:nvPr/>
        </p:nvSpPr>
        <p:spPr>
          <a:xfrm>
            <a:off x="3566160" y="449884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 debt · 3% equity</a:t>
            </a:r>
            <a:endParaRPr lang="en-US" sz="1100" dirty="0"/>
          </a:p>
        </p:txBody>
      </p:sp>
      <p:sp>
        <p:nvSpPr>
          <p:cNvPr id="39" name="Shape 37"/>
          <p:cNvSpPr/>
          <p:nvPr/>
        </p:nvSpPr>
        <p:spPr>
          <a:xfrm>
            <a:off x="6309360" y="4498848"/>
            <a:ext cx="5422392" cy="640080"/>
          </a:xfrm>
          <a:prstGeom prst="rect">
            <a:avLst/>
          </a:prstGeom>
          <a:solidFill>
            <a:srgbClr val="FFFFFF"/>
          </a:solidFill>
          <a:ln/>
        </p:spPr>
      </p:sp>
      <p:sp>
        <p:nvSpPr>
          <p:cNvPr id="40" name="Text 38"/>
          <p:cNvSpPr/>
          <p:nvPr/>
        </p:nvSpPr>
        <p:spPr>
          <a:xfrm>
            <a:off x="6309360" y="449884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Success fee if and when we place debt or equity for a parcel</a:t>
            </a:r>
            <a:endParaRPr lang="en-US" sz="950" dirty="0"/>
          </a:p>
        </p:txBody>
      </p:sp>
      <p:sp>
        <p:nvSpPr>
          <p:cNvPr id="41" name="Shape 39"/>
          <p:cNvSpPr/>
          <p:nvPr/>
        </p:nvSpPr>
        <p:spPr>
          <a:xfrm>
            <a:off x="457200" y="5138928"/>
            <a:ext cx="3108960" cy="640080"/>
          </a:xfrm>
          <a:prstGeom prst="rect">
            <a:avLst/>
          </a:prstGeom>
          <a:solidFill>
            <a:srgbClr val="F4F2ED"/>
          </a:solidFill>
          <a:ln/>
        </p:spPr>
      </p:sp>
      <p:sp>
        <p:nvSpPr>
          <p:cNvPr id="42" name="Text 40"/>
          <p:cNvSpPr/>
          <p:nvPr/>
        </p:nvSpPr>
        <p:spPr>
          <a:xfrm>
            <a:off x="457200" y="513892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Carried interest</a:t>
            </a:r>
            <a:endParaRPr lang="en-US" sz="1100" dirty="0"/>
          </a:p>
        </p:txBody>
      </p:sp>
      <p:sp>
        <p:nvSpPr>
          <p:cNvPr id="43" name="Shape 41"/>
          <p:cNvSpPr/>
          <p:nvPr/>
        </p:nvSpPr>
        <p:spPr>
          <a:xfrm>
            <a:off x="3566160" y="5138928"/>
            <a:ext cx="2743200" cy="640080"/>
          </a:xfrm>
          <a:prstGeom prst="rect">
            <a:avLst/>
          </a:prstGeom>
          <a:solidFill>
            <a:srgbClr val="F4F2ED"/>
          </a:solidFill>
          <a:ln/>
        </p:spPr>
      </p:sp>
      <p:sp>
        <p:nvSpPr>
          <p:cNvPr id="44" name="Text 42"/>
          <p:cNvSpPr/>
          <p:nvPr/>
        </p:nvSpPr>
        <p:spPr>
          <a:xfrm>
            <a:off x="3566160" y="513892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Share of GP promote</a:t>
            </a:r>
            <a:endParaRPr lang="en-US" sz="1100" dirty="0"/>
          </a:p>
        </p:txBody>
      </p:sp>
      <p:sp>
        <p:nvSpPr>
          <p:cNvPr id="45" name="Shape 43"/>
          <p:cNvSpPr/>
          <p:nvPr/>
        </p:nvSpPr>
        <p:spPr>
          <a:xfrm>
            <a:off x="6309360" y="5138928"/>
            <a:ext cx="5422392" cy="640080"/>
          </a:xfrm>
          <a:prstGeom prst="rect">
            <a:avLst/>
          </a:prstGeom>
          <a:solidFill>
            <a:srgbClr val="F4F2ED"/>
          </a:solidFill>
          <a:ln/>
        </p:spPr>
      </p:sp>
      <p:sp>
        <p:nvSpPr>
          <p:cNvPr id="46" name="Text 44"/>
          <p:cNvSpPr/>
          <p:nvPr/>
        </p:nvSpPr>
        <p:spPr>
          <a:xfrm>
            <a:off x="6309360" y="513892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JAL's share of the GP promote (alongside H6, Bob &amp; partners)</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The structure flexes to the deal — the point is alignment: I win when you win.</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22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JAL AS YOUR PARTNER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Pedigree. Relationships. Operator.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Institutional capital-markets pedigree, an active investor network, and hands-on development &amp; asset-management experience.</a:t>
            </a:r>
            <a:endParaRPr lang="en-US" sz="1300" dirty="0"/>
          </a:p>
        </p:txBody>
      </p:sp>
      <p:sp>
        <p:nvSpPr>
          <p:cNvPr id="11" name="Shape 9"/>
          <p:cNvSpPr/>
          <p:nvPr/>
        </p:nvSpPr>
        <p:spPr>
          <a:xfrm>
            <a:off x="457200" y="1691640"/>
            <a:ext cx="4572000" cy="4343400"/>
          </a:xfrm>
          <a:prstGeom prst="rect">
            <a:avLst/>
          </a:prstGeom>
          <a:solidFill>
            <a:srgbClr val="0B163C"/>
          </a:solidFill>
          <a:ln/>
        </p:spPr>
      </p:sp>
      <p:sp>
        <p:nvSpPr>
          <p:cNvPr id="12" name="Shape 10"/>
          <p:cNvSpPr/>
          <p:nvPr/>
        </p:nvSpPr>
        <p:spPr>
          <a:xfrm>
            <a:off x="457200" y="1691640"/>
            <a:ext cx="109728" cy="4343400"/>
          </a:xfrm>
          <a:prstGeom prst="rect">
            <a:avLst/>
          </a:prstGeom>
          <a:solidFill>
            <a:srgbClr val="3A243A"/>
          </a:solidFill>
          <a:ln/>
        </p:spPr>
      </p:sp>
      <p:sp>
        <p:nvSpPr>
          <p:cNvPr id="13" name="Text 11"/>
          <p:cNvSpPr/>
          <p:nvPr/>
        </p:nvSpPr>
        <p:spPr>
          <a:xfrm>
            <a:off x="731520" y="1856232"/>
            <a:ext cx="411480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JUSTIN A. LEVINE</a:t>
            </a:r>
            <a:endParaRPr lang="en-US" sz="1000" dirty="0"/>
          </a:p>
        </p:txBody>
      </p:sp>
      <p:sp>
        <p:nvSpPr>
          <p:cNvPr id="14" name="Text 12"/>
          <p:cNvSpPr/>
          <p:nvPr/>
        </p:nvSpPr>
        <p:spPr>
          <a:xfrm>
            <a:off x="731520" y="2157984"/>
            <a:ext cx="4114800" cy="457200"/>
          </a:xfrm>
          <a:prstGeom prst="rect">
            <a:avLst/>
          </a:prstGeom>
          <a:noFill/>
          <a:ln/>
        </p:spPr>
        <p:txBody>
          <a:bodyPr wrap="square" lIns="0" tIns="0" rIns="0" bIns="0" rtlCol="0" anchor="ctr"/>
          <a:lstStyle/>
          <a:p>
            <a:pPr algn="l" indent="0" marL="0">
              <a:buNone/>
            </a:pPr>
            <a:r>
              <a:rPr lang="en-US" sz="1900" b="1" dirty="0">
                <a:solidFill>
                  <a:srgbClr val="FFFFFF"/>
                </a:solidFill>
                <a:latin typeface="Montserrat" pitchFamily="34" charset="0"/>
                <a:ea typeface="Montserrat" pitchFamily="34" charset="-122"/>
                <a:cs typeface="Montserrat" pitchFamily="34" charset="-120"/>
              </a:rPr>
              <a:t>Founder &amp; CEO, JAL Strategies</a:t>
            </a:r>
            <a:endParaRPr lang="en-US" sz="1900" dirty="0"/>
          </a:p>
        </p:txBody>
      </p:sp>
      <p:sp>
        <p:nvSpPr>
          <p:cNvPr id="15" name="Text 13"/>
          <p:cNvSpPr/>
          <p:nvPr/>
        </p:nvSpPr>
        <p:spPr>
          <a:xfrm>
            <a:off x="731520" y="274320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$6.1B</a:t>
            </a:r>
            <a:endParaRPr lang="en-US" sz="2100" dirty="0"/>
          </a:p>
        </p:txBody>
      </p:sp>
      <p:sp>
        <p:nvSpPr>
          <p:cNvPr id="16" name="Text 14"/>
          <p:cNvSpPr/>
          <p:nvPr/>
        </p:nvSpPr>
        <p:spPr>
          <a:xfrm>
            <a:off x="2606040" y="277063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career transaction volume ($5.5B Blackstone + $600M Levcor)</a:t>
            </a:r>
            <a:endParaRPr lang="en-US" sz="900" dirty="0"/>
          </a:p>
        </p:txBody>
      </p:sp>
      <p:sp>
        <p:nvSpPr>
          <p:cNvPr id="17" name="Text 15"/>
          <p:cNvSpPr/>
          <p:nvPr/>
        </p:nvSpPr>
        <p:spPr>
          <a:xfrm>
            <a:off x="731520" y="352044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$600M</a:t>
            </a:r>
            <a:endParaRPr lang="en-US" sz="2100" dirty="0"/>
          </a:p>
        </p:txBody>
      </p:sp>
      <p:sp>
        <p:nvSpPr>
          <p:cNvPr id="18" name="Text 16"/>
          <p:cNvSpPr/>
          <p:nvPr/>
        </p:nvSpPr>
        <p:spPr>
          <a:xfrm>
            <a:off x="2606040" y="354787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debt + equity allocated across 26 CRE deals at Levcor</a:t>
            </a:r>
            <a:endParaRPr lang="en-US" sz="900" dirty="0"/>
          </a:p>
        </p:txBody>
      </p:sp>
      <p:sp>
        <p:nvSpPr>
          <p:cNvPr id="19" name="Text 17"/>
          <p:cNvSpPr/>
          <p:nvPr/>
        </p:nvSpPr>
        <p:spPr>
          <a:xfrm>
            <a:off x="731520" y="429768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3.9M SF</a:t>
            </a:r>
            <a:endParaRPr lang="en-US" sz="2100" dirty="0"/>
          </a:p>
        </p:txBody>
      </p:sp>
      <p:sp>
        <p:nvSpPr>
          <p:cNvPr id="20" name="Text 18"/>
          <p:cNvSpPr/>
          <p:nvPr/>
        </p:nvSpPr>
        <p:spPr>
          <a:xfrm>
            <a:off x="2606040" y="432511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TX + NC retail managed at Levcor (2014–2025)</a:t>
            </a:r>
            <a:endParaRPr lang="en-US" sz="900" dirty="0"/>
          </a:p>
        </p:txBody>
      </p:sp>
      <p:sp>
        <p:nvSpPr>
          <p:cNvPr id="21" name="Text 19"/>
          <p:cNvSpPr/>
          <p:nvPr/>
        </p:nvSpPr>
        <p:spPr>
          <a:xfrm>
            <a:off x="731520" y="507492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20+ years</a:t>
            </a:r>
            <a:endParaRPr lang="en-US" sz="2100" dirty="0"/>
          </a:p>
        </p:txBody>
      </p:sp>
      <p:sp>
        <p:nvSpPr>
          <p:cNvPr id="22" name="Text 20"/>
          <p:cNvSpPr/>
          <p:nvPr/>
        </p:nvSpPr>
        <p:spPr>
          <a:xfrm>
            <a:off x="2606040" y="510235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CRE operating, capital markets &amp; asset management</a:t>
            </a:r>
            <a:endParaRPr lang="en-US" sz="900" dirty="0"/>
          </a:p>
        </p:txBody>
      </p:sp>
      <p:sp>
        <p:nvSpPr>
          <p:cNvPr id="23" name="Shape 21"/>
          <p:cNvSpPr/>
          <p:nvPr/>
        </p:nvSpPr>
        <p:spPr>
          <a:xfrm>
            <a:off x="5303520" y="1691640"/>
            <a:ext cx="6428232" cy="4343400"/>
          </a:xfrm>
          <a:prstGeom prst="rect">
            <a:avLst/>
          </a:prstGeom>
          <a:solidFill>
            <a:srgbClr val="FFFFFF"/>
          </a:solidFill>
          <a:ln w="9525">
            <a:solidFill>
              <a:srgbClr val="E6E1DB"/>
            </a:solidFill>
            <a:prstDash val="solid"/>
          </a:ln>
        </p:spPr>
      </p:sp>
      <p:sp>
        <p:nvSpPr>
          <p:cNvPr id="24" name="Text 22"/>
          <p:cNvSpPr/>
          <p:nvPr/>
        </p:nvSpPr>
        <p:spPr>
          <a:xfrm>
            <a:off x="5532120" y="1856232"/>
            <a:ext cx="6035040" cy="274320"/>
          </a:xfrm>
          <a:prstGeom prst="rect">
            <a:avLst/>
          </a:prstGeom>
          <a:noFill/>
          <a:ln/>
        </p:spPr>
        <p:txBody>
          <a:bodyPr wrap="square" lIns="0" tIns="0" rIns="0" bIns="0" rtlCol="0" anchor="ctr"/>
          <a:lstStyle/>
          <a:p>
            <a:pPr algn="l" indent="0" marL="0">
              <a:buNone/>
            </a:pPr>
            <a:r>
              <a:rPr lang="en-US" sz="1000" b="1" spc="300" kern="0" dirty="0">
                <a:solidFill>
                  <a:srgbClr val="3A243A"/>
                </a:solidFill>
                <a:latin typeface="Montserrat" pitchFamily="34" charset="0"/>
                <a:ea typeface="Montserrat" pitchFamily="34" charset="-122"/>
                <a:cs typeface="Montserrat" pitchFamily="34" charset="-120"/>
              </a:rPr>
              <a:t>CAREER ARC</a:t>
            </a:r>
            <a:endParaRPr lang="en-US" sz="1000" dirty="0"/>
          </a:p>
        </p:txBody>
      </p:sp>
      <p:sp>
        <p:nvSpPr>
          <p:cNvPr id="25" name="Text 23"/>
          <p:cNvSpPr/>
          <p:nvPr/>
        </p:nvSpPr>
        <p:spPr>
          <a:xfrm>
            <a:off x="5532120" y="2194560"/>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LEVCOR, INC.</a:t>
            </a:r>
            <a:endParaRPr lang="en-US" sz="1000" dirty="0"/>
          </a:p>
        </p:txBody>
      </p:sp>
      <p:sp>
        <p:nvSpPr>
          <p:cNvPr id="26" name="Text 24"/>
          <p:cNvSpPr/>
          <p:nvPr/>
        </p:nvSpPr>
        <p:spPr>
          <a:xfrm>
            <a:off x="5532120" y="2450592"/>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President 2024–2025; CIO 2021–2024; VP 2014–2021. $600M / 3.9M SF TX + NC retail portfolio; realized 4.13x / 16.1% IRR on six dispositions.</a:t>
            </a:r>
            <a:endParaRPr lang="en-US" sz="900" dirty="0"/>
          </a:p>
        </p:txBody>
      </p:sp>
      <p:sp>
        <p:nvSpPr>
          <p:cNvPr id="27" name="Shape 25"/>
          <p:cNvSpPr/>
          <p:nvPr/>
        </p:nvSpPr>
        <p:spPr>
          <a:xfrm>
            <a:off x="5532120" y="2907792"/>
            <a:ext cx="5989320" cy="9144"/>
          </a:xfrm>
          <a:prstGeom prst="rect">
            <a:avLst/>
          </a:prstGeom>
          <a:solidFill>
            <a:srgbClr val="C4B8C4"/>
          </a:solidFill>
          <a:ln/>
        </p:spPr>
      </p:sp>
      <p:sp>
        <p:nvSpPr>
          <p:cNvPr id="28" name="Text 26"/>
          <p:cNvSpPr/>
          <p:nvPr/>
        </p:nvSpPr>
        <p:spPr>
          <a:xfrm>
            <a:off x="5532120" y="2962656"/>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THE BLACKSTONE GROUP</a:t>
            </a:r>
            <a:endParaRPr lang="en-US" sz="1000" dirty="0"/>
          </a:p>
        </p:txBody>
      </p:sp>
      <p:sp>
        <p:nvSpPr>
          <p:cNvPr id="29" name="Text 27"/>
          <p:cNvSpPr/>
          <p:nvPr/>
        </p:nvSpPr>
        <p:spPr>
          <a:xfrm>
            <a:off x="5532120" y="3218688"/>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Analyst / Associate 2006–2011, NYC. Capital raising for U.S., Asia &amp; India funds; $2.5B raised; ~$5.5B aggregate transaction volume.</a:t>
            </a:r>
            <a:endParaRPr lang="en-US" sz="900" dirty="0"/>
          </a:p>
        </p:txBody>
      </p:sp>
      <p:sp>
        <p:nvSpPr>
          <p:cNvPr id="30" name="Shape 28"/>
          <p:cNvSpPr/>
          <p:nvPr/>
        </p:nvSpPr>
        <p:spPr>
          <a:xfrm>
            <a:off x="5532120" y="3675888"/>
            <a:ext cx="5989320" cy="9144"/>
          </a:xfrm>
          <a:prstGeom prst="rect">
            <a:avLst/>
          </a:prstGeom>
          <a:solidFill>
            <a:srgbClr val="C4B8C4"/>
          </a:solidFill>
          <a:ln/>
        </p:spPr>
      </p:sp>
      <p:sp>
        <p:nvSpPr>
          <p:cNvPr id="31" name="Text 29"/>
          <p:cNvSpPr/>
          <p:nvPr/>
        </p:nvSpPr>
        <p:spPr>
          <a:xfrm>
            <a:off x="5532120" y="3730752"/>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JAL-JCP REAL ESTATE</a:t>
            </a:r>
            <a:endParaRPr lang="en-US" sz="1000" dirty="0"/>
          </a:p>
        </p:txBody>
      </p:sp>
      <p:sp>
        <p:nvSpPr>
          <p:cNvPr id="32" name="Text 30"/>
          <p:cNvSpPr/>
          <p:nvPr/>
        </p:nvSpPr>
        <p:spPr>
          <a:xfrm>
            <a:off x="5532120" y="3986784"/>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Co-Founder. Partnership with JCP Investment Management ($250M+ AUM, SEC-registered). Below-replacement-cost unanchored strip centers.</a:t>
            </a:r>
            <a:endParaRPr lang="en-US" sz="900" dirty="0"/>
          </a:p>
        </p:txBody>
      </p:sp>
      <p:sp>
        <p:nvSpPr>
          <p:cNvPr id="33" name="Shape 31"/>
          <p:cNvSpPr/>
          <p:nvPr/>
        </p:nvSpPr>
        <p:spPr>
          <a:xfrm>
            <a:off x="5532120" y="4443984"/>
            <a:ext cx="5989320" cy="9144"/>
          </a:xfrm>
          <a:prstGeom prst="rect">
            <a:avLst/>
          </a:prstGeom>
          <a:solidFill>
            <a:srgbClr val="C4B8C4"/>
          </a:solidFill>
          <a:ln/>
        </p:spPr>
      </p:sp>
      <p:sp>
        <p:nvSpPr>
          <p:cNvPr id="34" name="Text 32"/>
          <p:cNvSpPr/>
          <p:nvPr/>
        </p:nvSpPr>
        <p:spPr>
          <a:xfrm>
            <a:off x="5532120" y="4498848"/>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ULI HOUSTON</a:t>
            </a:r>
            <a:endParaRPr lang="en-US" sz="1000" dirty="0"/>
          </a:p>
        </p:txBody>
      </p:sp>
      <p:sp>
        <p:nvSpPr>
          <p:cNvPr id="35" name="Text 33"/>
          <p:cNvSpPr/>
          <p:nvPr/>
        </p:nvSpPr>
        <p:spPr>
          <a:xfrm>
            <a:off x="5532120" y="4754880"/>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Chair, District Council Management Committee 2022–2024. ULI Americas Mixed-Use &amp; Retail Councils. Member since 2015.</a:t>
            </a:r>
            <a:endParaRPr lang="en-US" sz="900" dirty="0"/>
          </a:p>
        </p:txBody>
      </p:sp>
      <p:sp>
        <p:nvSpPr>
          <p:cNvPr id="36" name="Shape 34"/>
          <p:cNvSpPr/>
          <p:nvPr/>
        </p:nvSpPr>
        <p:spPr>
          <a:xfrm>
            <a:off x="5532120" y="5212080"/>
            <a:ext cx="5989320" cy="9144"/>
          </a:xfrm>
          <a:prstGeom prst="rect">
            <a:avLst/>
          </a:prstGeom>
          <a:solidFill>
            <a:srgbClr val="C4B8C4"/>
          </a:solidFill>
          <a:ln/>
        </p:spPr>
      </p:sp>
      <p:sp>
        <p:nvSpPr>
          <p:cNvPr id="37" name="Text 35"/>
          <p:cNvSpPr/>
          <p:nvPr/>
        </p:nvSpPr>
        <p:spPr>
          <a:xfrm>
            <a:off x="5532120" y="5266944"/>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EDUCATION</a:t>
            </a:r>
            <a:endParaRPr lang="en-US" sz="1000" dirty="0"/>
          </a:p>
        </p:txBody>
      </p:sp>
      <p:sp>
        <p:nvSpPr>
          <p:cNvPr id="38" name="Text 36"/>
          <p:cNvSpPr/>
          <p:nvPr/>
        </p:nvSpPr>
        <p:spPr>
          <a:xfrm>
            <a:off x="5532120" y="5522976"/>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M.B.A., The Wharton School, University of Pennsylvania. B.S. Economics + Communication Studies, Northwestern University.</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23 / 24</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PATH</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this call to a signed mandate.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Light and fast to start — diligence now, an in-person in July or August (I'm in the NYC area all of July and the first half of August), then a defined engagement on the first parcels.</a:t>
            </a:r>
            <a:endParaRPr lang="en-US" sz="1300" dirty="0"/>
          </a:p>
        </p:txBody>
      </p:sp>
      <p:sp>
        <p:nvSpPr>
          <p:cNvPr id="11" name="Shape 9"/>
          <p:cNvSpPr/>
          <p:nvPr/>
        </p:nvSpPr>
        <p:spPr>
          <a:xfrm>
            <a:off x="457200" y="1783080"/>
            <a:ext cx="3630168" cy="969264"/>
          </a:xfrm>
          <a:prstGeom prst="rect">
            <a:avLst/>
          </a:prstGeom>
          <a:solidFill>
            <a:srgbClr val="0B163C"/>
          </a:solidFill>
          <a:ln/>
        </p:spPr>
      </p:sp>
      <p:sp>
        <p:nvSpPr>
          <p:cNvPr id="12" name="Shape 10"/>
          <p:cNvSpPr/>
          <p:nvPr/>
        </p:nvSpPr>
        <p:spPr>
          <a:xfrm>
            <a:off x="457200" y="1783080"/>
            <a:ext cx="91440" cy="969264"/>
          </a:xfrm>
          <a:prstGeom prst="rect">
            <a:avLst/>
          </a:prstGeom>
          <a:solidFill>
            <a:srgbClr val="3A243A"/>
          </a:solidFill>
          <a:ln/>
        </p:spPr>
      </p:sp>
      <p:sp>
        <p:nvSpPr>
          <p:cNvPr id="13" name="Text 11"/>
          <p:cNvSpPr/>
          <p:nvPr/>
        </p:nvSpPr>
        <p:spPr>
          <a:xfrm>
            <a:off x="685800"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1</a:t>
            </a:r>
            <a:endParaRPr lang="en-US" sz="1200" dirty="0"/>
          </a:p>
        </p:txBody>
      </p:sp>
      <p:sp>
        <p:nvSpPr>
          <p:cNvPr id="14" name="Text 12"/>
          <p:cNvSpPr/>
          <p:nvPr/>
        </p:nvSpPr>
        <p:spPr>
          <a:xfrm>
            <a:off x="685800"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DILIGENCE &amp; DATA</a:t>
            </a:r>
            <a:endParaRPr lang="en-US" sz="1350" dirty="0"/>
          </a:p>
        </p:txBody>
      </p:sp>
      <p:sp>
        <p:nvSpPr>
          <p:cNvPr id="15" name="Text 13"/>
          <p:cNvSpPr/>
          <p:nvPr/>
        </p:nvSpPr>
        <p:spPr>
          <a:xfrm>
            <a:off x="685800"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Now – July  ·  Review &amp; analysis</a:t>
            </a:r>
            <a:endParaRPr lang="en-US" sz="950" dirty="0"/>
          </a:p>
        </p:txBody>
      </p:sp>
      <p:sp>
        <p:nvSpPr>
          <p:cNvPr id="16" name="Shape 14"/>
          <p:cNvSpPr/>
          <p:nvPr/>
        </p:nvSpPr>
        <p:spPr>
          <a:xfrm>
            <a:off x="457200" y="2788920"/>
            <a:ext cx="3630168" cy="2651760"/>
          </a:xfrm>
          <a:prstGeom prst="rect">
            <a:avLst/>
          </a:prstGeom>
          <a:solidFill>
            <a:srgbClr val="FFFFFF"/>
          </a:solidFill>
          <a:ln w="9525">
            <a:solidFill>
              <a:srgbClr val="E6E1DB"/>
            </a:solidFill>
            <a:prstDash val="solid"/>
          </a:ln>
        </p:spPr>
      </p:sp>
      <p:sp>
        <p:nvSpPr>
          <p:cNvPr id="17" name="Text 15"/>
          <p:cNvSpPr/>
          <p:nvPr/>
        </p:nvSpPr>
        <p:spPr>
          <a:xfrm>
            <a:off x="658368"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18" name="Text 16"/>
          <p:cNvSpPr/>
          <p:nvPr/>
        </p:nvSpPr>
        <p:spPr>
          <a:xfrm>
            <a:off x="914400"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developable vs. conservation acreage (survey + easements)</a:t>
            </a:r>
            <a:endParaRPr lang="en-US" sz="1000" dirty="0"/>
          </a:p>
        </p:txBody>
      </p:sp>
      <p:sp>
        <p:nvSpPr>
          <p:cNvPr id="19" name="Text 17"/>
          <p:cNvSpPr/>
          <p:nvPr/>
        </p:nvSpPr>
        <p:spPr>
          <a:xfrm>
            <a:off x="658368"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0" name="Text 18"/>
          <p:cNvSpPr/>
          <p:nvPr/>
        </p:nvSpPr>
        <p:spPr>
          <a:xfrm>
            <a:off x="914400"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Pull entitlement &amp; zoning status (Queen Anne's County)</a:t>
            </a:r>
            <a:endParaRPr lang="en-US" sz="1000" dirty="0"/>
          </a:p>
        </p:txBody>
      </p:sp>
      <p:sp>
        <p:nvSpPr>
          <p:cNvPr id="21" name="Text 19"/>
          <p:cNvSpPr/>
          <p:nvPr/>
        </p:nvSpPr>
        <p:spPr>
          <a:xfrm>
            <a:off x="658368"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2" name="Text 20"/>
          <p:cNvSpPr/>
          <p:nvPr/>
        </p:nvSpPr>
        <p:spPr>
          <a:xfrm>
            <a:off x="914400"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Model lot yield &amp; absorption for the developable parcels</a:t>
            </a:r>
            <a:endParaRPr lang="en-US" sz="1000" dirty="0"/>
          </a:p>
        </p:txBody>
      </p:sp>
      <p:sp>
        <p:nvSpPr>
          <p:cNvPr id="23" name="Text 21"/>
          <p:cNvSpPr/>
          <p:nvPr/>
        </p:nvSpPr>
        <p:spPr>
          <a:xfrm>
            <a:off x="658368"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4" name="Text 22"/>
          <p:cNvSpPr/>
          <p:nvPr/>
        </p:nvSpPr>
        <p:spPr>
          <a:xfrm>
            <a:off x="914400"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the H6 ownership &amp; contribution mechanics</a:t>
            </a:r>
            <a:endParaRPr lang="en-US" sz="1000" dirty="0"/>
          </a:p>
        </p:txBody>
      </p:sp>
      <p:sp>
        <p:nvSpPr>
          <p:cNvPr id="25" name="Shape 23"/>
          <p:cNvSpPr/>
          <p:nvPr/>
        </p:nvSpPr>
        <p:spPr>
          <a:xfrm>
            <a:off x="4279392" y="1783080"/>
            <a:ext cx="3630168" cy="969264"/>
          </a:xfrm>
          <a:prstGeom prst="rect">
            <a:avLst/>
          </a:prstGeom>
          <a:solidFill>
            <a:srgbClr val="0B163C"/>
          </a:solidFill>
          <a:ln/>
        </p:spPr>
      </p:sp>
      <p:sp>
        <p:nvSpPr>
          <p:cNvPr id="26" name="Shape 24"/>
          <p:cNvSpPr/>
          <p:nvPr/>
        </p:nvSpPr>
        <p:spPr>
          <a:xfrm>
            <a:off x="4279392" y="1783080"/>
            <a:ext cx="91440" cy="969264"/>
          </a:xfrm>
          <a:prstGeom prst="rect">
            <a:avLst/>
          </a:prstGeom>
          <a:solidFill>
            <a:srgbClr val="3A243A"/>
          </a:solidFill>
          <a:ln/>
        </p:spPr>
      </p:sp>
      <p:sp>
        <p:nvSpPr>
          <p:cNvPr id="27" name="Text 25"/>
          <p:cNvSpPr/>
          <p:nvPr/>
        </p:nvSpPr>
        <p:spPr>
          <a:xfrm>
            <a:off x="4507992"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2</a:t>
            </a:r>
            <a:endParaRPr lang="en-US" sz="1200" dirty="0"/>
          </a:p>
        </p:txBody>
      </p:sp>
      <p:sp>
        <p:nvSpPr>
          <p:cNvPr id="28" name="Text 26"/>
          <p:cNvSpPr/>
          <p:nvPr/>
        </p:nvSpPr>
        <p:spPr>
          <a:xfrm>
            <a:off x="4507992"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IN PERSON</a:t>
            </a:r>
            <a:endParaRPr lang="en-US" sz="1350" dirty="0"/>
          </a:p>
        </p:txBody>
      </p:sp>
      <p:sp>
        <p:nvSpPr>
          <p:cNvPr id="29" name="Text 27"/>
          <p:cNvSpPr/>
          <p:nvPr/>
        </p:nvSpPr>
        <p:spPr>
          <a:xfrm>
            <a:off x="4507992"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July / Aug 2026  ·  Walk the site</a:t>
            </a:r>
            <a:endParaRPr lang="en-US" sz="950" dirty="0"/>
          </a:p>
        </p:txBody>
      </p:sp>
      <p:sp>
        <p:nvSpPr>
          <p:cNvPr id="30" name="Shape 28"/>
          <p:cNvSpPr/>
          <p:nvPr/>
        </p:nvSpPr>
        <p:spPr>
          <a:xfrm>
            <a:off x="4279392" y="2788920"/>
            <a:ext cx="3630168" cy="2651760"/>
          </a:xfrm>
          <a:prstGeom prst="rect">
            <a:avLst/>
          </a:prstGeom>
          <a:solidFill>
            <a:srgbClr val="FFFFFF"/>
          </a:solidFill>
          <a:ln w="9525">
            <a:solidFill>
              <a:srgbClr val="E6E1DB"/>
            </a:solidFill>
            <a:prstDash val="solid"/>
          </a:ln>
        </p:spPr>
      </p:sp>
      <p:sp>
        <p:nvSpPr>
          <p:cNvPr id="31" name="Text 29"/>
          <p:cNvSpPr/>
          <p:nvPr/>
        </p:nvSpPr>
        <p:spPr>
          <a:xfrm>
            <a:off x="4480560"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2" name="Text 30"/>
          <p:cNvSpPr/>
          <p:nvPr/>
        </p:nvSpPr>
        <p:spPr>
          <a:xfrm>
            <a:off x="4736592"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Bob in July or August — I'm in the NYC area all of July &amp; the first half of August</a:t>
            </a:r>
            <a:endParaRPr lang="en-US" sz="1000" dirty="0"/>
          </a:p>
        </p:txBody>
      </p:sp>
      <p:sp>
        <p:nvSpPr>
          <p:cNvPr id="33" name="Text 31"/>
          <p:cNvSpPr/>
          <p:nvPr/>
        </p:nvSpPr>
        <p:spPr>
          <a:xfrm>
            <a:off x="4480560"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4" name="Text 32"/>
          <p:cNvSpPr/>
          <p:nvPr/>
        </p:nvSpPr>
        <p:spPr>
          <a:xfrm>
            <a:off x="4736592"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Walk Queenstown (River House &amp; the course edges)</a:t>
            </a:r>
            <a:endParaRPr lang="en-US" sz="1000" dirty="0"/>
          </a:p>
        </p:txBody>
      </p:sp>
      <p:sp>
        <p:nvSpPr>
          <p:cNvPr id="35" name="Text 33"/>
          <p:cNvSpPr/>
          <p:nvPr/>
        </p:nvSpPr>
        <p:spPr>
          <a:xfrm>
            <a:off x="4480560"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6" name="Text 34"/>
          <p:cNvSpPr/>
          <p:nvPr/>
        </p:nvSpPr>
        <p:spPr>
          <a:xfrm>
            <a:off x="4736592"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Josh / VIVÂMEE</a:t>
            </a:r>
            <a:endParaRPr lang="en-US" sz="1000" dirty="0"/>
          </a:p>
        </p:txBody>
      </p:sp>
      <p:sp>
        <p:nvSpPr>
          <p:cNvPr id="37" name="Text 35"/>
          <p:cNvSpPr/>
          <p:nvPr/>
        </p:nvSpPr>
        <p:spPr>
          <a:xfrm>
            <a:off x="4480560"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8" name="Text 36"/>
          <p:cNvSpPr/>
          <p:nvPr/>
        </p:nvSpPr>
        <p:spPr>
          <a:xfrm>
            <a:off x="4736592"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Align on first parcels, capital plan &amp; comp</a:t>
            </a:r>
            <a:endParaRPr lang="en-US" sz="1000" dirty="0"/>
          </a:p>
        </p:txBody>
      </p:sp>
      <p:sp>
        <p:nvSpPr>
          <p:cNvPr id="39" name="Shape 37"/>
          <p:cNvSpPr/>
          <p:nvPr/>
        </p:nvSpPr>
        <p:spPr>
          <a:xfrm>
            <a:off x="8101584" y="1783080"/>
            <a:ext cx="3630168" cy="969264"/>
          </a:xfrm>
          <a:prstGeom prst="rect">
            <a:avLst/>
          </a:prstGeom>
          <a:solidFill>
            <a:srgbClr val="0B163C"/>
          </a:solidFill>
          <a:ln/>
        </p:spPr>
      </p:sp>
      <p:sp>
        <p:nvSpPr>
          <p:cNvPr id="40" name="Shape 38"/>
          <p:cNvSpPr/>
          <p:nvPr/>
        </p:nvSpPr>
        <p:spPr>
          <a:xfrm>
            <a:off x="8101584" y="1783080"/>
            <a:ext cx="91440" cy="969264"/>
          </a:xfrm>
          <a:prstGeom prst="rect">
            <a:avLst/>
          </a:prstGeom>
          <a:solidFill>
            <a:srgbClr val="3A243A"/>
          </a:solidFill>
          <a:ln/>
        </p:spPr>
      </p:sp>
      <p:sp>
        <p:nvSpPr>
          <p:cNvPr id="41" name="Text 39"/>
          <p:cNvSpPr/>
          <p:nvPr/>
        </p:nvSpPr>
        <p:spPr>
          <a:xfrm>
            <a:off x="8330184"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3</a:t>
            </a:r>
            <a:endParaRPr lang="en-US" sz="1200" dirty="0"/>
          </a:p>
        </p:txBody>
      </p:sp>
      <p:sp>
        <p:nvSpPr>
          <p:cNvPr id="42" name="Text 40"/>
          <p:cNvSpPr/>
          <p:nvPr/>
        </p:nvSpPr>
        <p:spPr>
          <a:xfrm>
            <a:off x="8330184"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MANDATE</a:t>
            </a:r>
            <a:endParaRPr lang="en-US" sz="1350" dirty="0"/>
          </a:p>
        </p:txBody>
      </p:sp>
      <p:sp>
        <p:nvSpPr>
          <p:cNvPr id="43" name="Text 41"/>
          <p:cNvSpPr/>
          <p:nvPr/>
        </p:nvSpPr>
        <p:spPr>
          <a:xfrm>
            <a:off x="8330184"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H2 2026  ·  Engage &amp; execute</a:t>
            </a:r>
            <a:endParaRPr lang="en-US" sz="950" dirty="0"/>
          </a:p>
        </p:txBody>
      </p:sp>
      <p:sp>
        <p:nvSpPr>
          <p:cNvPr id="44" name="Shape 42"/>
          <p:cNvSpPr/>
          <p:nvPr/>
        </p:nvSpPr>
        <p:spPr>
          <a:xfrm>
            <a:off x="8101584" y="2788920"/>
            <a:ext cx="3630168" cy="2651760"/>
          </a:xfrm>
          <a:prstGeom prst="rect">
            <a:avLst/>
          </a:prstGeom>
          <a:solidFill>
            <a:srgbClr val="FFFFFF"/>
          </a:solidFill>
          <a:ln w="9525">
            <a:solidFill>
              <a:srgbClr val="E6E1DB"/>
            </a:solidFill>
            <a:prstDash val="solid"/>
          </a:ln>
        </p:spPr>
      </p:sp>
      <p:sp>
        <p:nvSpPr>
          <p:cNvPr id="45" name="Text 43"/>
          <p:cNvSpPr/>
          <p:nvPr/>
        </p:nvSpPr>
        <p:spPr>
          <a:xfrm>
            <a:off x="8302752"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6" name="Text 44"/>
          <p:cNvSpPr/>
          <p:nvPr/>
        </p:nvSpPr>
        <p:spPr>
          <a:xfrm>
            <a:off x="8558784"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Stand up the land vehicle under Capital H6</a:t>
            </a:r>
            <a:endParaRPr lang="en-US" sz="1000" dirty="0"/>
          </a:p>
        </p:txBody>
      </p:sp>
      <p:sp>
        <p:nvSpPr>
          <p:cNvPr id="47" name="Text 45"/>
          <p:cNvSpPr/>
          <p:nvPr/>
        </p:nvSpPr>
        <p:spPr>
          <a:xfrm>
            <a:off x="8302752"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8" name="Text 46"/>
          <p:cNvSpPr/>
          <p:nvPr/>
        </p:nvSpPr>
        <p:spPr>
          <a:xfrm>
            <a:off x="8558784"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Launch Phase 1 entitlements + soft-cost budget</a:t>
            </a:r>
            <a:endParaRPr lang="en-US" sz="1000" dirty="0"/>
          </a:p>
        </p:txBody>
      </p:sp>
      <p:sp>
        <p:nvSpPr>
          <p:cNvPr id="49" name="Text 47"/>
          <p:cNvSpPr/>
          <p:nvPr/>
        </p:nvSpPr>
        <p:spPr>
          <a:xfrm>
            <a:off x="8302752"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0" name="Text 48"/>
          <p:cNvSpPr/>
          <p:nvPr/>
        </p:nvSpPr>
        <p:spPr>
          <a:xfrm>
            <a:off x="8558784"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Open regional-homebuilder conversations</a:t>
            </a:r>
            <a:endParaRPr lang="en-US" sz="1000" dirty="0"/>
          </a:p>
        </p:txBody>
      </p:sp>
      <p:sp>
        <p:nvSpPr>
          <p:cNvPr id="51" name="Text 49"/>
          <p:cNvSpPr/>
          <p:nvPr/>
        </p:nvSpPr>
        <p:spPr>
          <a:xfrm>
            <a:off x="8302752"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2" name="Text 50"/>
          <p:cNvSpPr/>
          <p:nvPr/>
        </p:nvSpPr>
        <p:spPr>
          <a:xfrm>
            <a:off x="8558784"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First finished-lot sales underwritten</a:t>
            </a:r>
            <a:endParaRPr lang="en-US" sz="1000" dirty="0"/>
          </a:p>
        </p:txBody>
      </p:sp>
      <p:sp>
        <p:nvSpPr>
          <p:cNvPr id="53" name="Shape 51"/>
          <p:cNvSpPr/>
          <p:nvPr/>
        </p:nvSpPr>
        <p:spPr>
          <a:xfrm>
            <a:off x="457200" y="5943600"/>
            <a:ext cx="11274552" cy="420624"/>
          </a:xfrm>
          <a:prstGeom prst="rect">
            <a:avLst/>
          </a:prstGeom>
          <a:solidFill>
            <a:srgbClr val="3A243A"/>
          </a:solidFill>
          <a:ln/>
        </p:spPr>
      </p:sp>
      <p:sp>
        <p:nvSpPr>
          <p:cNvPr id="54" name="Text 52"/>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What I need to sharpen the model: survey / plat &amp; conservation easements · entitlement &amp; zoning status · H6 structure · target timeline.</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58368" y="2240280"/>
            <a:ext cx="10972800" cy="960120"/>
          </a:xfrm>
          <a:prstGeom prst="rect">
            <a:avLst/>
          </a:prstGeom>
          <a:noFill/>
          <a:ln/>
        </p:spPr>
        <p:txBody>
          <a:bodyPr wrap="square" lIns="0" tIns="0" rIns="0" bIns="0" rtlCol="0" anchor="ctr"/>
          <a:lstStyle/>
          <a:p>
            <a:pPr algn="l" indent="0" marL="0">
              <a:buNone/>
            </a:pPr>
            <a:r>
              <a:rPr lang="en-US" sz="7200" b="1" dirty="0">
                <a:solidFill>
                  <a:srgbClr val="FFFFFF"/>
                </a:solidFill>
                <a:latin typeface="Montserrat" pitchFamily="34" charset="0"/>
                <a:ea typeface="Montserrat" pitchFamily="34" charset="-122"/>
                <a:cs typeface="Montserrat" pitchFamily="34" charset="-120"/>
              </a:rPr>
              <a:t>THANK</a:t>
            </a:r>
            <a:endParaRPr lang="en-US" sz="7200" dirty="0"/>
          </a:p>
        </p:txBody>
      </p:sp>
      <p:sp>
        <p:nvSpPr>
          <p:cNvPr id="5" name="Text 3"/>
          <p:cNvSpPr/>
          <p:nvPr/>
        </p:nvSpPr>
        <p:spPr>
          <a:xfrm>
            <a:off x="658368" y="3090672"/>
            <a:ext cx="10972800" cy="960120"/>
          </a:xfrm>
          <a:prstGeom prst="rect">
            <a:avLst/>
          </a:prstGeom>
          <a:noFill/>
          <a:ln/>
        </p:spPr>
        <p:txBody>
          <a:bodyPr wrap="square" lIns="0" tIns="0" rIns="0" bIns="0" rtlCol="0" anchor="ctr"/>
          <a:lstStyle/>
          <a:p>
            <a:pPr algn="l" indent="0" marL="0">
              <a:buNone/>
            </a:pPr>
            <a:r>
              <a:rPr lang="en-US" sz="7200" b="1" dirty="0">
                <a:solidFill>
                  <a:srgbClr val="C4B8C4"/>
                </a:solidFill>
                <a:latin typeface="Montserrat" pitchFamily="34" charset="0"/>
                <a:ea typeface="Montserrat" pitchFamily="34" charset="-122"/>
                <a:cs typeface="Montserrat" pitchFamily="34" charset="-120"/>
              </a:rPr>
              <a:t>YOU</a:t>
            </a:r>
            <a:endParaRPr lang="en-US" sz="7200" dirty="0"/>
          </a:p>
        </p:txBody>
      </p:sp>
      <p:sp>
        <p:nvSpPr>
          <p:cNvPr id="6" name="Shape 4"/>
          <p:cNvSpPr/>
          <p:nvPr/>
        </p:nvSpPr>
        <p:spPr>
          <a:xfrm>
            <a:off x="713232" y="4224528"/>
            <a:ext cx="3200400" cy="27432"/>
          </a:xfrm>
          <a:prstGeom prst="rect">
            <a:avLst/>
          </a:prstGeom>
          <a:solidFill>
            <a:srgbClr val="8C9BB5"/>
          </a:solidFill>
          <a:ln/>
        </p:spPr>
      </p:sp>
      <p:sp>
        <p:nvSpPr>
          <p:cNvPr id="7" name="Text 5"/>
          <p:cNvSpPr/>
          <p:nvPr/>
        </p:nvSpPr>
        <p:spPr>
          <a:xfrm>
            <a:off x="685800" y="4370832"/>
            <a:ext cx="10972800" cy="411480"/>
          </a:xfrm>
          <a:prstGeom prst="rect">
            <a:avLst/>
          </a:prstGeom>
          <a:noFill/>
          <a:ln/>
        </p:spPr>
        <p:txBody>
          <a:bodyPr wrap="square" lIns="0" tIns="0" rIns="0" bIns="0" rtlCol="0" anchor="ctr"/>
          <a:lstStyle/>
          <a:p>
            <a:pPr algn="l" indent="0" marL="0">
              <a:buNone/>
            </a:pPr>
            <a:r>
              <a:rPr lang="en-US" sz="2100" b="1" dirty="0">
                <a:solidFill>
                  <a:srgbClr val="FFFFFF"/>
                </a:solidFill>
                <a:latin typeface="Montserrat" pitchFamily="34" charset="0"/>
                <a:ea typeface="Montserrat" pitchFamily="34" charset="-122"/>
                <a:cs typeface="Montserrat" pitchFamily="34" charset="-120"/>
              </a:rPr>
              <a:t>Bob — appreciate the call, and the résumé read.</a:t>
            </a:r>
            <a:endParaRPr lang="en-US" sz="2100" dirty="0"/>
          </a:p>
        </p:txBody>
      </p:sp>
      <p:sp>
        <p:nvSpPr>
          <p:cNvPr id="8" name="Text 6"/>
          <p:cNvSpPr/>
          <p:nvPr/>
        </p:nvSpPr>
        <p:spPr>
          <a:xfrm>
            <a:off x="685800" y="4846320"/>
            <a:ext cx="10972800" cy="36576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Looking forward to monetizing the land around Queenstown Harbor with you, Josh and the H6 team — let's find time in July.</a:t>
            </a:r>
            <a:endParaRPr lang="en-US" sz="1400" dirty="0"/>
          </a:p>
        </p:txBody>
      </p:sp>
      <p:sp>
        <p:nvSpPr>
          <p:cNvPr id="9" name="Text 7"/>
          <p:cNvSpPr/>
          <p:nvPr/>
        </p:nvSpPr>
        <p:spPr>
          <a:xfrm>
            <a:off x="685800" y="5248656"/>
            <a:ext cx="10972800" cy="36576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Justin A. Levine  |  jlevine@jalstrategies.com  |  JAL Strategies</a:t>
            </a:r>
            <a:endParaRPr lang="en-US" sz="1200" dirty="0"/>
          </a:p>
        </p:txBody>
      </p:sp>
      <p:sp>
        <p:nvSpPr>
          <p:cNvPr id="10" name="Shape 8"/>
          <p:cNvSpPr/>
          <p:nvPr/>
        </p:nvSpPr>
        <p:spPr>
          <a:xfrm>
            <a:off x="0" y="6309360"/>
            <a:ext cx="12191695" cy="548640"/>
          </a:xfrm>
          <a:prstGeom prst="rect">
            <a:avLst/>
          </a:prstGeom>
          <a:solidFill>
            <a:srgbClr val="3A243A"/>
          </a:solidFill>
          <a:ln/>
        </p:spPr>
      </p:sp>
      <p:sp>
        <p:nvSpPr>
          <p:cNvPr id="11" name="Text 9"/>
          <p:cNvSpPr/>
          <p:nvPr/>
        </p:nvSpPr>
        <p:spPr>
          <a:xfrm>
            <a:off x="457200" y="6400800"/>
            <a:ext cx="8229600" cy="36576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12" name="Text 10"/>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200" kern="0" dirty="0">
                <a:solidFill>
                  <a:srgbClr val="C4B8C4"/>
                </a:solidFill>
                <a:latin typeface="Montserrat" pitchFamily="34" charset="0"/>
                <a:ea typeface="Montserrat" pitchFamily="34" charset="-122"/>
                <a:cs typeface="Montserrat" pitchFamily="34" charset="-120"/>
              </a:rPr>
              <a:t>24 / 24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JAL Strategies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Queenstown Harbor — Land Development Partnership (for Robert A. Connell)</dc:title>
  <dc:subject>PptxGenJS Presentation</dc:subject>
  <dc:creator>JAL Strategies</dc:creator>
  <cp:lastModifiedBy>JAL Strategies</cp:lastModifiedBy>
  <cp:revision>1</cp:revision>
  <dcterms:created xsi:type="dcterms:W3CDTF">2026-06-08T14:55:26Z</dcterms:created>
  <dcterms:modified xsi:type="dcterms:W3CDTF">2026-06-08T14:55:26Z</dcterms:modified>
</cp:coreProperties>
</file>