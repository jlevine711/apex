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Scoped to the land around Queenstown Harbor — the asset Capital H6 just acquired. Bob is a GP in H6, so this is squarely his lane: entitle the developable acreage, sell lots, recycle.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fresh acquisition (H6 — Bob's fund). The land bank is additive to the hospitality: monetize the developable acreage the golf doesn't need, capital-light.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the homework Bob asked for. Accurate specs: River (par 72, 7,096) + Lakes (par 71, 6,569), Lindsay Ervin, River House &amp; Tavern, cottages. Conservation acreage is real — flag it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870+ ac, minus 198 ac conservation (plus wetlands/course), leaves the developable envelope — the first diligence item. The land bank is upside on top of an operating resort.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Sequencing IS the pitch: entitle (soft costs) → sell to builders (they fund infra) → golf/water premium → recycle. Matches Bob's 'let the developer handle the infrastructure.'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derived, not guessed: 700 gross − 198 conservation − ~300 golf complex − ~60 Critical Area/wetlands ≈ 140 developable acres. Maryland's Chesapeake Bay Critical Area (1,000-ft zone, ~1 unit/20 ac in RCA) is the real constraint on the waterfront land. All figures illustrative until survey / easement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Mirrors the reference competitive-supply slide. Eastern-Shore + Bay-Bridge demand, Chesapeake scarcity, builder appetite, and the fresh $25M basis all support lot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South River is the second H6 asset — but it's a built-out private club (165 ac, 8 lakes, 14 protected areas, 600+ families). Frame honestly: membership + events upside first, land only where diligence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land bank the honest story is capital-light: soft costs in, builders fund infra and buy lots. Land is already owned via H6 — no acquisition capital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Bob's inbound was about capital access. Lead with the live Houston deal ($15M / $19.5M) as proof I close, then the network. Even capital-light, this is why I'm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Nails Bob's exact role: H6 GP / development lead. H6 contributes the developable land; JAL co-invests and runs entitlement + capital + lot sales. VIVÂMEE keeps operating the resort.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answers Bob's comp question. Hybrid: $15K/mo creditable retainer (≈ one day/week) + expenses reimbursed, then placement fees and the promote. Lead with alignment — the retainer is a floor, the carry is the prize.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Bob's email said 'review your resume.' This is it. Capital-markets pedigree (Blackstone), operator/development (Levcor, JAL-JCP), Wharton, ULI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logistics. The July in-person is real (wife's family on Long Island) — Queenstown is a doable drive from Philly. The callout is the data ask — restate it so Bob knows exactly what to 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warm. Reference his email ('review your resume'). Lock the July meeting at Queenstown.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lubandresortbusiness.com/vivamee-hospitality-acquires-two-maryland-golf-locations-for-25m/" TargetMode="External"/><Relationship Id="rId2" Type="http://schemas.openxmlformats.org/officeDocument/2006/relationships/hyperlink" Target="https://www.eyeonannapolis.net/2026/05/vivamee-hospitality-acquires-golf-club-at-south-river-queenstown-harbor-in-25m-deal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qhgolf.com/golf/" TargetMode="External"/><Relationship Id="rId2" Type="http://schemas.openxmlformats.org/officeDocument/2006/relationships/hyperlink" Target="https://www.golfdigest.com/courses/md/queenstown-harbor-the-river" TargetMode="External"/><Relationship Id="rId3" Type="http://schemas.openxmlformats.org/officeDocument/2006/relationships/hyperlink" Target="https://www.visitmaryland.org/listing/sports/queenstown-harbor-golf-links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lubandresortbusiness.com/vivamee-hospitality-acquires-two-maryland-golf-locations-for-25m/" TargetMode="External"/><Relationship Id="rId2" Type="http://schemas.openxmlformats.org/officeDocument/2006/relationships/hyperlink" Target="https://qhgolf.com/who-we-are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qhgolf.com/who-we-are/" TargetMode="External"/><Relationship Id="rId2" Type="http://schemas.openxmlformats.org/officeDocument/2006/relationships/hyperlink" Target="https://www.qac.org/398/Chesapeake-Bay-Critical-Area" TargetMode="External"/><Relationship Id="rId3" Type="http://schemas.openxmlformats.org/officeDocument/2006/relationships/hyperlink" Target="https://dnr.maryland.gov/criticalarea/Pages/compliance.asp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distance-cities.com/distance-queenstown-md-to-washington-dc" TargetMode="External"/><Relationship Id="rId2" Type="http://schemas.openxmlformats.org/officeDocument/2006/relationships/hyperlink" Target="https://www.qac.org/398/Chesapeake-Bay-Critical-Area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lfclubsr.com/faq" TargetMode="External"/><Relationship Id="rId2" Type="http://schemas.openxmlformats.org/officeDocument/2006/relationships/hyperlink" Target="https://foretee.com/courses/maryland/edgewater/usa/the-golf-club-at-south-river/6925" TargetMode="External"/><Relationship Id="rId3" Type="http://schemas.openxmlformats.org/officeDocument/2006/relationships/hyperlink" Target="https://clubandresortbusiness.com/vivamee-hospitality-acquires-two-maryland-golf-locations-for-25m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Disciplined Real Estate Investing, Development &amp; Capital Formation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58368" y="2852928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1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HARBOR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713232" y="4041648"/>
            <a:ext cx="3200400" cy="27432"/>
          </a:xfrm>
          <a:prstGeom prst="rect">
            <a:avLst/>
          </a:prstGeom>
          <a:solidFill>
            <a:srgbClr val="8C9BB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8795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 Development &amp; Lot-Monetization Partnership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4681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Entitling and monetizing the developable land around the River &amp; Lakes courses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5047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Queenstown, Maryland  ·  Eastern Shore  ·  36 holes on the Chesapeake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Preliminary discussion document — not a final proposal or commitment. Figures compiled from public sources and independent research; subject to change and confirmation in further conversations.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400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FOR ROBERT A. CONNELL, CFP   |   ACCOUNTABLE EQUITY · CAPITAL H6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869680" y="64008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JUNE 2026  ·  DISCUSSION DRAFT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just bought it. Now monetize the land.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Bob — Capital H6 just closed Queenstown Harbor. The resort runs itself; the upside is the developable land around the 36 holes — entitle it, sell lots to builders, recycle the proceeds.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$25M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651760" y="1984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 acquired (May 2026)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Queenstown + South River, via Capital H6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44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 holes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51760" y="2962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River &amp; Lakes courses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310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Waterfront resort on the Eastern Shore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227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870+ ac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651760" y="39410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the two properties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2885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Waterfront + conservation land (to verify)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09744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011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 costs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651760" y="4919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begin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5266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Builders fund the horizontal infrastructure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874520"/>
            <a:ext cx="5330952" cy="411480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1874520"/>
            <a:ext cx="109728" cy="41148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03911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NOW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38658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own it free and clear — Capital H6 just closed the purchase.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766560" y="324612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Fresh, low basis: $25M for two courses across 870+ acres — the land value is the upside.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92049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Builders fund sewer, roads and utilities — you carry approvals, not construction risk.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459486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Minutes over the Bay Bridge to Annapolis; ~1 hour to D.C. &amp; Baltimore.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526923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Golf and water frontage on the Chesapeake commands a premium — and sells quickly.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0899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(own research; subject to change &amp; confirmation):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1" invalidUrl="" action="" tgtFrame="" tooltip="Club + Resort Busi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Club + Resort Business</a:t>
            </a:r>
            <a:pPr algn="l" indent="0" marL="0">
              <a:buNone/>
            </a:pPr>
            <a:r>
              <a:rPr lang="en-US" sz="7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·  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2" invalidUrl="" action="" tgtFrame="" tooltip="Eye On Annapoli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Eye On Annapolis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ASSET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Harbor, by the numbers.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36-hole waterfront destination on Maryland's Eastern Shore — acquired from The Brick Companies in May 2026, with established golf, an event venue and cottages already in place.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River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651760" y="1984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 · par 72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Lindsay Ervin design · 7,096 yds · opened 1991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44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Lakes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651760" y="2962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 · par 71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310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Lindsay Ervin design · 6,569 yds · opened 1996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227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310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651760" y="39410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Links Lane, Queenstown MD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2885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Chester River at the Chesapeake Bay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09744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011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$25M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651760" y="4919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Acquired with South River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5266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The Brick Companies · via Capital H6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874520"/>
            <a:ext cx="5330952" cy="411480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1874520"/>
            <a:ext cx="109728" cy="41148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03911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ALREADY IN PLACE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38658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operating resort — not a raw land play.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766560" y="324612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River House &amp; Tavern — newly renovated wedding, event and corporate venue.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92049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On-site cottages — existing overnight lodging and a hospitality base.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459486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36 holes of championship golf since 1991 — traffic, brand and demand already here.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526923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198 acres under permanent conservation — stewardship credibility, and an envelope to plan around.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0899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(own research; subject to change &amp; confirmation):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1" invalidUrl="" action="" tgtFrame="" tooltip="qhgolf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qhgolf.com</a:t>
            </a:r>
            <a:pPr algn="l" indent="0" marL="0">
              <a:buNone/>
            </a:pPr>
            <a:r>
              <a:rPr lang="en-US" sz="7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·  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2" invalidUrl="" action="" tgtFrame="" tooltip="GolfDiges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GolfDigest</a:t>
            </a:r>
            <a:pPr algn="l" indent="0" marL="0">
              <a:buNone/>
            </a:pPr>
            <a:r>
              <a:rPr lang="en-US" sz="7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·  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 invalidUrl="" action="" tgtFrame="" tooltip="VisitMaryla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VisitMaryland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LAND BANK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upside is the land around the golf.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resort operates; the value-creation is entitling the developable, non-conservation acreage and selling finished lots to homebuilders. Capital-light, and additive to the hospitality.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870+ ac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1984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land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Queenstown + South River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44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198 ac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651760" y="2962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conservation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310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Permanent easement at Queenstown — plan around 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227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651760" y="39410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Developable land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2885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after conservation, wetlands &amp; course (to verify)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09744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011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Lots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651760" y="4919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Entitle &amp; sell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5266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Finished lots to regional homebuilders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874520"/>
            <a:ext cx="5330952" cy="411480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1874520"/>
            <a:ext cx="109728" cy="41148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03911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THESIS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38658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Monetize the land the golf doesn't need.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766560" y="324612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developable parcels at the course edges — away from conservation, wetlands and play.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92049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Entitle for residential; sell finished lots to builders who fund the horizontal work.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459486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Golf-frontage and water-view lots command premium pricing and faster absorption.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526923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Recycle proceeds into the broader Capital H6 program — including South River.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0899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(own research; subject to change &amp; confirmation):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1" invalidUrl="" action="" tgtFrame="" tooltip="Club + Resort Busi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Club + Resort Business</a:t>
            </a:r>
            <a:pPr algn="l" indent="0" marL="0">
              <a:buNone/>
            </a:pPr>
            <a:r>
              <a:rPr lang="en-US" sz="7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·  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2" invalidUrl="" action="" tgtFrame="" tooltip="qhgolf.com/who-we-a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qhgolf.com/who-we-are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PLAYBOOK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moves that turn land into cash.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Capital-light by sequence — soft costs first, then builders carry the infrastructure and construction risk, and the proceeds recycle into the next parcel.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2688336" cy="374904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20240"/>
            <a:ext cx="2688336" cy="914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488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4564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Approvals for lots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822192"/>
            <a:ext cx="2231136" cy="18288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50208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zoning and subdivision approvals for the developable acreage around the fairways.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0128" y="1920240"/>
            <a:ext cx="2688336" cy="374904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9" name="Shape 17"/>
          <p:cNvSpPr/>
          <p:nvPr/>
        </p:nvSpPr>
        <p:spPr>
          <a:xfrm>
            <a:off x="3310128" y="1920240"/>
            <a:ext cx="2688336" cy="914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0" name="Text 18"/>
          <p:cNvSpPr/>
          <p:nvPr/>
        </p:nvSpPr>
        <p:spPr>
          <a:xfrm>
            <a:off x="3538728" y="21488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538728" y="306324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Sell to Builders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38728" y="34564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Finished lots → homebuilders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38728" y="3822192"/>
            <a:ext cx="2231136" cy="18288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4" name="Text 22"/>
          <p:cNvSpPr/>
          <p:nvPr/>
        </p:nvSpPr>
        <p:spPr>
          <a:xfrm>
            <a:off x="3538728" y="3950208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Sell entitled lots to regional builders and let them fund sewer, roads and utilities.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1920240"/>
            <a:ext cx="2688336" cy="374904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6" name="Shape 24"/>
          <p:cNvSpPr/>
          <p:nvPr/>
        </p:nvSpPr>
        <p:spPr>
          <a:xfrm>
            <a:off x="6163056" y="1920240"/>
            <a:ext cx="2688336" cy="914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7" name="Text 25"/>
          <p:cNvSpPr/>
          <p:nvPr/>
        </p:nvSpPr>
        <p:spPr>
          <a:xfrm>
            <a:off x="6391656" y="21488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391656" y="306324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Golf &amp; Water Premium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91656" y="34564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Frontage sells higher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91656" y="3822192"/>
            <a:ext cx="2231136" cy="18288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1" name="Text 29"/>
          <p:cNvSpPr/>
          <p:nvPr/>
        </p:nvSpPr>
        <p:spPr>
          <a:xfrm>
            <a:off x="6391656" y="3950208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Lots on a course or with Chesapeake water views command a premium and absorb faster.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15984" y="1920240"/>
            <a:ext cx="2688336" cy="374904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3" name="Shape 31"/>
          <p:cNvSpPr/>
          <p:nvPr/>
        </p:nvSpPr>
        <p:spPr>
          <a:xfrm>
            <a:off x="9015984" y="1920240"/>
            <a:ext cx="2688336" cy="914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4" name="Text 32"/>
          <p:cNvSpPr/>
          <p:nvPr/>
        </p:nvSpPr>
        <p:spPr>
          <a:xfrm>
            <a:off x="9244584" y="21488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9244584" y="306324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Recycle &amp; Repeat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244584" y="34564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Parcel by parcel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244584" y="3822192"/>
            <a:ext cx="2231136" cy="18288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8" name="Text 36"/>
          <p:cNvSpPr/>
          <p:nvPr/>
        </p:nvSpPr>
        <p:spPr>
          <a:xfrm>
            <a:off x="9244584" y="3950208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Roll proceeds into the next parcel — and seed the broader Capital H6 program.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 01 is mostly soft costs — the fastest path to proof, and to first cash.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MATH  ·  ILLUSTRATIVE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700 acres to the developable envelope.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down from real constraints — the recorded conservation easement, the golf footprint, and Maryland's Chesapeake Bay Critical Area. Developable acreage is survey-dependent; figures illustrative.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292608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38528"/>
            <a:ext cx="292608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938528"/>
            <a:ext cx="310896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1938528"/>
            <a:ext cx="265176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938528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0" y="1938528"/>
            <a:ext cx="2587752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1938528"/>
            <a:ext cx="2587752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Result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04288"/>
            <a:ext cx="2926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304288"/>
            <a:ext cx="292608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land (gross)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304288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304288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ownership estimate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2304288"/>
            <a:ext cx="26517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304288"/>
            <a:ext cx="26517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0" y="2304288"/>
            <a:ext cx="25877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0" y="2304288"/>
            <a:ext cx="2587752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~700 ac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807208"/>
            <a:ext cx="2926080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807208"/>
            <a:ext cx="292608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permanent conservation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2807208"/>
            <a:ext cx="3108960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2807208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recorded easement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2807208"/>
            <a:ext cx="2651760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807208"/>
            <a:ext cx="26517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700 − 198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44000" y="2807208"/>
            <a:ext cx="2587752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0" y="2807208"/>
            <a:ext cx="2587752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502 ac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310128"/>
            <a:ext cx="2926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310128"/>
            <a:ext cx="292608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golf, range, water &amp; lodging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0" y="3310128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3310128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18s + 9-ac range + cottages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92240" y="3310128"/>
            <a:ext cx="26517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3310128"/>
            <a:ext cx="26517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502 − ~300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144000" y="3310128"/>
            <a:ext cx="25877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0" y="3310128"/>
            <a:ext cx="2587752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~200 ac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813048"/>
            <a:ext cx="2926080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813048"/>
            <a:ext cx="292608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Critical Area &amp; wetlands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83280" y="3813048"/>
            <a:ext cx="3108960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6" name="Text 44"/>
          <p:cNvSpPr/>
          <p:nvPr/>
        </p:nvSpPr>
        <p:spPr>
          <a:xfrm>
            <a:off x="3383280" y="3813048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Chesapeake 1,000-ft zone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92240" y="3813048"/>
            <a:ext cx="2651760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240" y="3813048"/>
            <a:ext cx="26517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200 − ~60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144000" y="3813048"/>
            <a:ext cx="2587752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0" y="3813048"/>
            <a:ext cx="2587752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~140 ac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4315968"/>
            <a:ext cx="2926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315968"/>
            <a:ext cx="292608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 developable → lots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383280" y="4315968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3383280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~2.0 lots / acre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92240" y="4315968"/>
            <a:ext cx="26517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492240" y="4315968"/>
            <a:ext cx="26517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140 × 2.0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144000" y="4315968"/>
            <a:ext cx="258775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9144000" y="4315968"/>
            <a:ext cx="2587752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~280 lots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4818888"/>
            <a:ext cx="2926080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4818888"/>
            <a:ext cx="292608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FINISHED LOT VALUE (net, illustrative)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383280" y="4818888"/>
            <a:ext cx="3108960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2" name="Text 60"/>
          <p:cNvSpPr/>
          <p:nvPr/>
        </p:nvSpPr>
        <p:spPr>
          <a:xfrm>
            <a:off x="3383280" y="4818888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$150K / lot, less ~30% costs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492240" y="4818888"/>
            <a:ext cx="2651760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4" name="Text 62"/>
          <p:cNvSpPr/>
          <p:nvPr/>
        </p:nvSpPr>
        <p:spPr>
          <a:xfrm>
            <a:off x="6492240" y="4818888"/>
            <a:ext cx="2651760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280 × $150K × 0.70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144000" y="4818888"/>
            <a:ext cx="2587752" cy="5029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6" name="Text 64"/>
          <p:cNvSpPr/>
          <p:nvPr/>
        </p:nvSpPr>
        <p:spPr>
          <a:xfrm>
            <a:off x="9144000" y="4818888"/>
            <a:ext cx="2587752" cy="50292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$29M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$29M illustrative net from ~140 developable acres — net of conservation &amp; Critical Area, additive to the resort.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57200" y="605332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(own research; subject to change &amp; confirmation):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1" invalidUrl="" action="" tgtFrame="" tooltip="qhgolf.com/who-we-a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qhgolf.com/who-we-are</a:t>
            </a:r>
            <a:pPr algn="l" indent="0" marL="0">
              <a:buNone/>
            </a:pPr>
            <a:r>
              <a:rPr lang="en-US" sz="7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·  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2" invalidUrl="" action="" tgtFrame="" tooltip="Queen Anne's Co. — Critical Are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Queen Anne's Co. — Critical Area</a:t>
            </a:r>
            <a:pPr algn="l" indent="0" marL="0">
              <a:buNone/>
            </a:pPr>
            <a:r>
              <a:rPr lang="en-US" sz="7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·  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 invalidUrl="" action="" tgtFrame="" tooltip="MD DNR — Critical Are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 DNR — Critical Area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SELLS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lots sell — here's why.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 and water frontage, Bay Bridge proximity, and builder appetite for entitled lots all push price and absorption. We're meeting demand that already exists.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438912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9520" y="1965960"/>
            <a:ext cx="4142232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965960"/>
            <a:ext cx="4142232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lifts value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31720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Golf &amp; water frontage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2331720"/>
            <a:ext cx="4389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2331720"/>
            <a:ext cx="43891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Lots on the River / Lakes courses &amp; Chester River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89520" y="2331720"/>
            <a:ext cx="414223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2331720"/>
            <a:ext cx="4142232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pricing and faster absorption vs. a raw subdivision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98648"/>
            <a:ext cx="274320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898648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Bay Bridge location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898648"/>
            <a:ext cx="438912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2898648"/>
            <a:ext cx="43891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Minutes to Annapolis; ~1 hr to D.C. &amp; Baltimore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89520" y="2898648"/>
            <a:ext cx="4142232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2898648"/>
            <a:ext cx="4142232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Commuter, second-home and weekend demand from three metros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465576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465576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Chesapeake scarcity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0" y="3465576"/>
            <a:ext cx="4389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0" y="3465576"/>
            <a:ext cx="43891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Limited new waterfront-adjacent lots on the Shore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9520" y="3465576"/>
            <a:ext cx="414223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3465576"/>
            <a:ext cx="4142232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barriers → durable, premium lot values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032504"/>
            <a:ext cx="274320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032504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Builder appetite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0" y="4032504"/>
            <a:ext cx="438912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0" y="4032504"/>
            <a:ext cx="43891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Regional homebuilders want entitled / finished lots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589520" y="4032504"/>
            <a:ext cx="4142232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4032504"/>
            <a:ext cx="4142232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pay to avoid entitlement risk — and fund the infrastructure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599432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599432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Fresh owned basis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00400" y="4599432"/>
            <a:ext cx="43891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200400" y="4599432"/>
            <a:ext cx="43891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$25M for 870+ ac just closed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589520" y="4599432"/>
            <a:ext cx="414223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589520" y="4599432"/>
            <a:ext cx="4142232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land basis → development margin starts higher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Demand is already here — we're entitling supply to meet it, not creating a market.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532180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(own research; subject to change &amp; confirmation):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1" invalidUrl="" action="" tgtFrame="" tooltip="distance-citi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distance-cities.com</a:t>
            </a:r>
            <a:pPr algn="l" indent="0" marL="0">
              <a:buNone/>
            </a:pPr>
            <a:r>
              <a:rPr lang="en-US" sz="7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·  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2" invalidUrl="" action="" tgtFrame="" tooltip="Queen Anne's Co. — Critical Are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Queen Anne's Co. — Critical Area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SISTER ASSET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South River — the Annapolis-side anchor.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Acquired in the same $25M Capital H6 deal: an established 18-hole private club near Annapolis with 600+ member families — a membership and events engine, and the next place to run the playbook.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holes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1984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club (Brian Ault, 1996)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Edgewater, MD — on the South River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44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600+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651760" y="2962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Member families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310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Recurring dues + a built-in events 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227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165 ac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651760" y="39410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Club grounds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2885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lakes · 14 environmentally protected areas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09744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011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deal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651760" y="4919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of the $25M H6 buy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5266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platform, two assets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874520"/>
            <a:ext cx="5330952" cy="411480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1874520"/>
            <a:ext cx="109728" cy="41148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03911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ANGLE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38658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Membership and events first; land where diligence supports it.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766560" y="324612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600+ member families — recurring dues, plus an events / dining base to grow.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92049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Annapolis-side, west of the Bay — an affluent, supply-constrained catchment.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459486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Bistro, fitness, simulator lounge &amp; range already drive non-golf revenue.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526923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limited parcel entitlement without disturbing the member experience.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0899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(own research; subject to change &amp; confirmation):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1" invalidUrl="" action="" tgtFrame="" tooltip="golfclubsr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golfclubsr.com</a:t>
            </a:r>
            <a:pPr algn="l" indent="0" marL="0">
              <a:buNone/>
            </a:pPr>
            <a:r>
              <a:rPr lang="en-US" sz="7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·  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2" invalidUrl="" action="" tgtFrame="" tooltip="foretee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foretee.com</a:t>
            </a:r>
            <a:pPr algn="l" indent="0" marL="0">
              <a:buNone/>
            </a:pPr>
            <a:r>
              <a:rPr lang="en-US" sz="7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·    </a:t>
            </a:r>
            <a:pPr algn="l" indent="0" marL="0">
              <a:buNone/>
            </a:pPr>
            <a:r>
              <a:rPr lang="en-US" sz="700" u="sng" dirty="0">
                <a:solidFill>
                  <a:srgbClr val="3A243A"/>
                </a:solidFill>
                <a:latin typeface="DM Sans" pitchFamily="34" charset="0"/>
                <a:ea typeface="DM Sans" pitchFamily="34" charset="-122"/>
                <a:cs typeface="DM Sans" pitchFamily="34" charset="-120"/>
                <a:hlinkClick r:id="rId3" invalidUrl="" action="" tgtFrame="" tooltip="Club + Resort Busi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Club + Resort Business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Capital-light by design.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land bank barely needs capital: soft costs to entitle, then builders fund the horizontal work and buy the lots. Cash in is small; proceeds come fast.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532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$1–3M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651760" y="198424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 costs to start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Entitlements, planning &amp; approvals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5532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44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651760" y="296265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the equity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3101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Acreage held by Capital H6 — already acquired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874520"/>
            <a:ext cx="5330952" cy="1847088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874520"/>
            <a:ext cx="109728" cy="1847088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PRINCIPLE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carry approvals, not construction.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70662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Builders take the infrastructure burden — sewer, roads, utilities — and pay for finished lots. Your cash at risk stays small and staged.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3931920"/>
            <a:ext cx="301752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3931920"/>
            <a:ext cx="201168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capital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0" y="3931920"/>
            <a:ext cx="3502152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931920"/>
            <a:ext cx="3502152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funds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9768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 — Entitle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429768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Approvals for lots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429768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$1–3M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4297680"/>
            <a:ext cx="35021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4297680"/>
            <a:ext cx="3502152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+ H6 dev co (skin in the game)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754880"/>
            <a:ext cx="2743200" cy="45720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 — Builder takedown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0" y="4754880"/>
            <a:ext cx="3017520" cy="45720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0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Horizontal + lot purchase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4754880"/>
            <a:ext cx="2011680" cy="45720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475488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~$0 to you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29600" y="4754880"/>
            <a:ext cx="3502152" cy="45720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4754880"/>
            <a:ext cx="3502152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Regional homebuilder funds &amp; buys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2120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3 — Recycle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0" y="521208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Proceeds redeployed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5212080"/>
            <a:ext cx="20116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217920" y="521208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Self-funding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29600" y="5212080"/>
            <a:ext cx="350215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0" y="5212080"/>
            <a:ext cx="3502152" cy="45720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parcel / South River / H6 program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Minimal capital at risk — and the land bank seeds everything that comes after.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ACCESS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bring the capital relationships.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a parcel does call for equity or debt — or to move faster — here's the access. Active mandates, not a paper Rolodex.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$15M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651760" y="1984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Equity being raised now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Houston retail — family-office capital, closing summer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44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$19.5M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651760" y="2962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Debt already secured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310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Lender committed on the same transaction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227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Mid-20s%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651760" y="39410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development IRR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2885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Investors expect mid-to-high 20s out-of-state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09744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011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$6.1B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651760" y="4919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transaction volume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5266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debt &amp; equity — Blackstone + Levcor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874520"/>
            <a:ext cx="5330952" cy="411480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1874520"/>
            <a:ext cx="109728" cy="41148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03911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NETWORK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38658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I place capital — equity and debt.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766560" y="324612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Family offices (Texas) — my core equity base; they'll travel for the right risk-adjusted return.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92049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Institutional equity — Angelo Gordon and peer private-equity relationships.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459486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National debt — Goldman Sachs (met two weeks ago; national platform, Dallas team) + specialty lenders.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526923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bar for out-of-state development is mid-to-high-20s IRR — the fresh land basis helps clear it.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STRUCTURE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vehicle inside the H6 platform.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Capital H6 owns the land. Spin the developable parcels into a land-development entity — H6 contributes the acreage as equity; JAL co-invests and runs entitlement, capital and lot sales alongside your team.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1274552" cy="786384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83080"/>
            <a:ext cx="109728" cy="78638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8366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LAND PARTNERS, LLC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249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Working 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95360" y="1783080"/>
            <a:ext cx="3108960" cy="786384"/>
          </a:xfrm>
          <a:prstGeom prst="rect">
            <a:avLst/>
          </a:prstGeom>
          <a:noFill/>
          <a:ln/>
        </p:spPr>
        <p:txBody>
          <a:bodyPr wrap="square" lIns="25400" tIns="76200" rIns="1270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Land-development vehicle under Capital H6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59359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0779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 = EQUITY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20040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" y="3840480"/>
            <a:ext cx="3136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Developable acreage contributed by Capital H6 at appraised value — just acquired, at a low basis.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24528" y="2743200"/>
            <a:ext cx="359359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290779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STACK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53128" y="3163824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53128" y="34564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 equity (H6)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01968" y="3456432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Contributed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53128" y="3785616"/>
            <a:ext cx="3136392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3959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Builder-funded infra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01968" y="3959352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Horizontal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53128" y="4288536"/>
            <a:ext cx="3136392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29" name="Text 27"/>
          <p:cNvSpPr/>
          <p:nvPr/>
        </p:nvSpPr>
        <p:spPr>
          <a:xfrm>
            <a:off x="4453128" y="4462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Cash equity (JAL + LP)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01968" y="4462272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 costs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53128" y="4791456"/>
            <a:ext cx="3136392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32" name="Shape 30"/>
          <p:cNvSpPr/>
          <p:nvPr/>
        </p:nvSpPr>
        <p:spPr>
          <a:xfrm>
            <a:off x="7991856" y="2743200"/>
            <a:ext cx="3593592" cy="260604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3" name="Shape 31"/>
          <p:cNvSpPr/>
          <p:nvPr/>
        </p:nvSpPr>
        <p:spPr>
          <a:xfrm>
            <a:off x="7991856" y="2743200"/>
            <a:ext cx="91440" cy="26060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0456" y="290779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0456" y="331012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Josh McCallen / VIVÂMEE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0456" y="355701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Resort owner-operator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20456" y="396849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Bob Connell / Capital H6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0456" y="421538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Development lead (H6 GP)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20456" y="462686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20456" y="4873752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Capital, entitlement &amp; sales — co-invests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takes skin in the game — co-investing alongside, not just advising.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 ·  FOR DISCUSSION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I'd want to be engaged.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asked how I'd like to be comped. My preference matches yours — a small base to fund the work, then real alignment on the value we create. For discussion only.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1274552" cy="86868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83080"/>
            <a:ext cx="109728" cy="86868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470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1883664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$15K/mo + expenses, then success fees + carry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224942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Aligned to lot-sale value created — not a flat consulting check.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0" y="1783080"/>
            <a:ext cx="2953512" cy="868680"/>
          </a:xfrm>
          <a:prstGeom prst="rect">
            <a:avLst/>
          </a:prstGeom>
          <a:noFill/>
          <a:ln/>
        </p:spPr>
        <p:txBody>
          <a:bodyPr wrap="square" lIns="25400" tIns="76200" rIns="127000" bIns="2540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Skin in</a:t>
            </a:r>
            <a:endParaRPr lang="en-US" sz="13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52928"/>
            <a:ext cx="310896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52928"/>
            <a:ext cx="310896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6160" y="2852928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852928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2852928"/>
            <a:ext cx="5422392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852928"/>
            <a:ext cx="5422392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covers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18688"/>
            <a:ext cx="31089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18688"/>
            <a:ext cx="3108960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Advisory retainer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218688"/>
            <a:ext cx="27432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218688"/>
            <a:ext cx="2743200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$15K / mo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218688"/>
            <a:ext cx="5422392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218688"/>
            <a:ext cx="5422392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Funds entitlement, underwriting &amp; capital sourcing during an initial term; creditable against success fees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858768"/>
            <a:ext cx="3108960" cy="64008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58768"/>
            <a:ext cx="3108960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Expenses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66160" y="3858768"/>
            <a:ext cx="2743200" cy="64008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3858768"/>
            <a:ext cx="2743200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Reimbursed at cost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858768"/>
            <a:ext cx="5422392" cy="64008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858768"/>
            <a:ext cx="5422392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Travel, survey, market &amp; entitlement studies — billed separately, not netted from fees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498848"/>
            <a:ext cx="31089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498848"/>
            <a:ext cx="3108960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placement fee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66160" y="4498848"/>
            <a:ext cx="27432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4498848"/>
            <a:ext cx="2743200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1% debt · 2–3% equity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4498848"/>
            <a:ext cx="5422392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4498848"/>
            <a:ext cx="5422392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 fee if and when we place debt or equity for a parcel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5138928"/>
            <a:ext cx="3108960" cy="64008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138928"/>
            <a:ext cx="3108960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Carried interest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566160" y="5138928"/>
            <a:ext cx="2743200" cy="64008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4" name="Text 42"/>
          <p:cNvSpPr/>
          <p:nvPr/>
        </p:nvSpPr>
        <p:spPr>
          <a:xfrm>
            <a:off x="3566160" y="5138928"/>
            <a:ext cx="2743200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Co-GP promote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5138928"/>
            <a:ext cx="5422392" cy="64008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5138928"/>
            <a:ext cx="5422392" cy="64008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 of value created on lot sales; JAL co-invests its own capital alongside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structure flexes to the deal — the point is alignment: I win when you win.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JAL AS YOUR PARTNER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Pedigree. Relationships. Operator.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Institutional capital-markets pedigree, an active investor network, and hands-on development &amp; asset-management experience.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4572000" cy="434340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91640"/>
            <a:ext cx="109728" cy="43434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56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JUSTIN A. LEVINE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1579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 &amp; CEO, JAL Strategies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$6.1B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606040" y="27706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 transaction volume ($5.5B Blackstone + $600M Levcor)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$600M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606040" y="354787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debt + equity allocated across 26 CRE deals at Levcor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3.9M SF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606040" y="432511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TX + NC retail managed at Levcor (2014–2025)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50749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20+ years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606040" y="51023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 operating, capital markets &amp; asset management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0" y="1691640"/>
            <a:ext cx="6428232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18562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ARC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32120" y="2194560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LEVCOR, INC.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245059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President 2024–2025; CIO 2021–2024; VP 2014–2021. $600M / 3.9M SF TX + NC retail portfolio; realized 4.13x / 16.1% IRR on six dispositions.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32120" y="2907792"/>
            <a:ext cx="5989320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2962656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BLACKSTONE GROUP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321868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Analyst / Associate 2006–2011, NYC. Capital raising for U.S., Asia &amp; India funds; $2.5B raised; ~$5.5B aggregate transaction volume.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32120" y="3675888"/>
            <a:ext cx="5989320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31" name="Text 29"/>
          <p:cNvSpPr/>
          <p:nvPr/>
        </p:nvSpPr>
        <p:spPr>
          <a:xfrm>
            <a:off x="5532120" y="3730752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JAL-JCP REAL ESTATE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398678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Co-Founder. Partnership with JCP Investment Management ($250M+ AUM, SEC-registered). Below-replacement-cost unanchored strip centers.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32120" y="4443984"/>
            <a:ext cx="5989320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4498848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ULI HOUSTON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47548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Chair, District Council Management Committee 2022–2024. ULI Americas Mixed-Use &amp; Retail Councils. Member since 2015.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5212080"/>
            <a:ext cx="5989320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37" name="Text 35"/>
          <p:cNvSpPr/>
          <p:nvPr/>
        </p:nvSpPr>
        <p:spPr>
          <a:xfrm>
            <a:off x="5532120" y="526694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32120" y="5522976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M.B.A., The Wharton School, University of Pennsylvania. B.S. Economics + Communication Studies, Northwestern University.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this call to a signed mandate.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 and fast to start — diligence now, an in-person while I'm in the Northeast in July, then a defined engagement on the first parcels.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3630168" cy="969264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83080"/>
            <a:ext cx="91440" cy="96926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86537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13969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DILIGENCE &amp; 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245059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Now – July  ·  Review &amp; analysis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363016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94436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9443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 developable vs. conservation acreage (survey + easements)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54787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5478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Pull entitlement &amp; zoning status (Queen Anne's County)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415137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15137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lot yield &amp; absorption for the developable parcels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4754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7548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 the H6 ownership &amp; contribution mechanics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79392" y="1783080"/>
            <a:ext cx="3630168" cy="969264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6" name="Shape 24"/>
          <p:cNvSpPr/>
          <p:nvPr/>
        </p:nvSpPr>
        <p:spPr>
          <a:xfrm>
            <a:off x="4279392" y="1783080"/>
            <a:ext cx="91440" cy="96926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7" name="Text 25"/>
          <p:cNvSpPr/>
          <p:nvPr/>
        </p:nvSpPr>
        <p:spPr>
          <a:xfrm>
            <a:off x="4507992" y="186537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07992" y="213969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PERSON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07992" y="245059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July 2026  ·  Walk the site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79392" y="2788920"/>
            <a:ext cx="363016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294436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29443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while I'm in the NY / Philly area — train down or drive to the Shore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354787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36592" y="35478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Walk Queenstown (River House &amp; the course edges)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80560" y="415137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415137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Josh / VIVÂMEE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0" y="4754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36592" y="47548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 on first parcels, capital plan &amp; comp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01584" y="1783080"/>
            <a:ext cx="3630168" cy="969264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40" name="Shape 38"/>
          <p:cNvSpPr/>
          <p:nvPr/>
        </p:nvSpPr>
        <p:spPr>
          <a:xfrm>
            <a:off x="8101584" y="1783080"/>
            <a:ext cx="91440" cy="96926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41" name="Text 39"/>
          <p:cNvSpPr/>
          <p:nvPr/>
        </p:nvSpPr>
        <p:spPr>
          <a:xfrm>
            <a:off x="8330184" y="186537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30184" y="213969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MANDATE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330184" y="245059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H2 2026  ·  Engage &amp; execute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01584" y="2788920"/>
            <a:ext cx="363016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02752" y="294436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58784" y="29443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 up the land vehicle under Capital H6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02752" y="354787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58784" y="35478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 Phase 1 entitlements + soft-cost budget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02752" y="415137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58784" y="415137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regional-homebuilder conversations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02752" y="4754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558784" y="47548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entitled-lot sales underwritten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need to sharpen the model: survey / plat &amp; conservation easements · entitlement &amp; zoning status · H6 structure · target timeline.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58368" y="309067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713232" y="4224528"/>
            <a:ext cx="3200400" cy="27432"/>
          </a:xfrm>
          <a:prstGeom prst="rect">
            <a:avLst/>
          </a:prstGeom>
          <a:solidFill>
            <a:srgbClr val="8C9BB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43708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Bob — appreciate the call, and the résumé read.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580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Looking forward to monetizing the land around Queenstown Harbor with you, Josh and the H6 team — let's find time in July.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52486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Justin A. Levine  |  jlevine@jalstrategies.com  |  JAL Strategies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 ·  CONFIDENTIAL  ·  DISCUSSION DRAFT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64008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JAL Strategies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Queenstown Harbor — Land Development Partnership (for Robert A. Connell)</dc:title>
  <dc:subject>PptxGenJS Presentation</dc:subject>
  <dc:creator>JAL Strategies</dc:creator>
  <cp:lastModifiedBy>JAL Strategies</cp:lastModifiedBy>
  <cp:revision>1</cp:revision>
  <dcterms:created xsi:type="dcterms:W3CDTF">2026-06-05T22:40:45Z</dcterms:created>
  <dcterms:modified xsi:type="dcterms:W3CDTF">2026-06-05T22:40:45Z</dcterms:modified>
</cp:coreProperties>
</file>