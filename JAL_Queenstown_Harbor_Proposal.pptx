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60% LTC → equity ~$11M (land $4M + cash $7M); ~2.3x / ~31% levered project IRR (~24% unlevered). After an 8% pref + tiered promote (80/20 → 70/30 → 60/40), LP IRR ~27% / GP IRR ~59% (see waterfall + sensitivity).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how the LP IRR is derived. Project equity IRR (60% LTC) ~31%; through an 8% pref + tiered promote (80/20 to a 15% IRR, 70/30 to 20%, 60/40 above), the LP nets ~27% and the GP group (Capital H6, Bob, JAL + partners) earns ~59% IRR / ~$4.1M carry on a small co-invest — JAL is one member with a share of the promote. Sensitized next. Model =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of the Phase 1 LP IRR to lot price × LTC. Base $150K / 60% LTC → ~27%. To clear 30% LP: ~$170K lots (~33% at 60% LTC) or 65–70% LTC at $150K (~29–33%). Each cell re-runs cost → profit → equity → the promote waterfall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leads capital formation. A 120-key resort &amp; spa is already designed (FILLAT+ Architecture), validating the program.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IRR sensitized to stabilized NOI × exit cap (the development spread). Base $4.65M NOI / 7.5% cap → ~28%. Premium NOI ($5.15M) or a 7% cap pushes it to the mid-30s; an 8.5% cap or soft NOI drops it to ~12–20%. 65% LTC, recap at stabilization. Model is the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annual project cash flow — ties to slide 6 ($42M revenue) and slide 10 ($27.5M cost, $14.5M profit). Lots sell Yr 2–4; levered / LP returns per the waterfall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annual cash flow. Develop $47M Yr 0–2; NOI ramps Yr 2–4; recap / sell ~$62M @ a 7.5% cap at Yr 4. Levered build-to-core IRR ~28% (65% LTC).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runs entitlement + capital formation + lot sales. VIVÂMEE keeps operating the resort. I also intend to put capital into the GP — amount TBD, to be sized once we've done diligence and set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pfarc.com/queenstown-harbor-resort-spa/" TargetMode="External"/><Relationship Id="rId2" Type="http://schemas.openxmlformats.org/officeDocument/2006/relationships/hyperlink" Target="https://www.hvs.com/article/10219-hvs-us-hotel-development-cost-survey-2025" TargetMode="External"/><Relationship Id="rId3" Type="http://schemas.openxmlformats.org/officeDocument/2006/relationships/hyperlink" Target="https://www.mmcginvest.com/post/u-s-hotel-cap-rates-in-2025-trends-drivers-and-segment-analysis" TargetMode="External"/><Relationship Id="rId4" Type="http://schemas.openxmlformats.org/officeDocument/2006/relationships/hyperlink" Target="https://blog.eb3construction.com/construction/food-beverage/restaurant-build-out-estimate/" TargetMode="Externa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Capital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tiered promote (see waterfall)</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~31%</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~27%</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60% LTC → ~2.3× equity, ~31% levered (27% LP after promote).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RETURNS WATERFALL  ·  PHASE 1</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the LP IRR is built.</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market structure: 8% preferred return, then a tiered promote. At 60% LTC the LP (90% of equity) nets ~27% after the promote; reaching the 30%+ range takes higher leverage or pricing (see the sensitivity). The GP — Capital H6, Bob &amp; JAL + partners — earns the carry; JAL shares in it.</a:t>
            </a:r>
            <a:endParaRPr lang="en-US" sz="1300" dirty="0"/>
          </a:p>
        </p:txBody>
      </p:sp>
      <p:sp>
        <p:nvSpPr>
          <p:cNvPr id="11" name="Shape 9"/>
          <p:cNvSpPr/>
          <p:nvPr/>
        </p:nvSpPr>
        <p:spPr>
          <a:xfrm>
            <a:off x="457200" y="1920240"/>
            <a:ext cx="3657600" cy="365760"/>
          </a:xfrm>
          <a:prstGeom prst="rect">
            <a:avLst/>
          </a:prstGeom>
          <a:solidFill>
            <a:srgbClr val="0B163C"/>
          </a:solidFill>
          <a:ln/>
        </p:spPr>
      </p:sp>
      <p:sp>
        <p:nvSpPr>
          <p:cNvPr id="12" name="Text 10"/>
          <p:cNvSpPr/>
          <p:nvPr/>
        </p:nvSpPr>
        <p:spPr>
          <a:xfrm>
            <a:off x="457200" y="1920240"/>
            <a:ext cx="36576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PROMOTE WATERFALL</a:t>
            </a:r>
            <a:endParaRPr lang="en-US" sz="900" dirty="0"/>
          </a:p>
        </p:txBody>
      </p:sp>
      <p:sp>
        <p:nvSpPr>
          <p:cNvPr id="13" name="Shape 11"/>
          <p:cNvSpPr/>
          <p:nvPr/>
        </p:nvSpPr>
        <p:spPr>
          <a:xfrm>
            <a:off x="4114800" y="1920240"/>
            <a:ext cx="1828800" cy="365760"/>
          </a:xfrm>
          <a:prstGeom prst="rect">
            <a:avLst/>
          </a:prstGeom>
          <a:solidFill>
            <a:srgbClr val="0B163C"/>
          </a:solidFill>
          <a:ln/>
        </p:spPr>
      </p:sp>
      <p:sp>
        <p:nvSpPr>
          <p:cNvPr id="14" name="Text 12"/>
          <p:cNvSpPr/>
          <p:nvPr/>
        </p:nvSpPr>
        <p:spPr>
          <a:xfrm>
            <a:off x="4114800" y="1920240"/>
            <a:ext cx="18288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LP / GP</a:t>
            </a:r>
            <a:endParaRPr lang="en-US" sz="900" dirty="0"/>
          </a:p>
        </p:txBody>
      </p:sp>
      <p:sp>
        <p:nvSpPr>
          <p:cNvPr id="15" name="Shape 13"/>
          <p:cNvSpPr/>
          <p:nvPr/>
        </p:nvSpPr>
        <p:spPr>
          <a:xfrm>
            <a:off x="457200" y="2286000"/>
            <a:ext cx="3657600" cy="548640"/>
          </a:xfrm>
          <a:prstGeom prst="rect">
            <a:avLst/>
          </a:prstGeom>
          <a:solidFill>
            <a:srgbClr val="FFFFFF"/>
          </a:solidFill>
          <a:ln/>
        </p:spPr>
      </p:sp>
      <p:sp>
        <p:nvSpPr>
          <p:cNvPr id="16" name="Text 14"/>
          <p:cNvSpPr/>
          <p:nvPr/>
        </p:nvSpPr>
        <p:spPr>
          <a:xfrm>
            <a:off x="457200" y="228600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1 · Return of capital + 8% pref</a:t>
            </a:r>
            <a:endParaRPr lang="en-US" sz="950" dirty="0"/>
          </a:p>
        </p:txBody>
      </p:sp>
      <p:sp>
        <p:nvSpPr>
          <p:cNvPr id="17" name="Shape 15"/>
          <p:cNvSpPr/>
          <p:nvPr/>
        </p:nvSpPr>
        <p:spPr>
          <a:xfrm>
            <a:off x="4114800" y="2286000"/>
            <a:ext cx="1828800" cy="548640"/>
          </a:xfrm>
          <a:prstGeom prst="rect">
            <a:avLst/>
          </a:prstGeom>
          <a:solidFill>
            <a:srgbClr val="FFFFFF"/>
          </a:solidFill>
          <a:ln/>
        </p:spPr>
      </p:sp>
      <p:sp>
        <p:nvSpPr>
          <p:cNvPr id="18" name="Text 16"/>
          <p:cNvSpPr/>
          <p:nvPr/>
        </p:nvSpPr>
        <p:spPr>
          <a:xfrm>
            <a:off x="4114800" y="228600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90 / 10</a:t>
            </a:r>
            <a:endParaRPr lang="en-US" sz="1000" dirty="0"/>
          </a:p>
        </p:txBody>
      </p:sp>
      <p:sp>
        <p:nvSpPr>
          <p:cNvPr id="19" name="Shape 17"/>
          <p:cNvSpPr/>
          <p:nvPr/>
        </p:nvSpPr>
        <p:spPr>
          <a:xfrm>
            <a:off x="457200" y="2834640"/>
            <a:ext cx="3657600" cy="548640"/>
          </a:xfrm>
          <a:prstGeom prst="rect">
            <a:avLst/>
          </a:prstGeom>
          <a:solidFill>
            <a:srgbClr val="F4F2ED"/>
          </a:solidFill>
          <a:ln/>
        </p:spPr>
      </p:sp>
      <p:sp>
        <p:nvSpPr>
          <p:cNvPr id="20" name="Text 18"/>
          <p:cNvSpPr/>
          <p:nvPr/>
        </p:nvSpPr>
        <p:spPr>
          <a:xfrm>
            <a:off x="457200" y="283464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2 · Promote — to a 15% LP IRR</a:t>
            </a:r>
            <a:endParaRPr lang="en-US" sz="950" dirty="0"/>
          </a:p>
        </p:txBody>
      </p:sp>
      <p:sp>
        <p:nvSpPr>
          <p:cNvPr id="21" name="Shape 19"/>
          <p:cNvSpPr/>
          <p:nvPr/>
        </p:nvSpPr>
        <p:spPr>
          <a:xfrm>
            <a:off x="4114800" y="2834640"/>
            <a:ext cx="1828800" cy="548640"/>
          </a:xfrm>
          <a:prstGeom prst="rect">
            <a:avLst/>
          </a:prstGeom>
          <a:solidFill>
            <a:srgbClr val="F4F2ED"/>
          </a:solidFill>
          <a:ln/>
        </p:spPr>
      </p:sp>
      <p:sp>
        <p:nvSpPr>
          <p:cNvPr id="22" name="Text 20"/>
          <p:cNvSpPr/>
          <p:nvPr/>
        </p:nvSpPr>
        <p:spPr>
          <a:xfrm>
            <a:off x="4114800" y="283464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80 / 20</a:t>
            </a:r>
            <a:endParaRPr lang="en-US" sz="1000" dirty="0"/>
          </a:p>
        </p:txBody>
      </p:sp>
      <p:sp>
        <p:nvSpPr>
          <p:cNvPr id="23" name="Shape 21"/>
          <p:cNvSpPr/>
          <p:nvPr/>
        </p:nvSpPr>
        <p:spPr>
          <a:xfrm>
            <a:off x="457200" y="3383280"/>
            <a:ext cx="3657600" cy="548640"/>
          </a:xfrm>
          <a:prstGeom prst="rect">
            <a:avLst/>
          </a:prstGeom>
          <a:solidFill>
            <a:srgbClr val="FFFFFF"/>
          </a:solidFill>
          <a:ln/>
        </p:spPr>
      </p:sp>
      <p:sp>
        <p:nvSpPr>
          <p:cNvPr id="24" name="Text 22"/>
          <p:cNvSpPr/>
          <p:nvPr/>
        </p:nvSpPr>
        <p:spPr>
          <a:xfrm>
            <a:off x="457200" y="338328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3 · Promote — 15% to 20% LP IRR</a:t>
            </a:r>
            <a:endParaRPr lang="en-US" sz="950" dirty="0"/>
          </a:p>
        </p:txBody>
      </p:sp>
      <p:sp>
        <p:nvSpPr>
          <p:cNvPr id="25" name="Shape 23"/>
          <p:cNvSpPr/>
          <p:nvPr/>
        </p:nvSpPr>
        <p:spPr>
          <a:xfrm>
            <a:off x="4114800" y="3383280"/>
            <a:ext cx="1828800" cy="548640"/>
          </a:xfrm>
          <a:prstGeom prst="rect">
            <a:avLst/>
          </a:prstGeom>
          <a:solidFill>
            <a:srgbClr val="FFFFFF"/>
          </a:solidFill>
          <a:ln/>
        </p:spPr>
      </p:sp>
      <p:sp>
        <p:nvSpPr>
          <p:cNvPr id="26" name="Text 24"/>
          <p:cNvSpPr/>
          <p:nvPr/>
        </p:nvSpPr>
        <p:spPr>
          <a:xfrm>
            <a:off x="4114800" y="338328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70 / 30</a:t>
            </a:r>
            <a:endParaRPr lang="en-US" sz="1000" dirty="0"/>
          </a:p>
        </p:txBody>
      </p:sp>
      <p:sp>
        <p:nvSpPr>
          <p:cNvPr id="27" name="Shape 25"/>
          <p:cNvSpPr/>
          <p:nvPr/>
        </p:nvSpPr>
        <p:spPr>
          <a:xfrm>
            <a:off x="457200" y="3931920"/>
            <a:ext cx="3657600" cy="548640"/>
          </a:xfrm>
          <a:prstGeom prst="rect">
            <a:avLst/>
          </a:prstGeom>
          <a:solidFill>
            <a:srgbClr val="F4F2ED"/>
          </a:solidFill>
          <a:ln/>
        </p:spPr>
      </p:sp>
      <p:sp>
        <p:nvSpPr>
          <p:cNvPr id="28" name="Text 26"/>
          <p:cNvSpPr/>
          <p:nvPr/>
        </p:nvSpPr>
        <p:spPr>
          <a:xfrm>
            <a:off x="457200" y="393192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4 · Promote — above a 20% LP IRR</a:t>
            </a:r>
            <a:endParaRPr lang="en-US" sz="950" dirty="0"/>
          </a:p>
        </p:txBody>
      </p:sp>
      <p:sp>
        <p:nvSpPr>
          <p:cNvPr id="29" name="Shape 27"/>
          <p:cNvSpPr/>
          <p:nvPr/>
        </p:nvSpPr>
        <p:spPr>
          <a:xfrm>
            <a:off x="4114800" y="3931920"/>
            <a:ext cx="1828800" cy="548640"/>
          </a:xfrm>
          <a:prstGeom prst="rect">
            <a:avLst/>
          </a:prstGeom>
          <a:solidFill>
            <a:srgbClr val="F4F2ED"/>
          </a:solidFill>
          <a:ln/>
        </p:spPr>
      </p:sp>
      <p:sp>
        <p:nvSpPr>
          <p:cNvPr id="30" name="Text 28"/>
          <p:cNvSpPr/>
          <p:nvPr/>
        </p:nvSpPr>
        <p:spPr>
          <a:xfrm>
            <a:off x="4114800" y="393192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60 / 40</a:t>
            </a:r>
            <a:endParaRPr lang="en-US" sz="1000" dirty="0"/>
          </a:p>
        </p:txBody>
      </p:sp>
      <p:sp>
        <p:nvSpPr>
          <p:cNvPr id="31" name="Shape 29"/>
          <p:cNvSpPr/>
          <p:nvPr/>
        </p:nvSpPr>
        <p:spPr>
          <a:xfrm>
            <a:off x="457200" y="4572000"/>
            <a:ext cx="5486400" cy="1280160"/>
          </a:xfrm>
          <a:prstGeom prst="rect">
            <a:avLst/>
          </a:prstGeom>
          <a:solidFill>
            <a:srgbClr val="0B163C"/>
          </a:solidFill>
          <a:ln/>
        </p:spPr>
      </p:sp>
      <p:sp>
        <p:nvSpPr>
          <p:cNvPr id="32" name="Shape 30"/>
          <p:cNvSpPr/>
          <p:nvPr/>
        </p:nvSpPr>
        <p:spPr>
          <a:xfrm>
            <a:off x="457200" y="4572000"/>
            <a:ext cx="91440" cy="1280160"/>
          </a:xfrm>
          <a:prstGeom prst="rect">
            <a:avLst/>
          </a:prstGeom>
          <a:solidFill>
            <a:srgbClr val="3A243A"/>
          </a:solidFill>
          <a:ln/>
        </p:spPr>
      </p:sp>
      <p:sp>
        <p:nvSpPr>
          <p:cNvPr id="33" name="Text 31"/>
          <p:cNvSpPr/>
          <p:nvPr/>
        </p:nvSpPr>
        <p:spPr>
          <a:xfrm>
            <a:off x="685800" y="4663440"/>
            <a:ext cx="5120640" cy="27432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CAPITAL STACK  ·  60% LTC</a:t>
            </a:r>
            <a:endParaRPr lang="en-US" sz="900" dirty="0"/>
          </a:p>
        </p:txBody>
      </p:sp>
      <p:sp>
        <p:nvSpPr>
          <p:cNvPr id="34" name="Text 32"/>
          <p:cNvSpPr/>
          <p:nvPr/>
        </p:nvSpPr>
        <p:spPr>
          <a:xfrm>
            <a:off x="685800" y="4919472"/>
            <a:ext cx="5074920" cy="868680"/>
          </a:xfrm>
          <a:prstGeom prst="rect">
            <a:avLst/>
          </a:prstGeom>
          <a:noFill/>
          <a:ln/>
        </p:spPr>
        <p:txBody>
          <a:bodyPr wrap="square" lIns="0" tIns="0" rIns="0" bIns="0" rtlCol="0" anchor="t"/>
          <a:lstStyle/>
          <a:p>
            <a:pPr algn="l" indent="0" marL="0">
              <a:lnSpc>
                <a:spcPts val="1350"/>
              </a:lnSpc>
              <a:buNone/>
            </a:pPr>
            <a:r>
              <a:rPr lang="en-US" sz="1000" dirty="0">
                <a:solidFill>
                  <a:srgbClr val="F4F2ED"/>
                </a:solidFill>
                <a:latin typeface="DM Sans" pitchFamily="34" charset="0"/>
                <a:ea typeface="DM Sans" pitchFamily="34" charset="-122"/>
                <a:cs typeface="DM Sans" pitchFamily="34" charset="-120"/>
              </a:rPr>
              <a:t>$27.5M cost  =  $16.5M development loan (60%)  +  $11M equity.  Equity: LP 90% ($9.9M)  ·  GP — H6 · Bob · JAL + partners 10% ($1.1M).</a:t>
            </a:r>
            <a:endParaRPr lang="en-US" sz="1000" dirty="0"/>
          </a:p>
        </p:txBody>
      </p:sp>
      <p:sp>
        <p:nvSpPr>
          <p:cNvPr id="35" name="Shape 33"/>
          <p:cNvSpPr/>
          <p:nvPr/>
        </p:nvSpPr>
        <p:spPr>
          <a:xfrm>
            <a:off x="6245352" y="1920240"/>
            <a:ext cx="5486400" cy="1810512"/>
          </a:xfrm>
          <a:prstGeom prst="rect">
            <a:avLst/>
          </a:prstGeom>
          <a:solidFill>
            <a:srgbClr val="0B163C"/>
          </a:solidFill>
          <a:ln/>
        </p:spPr>
      </p:sp>
      <p:sp>
        <p:nvSpPr>
          <p:cNvPr id="36" name="Shape 34"/>
          <p:cNvSpPr/>
          <p:nvPr/>
        </p:nvSpPr>
        <p:spPr>
          <a:xfrm>
            <a:off x="6245352" y="1920240"/>
            <a:ext cx="109728" cy="1810512"/>
          </a:xfrm>
          <a:prstGeom prst="rect">
            <a:avLst/>
          </a:prstGeom>
          <a:solidFill>
            <a:srgbClr val="3A243A"/>
          </a:solidFill>
          <a:ln/>
        </p:spPr>
      </p:sp>
      <p:sp>
        <p:nvSpPr>
          <p:cNvPr id="37" name="Text 35"/>
          <p:cNvSpPr/>
          <p:nvPr/>
        </p:nvSpPr>
        <p:spPr>
          <a:xfrm>
            <a:off x="6492240" y="2048256"/>
            <a:ext cx="5120640" cy="274320"/>
          </a:xfrm>
          <a:prstGeom prst="rect">
            <a:avLst/>
          </a:prstGeom>
          <a:noFill/>
          <a:ln/>
        </p:spPr>
        <p:txBody>
          <a:bodyPr wrap="square" lIns="0" tIns="0" rIns="0" bIns="0" rtlCol="0" anchor="ctr"/>
          <a:lstStyle/>
          <a:p>
            <a:pPr algn="l" indent="0" marL="0">
              <a:buNone/>
            </a:pPr>
            <a:r>
              <a:rPr lang="en-US" sz="1000" b="1" spc="150" kern="0" dirty="0">
                <a:solidFill>
                  <a:srgbClr val="C4B8C4"/>
                </a:solidFill>
                <a:latin typeface="Montserrat" pitchFamily="34" charset="0"/>
                <a:ea typeface="Montserrat" pitchFamily="34" charset="-122"/>
                <a:cs typeface="Montserrat" pitchFamily="34" charset="-120"/>
              </a:rPr>
              <a:t>LP — EQUITY INVESTORS  (90% of equity)</a:t>
            </a:r>
            <a:endParaRPr lang="en-US" sz="1000" dirty="0"/>
          </a:p>
        </p:txBody>
      </p:sp>
      <p:sp>
        <p:nvSpPr>
          <p:cNvPr id="38" name="Text 36"/>
          <p:cNvSpPr/>
          <p:nvPr/>
        </p:nvSpPr>
        <p:spPr>
          <a:xfrm>
            <a:off x="6492240" y="2331720"/>
            <a:ext cx="2286000" cy="777240"/>
          </a:xfrm>
          <a:prstGeom prst="rect">
            <a:avLst/>
          </a:prstGeom>
          <a:noFill/>
          <a:ln/>
        </p:spPr>
        <p:txBody>
          <a:bodyPr wrap="square" lIns="0" tIns="0" rIns="0" bIns="0" rtlCol="0" anchor="ctr"/>
          <a:lstStyle/>
          <a:p>
            <a:pPr algn="l" indent="0" marL="0">
              <a:buNone/>
            </a:pPr>
            <a:r>
              <a:rPr lang="en-US" sz="3800" b="1" dirty="0">
                <a:solidFill>
                  <a:srgbClr val="FFFFFF"/>
                </a:solidFill>
                <a:latin typeface="Montserrat" pitchFamily="34" charset="0"/>
                <a:ea typeface="Montserrat" pitchFamily="34" charset="-122"/>
                <a:cs typeface="Montserrat" pitchFamily="34" charset="-120"/>
              </a:rPr>
              <a:t>~27%</a:t>
            </a:r>
            <a:endParaRPr lang="en-US" sz="3800" dirty="0"/>
          </a:p>
        </p:txBody>
      </p:sp>
      <p:sp>
        <p:nvSpPr>
          <p:cNvPr id="39" name="Text 37"/>
          <p:cNvSpPr/>
          <p:nvPr/>
        </p:nvSpPr>
        <p:spPr>
          <a:xfrm>
            <a:off x="6492240" y="3127248"/>
            <a:ext cx="2286000" cy="457200"/>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LP IRR</a:t>
            </a:r>
            <a:endParaRPr lang="en-US" sz="1000" dirty="0"/>
          </a:p>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after promote</a:t>
            </a:r>
            <a:endParaRPr lang="en-US" sz="1000" dirty="0"/>
          </a:p>
        </p:txBody>
      </p:sp>
      <p:sp>
        <p:nvSpPr>
          <p:cNvPr id="40" name="Text 38"/>
          <p:cNvSpPr/>
          <p:nvPr/>
        </p:nvSpPr>
        <p:spPr>
          <a:xfrm>
            <a:off x="8869680" y="2395728"/>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$9.9M invested</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 $20.3M back</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2.05× equity multiple</a:t>
            </a:r>
            <a:endParaRPr lang="en-US" sz="1100" dirty="0"/>
          </a:p>
        </p:txBody>
      </p:sp>
      <p:sp>
        <p:nvSpPr>
          <p:cNvPr id="41" name="Shape 39"/>
          <p:cNvSpPr/>
          <p:nvPr/>
        </p:nvSpPr>
        <p:spPr>
          <a:xfrm>
            <a:off x="6245352" y="3913632"/>
            <a:ext cx="5486400" cy="1810512"/>
          </a:xfrm>
          <a:prstGeom prst="rect">
            <a:avLst/>
          </a:prstGeom>
          <a:solidFill>
            <a:srgbClr val="FFFFFF"/>
          </a:solidFill>
          <a:ln w="9525">
            <a:solidFill>
              <a:srgbClr val="E6E1DB"/>
            </a:solidFill>
            <a:prstDash val="solid"/>
          </a:ln>
        </p:spPr>
      </p:sp>
      <p:sp>
        <p:nvSpPr>
          <p:cNvPr id="42" name="Text 40"/>
          <p:cNvSpPr/>
          <p:nvPr/>
        </p:nvSpPr>
        <p:spPr>
          <a:xfrm>
            <a:off x="6492240" y="4041648"/>
            <a:ext cx="5120640" cy="274320"/>
          </a:xfrm>
          <a:prstGeom prst="rect">
            <a:avLst/>
          </a:prstGeom>
          <a:noFill/>
          <a:ln/>
        </p:spPr>
        <p:txBody>
          <a:bodyPr wrap="square" lIns="0" tIns="0" rIns="0" bIns="0" rtlCol="0" anchor="ctr"/>
          <a:lstStyle/>
          <a:p>
            <a:pPr algn="l" indent="0" marL="0">
              <a:buNone/>
            </a:pPr>
            <a:r>
              <a:rPr lang="en-US" sz="950" b="1" spc="100" kern="0" dirty="0">
                <a:solidFill>
                  <a:srgbClr val="3A243A"/>
                </a:solidFill>
                <a:latin typeface="Montserrat" pitchFamily="34" charset="0"/>
                <a:ea typeface="Montserrat" pitchFamily="34" charset="-122"/>
                <a:cs typeface="Montserrat" pitchFamily="34" charset="-120"/>
              </a:rPr>
              <a:t>GP — SPONSOR GROUP  (Capital H6 · Bob · JAL + partners)</a:t>
            </a:r>
            <a:endParaRPr lang="en-US" sz="950" dirty="0"/>
          </a:p>
        </p:txBody>
      </p:sp>
      <p:sp>
        <p:nvSpPr>
          <p:cNvPr id="43" name="Text 41"/>
          <p:cNvSpPr/>
          <p:nvPr/>
        </p:nvSpPr>
        <p:spPr>
          <a:xfrm>
            <a:off x="6492240" y="4325112"/>
            <a:ext cx="2377440" cy="731520"/>
          </a:xfrm>
          <a:prstGeom prst="rect">
            <a:avLst/>
          </a:prstGeom>
          <a:noFill/>
          <a:ln/>
        </p:spPr>
        <p:txBody>
          <a:bodyPr wrap="square" lIns="0" tIns="0" rIns="0" bIns="0" rtlCol="0" anchor="ctr"/>
          <a:lstStyle/>
          <a:p>
            <a:pPr algn="l" indent="0" marL="0">
              <a:buNone/>
            </a:pPr>
            <a:r>
              <a:rPr lang="en-US" sz="3200" b="1" dirty="0">
                <a:solidFill>
                  <a:srgbClr val="0B163C"/>
                </a:solidFill>
                <a:latin typeface="Montserrat" pitchFamily="34" charset="0"/>
                <a:ea typeface="Montserrat" pitchFamily="34" charset="-122"/>
                <a:cs typeface="Montserrat" pitchFamily="34" charset="-120"/>
              </a:rPr>
              <a:t>~$4.1M</a:t>
            </a:r>
            <a:endParaRPr lang="en-US" sz="3200" dirty="0"/>
          </a:p>
        </p:txBody>
      </p:sp>
      <p:sp>
        <p:nvSpPr>
          <p:cNvPr id="44" name="Text 42"/>
          <p:cNvSpPr/>
          <p:nvPr/>
        </p:nvSpPr>
        <p:spPr>
          <a:xfrm>
            <a:off x="6492240" y="5074920"/>
            <a:ext cx="2743200" cy="274320"/>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GP promote / carry (group)</a:t>
            </a:r>
            <a:endParaRPr lang="en-US" sz="1000" dirty="0"/>
          </a:p>
        </p:txBody>
      </p:sp>
      <p:sp>
        <p:nvSpPr>
          <p:cNvPr id="45" name="Text 43"/>
          <p:cNvSpPr/>
          <p:nvPr/>
        </p:nvSpPr>
        <p:spPr>
          <a:xfrm>
            <a:off x="8869680" y="4370832"/>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$1.1M co-invest → $5.2M</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~59% GP IRR</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JAL earns a share</a:t>
            </a:r>
            <a:endParaRPr lang="en-US" sz="1100" dirty="0"/>
          </a:p>
        </p:txBody>
      </p:sp>
      <p:sp>
        <p:nvSpPr>
          <p:cNvPr id="46" name="Shape 44"/>
          <p:cNvSpPr/>
          <p:nvPr/>
        </p:nvSpPr>
        <p:spPr>
          <a:xfrm>
            <a:off x="457200" y="5943600"/>
            <a:ext cx="11274552" cy="420624"/>
          </a:xfrm>
          <a:prstGeom prst="rect">
            <a:avLst/>
          </a:prstGeom>
          <a:solidFill>
            <a:srgbClr val="3A243A"/>
          </a:solidFill>
          <a:ln/>
        </p:spPr>
      </p:sp>
      <p:sp>
        <p:nvSpPr>
          <p:cNvPr id="47" name="Text 4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Market 8% pref + tiered promote → the LP nets ~27% at 60% LTC; the GP (H6 · Bob · JAL + partners) earns ~$4.1M of carry — JAL takes a share.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1 LP IRR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LP IRR?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LP IRR (after the promote) across finished-lot price and leverage. The base case — $150K lots, 60% LTC — pencils to ~27%; the high-20s / low-30s is reachable with stronger pricing or modestly more leverage.</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LP IRR   (lot price / LTC)</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55% LTC</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60% LTC</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65% LTC</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LTC</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$130K / lot</a:t>
            </a:r>
            <a:endParaRPr lang="en-US" sz="100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18.1%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19.7%</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21.6%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23.9%</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$150K / lot  (base)</a:t>
            </a:r>
            <a:endParaRPr lang="en-US" sz="100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24.8%</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26.8%</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29.4%</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32.8%</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$170K / lot</a:t>
            </a:r>
            <a:endParaRPr lang="en-US" sz="100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30.7%</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33.3%</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36.5%</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40.7%</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($150K, 60% LTC) → ~27% LP. The 30%+ range is realistic — ~$170K lots, or 65–70% LTC.</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LP IRR after the 8% pref + tiered promote; each cell re-runs the full waterfall in the model. Illustrative — drivers in order of impact: lot price · LTC · absorption pace.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a 120-key resort &amp; spa is already designed (FILLAT+ Architecture). JAL leads capital formation. Held for income it yields ~8% / ~12% IRR; to clear a mid-to-high-20s return we build to core,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$3.4M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$1.2M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$4.7M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9.9%</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Stabilized NOI (premium)</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FILLAT+ — resort design" history="1" highlightClick="0" endSnd="0">
                  <a:extLst>
                    <a:ext uri="{A12FA001-AC4F-418D-AE19-62706E023703}">
                      <ahyp:hlinkClr xmlns:ahyp="http://schemas.microsoft.com/office/drawing/2018/hyperlinkcolor" val="tx"/>
                    </a:ext>
                  </a:extLst>
                </a:hlinkClick>
              </a:rPr>
              <a:t>FILLAT+ — resort design</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2 BUILD-TO-CORE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hotel return?</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Build-to-core IRR (65% LTC, recap at stabilization) across stabilized NOI and exit cap — the two biggest swing factors. Base ($4.65M NOI, 7.5% cap) → ~28%; it holds in the mid-20s+ as long as NOI lands and caps stay sub-8%.</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BUILD-TO-CORE IRR  (NOI / cap)</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cap</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7.5% cap</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8.0% cap</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8.5% cap</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$4.2M NOI</a:t>
            </a:r>
            <a:endParaRPr lang="en-US" sz="95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19.8%</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15.6%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11.6%</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$4.65M NOI  (base)</a:t>
            </a:r>
            <a:endParaRPr lang="en-US" sz="95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31.7%</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27.6%</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23.7%</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19.9%</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$5.15M NOI</a:t>
            </a:r>
            <a:endParaRPr lang="en-US" sz="95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38.8%</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34.8%</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31.1%</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27.5%</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~28%. Strong NOI + a sub-8% cap → low-to-high 30s; soft NOI or an 8.5% cap pulls it toward the high-teens / low-20s.</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Build-to-core project IRR (65% LTC, recap ~Yr 4). VIVÂMEE-led; JAL leads capital formation. Each cell re-runs the model. Illustrative.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1  ·  PRO FORMA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1 — pro forma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development, project cash flow ($M). Land and entitlement up front; the horizontal funds in Yr 1–2; lots sell Yr 2–4. Net profit ~$14.5M. Illustrative.</a:t>
            </a:r>
            <a:endParaRPr lang="en-US" sz="1300" dirty="0"/>
          </a:p>
        </p:txBody>
      </p:sp>
      <p:sp>
        <p:nvSpPr>
          <p:cNvPr id="11" name="Shape 9"/>
          <p:cNvSpPr/>
          <p:nvPr/>
        </p:nvSpPr>
        <p:spPr>
          <a:xfrm>
            <a:off x="457200" y="2057400"/>
            <a:ext cx="2743200" cy="365760"/>
          </a:xfrm>
          <a:prstGeom prst="rect">
            <a:avLst/>
          </a:prstGeom>
          <a:solidFill>
            <a:srgbClr val="0B163C"/>
          </a:solidFill>
          <a:ln/>
        </p:spPr>
      </p:sp>
      <p:sp>
        <p:nvSpPr>
          <p:cNvPr id="12" name="Text 10"/>
          <p:cNvSpPr/>
          <p:nvPr/>
        </p:nvSpPr>
        <p:spPr>
          <a:xfrm>
            <a:off x="457200" y="205740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200400" y="2057400"/>
            <a:ext cx="1371600" cy="365760"/>
          </a:xfrm>
          <a:prstGeom prst="rect">
            <a:avLst/>
          </a:prstGeom>
          <a:solidFill>
            <a:srgbClr val="0B163C"/>
          </a:solidFill>
          <a:ln/>
        </p:spPr>
      </p:sp>
      <p:sp>
        <p:nvSpPr>
          <p:cNvPr id="14" name="Text 12"/>
          <p:cNvSpPr/>
          <p:nvPr/>
        </p:nvSpPr>
        <p:spPr>
          <a:xfrm>
            <a:off x="32004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572000" y="2057400"/>
            <a:ext cx="1371600" cy="365760"/>
          </a:xfrm>
          <a:prstGeom prst="rect">
            <a:avLst/>
          </a:prstGeom>
          <a:solidFill>
            <a:srgbClr val="0B163C"/>
          </a:solidFill>
          <a:ln/>
        </p:spPr>
      </p:sp>
      <p:sp>
        <p:nvSpPr>
          <p:cNvPr id="16" name="Text 14"/>
          <p:cNvSpPr/>
          <p:nvPr/>
        </p:nvSpPr>
        <p:spPr>
          <a:xfrm>
            <a:off x="45720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5943600" y="2057400"/>
            <a:ext cx="1371600" cy="365760"/>
          </a:xfrm>
          <a:prstGeom prst="rect">
            <a:avLst/>
          </a:prstGeom>
          <a:solidFill>
            <a:srgbClr val="0B163C"/>
          </a:solidFill>
          <a:ln/>
        </p:spPr>
      </p:sp>
      <p:sp>
        <p:nvSpPr>
          <p:cNvPr id="18" name="Text 16"/>
          <p:cNvSpPr/>
          <p:nvPr/>
        </p:nvSpPr>
        <p:spPr>
          <a:xfrm>
            <a:off x="59436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315200" y="2057400"/>
            <a:ext cx="1371600" cy="365760"/>
          </a:xfrm>
          <a:prstGeom prst="rect">
            <a:avLst/>
          </a:prstGeom>
          <a:solidFill>
            <a:srgbClr val="0B163C"/>
          </a:solidFill>
          <a:ln/>
        </p:spPr>
      </p:sp>
      <p:sp>
        <p:nvSpPr>
          <p:cNvPr id="20" name="Text 18"/>
          <p:cNvSpPr/>
          <p:nvPr/>
        </p:nvSpPr>
        <p:spPr>
          <a:xfrm>
            <a:off x="73152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686800" y="2057400"/>
            <a:ext cx="1371600" cy="365760"/>
          </a:xfrm>
          <a:prstGeom prst="rect">
            <a:avLst/>
          </a:prstGeom>
          <a:solidFill>
            <a:srgbClr val="0B163C"/>
          </a:solidFill>
          <a:ln/>
        </p:spPr>
      </p:sp>
      <p:sp>
        <p:nvSpPr>
          <p:cNvPr id="22" name="Text 20"/>
          <p:cNvSpPr/>
          <p:nvPr/>
        </p:nvSpPr>
        <p:spPr>
          <a:xfrm>
            <a:off x="86868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45920" cy="365760"/>
          </a:xfrm>
          <a:prstGeom prst="rect">
            <a:avLst/>
          </a:prstGeom>
          <a:solidFill>
            <a:srgbClr val="0B163C"/>
          </a:solidFill>
          <a:ln/>
        </p:spPr>
      </p:sp>
      <p:sp>
        <p:nvSpPr>
          <p:cNvPr id="24" name="Text 22"/>
          <p:cNvSpPr/>
          <p:nvPr/>
        </p:nvSpPr>
        <p:spPr>
          <a:xfrm>
            <a:off x="10058400" y="2057400"/>
            <a:ext cx="164592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2743200" cy="548640"/>
          </a:xfrm>
          <a:prstGeom prst="rect">
            <a:avLst/>
          </a:prstGeom>
          <a:solidFill>
            <a:srgbClr val="FFFFFF"/>
          </a:solidFill>
          <a:ln/>
        </p:spPr>
      </p:sp>
      <p:sp>
        <p:nvSpPr>
          <p:cNvPr id="26" name="Text 24"/>
          <p:cNvSpPr/>
          <p:nvPr/>
        </p:nvSpPr>
        <p:spPr>
          <a:xfrm>
            <a:off x="457200" y="242316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revenue</a:t>
            </a:r>
            <a:endParaRPr lang="en-US" sz="950" dirty="0"/>
          </a:p>
        </p:txBody>
      </p:sp>
      <p:sp>
        <p:nvSpPr>
          <p:cNvPr id="27" name="Shape 25"/>
          <p:cNvSpPr/>
          <p:nvPr/>
        </p:nvSpPr>
        <p:spPr>
          <a:xfrm>
            <a:off x="3200400" y="2423160"/>
            <a:ext cx="1371600" cy="548640"/>
          </a:xfrm>
          <a:prstGeom prst="rect">
            <a:avLst/>
          </a:prstGeom>
          <a:solidFill>
            <a:srgbClr val="FFFFFF"/>
          </a:solidFill>
          <a:ln/>
        </p:spPr>
      </p:sp>
      <p:sp>
        <p:nvSpPr>
          <p:cNvPr id="28" name="Text 26"/>
          <p:cNvSpPr/>
          <p:nvPr/>
        </p:nvSpPr>
        <p:spPr>
          <a:xfrm>
            <a:off x="32004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29" name="Shape 27"/>
          <p:cNvSpPr/>
          <p:nvPr/>
        </p:nvSpPr>
        <p:spPr>
          <a:xfrm>
            <a:off x="4572000" y="2423160"/>
            <a:ext cx="1371600" cy="548640"/>
          </a:xfrm>
          <a:prstGeom prst="rect">
            <a:avLst/>
          </a:prstGeom>
          <a:solidFill>
            <a:srgbClr val="FFFFFF"/>
          </a:solidFill>
          <a:ln/>
        </p:spPr>
      </p:sp>
      <p:sp>
        <p:nvSpPr>
          <p:cNvPr id="30" name="Text 28"/>
          <p:cNvSpPr/>
          <p:nvPr/>
        </p:nvSpPr>
        <p:spPr>
          <a:xfrm>
            <a:off x="45720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1" name="Shape 29"/>
          <p:cNvSpPr/>
          <p:nvPr/>
        </p:nvSpPr>
        <p:spPr>
          <a:xfrm>
            <a:off x="5943600" y="2423160"/>
            <a:ext cx="1371600" cy="548640"/>
          </a:xfrm>
          <a:prstGeom prst="rect">
            <a:avLst/>
          </a:prstGeom>
          <a:solidFill>
            <a:srgbClr val="FFFFFF"/>
          </a:solidFill>
          <a:ln/>
        </p:spPr>
      </p:sp>
      <p:sp>
        <p:nvSpPr>
          <p:cNvPr id="32" name="Text 30"/>
          <p:cNvSpPr/>
          <p:nvPr/>
        </p:nvSpPr>
        <p:spPr>
          <a:xfrm>
            <a:off x="59436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8.0</a:t>
            </a:r>
            <a:endParaRPr lang="en-US" sz="1000" dirty="0"/>
          </a:p>
        </p:txBody>
      </p:sp>
      <p:sp>
        <p:nvSpPr>
          <p:cNvPr id="33" name="Shape 31"/>
          <p:cNvSpPr/>
          <p:nvPr/>
        </p:nvSpPr>
        <p:spPr>
          <a:xfrm>
            <a:off x="7315200" y="2423160"/>
            <a:ext cx="1371600" cy="548640"/>
          </a:xfrm>
          <a:prstGeom prst="rect">
            <a:avLst/>
          </a:prstGeom>
          <a:solidFill>
            <a:srgbClr val="FFFFFF"/>
          </a:solidFill>
          <a:ln/>
        </p:spPr>
      </p:sp>
      <p:sp>
        <p:nvSpPr>
          <p:cNvPr id="34" name="Text 32"/>
          <p:cNvSpPr/>
          <p:nvPr/>
        </p:nvSpPr>
        <p:spPr>
          <a:xfrm>
            <a:off x="73152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5" name="Shape 33"/>
          <p:cNvSpPr/>
          <p:nvPr/>
        </p:nvSpPr>
        <p:spPr>
          <a:xfrm>
            <a:off x="8686800" y="2423160"/>
            <a:ext cx="1371600" cy="548640"/>
          </a:xfrm>
          <a:prstGeom prst="rect">
            <a:avLst/>
          </a:prstGeom>
          <a:solidFill>
            <a:srgbClr val="FFFFFF"/>
          </a:solidFill>
          <a:ln/>
        </p:spPr>
      </p:sp>
      <p:sp>
        <p:nvSpPr>
          <p:cNvPr id="36" name="Text 34"/>
          <p:cNvSpPr/>
          <p:nvPr/>
        </p:nvSpPr>
        <p:spPr>
          <a:xfrm>
            <a:off x="86868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7" name="Shape 35"/>
          <p:cNvSpPr/>
          <p:nvPr/>
        </p:nvSpPr>
        <p:spPr>
          <a:xfrm>
            <a:off x="10058400" y="2423160"/>
            <a:ext cx="1645920" cy="548640"/>
          </a:xfrm>
          <a:prstGeom prst="rect">
            <a:avLst/>
          </a:prstGeom>
          <a:solidFill>
            <a:srgbClr val="FFFFFF"/>
          </a:solidFill>
          <a:ln/>
        </p:spPr>
      </p:sp>
      <p:sp>
        <p:nvSpPr>
          <p:cNvPr id="38" name="Text 36"/>
          <p:cNvSpPr/>
          <p:nvPr/>
        </p:nvSpPr>
        <p:spPr>
          <a:xfrm>
            <a:off x="10058400" y="242316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42.0</a:t>
            </a:r>
            <a:endParaRPr lang="en-US" sz="1000" dirty="0"/>
          </a:p>
        </p:txBody>
      </p:sp>
      <p:sp>
        <p:nvSpPr>
          <p:cNvPr id="39" name="Shape 37"/>
          <p:cNvSpPr/>
          <p:nvPr/>
        </p:nvSpPr>
        <p:spPr>
          <a:xfrm>
            <a:off x="457200" y="2971800"/>
            <a:ext cx="2743200" cy="548640"/>
          </a:xfrm>
          <a:prstGeom prst="rect">
            <a:avLst/>
          </a:prstGeom>
          <a:solidFill>
            <a:srgbClr val="F4F2ED"/>
          </a:solidFill>
          <a:ln/>
        </p:spPr>
      </p:sp>
      <p:sp>
        <p:nvSpPr>
          <p:cNvPr id="40" name="Text 38"/>
          <p:cNvSpPr/>
          <p:nvPr/>
        </p:nvSpPr>
        <p:spPr>
          <a:xfrm>
            <a:off x="457200" y="297180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land contribution</a:t>
            </a:r>
            <a:endParaRPr lang="en-US" sz="950" dirty="0"/>
          </a:p>
        </p:txBody>
      </p:sp>
      <p:sp>
        <p:nvSpPr>
          <p:cNvPr id="41" name="Shape 39"/>
          <p:cNvSpPr/>
          <p:nvPr/>
        </p:nvSpPr>
        <p:spPr>
          <a:xfrm>
            <a:off x="3200400" y="2971800"/>
            <a:ext cx="1371600" cy="548640"/>
          </a:xfrm>
          <a:prstGeom prst="rect">
            <a:avLst/>
          </a:prstGeom>
          <a:solidFill>
            <a:srgbClr val="F4F2ED"/>
          </a:solidFill>
          <a:ln/>
        </p:spPr>
      </p:sp>
      <p:sp>
        <p:nvSpPr>
          <p:cNvPr id="42" name="Text 40"/>
          <p:cNvSpPr/>
          <p:nvPr/>
        </p:nvSpPr>
        <p:spPr>
          <a:xfrm>
            <a:off x="32004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(4.0)</a:t>
            </a:r>
            <a:endParaRPr lang="en-US" sz="1000" dirty="0"/>
          </a:p>
        </p:txBody>
      </p:sp>
      <p:sp>
        <p:nvSpPr>
          <p:cNvPr id="43" name="Shape 41"/>
          <p:cNvSpPr/>
          <p:nvPr/>
        </p:nvSpPr>
        <p:spPr>
          <a:xfrm>
            <a:off x="4572000" y="2971800"/>
            <a:ext cx="1371600" cy="548640"/>
          </a:xfrm>
          <a:prstGeom prst="rect">
            <a:avLst/>
          </a:prstGeom>
          <a:solidFill>
            <a:srgbClr val="F4F2ED"/>
          </a:solidFill>
          <a:ln/>
        </p:spPr>
      </p:sp>
      <p:sp>
        <p:nvSpPr>
          <p:cNvPr id="44" name="Text 42"/>
          <p:cNvSpPr/>
          <p:nvPr/>
        </p:nvSpPr>
        <p:spPr>
          <a:xfrm>
            <a:off x="45720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5943600" y="2971800"/>
            <a:ext cx="1371600" cy="548640"/>
          </a:xfrm>
          <a:prstGeom prst="rect">
            <a:avLst/>
          </a:prstGeom>
          <a:solidFill>
            <a:srgbClr val="F4F2ED"/>
          </a:solidFill>
          <a:ln/>
        </p:spPr>
      </p:sp>
      <p:sp>
        <p:nvSpPr>
          <p:cNvPr id="46" name="Text 44"/>
          <p:cNvSpPr/>
          <p:nvPr/>
        </p:nvSpPr>
        <p:spPr>
          <a:xfrm>
            <a:off x="59436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7" name="Shape 45"/>
          <p:cNvSpPr/>
          <p:nvPr/>
        </p:nvSpPr>
        <p:spPr>
          <a:xfrm>
            <a:off x="7315200" y="2971800"/>
            <a:ext cx="1371600" cy="548640"/>
          </a:xfrm>
          <a:prstGeom prst="rect">
            <a:avLst/>
          </a:prstGeom>
          <a:solidFill>
            <a:srgbClr val="F4F2ED"/>
          </a:solidFill>
          <a:ln/>
        </p:spPr>
      </p:sp>
      <p:sp>
        <p:nvSpPr>
          <p:cNvPr id="48" name="Text 46"/>
          <p:cNvSpPr/>
          <p:nvPr/>
        </p:nvSpPr>
        <p:spPr>
          <a:xfrm>
            <a:off x="73152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9" name="Shape 47"/>
          <p:cNvSpPr/>
          <p:nvPr/>
        </p:nvSpPr>
        <p:spPr>
          <a:xfrm>
            <a:off x="8686800" y="2971800"/>
            <a:ext cx="1371600" cy="548640"/>
          </a:xfrm>
          <a:prstGeom prst="rect">
            <a:avLst/>
          </a:prstGeom>
          <a:solidFill>
            <a:srgbClr val="F4F2ED"/>
          </a:solidFill>
          <a:ln/>
        </p:spPr>
      </p:sp>
      <p:sp>
        <p:nvSpPr>
          <p:cNvPr id="50" name="Text 48"/>
          <p:cNvSpPr/>
          <p:nvPr/>
        </p:nvSpPr>
        <p:spPr>
          <a:xfrm>
            <a:off x="86868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51" name="Shape 49"/>
          <p:cNvSpPr/>
          <p:nvPr/>
        </p:nvSpPr>
        <p:spPr>
          <a:xfrm>
            <a:off x="10058400" y="2971800"/>
            <a:ext cx="1645920" cy="548640"/>
          </a:xfrm>
          <a:prstGeom prst="rect">
            <a:avLst/>
          </a:prstGeom>
          <a:solidFill>
            <a:srgbClr val="F4F2ED"/>
          </a:solidFill>
          <a:ln/>
        </p:spPr>
      </p:sp>
      <p:sp>
        <p:nvSpPr>
          <p:cNvPr id="52" name="Text 50"/>
          <p:cNvSpPr/>
          <p:nvPr/>
        </p:nvSpPr>
        <p:spPr>
          <a:xfrm>
            <a:off x="10058400" y="297180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(4.0)</a:t>
            </a:r>
            <a:endParaRPr lang="en-US" sz="1000" dirty="0"/>
          </a:p>
        </p:txBody>
      </p:sp>
      <p:sp>
        <p:nvSpPr>
          <p:cNvPr id="53" name="Shape 51"/>
          <p:cNvSpPr/>
          <p:nvPr/>
        </p:nvSpPr>
        <p:spPr>
          <a:xfrm>
            <a:off x="457200" y="3520440"/>
            <a:ext cx="2743200" cy="548640"/>
          </a:xfrm>
          <a:prstGeom prst="rect">
            <a:avLst/>
          </a:prstGeom>
          <a:solidFill>
            <a:srgbClr val="FFFFFF"/>
          </a:solidFill>
          <a:ln/>
        </p:spPr>
      </p:sp>
      <p:sp>
        <p:nvSpPr>
          <p:cNvPr id="54" name="Text 52"/>
          <p:cNvSpPr/>
          <p:nvPr/>
        </p:nvSpPr>
        <p:spPr>
          <a:xfrm>
            <a:off x="457200" y="352044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horizontal + soft costs</a:t>
            </a:r>
            <a:endParaRPr lang="en-US" sz="950" dirty="0"/>
          </a:p>
        </p:txBody>
      </p:sp>
      <p:sp>
        <p:nvSpPr>
          <p:cNvPr id="55" name="Shape 53"/>
          <p:cNvSpPr/>
          <p:nvPr/>
        </p:nvSpPr>
        <p:spPr>
          <a:xfrm>
            <a:off x="3200400" y="3520440"/>
            <a:ext cx="1371600" cy="548640"/>
          </a:xfrm>
          <a:prstGeom prst="rect">
            <a:avLst/>
          </a:prstGeom>
          <a:solidFill>
            <a:srgbClr val="FFFFFF"/>
          </a:solidFill>
          <a:ln/>
        </p:spPr>
      </p:sp>
      <p:sp>
        <p:nvSpPr>
          <p:cNvPr id="56" name="Text 54"/>
          <p:cNvSpPr/>
          <p:nvPr/>
        </p:nvSpPr>
        <p:spPr>
          <a:xfrm>
            <a:off x="32004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(2.0)</a:t>
            </a:r>
            <a:endParaRPr lang="en-US" sz="1000" dirty="0"/>
          </a:p>
        </p:txBody>
      </p:sp>
      <p:sp>
        <p:nvSpPr>
          <p:cNvPr id="57" name="Shape 55"/>
          <p:cNvSpPr/>
          <p:nvPr/>
        </p:nvSpPr>
        <p:spPr>
          <a:xfrm>
            <a:off x="4572000" y="3520440"/>
            <a:ext cx="1371600" cy="548640"/>
          </a:xfrm>
          <a:prstGeom prst="rect">
            <a:avLst/>
          </a:prstGeom>
          <a:solidFill>
            <a:srgbClr val="FFFFFF"/>
          </a:solidFill>
          <a:ln/>
        </p:spPr>
      </p:sp>
      <p:sp>
        <p:nvSpPr>
          <p:cNvPr id="58" name="Text 56"/>
          <p:cNvSpPr/>
          <p:nvPr/>
        </p:nvSpPr>
        <p:spPr>
          <a:xfrm>
            <a:off x="45720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(10.4)</a:t>
            </a:r>
            <a:endParaRPr lang="en-US" sz="1000" dirty="0"/>
          </a:p>
        </p:txBody>
      </p:sp>
      <p:sp>
        <p:nvSpPr>
          <p:cNvPr id="59" name="Shape 57"/>
          <p:cNvSpPr/>
          <p:nvPr/>
        </p:nvSpPr>
        <p:spPr>
          <a:xfrm>
            <a:off x="5943600" y="3520440"/>
            <a:ext cx="1371600" cy="548640"/>
          </a:xfrm>
          <a:prstGeom prst="rect">
            <a:avLst/>
          </a:prstGeom>
          <a:solidFill>
            <a:srgbClr val="FFFFFF"/>
          </a:solidFill>
          <a:ln/>
        </p:spPr>
      </p:sp>
      <p:sp>
        <p:nvSpPr>
          <p:cNvPr id="60" name="Text 58"/>
          <p:cNvSpPr/>
          <p:nvPr/>
        </p:nvSpPr>
        <p:spPr>
          <a:xfrm>
            <a:off x="59436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(9.9)</a:t>
            </a:r>
            <a:endParaRPr lang="en-US" sz="1000" dirty="0"/>
          </a:p>
        </p:txBody>
      </p:sp>
      <p:sp>
        <p:nvSpPr>
          <p:cNvPr id="61" name="Shape 59"/>
          <p:cNvSpPr/>
          <p:nvPr/>
        </p:nvSpPr>
        <p:spPr>
          <a:xfrm>
            <a:off x="7315200" y="3520440"/>
            <a:ext cx="1371600" cy="548640"/>
          </a:xfrm>
          <a:prstGeom prst="rect">
            <a:avLst/>
          </a:prstGeom>
          <a:solidFill>
            <a:srgbClr val="FFFFFF"/>
          </a:solidFill>
          <a:ln/>
        </p:spPr>
      </p:sp>
      <p:sp>
        <p:nvSpPr>
          <p:cNvPr id="62" name="Text 60"/>
          <p:cNvSpPr/>
          <p:nvPr/>
        </p:nvSpPr>
        <p:spPr>
          <a:xfrm>
            <a:off x="73152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a:t>
            </a:r>
            <a:endParaRPr lang="en-US" sz="1000" dirty="0"/>
          </a:p>
        </p:txBody>
      </p:sp>
      <p:sp>
        <p:nvSpPr>
          <p:cNvPr id="63" name="Shape 61"/>
          <p:cNvSpPr/>
          <p:nvPr/>
        </p:nvSpPr>
        <p:spPr>
          <a:xfrm>
            <a:off x="8686800" y="3520440"/>
            <a:ext cx="1371600" cy="548640"/>
          </a:xfrm>
          <a:prstGeom prst="rect">
            <a:avLst/>
          </a:prstGeom>
          <a:solidFill>
            <a:srgbClr val="FFFFFF"/>
          </a:solidFill>
          <a:ln/>
        </p:spPr>
      </p:sp>
      <p:sp>
        <p:nvSpPr>
          <p:cNvPr id="64" name="Text 62"/>
          <p:cNvSpPr/>
          <p:nvPr/>
        </p:nvSpPr>
        <p:spPr>
          <a:xfrm>
            <a:off x="86868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(0.2)</a:t>
            </a:r>
            <a:endParaRPr lang="en-US" sz="1000" dirty="0"/>
          </a:p>
        </p:txBody>
      </p:sp>
      <p:sp>
        <p:nvSpPr>
          <p:cNvPr id="65" name="Shape 63"/>
          <p:cNvSpPr/>
          <p:nvPr/>
        </p:nvSpPr>
        <p:spPr>
          <a:xfrm>
            <a:off x="10058400" y="3520440"/>
            <a:ext cx="1645920" cy="548640"/>
          </a:xfrm>
          <a:prstGeom prst="rect">
            <a:avLst/>
          </a:prstGeom>
          <a:solidFill>
            <a:srgbClr val="FFFFFF"/>
          </a:solidFill>
          <a:ln/>
        </p:spPr>
      </p:sp>
      <p:sp>
        <p:nvSpPr>
          <p:cNvPr id="66" name="Text 64"/>
          <p:cNvSpPr/>
          <p:nvPr/>
        </p:nvSpPr>
        <p:spPr>
          <a:xfrm>
            <a:off x="10058400" y="352044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(23.5)</a:t>
            </a:r>
            <a:endParaRPr lang="en-US" sz="1000" dirty="0"/>
          </a:p>
        </p:txBody>
      </p:sp>
      <p:sp>
        <p:nvSpPr>
          <p:cNvPr id="67" name="Shape 65"/>
          <p:cNvSpPr/>
          <p:nvPr/>
        </p:nvSpPr>
        <p:spPr>
          <a:xfrm>
            <a:off x="457200" y="4069080"/>
            <a:ext cx="2743200" cy="548640"/>
          </a:xfrm>
          <a:prstGeom prst="rect">
            <a:avLst/>
          </a:prstGeom>
          <a:solidFill>
            <a:srgbClr val="F4F2ED"/>
          </a:solidFill>
          <a:ln/>
        </p:spPr>
      </p:sp>
      <p:sp>
        <p:nvSpPr>
          <p:cNvPr id="68" name="Text 66"/>
          <p:cNvSpPr/>
          <p:nvPr/>
        </p:nvSpPr>
        <p:spPr>
          <a:xfrm>
            <a:off x="457200" y="406908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project cash flow</a:t>
            </a:r>
            <a:endParaRPr lang="en-US" sz="950" dirty="0"/>
          </a:p>
        </p:txBody>
      </p:sp>
      <p:sp>
        <p:nvSpPr>
          <p:cNvPr id="69" name="Shape 67"/>
          <p:cNvSpPr/>
          <p:nvPr/>
        </p:nvSpPr>
        <p:spPr>
          <a:xfrm>
            <a:off x="3200400" y="4069080"/>
            <a:ext cx="1371600" cy="548640"/>
          </a:xfrm>
          <a:prstGeom prst="rect">
            <a:avLst/>
          </a:prstGeom>
          <a:solidFill>
            <a:srgbClr val="F4F2ED"/>
          </a:solidFill>
          <a:ln/>
        </p:spPr>
      </p:sp>
      <p:sp>
        <p:nvSpPr>
          <p:cNvPr id="70" name="Text 68"/>
          <p:cNvSpPr/>
          <p:nvPr/>
        </p:nvSpPr>
        <p:spPr>
          <a:xfrm>
            <a:off x="32004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(6.0)</a:t>
            </a:r>
            <a:endParaRPr lang="en-US" sz="1000" dirty="0"/>
          </a:p>
        </p:txBody>
      </p:sp>
      <p:sp>
        <p:nvSpPr>
          <p:cNvPr id="71" name="Shape 69"/>
          <p:cNvSpPr/>
          <p:nvPr/>
        </p:nvSpPr>
        <p:spPr>
          <a:xfrm>
            <a:off x="4572000" y="4069080"/>
            <a:ext cx="1371600" cy="548640"/>
          </a:xfrm>
          <a:prstGeom prst="rect">
            <a:avLst/>
          </a:prstGeom>
          <a:solidFill>
            <a:srgbClr val="F4F2ED"/>
          </a:solidFill>
          <a:ln/>
        </p:spPr>
      </p:sp>
      <p:sp>
        <p:nvSpPr>
          <p:cNvPr id="72" name="Text 70"/>
          <p:cNvSpPr/>
          <p:nvPr/>
        </p:nvSpPr>
        <p:spPr>
          <a:xfrm>
            <a:off x="45720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(10.4)</a:t>
            </a:r>
            <a:endParaRPr lang="en-US" sz="1000" dirty="0"/>
          </a:p>
        </p:txBody>
      </p:sp>
      <p:sp>
        <p:nvSpPr>
          <p:cNvPr id="73" name="Shape 71"/>
          <p:cNvSpPr/>
          <p:nvPr/>
        </p:nvSpPr>
        <p:spPr>
          <a:xfrm>
            <a:off x="5943600" y="4069080"/>
            <a:ext cx="1371600" cy="548640"/>
          </a:xfrm>
          <a:prstGeom prst="rect">
            <a:avLst/>
          </a:prstGeom>
          <a:solidFill>
            <a:srgbClr val="F4F2ED"/>
          </a:solidFill>
          <a:ln/>
        </p:spPr>
      </p:sp>
      <p:sp>
        <p:nvSpPr>
          <p:cNvPr id="74" name="Text 72"/>
          <p:cNvSpPr/>
          <p:nvPr/>
        </p:nvSpPr>
        <p:spPr>
          <a:xfrm>
            <a:off x="59436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(1.9)</a:t>
            </a:r>
            <a:endParaRPr lang="en-US" sz="1000" dirty="0"/>
          </a:p>
        </p:txBody>
      </p:sp>
      <p:sp>
        <p:nvSpPr>
          <p:cNvPr id="75" name="Shape 73"/>
          <p:cNvSpPr/>
          <p:nvPr/>
        </p:nvSpPr>
        <p:spPr>
          <a:xfrm>
            <a:off x="7315200" y="4069080"/>
            <a:ext cx="1371600" cy="548640"/>
          </a:xfrm>
          <a:prstGeom prst="rect">
            <a:avLst/>
          </a:prstGeom>
          <a:solidFill>
            <a:srgbClr val="F4F2ED"/>
          </a:solidFill>
          <a:ln/>
        </p:spPr>
      </p:sp>
      <p:sp>
        <p:nvSpPr>
          <p:cNvPr id="76" name="Text 74"/>
          <p:cNvSpPr/>
          <p:nvPr/>
        </p:nvSpPr>
        <p:spPr>
          <a:xfrm>
            <a:off x="73152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16.0</a:t>
            </a:r>
            <a:endParaRPr lang="en-US" sz="1000" dirty="0"/>
          </a:p>
        </p:txBody>
      </p:sp>
      <p:sp>
        <p:nvSpPr>
          <p:cNvPr id="77" name="Shape 75"/>
          <p:cNvSpPr/>
          <p:nvPr/>
        </p:nvSpPr>
        <p:spPr>
          <a:xfrm>
            <a:off x="8686800" y="4069080"/>
            <a:ext cx="1371600" cy="548640"/>
          </a:xfrm>
          <a:prstGeom prst="rect">
            <a:avLst/>
          </a:prstGeom>
          <a:solidFill>
            <a:srgbClr val="F4F2ED"/>
          </a:solidFill>
          <a:ln/>
        </p:spPr>
      </p:sp>
      <p:sp>
        <p:nvSpPr>
          <p:cNvPr id="78" name="Text 76"/>
          <p:cNvSpPr/>
          <p:nvPr/>
        </p:nvSpPr>
        <p:spPr>
          <a:xfrm>
            <a:off x="86868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16.8</a:t>
            </a:r>
            <a:endParaRPr lang="en-US" sz="1000" dirty="0"/>
          </a:p>
        </p:txBody>
      </p:sp>
      <p:sp>
        <p:nvSpPr>
          <p:cNvPr id="79" name="Shape 77"/>
          <p:cNvSpPr/>
          <p:nvPr/>
        </p:nvSpPr>
        <p:spPr>
          <a:xfrm>
            <a:off x="10058400" y="4069080"/>
            <a:ext cx="1645920" cy="548640"/>
          </a:xfrm>
          <a:prstGeom prst="rect">
            <a:avLst/>
          </a:prstGeom>
          <a:solidFill>
            <a:srgbClr val="F4F2ED"/>
          </a:solidFill>
          <a:ln/>
        </p:spPr>
      </p:sp>
      <p:sp>
        <p:nvSpPr>
          <p:cNvPr id="80" name="Text 78"/>
          <p:cNvSpPr/>
          <p:nvPr/>
        </p:nvSpPr>
        <p:spPr>
          <a:xfrm>
            <a:off x="10058400" y="406908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14.5</a:t>
            </a:r>
            <a:endParaRPr lang="en-US" sz="1000" dirty="0"/>
          </a:p>
        </p:txBody>
      </p:sp>
      <p:sp>
        <p:nvSpPr>
          <p:cNvPr id="81" name="Shape 79"/>
          <p:cNvSpPr/>
          <p:nvPr/>
        </p:nvSpPr>
        <p:spPr>
          <a:xfrm>
            <a:off x="457200" y="4617720"/>
            <a:ext cx="2743200" cy="548640"/>
          </a:xfrm>
          <a:prstGeom prst="rect">
            <a:avLst/>
          </a:prstGeom>
          <a:solidFill>
            <a:srgbClr val="FFFFFF"/>
          </a:solidFill>
          <a:ln/>
        </p:spPr>
      </p:sp>
      <p:sp>
        <p:nvSpPr>
          <p:cNvPr id="82" name="Text 80"/>
          <p:cNvSpPr/>
          <p:nvPr/>
        </p:nvSpPr>
        <p:spPr>
          <a:xfrm>
            <a:off x="457200" y="461772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200400" y="4617720"/>
            <a:ext cx="1371600" cy="548640"/>
          </a:xfrm>
          <a:prstGeom prst="rect">
            <a:avLst/>
          </a:prstGeom>
          <a:solidFill>
            <a:srgbClr val="FFFFFF"/>
          </a:solidFill>
          <a:ln/>
        </p:spPr>
      </p:sp>
      <p:sp>
        <p:nvSpPr>
          <p:cNvPr id="84" name="Text 82"/>
          <p:cNvSpPr/>
          <p:nvPr/>
        </p:nvSpPr>
        <p:spPr>
          <a:xfrm>
            <a:off x="32004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(6.0)</a:t>
            </a:r>
            <a:endParaRPr lang="en-US" sz="1000" dirty="0"/>
          </a:p>
        </p:txBody>
      </p:sp>
      <p:sp>
        <p:nvSpPr>
          <p:cNvPr id="85" name="Shape 83"/>
          <p:cNvSpPr/>
          <p:nvPr/>
        </p:nvSpPr>
        <p:spPr>
          <a:xfrm>
            <a:off x="4572000" y="4617720"/>
            <a:ext cx="1371600" cy="548640"/>
          </a:xfrm>
          <a:prstGeom prst="rect">
            <a:avLst/>
          </a:prstGeom>
          <a:solidFill>
            <a:srgbClr val="FFFFFF"/>
          </a:solidFill>
          <a:ln/>
        </p:spPr>
      </p:sp>
      <p:sp>
        <p:nvSpPr>
          <p:cNvPr id="86" name="Text 84"/>
          <p:cNvSpPr/>
          <p:nvPr/>
        </p:nvSpPr>
        <p:spPr>
          <a:xfrm>
            <a:off x="45720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(16.4)</a:t>
            </a:r>
            <a:endParaRPr lang="en-US" sz="1000" dirty="0"/>
          </a:p>
        </p:txBody>
      </p:sp>
      <p:sp>
        <p:nvSpPr>
          <p:cNvPr id="87" name="Shape 85"/>
          <p:cNvSpPr/>
          <p:nvPr/>
        </p:nvSpPr>
        <p:spPr>
          <a:xfrm>
            <a:off x="5943600" y="4617720"/>
            <a:ext cx="1371600" cy="548640"/>
          </a:xfrm>
          <a:prstGeom prst="rect">
            <a:avLst/>
          </a:prstGeom>
          <a:solidFill>
            <a:srgbClr val="FFFFFF"/>
          </a:solidFill>
          <a:ln/>
        </p:spPr>
      </p:sp>
      <p:sp>
        <p:nvSpPr>
          <p:cNvPr id="88" name="Text 86"/>
          <p:cNvSpPr/>
          <p:nvPr/>
        </p:nvSpPr>
        <p:spPr>
          <a:xfrm>
            <a:off x="59436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(18.3)</a:t>
            </a:r>
            <a:endParaRPr lang="en-US" sz="1000" dirty="0"/>
          </a:p>
        </p:txBody>
      </p:sp>
      <p:sp>
        <p:nvSpPr>
          <p:cNvPr id="89" name="Shape 87"/>
          <p:cNvSpPr/>
          <p:nvPr/>
        </p:nvSpPr>
        <p:spPr>
          <a:xfrm>
            <a:off x="7315200" y="4617720"/>
            <a:ext cx="1371600" cy="548640"/>
          </a:xfrm>
          <a:prstGeom prst="rect">
            <a:avLst/>
          </a:prstGeom>
          <a:solidFill>
            <a:srgbClr val="FFFFFF"/>
          </a:solidFill>
          <a:ln/>
        </p:spPr>
      </p:sp>
      <p:sp>
        <p:nvSpPr>
          <p:cNvPr id="90" name="Text 88"/>
          <p:cNvSpPr/>
          <p:nvPr/>
        </p:nvSpPr>
        <p:spPr>
          <a:xfrm>
            <a:off x="73152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(2.3)</a:t>
            </a:r>
            <a:endParaRPr lang="en-US" sz="1000" dirty="0"/>
          </a:p>
        </p:txBody>
      </p:sp>
      <p:sp>
        <p:nvSpPr>
          <p:cNvPr id="91" name="Shape 89"/>
          <p:cNvSpPr/>
          <p:nvPr/>
        </p:nvSpPr>
        <p:spPr>
          <a:xfrm>
            <a:off x="8686800" y="4617720"/>
            <a:ext cx="1371600" cy="548640"/>
          </a:xfrm>
          <a:prstGeom prst="rect">
            <a:avLst/>
          </a:prstGeom>
          <a:solidFill>
            <a:srgbClr val="FFFFFF"/>
          </a:solidFill>
          <a:ln/>
        </p:spPr>
      </p:sp>
      <p:sp>
        <p:nvSpPr>
          <p:cNvPr id="92" name="Text 90"/>
          <p:cNvSpPr/>
          <p:nvPr/>
        </p:nvSpPr>
        <p:spPr>
          <a:xfrm>
            <a:off x="86868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14.5</a:t>
            </a:r>
            <a:endParaRPr lang="en-US" sz="1000" dirty="0"/>
          </a:p>
        </p:txBody>
      </p:sp>
      <p:sp>
        <p:nvSpPr>
          <p:cNvPr id="93" name="Shape 91"/>
          <p:cNvSpPr/>
          <p:nvPr/>
        </p:nvSpPr>
        <p:spPr>
          <a:xfrm>
            <a:off x="10058400" y="4617720"/>
            <a:ext cx="1645920" cy="548640"/>
          </a:xfrm>
          <a:prstGeom prst="rect">
            <a:avLst/>
          </a:prstGeom>
          <a:solidFill>
            <a:srgbClr val="FFFFFF"/>
          </a:solidFill>
          <a:ln/>
        </p:spPr>
      </p:sp>
      <p:sp>
        <p:nvSpPr>
          <p:cNvPr id="94" name="Text 92"/>
          <p:cNvSpPr/>
          <p:nvPr/>
        </p:nvSpPr>
        <p:spPr>
          <a:xfrm>
            <a:off x="10058400" y="4617720"/>
            <a:ext cx="1645920"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Net profit ~$14.5M  ·  ~24% unlevered / ~31% levered project IRR  ·  LP ~27% after the promote (60% LTC).</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Project-level cash flow; illustrative phasing. Equity, leverage and the promote waterfall are on slides 10–13. Figures subject to confirmation.</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PRO FORMA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pro forma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Hospitality build-to-core, project cash flow ($M). Develop Yr 0–2; stabilize, then recap / sell at ~Yr 4 (~$62M @ a 7.5% cap). VIVÂMEE operates. Illustrative.</a:t>
            </a:r>
            <a:endParaRPr lang="en-US" sz="1300" dirty="0"/>
          </a:p>
        </p:txBody>
      </p:sp>
      <p:sp>
        <p:nvSpPr>
          <p:cNvPr id="11" name="Shape 9"/>
          <p:cNvSpPr/>
          <p:nvPr/>
        </p:nvSpPr>
        <p:spPr>
          <a:xfrm>
            <a:off x="457200" y="2057400"/>
            <a:ext cx="2743200" cy="365760"/>
          </a:xfrm>
          <a:prstGeom prst="rect">
            <a:avLst/>
          </a:prstGeom>
          <a:solidFill>
            <a:srgbClr val="0B163C"/>
          </a:solidFill>
          <a:ln/>
        </p:spPr>
      </p:sp>
      <p:sp>
        <p:nvSpPr>
          <p:cNvPr id="12" name="Text 10"/>
          <p:cNvSpPr/>
          <p:nvPr/>
        </p:nvSpPr>
        <p:spPr>
          <a:xfrm>
            <a:off x="457200" y="205740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200400" y="2057400"/>
            <a:ext cx="1371600" cy="365760"/>
          </a:xfrm>
          <a:prstGeom prst="rect">
            <a:avLst/>
          </a:prstGeom>
          <a:solidFill>
            <a:srgbClr val="0B163C"/>
          </a:solidFill>
          <a:ln/>
        </p:spPr>
      </p:sp>
      <p:sp>
        <p:nvSpPr>
          <p:cNvPr id="14" name="Text 12"/>
          <p:cNvSpPr/>
          <p:nvPr/>
        </p:nvSpPr>
        <p:spPr>
          <a:xfrm>
            <a:off x="32004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572000" y="2057400"/>
            <a:ext cx="1371600" cy="365760"/>
          </a:xfrm>
          <a:prstGeom prst="rect">
            <a:avLst/>
          </a:prstGeom>
          <a:solidFill>
            <a:srgbClr val="0B163C"/>
          </a:solidFill>
          <a:ln/>
        </p:spPr>
      </p:sp>
      <p:sp>
        <p:nvSpPr>
          <p:cNvPr id="16" name="Text 14"/>
          <p:cNvSpPr/>
          <p:nvPr/>
        </p:nvSpPr>
        <p:spPr>
          <a:xfrm>
            <a:off x="45720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5943600" y="2057400"/>
            <a:ext cx="1371600" cy="365760"/>
          </a:xfrm>
          <a:prstGeom prst="rect">
            <a:avLst/>
          </a:prstGeom>
          <a:solidFill>
            <a:srgbClr val="0B163C"/>
          </a:solidFill>
          <a:ln/>
        </p:spPr>
      </p:sp>
      <p:sp>
        <p:nvSpPr>
          <p:cNvPr id="18" name="Text 16"/>
          <p:cNvSpPr/>
          <p:nvPr/>
        </p:nvSpPr>
        <p:spPr>
          <a:xfrm>
            <a:off x="59436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315200" y="2057400"/>
            <a:ext cx="1371600" cy="365760"/>
          </a:xfrm>
          <a:prstGeom prst="rect">
            <a:avLst/>
          </a:prstGeom>
          <a:solidFill>
            <a:srgbClr val="0B163C"/>
          </a:solidFill>
          <a:ln/>
        </p:spPr>
      </p:sp>
      <p:sp>
        <p:nvSpPr>
          <p:cNvPr id="20" name="Text 18"/>
          <p:cNvSpPr/>
          <p:nvPr/>
        </p:nvSpPr>
        <p:spPr>
          <a:xfrm>
            <a:off x="73152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686800" y="2057400"/>
            <a:ext cx="1371600" cy="365760"/>
          </a:xfrm>
          <a:prstGeom prst="rect">
            <a:avLst/>
          </a:prstGeom>
          <a:solidFill>
            <a:srgbClr val="0B163C"/>
          </a:solidFill>
          <a:ln/>
        </p:spPr>
      </p:sp>
      <p:sp>
        <p:nvSpPr>
          <p:cNvPr id="22" name="Text 20"/>
          <p:cNvSpPr/>
          <p:nvPr/>
        </p:nvSpPr>
        <p:spPr>
          <a:xfrm>
            <a:off x="86868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45920" cy="365760"/>
          </a:xfrm>
          <a:prstGeom prst="rect">
            <a:avLst/>
          </a:prstGeom>
          <a:solidFill>
            <a:srgbClr val="0B163C"/>
          </a:solidFill>
          <a:ln/>
        </p:spPr>
      </p:sp>
      <p:sp>
        <p:nvSpPr>
          <p:cNvPr id="24" name="Text 22"/>
          <p:cNvSpPr/>
          <p:nvPr/>
        </p:nvSpPr>
        <p:spPr>
          <a:xfrm>
            <a:off x="10058400" y="2057400"/>
            <a:ext cx="164592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2743200" cy="548640"/>
          </a:xfrm>
          <a:prstGeom prst="rect">
            <a:avLst/>
          </a:prstGeom>
          <a:solidFill>
            <a:srgbClr val="FFFFFF"/>
          </a:solidFill>
          <a:ln/>
        </p:spPr>
      </p:sp>
      <p:sp>
        <p:nvSpPr>
          <p:cNvPr id="26" name="Text 24"/>
          <p:cNvSpPr/>
          <p:nvPr/>
        </p:nvSpPr>
        <p:spPr>
          <a:xfrm>
            <a:off x="457200" y="242316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operating income</a:t>
            </a:r>
            <a:endParaRPr lang="en-US" sz="950" dirty="0"/>
          </a:p>
        </p:txBody>
      </p:sp>
      <p:sp>
        <p:nvSpPr>
          <p:cNvPr id="27" name="Shape 25"/>
          <p:cNvSpPr/>
          <p:nvPr/>
        </p:nvSpPr>
        <p:spPr>
          <a:xfrm>
            <a:off x="3200400" y="2423160"/>
            <a:ext cx="1371600" cy="548640"/>
          </a:xfrm>
          <a:prstGeom prst="rect">
            <a:avLst/>
          </a:prstGeom>
          <a:solidFill>
            <a:srgbClr val="FFFFFF"/>
          </a:solidFill>
          <a:ln/>
        </p:spPr>
      </p:sp>
      <p:sp>
        <p:nvSpPr>
          <p:cNvPr id="28" name="Text 26"/>
          <p:cNvSpPr/>
          <p:nvPr/>
        </p:nvSpPr>
        <p:spPr>
          <a:xfrm>
            <a:off x="32004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29" name="Shape 27"/>
          <p:cNvSpPr/>
          <p:nvPr/>
        </p:nvSpPr>
        <p:spPr>
          <a:xfrm>
            <a:off x="4572000" y="2423160"/>
            <a:ext cx="1371600" cy="548640"/>
          </a:xfrm>
          <a:prstGeom prst="rect">
            <a:avLst/>
          </a:prstGeom>
          <a:solidFill>
            <a:srgbClr val="FFFFFF"/>
          </a:solidFill>
          <a:ln/>
        </p:spPr>
      </p:sp>
      <p:sp>
        <p:nvSpPr>
          <p:cNvPr id="30" name="Text 28"/>
          <p:cNvSpPr/>
          <p:nvPr/>
        </p:nvSpPr>
        <p:spPr>
          <a:xfrm>
            <a:off x="45720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1" name="Shape 29"/>
          <p:cNvSpPr/>
          <p:nvPr/>
        </p:nvSpPr>
        <p:spPr>
          <a:xfrm>
            <a:off x="5943600" y="2423160"/>
            <a:ext cx="1371600" cy="548640"/>
          </a:xfrm>
          <a:prstGeom prst="rect">
            <a:avLst/>
          </a:prstGeom>
          <a:solidFill>
            <a:srgbClr val="FFFFFF"/>
          </a:solidFill>
          <a:ln/>
        </p:spPr>
      </p:sp>
      <p:sp>
        <p:nvSpPr>
          <p:cNvPr id="32" name="Text 30"/>
          <p:cNvSpPr/>
          <p:nvPr/>
        </p:nvSpPr>
        <p:spPr>
          <a:xfrm>
            <a:off x="59436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1.9</a:t>
            </a:r>
            <a:endParaRPr lang="en-US" sz="1000" dirty="0"/>
          </a:p>
        </p:txBody>
      </p:sp>
      <p:sp>
        <p:nvSpPr>
          <p:cNvPr id="33" name="Shape 31"/>
          <p:cNvSpPr/>
          <p:nvPr/>
        </p:nvSpPr>
        <p:spPr>
          <a:xfrm>
            <a:off x="7315200" y="2423160"/>
            <a:ext cx="1371600" cy="548640"/>
          </a:xfrm>
          <a:prstGeom prst="rect">
            <a:avLst/>
          </a:prstGeom>
          <a:solidFill>
            <a:srgbClr val="FFFFFF"/>
          </a:solidFill>
          <a:ln/>
        </p:spPr>
      </p:sp>
      <p:sp>
        <p:nvSpPr>
          <p:cNvPr id="34" name="Text 32"/>
          <p:cNvSpPr/>
          <p:nvPr/>
        </p:nvSpPr>
        <p:spPr>
          <a:xfrm>
            <a:off x="73152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4.7</a:t>
            </a:r>
            <a:endParaRPr lang="en-US" sz="1000" dirty="0"/>
          </a:p>
        </p:txBody>
      </p:sp>
      <p:sp>
        <p:nvSpPr>
          <p:cNvPr id="35" name="Shape 33"/>
          <p:cNvSpPr/>
          <p:nvPr/>
        </p:nvSpPr>
        <p:spPr>
          <a:xfrm>
            <a:off x="8686800" y="2423160"/>
            <a:ext cx="1371600" cy="548640"/>
          </a:xfrm>
          <a:prstGeom prst="rect">
            <a:avLst/>
          </a:prstGeom>
          <a:solidFill>
            <a:srgbClr val="FFFFFF"/>
          </a:solidFill>
          <a:ln/>
        </p:spPr>
      </p:sp>
      <p:sp>
        <p:nvSpPr>
          <p:cNvPr id="36" name="Text 34"/>
          <p:cNvSpPr/>
          <p:nvPr/>
        </p:nvSpPr>
        <p:spPr>
          <a:xfrm>
            <a:off x="86868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4.7</a:t>
            </a:r>
            <a:endParaRPr lang="en-US" sz="1000" dirty="0"/>
          </a:p>
        </p:txBody>
      </p:sp>
      <p:sp>
        <p:nvSpPr>
          <p:cNvPr id="37" name="Shape 35"/>
          <p:cNvSpPr/>
          <p:nvPr/>
        </p:nvSpPr>
        <p:spPr>
          <a:xfrm>
            <a:off x="10058400" y="2423160"/>
            <a:ext cx="1645920" cy="548640"/>
          </a:xfrm>
          <a:prstGeom prst="rect">
            <a:avLst/>
          </a:prstGeom>
          <a:solidFill>
            <a:srgbClr val="FFFFFF"/>
          </a:solidFill>
          <a:ln/>
        </p:spPr>
      </p:sp>
      <p:sp>
        <p:nvSpPr>
          <p:cNvPr id="38" name="Text 36"/>
          <p:cNvSpPr/>
          <p:nvPr/>
        </p:nvSpPr>
        <p:spPr>
          <a:xfrm>
            <a:off x="10058400" y="242316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11.3</a:t>
            </a:r>
            <a:endParaRPr lang="en-US" sz="1000" dirty="0"/>
          </a:p>
        </p:txBody>
      </p:sp>
      <p:sp>
        <p:nvSpPr>
          <p:cNvPr id="39" name="Shape 37"/>
          <p:cNvSpPr/>
          <p:nvPr/>
        </p:nvSpPr>
        <p:spPr>
          <a:xfrm>
            <a:off x="457200" y="2971800"/>
            <a:ext cx="2743200" cy="548640"/>
          </a:xfrm>
          <a:prstGeom prst="rect">
            <a:avLst/>
          </a:prstGeom>
          <a:solidFill>
            <a:srgbClr val="F4F2ED"/>
          </a:solidFill>
          <a:ln/>
        </p:spPr>
      </p:sp>
      <p:sp>
        <p:nvSpPr>
          <p:cNvPr id="40" name="Text 38"/>
          <p:cNvSpPr/>
          <p:nvPr/>
        </p:nvSpPr>
        <p:spPr>
          <a:xfrm>
            <a:off x="457200" y="297180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Recap / sale proceeds</a:t>
            </a:r>
            <a:endParaRPr lang="en-US" sz="950" dirty="0"/>
          </a:p>
        </p:txBody>
      </p:sp>
      <p:sp>
        <p:nvSpPr>
          <p:cNvPr id="41" name="Shape 39"/>
          <p:cNvSpPr/>
          <p:nvPr/>
        </p:nvSpPr>
        <p:spPr>
          <a:xfrm>
            <a:off x="3200400" y="2971800"/>
            <a:ext cx="1371600" cy="548640"/>
          </a:xfrm>
          <a:prstGeom prst="rect">
            <a:avLst/>
          </a:prstGeom>
          <a:solidFill>
            <a:srgbClr val="F4F2ED"/>
          </a:solidFill>
          <a:ln/>
        </p:spPr>
      </p:sp>
      <p:sp>
        <p:nvSpPr>
          <p:cNvPr id="42" name="Text 40"/>
          <p:cNvSpPr/>
          <p:nvPr/>
        </p:nvSpPr>
        <p:spPr>
          <a:xfrm>
            <a:off x="32004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3" name="Shape 41"/>
          <p:cNvSpPr/>
          <p:nvPr/>
        </p:nvSpPr>
        <p:spPr>
          <a:xfrm>
            <a:off x="4572000" y="2971800"/>
            <a:ext cx="1371600" cy="548640"/>
          </a:xfrm>
          <a:prstGeom prst="rect">
            <a:avLst/>
          </a:prstGeom>
          <a:solidFill>
            <a:srgbClr val="F4F2ED"/>
          </a:solidFill>
          <a:ln/>
        </p:spPr>
      </p:sp>
      <p:sp>
        <p:nvSpPr>
          <p:cNvPr id="44" name="Text 42"/>
          <p:cNvSpPr/>
          <p:nvPr/>
        </p:nvSpPr>
        <p:spPr>
          <a:xfrm>
            <a:off x="45720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5943600" y="2971800"/>
            <a:ext cx="1371600" cy="548640"/>
          </a:xfrm>
          <a:prstGeom prst="rect">
            <a:avLst/>
          </a:prstGeom>
          <a:solidFill>
            <a:srgbClr val="F4F2ED"/>
          </a:solidFill>
          <a:ln/>
        </p:spPr>
      </p:sp>
      <p:sp>
        <p:nvSpPr>
          <p:cNvPr id="46" name="Text 44"/>
          <p:cNvSpPr/>
          <p:nvPr/>
        </p:nvSpPr>
        <p:spPr>
          <a:xfrm>
            <a:off x="59436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7" name="Shape 45"/>
          <p:cNvSpPr/>
          <p:nvPr/>
        </p:nvSpPr>
        <p:spPr>
          <a:xfrm>
            <a:off x="7315200" y="2971800"/>
            <a:ext cx="1371600" cy="548640"/>
          </a:xfrm>
          <a:prstGeom prst="rect">
            <a:avLst/>
          </a:prstGeom>
          <a:solidFill>
            <a:srgbClr val="F4F2ED"/>
          </a:solidFill>
          <a:ln/>
        </p:spPr>
      </p:sp>
      <p:sp>
        <p:nvSpPr>
          <p:cNvPr id="48" name="Text 46"/>
          <p:cNvSpPr/>
          <p:nvPr/>
        </p:nvSpPr>
        <p:spPr>
          <a:xfrm>
            <a:off x="73152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9" name="Shape 47"/>
          <p:cNvSpPr/>
          <p:nvPr/>
        </p:nvSpPr>
        <p:spPr>
          <a:xfrm>
            <a:off x="8686800" y="2971800"/>
            <a:ext cx="1371600" cy="548640"/>
          </a:xfrm>
          <a:prstGeom prst="rect">
            <a:avLst/>
          </a:prstGeom>
          <a:solidFill>
            <a:srgbClr val="F4F2ED"/>
          </a:solidFill>
          <a:ln/>
        </p:spPr>
      </p:sp>
      <p:sp>
        <p:nvSpPr>
          <p:cNvPr id="50" name="Text 48"/>
          <p:cNvSpPr/>
          <p:nvPr/>
        </p:nvSpPr>
        <p:spPr>
          <a:xfrm>
            <a:off x="86868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62.0</a:t>
            </a:r>
            <a:endParaRPr lang="en-US" sz="1000" dirty="0"/>
          </a:p>
        </p:txBody>
      </p:sp>
      <p:sp>
        <p:nvSpPr>
          <p:cNvPr id="51" name="Shape 49"/>
          <p:cNvSpPr/>
          <p:nvPr/>
        </p:nvSpPr>
        <p:spPr>
          <a:xfrm>
            <a:off x="10058400" y="2971800"/>
            <a:ext cx="1645920" cy="548640"/>
          </a:xfrm>
          <a:prstGeom prst="rect">
            <a:avLst/>
          </a:prstGeom>
          <a:solidFill>
            <a:srgbClr val="F4F2ED"/>
          </a:solidFill>
          <a:ln/>
        </p:spPr>
      </p:sp>
      <p:sp>
        <p:nvSpPr>
          <p:cNvPr id="52" name="Text 50"/>
          <p:cNvSpPr/>
          <p:nvPr/>
        </p:nvSpPr>
        <p:spPr>
          <a:xfrm>
            <a:off x="10058400" y="297180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62.0</a:t>
            </a:r>
            <a:endParaRPr lang="en-US" sz="1000" dirty="0"/>
          </a:p>
        </p:txBody>
      </p:sp>
      <p:sp>
        <p:nvSpPr>
          <p:cNvPr id="53" name="Shape 51"/>
          <p:cNvSpPr/>
          <p:nvPr/>
        </p:nvSpPr>
        <p:spPr>
          <a:xfrm>
            <a:off x="457200" y="3520440"/>
            <a:ext cx="2743200" cy="548640"/>
          </a:xfrm>
          <a:prstGeom prst="rect">
            <a:avLst/>
          </a:prstGeom>
          <a:solidFill>
            <a:srgbClr val="FFFFFF"/>
          </a:solidFill>
          <a:ln/>
        </p:spPr>
      </p:sp>
      <p:sp>
        <p:nvSpPr>
          <p:cNvPr id="54" name="Text 52"/>
          <p:cNvSpPr/>
          <p:nvPr/>
        </p:nvSpPr>
        <p:spPr>
          <a:xfrm>
            <a:off x="457200" y="352044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development cost</a:t>
            </a:r>
            <a:endParaRPr lang="en-US" sz="950" dirty="0"/>
          </a:p>
        </p:txBody>
      </p:sp>
      <p:sp>
        <p:nvSpPr>
          <p:cNvPr id="55" name="Shape 53"/>
          <p:cNvSpPr/>
          <p:nvPr/>
        </p:nvSpPr>
        <p:spPr>
          <a:xfrm>
            <a:off x="3200400" y="3520440"/>
            <a:ext cx="1371600" cy="548640"/>
          </a:xfrm>
          <a:prstGeom prst="rect">
            <a:avLst/>
          </a:prstGeom>
          <a:solidFill>
            <a:srgbClr val="FFFFFF"/>
          </a:solidFill>
          <a:ln/>
        </p:spPr>
      </p:sp>
      <p:sp>
        <p:nvSpPr>
          <p:cNvPr id="56" name="Text 54"/>
          <p:cNvSpPr/>
          <p:nvPr/>
        </p:nvSpPr>
        <p:spPr>
          <a:xfrm>
            <a:off x="32004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(15.0)</a:t>
            </a:r>
            <a:endParaRPr lang="en-US" sz="1000" dirty="0"/>
          </a:p>
        </p:txBody>
      </p:sp>
      <p:sp>
        <p:nvSpPr>
          <p:cNvPr id="57" name="Shape 55"/>
          <p:cNvSpPr/>
          <p:nvPr/>
        </p:nvSpPr>
        <p:spPr>
          <a:xfrm>
            <a:off x="4572000" y="3520440"/>
            <a:ext cx="1371600" cy="548640"/>
          </a:xfrm>
          <a:prstGeom prst="rect">
            <a:avLst/>
          </a:prstGeom>
          <a:solidFill>
            <a:srgbClr val="FFFFFF"/>
          </a:solidFill>
          <a:ln/>
        </p:spPr>
      </p:sp>
      <p:sp>
        <p:nvSpPr>
          <p:cNvPr id="58" name="Text 56"/>
          <p:cNvSpPr/>
          <p:nvPr/>
        </p:nvSpPr>
        <p:spPr>
          <a:xfrm>
            <a:off x="45720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(20.0)</a:t>
            </a:r>
            <a:endParaRPr lang="en-US" sz="1000" dirty="0"/>
          </a:p>
        </p:txBody>
      </p:sp>
      <p:sp>
        <p:nvSpPr>
          <p:cNvPr id="59" name="Shape 57"/>
          <p:cNvSpPr/>
          <p:nvPr/>
        </p:nvSpPr>
        <p:spPr>
          <a:xfrm>
            <a:off x="5943600" y="3520440"/>
            <a:ext cx="1371600" cy="548640"/>
          </a:xfrm>
          <a:prstGeom prst="rect">
            <a:avLst/>
          </a:prstGeom>
          <a:solidFill>
            <a:srgbClr val="FFFFFF"/>
          </a:solidFill>
          <a:ln/>
        </p:spPr>
      </p:sp>
      <p:sp>
        <p:nvSpPr>
          <p:cNvPr id="60" name="Text 58"/>
          <p:cNvSpPr/>
          <p:nvPr/>
        </p:nvSpPr>
        <p:spPr>
          <a:xfrm>
            <a:off x="59436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(12.0)</a:t>
            </a:r>
            <a:endParaRPr lang="en-US" sz="1000" dirty="0"/>
          </a:p>
        </p:txBody>
      </p:sp>
      <p:sp>
        <p:nvSpPr>
          <p:cNvPr id="61" name="Shape 59"/>
          <p:cNvSpPr/>
          <p:nvPr/>
        </p:nvSpPr>
        <p:spPr>
          <a:xfrm>
            <a:off x="7315200" y="3520440"/>
            <a:ext cx="1371600" cy="548640"/>
          </a:xfrm>
          <a:prstGeom prst="rect">
            <a:avLst/>
          </a:prstGeom>
          <a:solidFill>
            <a:srgbClr val="FFFFFF"/>
          </a:solidFill>
          <a:ln/>
        </p:spPr>
      </p:sp>
      <p:sp>
        <p:nvSpPr>
          <p:cNvPr id="62" name="Text 60"/>
          <p:cNvSpPr/>
          <p:nvPr/>
        </p:nvSpPr>
        <p:spPr>
          <a:xfrm>
            <a:off x="73152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3" name="Shape 61"/>
          <p:cNvSpPr/>
          <p:nvPr/>
        </p:nvSpPr>
        <p:spPr>
          <a:xfrm>
            <a:off x="8686800" y="3520440"/>
            <a:ext cx="1371600" cy="548640"/>
          </a:xfrm>
          <a:prstGeom prst="rect">
            <a:avLst/>
          </a:prstGeom>
          <a:solidFill>
            <a:srgbClr val="FFFFFF"/>
          </a:solidFill>
          <a:ln/>
        </p:spPr>
      </p:sp>
      <p:sp>
        <p:nvSpPr>
          <p:cNvPr id="64" name="Text 62"/>
          <p:cNvSpPr/>
          <p:nvPr/>
        </p:nvSpPr>
        <p:spPr>
          <a:xfrm>
            <a:off x="86868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5" name="Shape 63"/>
          <p:cNvSpPr/>
          <p:nvPr/>
        </p:nvSpPr>
        <p:spPr>
          <a:xfrm>
            <a:off x="10058400" y="3520440"/>
            <a:ext cx="1645920" cy="548640"/>
          </a:xfrm>
          <a:prstGeom prst="rect">
            <a:avLst/>
          </a:prstGeom>
          <a:solidFill>
            <a:srgbClr val="FFFFFF"/>
          </a:solidFill>
          <a:ln/>
        </p:spPr>
      </p:sp>
      <p:sp>
        <p:nvSpPr>
          <p:cNvPr id="66" name="Text 64"/>
          <p:cNvSpPr/>
          <p:nvPr/>
        </p:nvSpPr>
        <p:spPr>
          <a:xfrm>
            <a:off x="10058400" y="352044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(47.0)</a:t>
            </a:r>
            <a:endParaRPr lang="en-US" sz="1000" dirty="0"/>
          </a:p>
        </p:txBody>
      </p:sp>
      <p:sp>
        <p:nvSpPr>
          <p:cNvPr id="67" name="Shape 65"/>
          <p:cNvSpPr/>
          <p:nvPr/>
        </p:nvSpPr>
        <p:spPr>
          <a:xfrm>
            <a:off x="457200" y="4069080"/>
            <a:ext cx="2743200" cy="548640"/>
          </a:xfrm>
          <a:prstGeom prst="rect">
            <a:avLst/>
          </a:prstGeom>
          <a:solidFill>
            <a:srgbClr val="F4F2ED"/>
          </a:solidFill>
          <a:ln/>
        </p:spPr>
      </p:sp>
      <p:sp>
        <p:nvSpPr>
          <p:cNvPr id="68" name="Text 66"/>
          <p:cNvSpPr/>
          <p:nvPr/>
        </p:nvSpPr>
        <p:spPr>
          <a:xfrm>
            <a:off x="457200" y="406908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project cash flow</a:t>
            </a:r>
            <a:endParaRPr lang="en-US" sz="950" dirty="0"/>
          </a:p>
        </p:txBody>
      </p:sp>
      <p:sp>
        <p:nvSpPr>
          <p:cNvPr id="69" name="Shape 67"/>
          <p:cNvSpPr/>
          <p:nvPr/>
        </p:nvSpPr>
        <p:spPr>
          <a:xfrm>
            <a:off x="3200400" y="4069080"/>
            <a:ext cx="1371600" cy="548640"/>
          </a:xfrm>
          <a:prstGeom prst="rect">
            <a:avLst/>
          </a:prstGeom>
          <a:solidFill>
            <a:srgbClr val="F4F2ED"/>
          </a:solidFill>
          <a:ln/>
        </p:spPr>
      </p:sp>
      <p:sp>
        <p:nvSpPr>
          <p:cNvPr id="70" name="Text 68"/>
          <p:cNvSpPr/>
          <p:nvPr/>
        </p:nvSpPr>
        <p:spPr>
          <a:xfrm>
            <a:off x="32004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(15.0)</a:t>
            </a:r>
            <a:endParaRPr lang="en-US" sz="1000" dirty="0"/>
          </a:p>
        </p:txBody>
      </p:sp>
      <p:sp>
        <p:nvSpPr>
          <p:cNvPr id="71" name="Shape 69"/>
          <p:cNvSpPr/>
          <p:nvPr/>
        </p:nvSpPr>
        <p:spPr>
          <a:xfrm>
            <a:off x="4572000" y="4069080"/>
            <a:ext cx="1371600" cy="548640"/>
          </a:xfrm>
          <a:prstGeom prst="rect">
            <a:avLst/>
          </a:prstGeom>
          <a:solidFill>
            <a:srgbClr val="F4F2ED"/>
          </a:solidFill>
          <a:ln/>
        </p:spPr>
      </p:sp>
      <p:sp>
        <p:nvSpPr>
          <p:cNvPr id="72" name="Text 70"/>
          <p:cNvSpPr/>
          <p:nvPr/>
        </p:nvSpPr>
        <p:spPr>
          <a:xfrm>
            <a:off x="45720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(20.0)</a:t>
            </a:r>
            <a:endParaRPr lang="en-US" sz="1000" dirty="0"/>
          </a:p>
        </p:txBody>
      </p:sp>
      <p:sp>
        <p:nvSpPr>
          <p:cNvPr id="73" name="Shape 71"/>
          <p:cNvSpPr/>
          <p:nvPr/>
        </p:nvSpPr>
        <p:spPr>
          <a:xfrm>
            <a:off x="5943600" y="4069080"/>
            <a:ext cx="1371600" cy="548640"/>
          </a:xfrm>
          <a:prstGeom prst="rect">
            <a:avLst/>
          </a:prstGeom>
          <a:solidFill>
            <a:srgbClr val="F4F2ED"/>
          </a:solidFill>
          <a:ln/>
        </p:spPr>
      </p:sp>
      <p:sp>
        <p:nvSpPr>
          <p:cNvPr id="74" name="Text 72"/>
          <p:cNvSpPr/>
          <p:nvPr/>
        </p:nvSpPr>
        <p:spPr>
          <a:xfrm>
            <a:off x="59436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(10.1)</a:t>
            </a:r>
            <a:endParaRPr lang="en-US" sz="1000" dirty="0"/>
          </a:p>
        </p:txBody>
      </p:sp>
      <p:sp>
        <p:nvSpPr>
          <p:cNvPr id="75" name="Shape 73"/>
          <p:cNvSpPr/>
          <p:nvPr/>
        </p:nvSpPr>
        <p:spPr>
          <a:xfrm>
            <a:off x="7315200" y="4069080"/>
            <a:ext cx="1371600" cy="548640"/>
          </a:xfrm>
          <a:prstGeom prst="rect">
            <a:avLst/>
          </a:prstGeom>
          <a:solidFill>
            <a:srgbClr val="F4F2ED"/>
          </a:solidFill>
          <a:ln/>
        </p:spPr>
      </p:sp>
      <p:sp>
        <p:nvSpPr>
          <p:cNvPr id="76" name="Text 74"/>
          <p:cNvSpPr/>
          <p:nvPr/>
        </p:nvSpPr>
        <p:spPr>
          <a:xfrm>
            <a:off x="73152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4.7</a:t>
            </a:r>
            <a:endParaRPr lang="en-US" sz="1000" dirty="0"/>
          </a:p>
        </p:txBody>
      </p:sp>
      <p:sp>
        <p:nvSpPr>
          <p:cNvPr id="77" name="Shape 75"/>
          <p:cNvSpPr/>
          <p:nvPr/>
        </p:nvSpPr>
        <p:spPr>
          <a:xfrm>
            <a:off x="8686800" y="4069080"/>
            <a:ext cx="1371600" cy="548640"/>
          </a:xfrm>
          <a:prstGeom prst="rect">
            <a:avLst/>
          </a:prstGeom>
          <a:solidFill>
            <a:srgbClr val="F4F2ED"/>
          </a:solidFill>
          <a:ln/>
        </p:spPr>
      </p:sp>
      <p:sp>
        <p:nvSpPr>
          <p:cNvPr id="78" name="Text 76"/>
          <p:cNvSpPr/>
          <p:nvPr/>
        </p:nvSpPr>
        <p:spPr>
          <a:xfrm>
            <a:off x="86868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66.7</a:t>
            </a:r>
            <a:endParaRPr lang="en-US" sz="1000" dirty="0"/>
          </a:p>
        </p:txBody>
      </p:sp>
      <p:sp>
        <p:nvSpPr>
          <p:cNvPr id="79" name="Shape 77"/>
          <p:cNvSpPr/>
          <p:nvPr/>
        </p:nvSpPr>
        <p:spPr>
          <a:xfrm>
            <a:off x="10058400" y="4069080"/>
            <a:ext cx="1645920" cy="548640"/>
          </a:xfrm>
          <a:prstGeom prst="rect">
            <a:avLst/>
          </a:prstGeom>
          <a:solidFill>
            <a:srgbClr val="F4F2ED"/>
          </a:solidFill>
          <a:ln/>
        </p:spPr>
      </p:sp>
      <p:sp>
        <p:nvSpPr>
          <p:cNvPr id="80" name="Text 78"/>
          <p:cNvSpPr/>
          <p:nvPr/>
        </p:nvSpPr>
        <p:spPr>
          <a:xfrm>
            <a:off x="10058400" y="406908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26.3</a:t>
            </a:r>
            <a:endParaRPr lang="en-US" sz="1000" dirty="0"/>
          </a:p>
        </p:txBody>
      </p:sp>
      <p:sp>
        <p:nvSpPr>
          <p:cNvPr id="81" name="Shape 79"/>
          <p:cNvSpPr/>
          <p:nvPr/>
        </p:nvSpPr>
        <p:spPr>
          <a:xfrm>
            <a:off x="457200" y="4617720"/>
            <a:ext cx="2743200" cy="548640"/>
          </a:xfrm>
          <a:prstGeom prst="rect">
            <a:avLst/>
          </a:prstGeom>
          <a:solidFill>
            <a:srgbClr val="FFFFFF"/>
          </a:solidFill>
          <a:ln/>
        </p:spPr>
      </p:sp>
      <p:sp>
        <p:nvSpPr>
          <p:cNvPr id="82" name="Text 80"/>
          <p:cNvSpPr/>
          <p:nvPr/>
        </p:nvSpPr>
        <p:spPr>
          <a:xfrm>
            <a:off x="457200" y="461772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200400" y="4617720"/>
            <a:ext cx="1371600" cy="548640"/>
          </a:xfrm>
          <a:prstGeom prst="rect">
            <a:avLst/>
          </a:prstGeom>
          <a:solidFill>
            <a:srgbClr val="FFFFFF"/>
          </a:solidFill>
          <a:ln/>
        </p:spPr>
      </p:sp>
      <p:sp>
        <p:nvSpPr>
          <p:cNvPr id="84" name="Text 82"/>
          <p:cNvSpPr/>
          <p:nvPr/>
        </p:nvSpPr>
        <p:spPr>
          <a:xfrm>
            <a:off x="32004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(15.0)</a:t>
            </a:r>
            <a:endParaRPr lang="en-US" sz="1000" dirty="0"/>
          </a:p>
        </p:txBody>
      </p:sp>
      <p:sp>
        <p:nvSpPr>
          <p:cNvPr id="85" name="Shape 83"/>
          <p:cNvSpPr/>
          <p:nvPr/>
        </p:nvSpPr>
        <p:spPr>
          <a:xfrm>
            <a:off x="4572000" y="4617720"/>
            <a:ext cx="1371600" cy="548640"/>
          </a:xfrm>
          <a:prstGeom prst="rect">
            <a:avLst/>
          </a:prstGeom>
          <a:solidFill>
            <a:srgbClr val="FFFFFF"/>
          </a:solidFill>
          <a:ln/>
        </p:spPr>
      </p:sp>
      <p:sp>
        <p:nvSpPr>
          <p:cNvPr id="86" name="Text 84"/>
          <p:cNvSpPr/>
          <p:nvPr/>
        </p:nvSpPr>
        <p:spPr>
          <a:xfrm>
            <a:off x="45720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(35.0)</a:t>
            </a:r>
            <a:endParaRPr lang="en-US" sz="1000" dirty="0"/>
          </a:p>
        </p:txBody>
      </p:sp>
      <p:sp>
        <p:nvSpPr>
          <p:cNvPr id="87" name="Shape 85"/>
          <p:cNvSpPr/>
          <p:nvPr/>
        </p:nvSpPr>
        <p:spPr>
          <a:xfrm>
            <a:off x="5943600" y="4617720"/>
            <a:ext cx="1371600" cy="548640"/>
          </a:xfrm>
          <a:prstGeom prst="rect">
            <a:avLst/>
          </a:prstGeom>
          <a:solidFill>
            <a:srgbClr val="FFFFFF"/>
          </a:solidFill>
          <a:ln/>
        </p:spPr>
      </p:sp>
      <p:sp>
        <p:nvSpPr>
          <p:cNvPr id="88" name="Text 86"/>
          <p:cNvSpPr/>
          <p:nvPr/>
        </p:nvSpPr>
        <p:spPr>
          <a:xfrm>
            <a:off x="59436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(45.1)</a:t>
            </a:r>
            <a:endParaRPr lang="en-US" sz="1000" dirty="0"/>
          </a:p>
        </p:txBody>
      </p:sp>
      <p:sp>
        <p:nvSpPr>
          <p:cNvPr id="89" name="Shape 87"/>
          <p:cNvSpPr/>
          <p:nvPr/>
        </p:nvSpPr>
        <p:spPr>
          <a:xfrm>
            <a:off x="7315200" y="4617720"/>
            <a:ext cx="1371600" cy="548640"/>
          </a:xfrm>
          <a:prstGeom prst="rect">
            <a:avLst/>
          </a:prstGeom>
          <a:solidFill>
            <a:srgbClr val="FFFFFF"/>
          </a:solidFill>
          <a:ln/>
        </p:spPr>
      </p:sp>
      <p:sp>
        <p:nvSpPr>
          <p:cNvPr id="90" name="Text 88"/>
          <p:cNvSpPr/>
          <p:nvPr/>
        </p:nvSpPr>
        <p:spPr>
          <a:xfrm>
            <a:off x="73152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(40.4)</a:t>
            </a:r>
            <a:endParaRPr lang="en-US" sz="1000" dirty="0"/>
          </a:p>
        </p:txBody>
      </p:sp>
      <p:sp>
        <p:nvSpPr>
          <p:cNvPr id="91" name="Shape 89"/>
          <p:cNvSpPr/>
          <p:nvPr/>
        </p:nvSpPr>
        <p:spPr>
          <a:xfrm>
            <a:off x="8686800" y="4617720"/>
            <a:ext cx="1371600" cy="548640"/>
          </a:xfrm>
          <a:prstGeom prst="rect">
            <a:avLst/>
          </a:prstGeom>
          <a:solidFill>
            <a:srgbClr val="FFFFFF"/>
          </a:solidFill>
          <a:ln/>
        </p:spPr>
      </p:sp>
      <p:sp>
        <p:nvSpPr>
          <p:cNvPr id="92" name="Text 90"/>
          <p:cNvSpPr/>
          <p:nvPr/>
        </p:nvSpPr>
        <p:spPr>
          <a:xfrm>
            <a:off x="86868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26.3</a:t>
            </a:r>
            <a:endParaRPr lang="en-US" sz="1000" dirty="0"/>
          </a:p>
        </p:txBody>
      </p:sp>
      <p:sp>
        <p:nvSpPr>
          <p:cNvPr id="93" name="Shape 91"/>
          <p:cNvSpPr/>
          <p:nvPr/>
        </p:nvSpPr>
        <p:spPr>
          <a:xfrm>
            <a:off x="10058400" y="4617720"/>
            <a:ext cx="1645920" cy="548640"/>
          </a:xfrm>
          <a:prstGeom prst="rect">
            <a:avLst/>
          </a:prstGeom>
          <a:solidFill>
            <a:srgbClr val="FFFFFF"/>
          </a:solidFill>
          <a:ln/>
        </p:spPr>
      </p:sp>
      <p:sp>
        <p:nvSpPr>
          <p:cNvPr id="94" name="Text 92"/>
          <p:cNvSpPr/>
          <p:nvPr/>
        </p:nvSpPr>
        <p:spPr>
          <a:xfrm>
            <a:off x="10058400" y="4617720"/>
            <a:ext cx="1645920"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Develops to ~cost; value is created at the recap / sale. Build-to-core (65% LTC) levered IRR ~28% / ~2.3× — see the Phase 2 sensitivity.</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Project-level cash flow; illustrative phasing. A 120-key resort &amp; spa is already designed (FILLAT+). Figures subject to confirmation.</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private-equity fund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relationships across national bank platforms and specialty construction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runs entitlement, capital formation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GP member — capital formation, entitlement &amp; sales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is a GP member — sharing the promote with Capital H6 and Bob, and intends to invest in the GP, sized in diligence and structure.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Aligned</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upside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Share of 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JAL's share of the GP promote (alongside H6, Bob &amp; partners)</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in July or August (I'm in the NYC area all of July and the first half of August),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 Aug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Bob in July or August — I'm in the NYC area all of July &amp; the first half of August</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2026-06-08T15:05:52Z</dcterms:created>
  <dcterms:modified xsi:type="dcterms:W3CDTF">2026-06-08T15:05:52Z</dcterms:modified>
</cp:coreProperties>
</file>