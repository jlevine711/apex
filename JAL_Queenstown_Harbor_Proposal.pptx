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/ story slide. Provenance reinforces two things Bob cares about: the land’s premium narrative (colonial grant → conservation stewardship) and the fresh low basis (just transferred to H6). The thumb-grant story is the club’s own telling — present it as lore, not surveyed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derived, not guessed: 700 gross − 198 conservation − ~300 golf complex − ~60 Critical Area/wetlands ≈ 140 developable acres. Maryland's Chesapeake Bay Critical Area (1,000-ft zone, ~1 unit/20 ac in RCA) is the real constraint on the waterfront land. All figures illustrative until survey / easement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Hybrid: $15K/mo creditable retainer (≈ one day/week) + expenses reimbursed, then placement fees and the promote. Lead with alignment — the retainer is a floor,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thebrickcompanies.com/legacy" TargetMode="External"/><Relationship Id="rId3" Type="http://schemas.openxmlformats.org/officeDocument/2006/relationships/hyperlink" Target="https://www.where2golf.com/usa-mid-atlantic/queenstown-harbor-river-course/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PROVENANCE &amp; HISTORY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centuries to a 36-hole resort.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colonial land grant, a dairy farm, and ~30 years of Brick Companies stewardship — the land you now own through Capital H6 carries real provenance, and a conservation ethic to plan around.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38528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11680" y="1938528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1938528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1938528"/>
            <a:ext cx="68854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38528"/>
            <a:ext cx="68854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happened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04288"/>
            <a:ext cx="155448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04288"/>
            <a:ext cx="155448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1600s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2304288"/>
            <a:ext cx="2834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2011680" y="2304288"/>
            <a:ext cx="283464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“My Lord’s Gift”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46320" y="2304288"/>
            <a:ext cx="68854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304288"/>
            <a:ext cx="6885432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Surveyor Henry deCoursey is granted the tract by Cecil Calvert, 2nd Lord Baltimore — remembered for centuries as the “thumb grant” (the property’s own lore).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907792"/>
            <a:ext cx="1554480" cy="60350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907792"/>
            <a:ext cx="155448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1970s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11680" y="2907792"/>
            <a:ext cx="2834640" cy="60350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2011680" y="2907792"/>
            <a:ext cx="283464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Dairy farm acquired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2907792"/>
            <a:ext cx="6885432" cy="60350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2907792"/>
            <a:ext cx="6885432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Brick Companies — a private Maryland firm founded 1892 — buys the working farm to open its land and wildlife to the public as golf.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511296"/>
            <a:ext cx="155448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511296"/>
            <a:ext cx="155448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011680" y="3511296"/>
            <a:ext cx="2834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011680" y="3511296"/>
            <a:ext cx="283464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Course opens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3511296"/>
            <a:ext cx="68854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3511296"/>
            <a:ext cx="6885432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Ervin’s design debuts along the Chester River; a construction-era archaeological dig preserves millions of artifacts (Maryland Historical Trust).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114800"/>
            <a:ext cx="1554480" cy="60350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114800"/>
            <a:ext cx="155448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1996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011680" y="4114800"/>
            <a:ext cx="2834640" cy="60350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2011680" y="4114800"/>
            <a:ext cx="283464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 complete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846320" y="4114800"/>
            <a:ext cx="6885432" cy="603504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4114800"/>
            <a:ext cx="6885432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Lakes Course is added — reaching today’s two-course, par-72 / par-71 waterfront resort on the Chesapeake.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718304"/>
            <a:ext cx="155448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718304"/>
            <a:ext cx="155448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May 2026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011680" y="4718304"/>
            <a:ext cx="2834640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011680" y="4718304"/>
            <a:ext cx="2834640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H6 acquires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846320" y="4718304"/>
            <a:ext cx="6885432" cy="6035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0" y="4718304"/>
            <a:ext cx="6885432" cy="603504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VIVÂMEE buy Queenstown Harbor (with South River) for ~$25M from The Brick Companies — your fresh, low basis.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58384"/>
            <a:ext cx="11274552" cy="4572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358384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centuries of provenance, ~30 years of Brick Companies stewardship — now a freshly acquired, low-basis asset under Capital H6.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The Brick Compan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Brick Companies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Where2Gol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Where2Golf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the developable envelope.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down from real constraints — the recorded conservation easement, the golf footprint, and Maryland's Chesapeake Bay Critical Area. Developable acreage is survey-dependent; figures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land (gross)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estimate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→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 (net, illustrative)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/ lot, less ~30% costs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$150K × 0.70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 illustrative net from ~140 developable acres — net of conservation &amp; Critical Area, additive to the resort.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success fees + carry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term; creditable against success fees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2026-06-05T23:01:28Z</dcterms:created>
  <dcterms:modified xsi:type="dcterms:W3CDTF">2026-06-05T23:01:28Z</dcterms:modified>
</cp:coreProperties>
</file>