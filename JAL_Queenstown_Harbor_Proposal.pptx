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Internally consistent entitled-lot basis: the builder funds the horizontal, so the JV sells paper lots. Per lot = $150K finished − $60K horizontal − $22K builder margin ≈ $68K. 280 × $68K = $19.0M, less ~10% soft costs ≈ $17M. (Earlier $29M double-counted a finished price with a low cost load.)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merchant land pro forma, consistent with slide 6. $19.0M lot revenue − $6.5M cost ($4.0M contributed land + ~$2.5M soft) ≈ $12.5M profit. On ~$6.0M equity ≈ 3.0x / ~32% IRR (phased Yr 2–4); LP ~24% after an 8% pref + JAL co-GP promote. Land basis and lot price are the big swing factors.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Market inputs are sourced: QAC home/lot prices (Land.com, Zillow) support a conservative $150K finished lot; $60K/lot horizontal matches national land-dev benchmarks (HomeGuide). Deal-specific inputs — gross acreage, the developable balance, land basis and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~$17M of entitled-lot value.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Capital-light, entitled-lot basis: the JV sells entitled lots and the homebuilder funds the horizontal. Each lot equals the finished-lot price less the builder's horizontal cost and margin.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 per entitled lot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− $60K − $22K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~$68K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land proceeds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paid by the homebuilder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$68K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$19.0M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JV soft costs (~10%)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· legal · broker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× 0.90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2" name="Text 80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84" name="Text 82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 net to the JV — capital-light: the homebuilder funds the horizontal, so only entitlement &amp; soft costs come out.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returns.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capital-light, entitled-lot merchant model: Capital H6 contributes the land, a small equity raise funds entitlement, and ~280 lots sell to a homebuilder who funds the horizontal. Illustrative — for discussion.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contribution (~140 dev. ac)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 &amp; environmental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$1.1M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Legal, zoning &amp; approvals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Predevelopment carry &amp; financing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$0.2M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389120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69080" y="4389120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4069080" y="438912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$0.2M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828032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82803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PROJECT COST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69080" y="4828032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69080" y="482803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$6.5M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577840" y="1828800"/>
            <a:ext cx="1874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4" name="Text 42"/>
          <p:cNvSpPr/>
          <p:nvPr/>
        </p:nvSpPr>
        <p:spPr>
          <a:xfrm>
            <a:off x="5577840" y="1828800"/>
            <a:ext cx="1874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 OF CAPITAL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52360" y="1828800"/>
            <a:ext cx="960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6" name="Text 44"/>
          <p:cNvSpPr/>
          <p:nvPr/>
        </p:nvSpPr>
        <p:spPr>
          <a:xfrm>
            <a:off x="7452360" y="1828800"/>
            <a:ext cx="960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2194560"/>
            <a:ext cx="18745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194560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452360" y="2194560"/>
            <a:ext cx="960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452360" y="2194560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577840" y="2633472"/>
            <a:ext cx="18745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577840" y="2633472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452360" y="2633472"/>
            <a:ext cx="9601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4" name="Text 52"/>
          <p:cNvSpPr/>
          <p:nvPr/>
        </p:nvSpPr>
        <p:spPr>
          <a:xfrm>
            <a:off x="7452360" y="2633472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577840" y="3072384"/>
            <a:ext cx="18745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5577840" y="3072384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Predev facility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452360" y="3072384"/>
            <a:ext cx="960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452360" y="3072384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$0.5M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577840" y="3511296"/>
            <a:ext cx="18745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5577840" y="3511296"/>
            <a:ext cx="18745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452360" y="3511296"/>
            <a:ext cx="9601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7452360" y="3511296"/>
            <a:ext cx="9601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$6.5M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577840" y="3977640"/>
            <a:ext cx="2834640" cy="128930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5577840" y="3977640"/>
            <a:ext cx="91440" cy="128930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5779008" y="4069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779008" y="4315968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$68K net / lot  ·  ~280 lots over Yr 2–4  ·  builder funds horizontal  ·  8% pref + co-GP promote  ·  land at appraised value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Shape 66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9" name="Text 67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$19.0M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Gross lot revenue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$12.5M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development profit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~3.0×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~32%</a:t>
            </a:r>
            <a:endParaRPr lang="en-US" sz="1700" dirty="0"/>
          </a:p>
        </p:txBody>
      </p:sp>
      <p:sp>
        <p:nvSpPr>
          <p:cNvPr id="77" name="Text 75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(phased)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~24%</a:t>
            </a:r>
            <a:endParaRPr lang="en-US" sz="1700" dirty="0"/>
          </a:p>
        </p:txBody>
      </p:sp>
      <p:sp>
        <p:nvSpPr>
          <p:cNvPr id="79" name="Text 77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LP IRR (after promote)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1" name="Text 79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~$12.5M profit on ~$6.5M cost — ~3.0× equity, ~32% project IRR. Builder funds the horizontal; JAL co-invests.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57200" y="601675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pro forma for discussion only — basis and sources on the following slide;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24912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24912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24912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24912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163824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163824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163824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163824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Conservative — QAC building lots average ~$237K; new homes $600–705K (lot ≈ 24% of home)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 horizontal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602736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602736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$60K / lot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602736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602736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Per-lot land-development benchmark; residential development runs $50–150K / acre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margin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041648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041648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~$22K (15%)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041648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041648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 return for the builder to carry entitled lots through to finished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JV soft costs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480560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480560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~10%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480560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480560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 &amp; environmental, legal / zoning and brokerage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 (contributed)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4919472"/>
            <a:ext cx="1554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4919472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4919472"/>
            <a:ext cx="706831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4919472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Allocated from the $25M H6 purchase (~$29K / ac); joint appraisal to set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5358384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535838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Waterfall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108960" y="5358384"/>
            <a:ext cx="15544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108960" y="5358384"/>
            <a:ext cx="15544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8% pref · co-GP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663440" y="5358384"/>
            <a:ext cx="706831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4663440" y="5358384"/>
            <a:ext cx="706831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 JV promote structure — for discussion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success fees + carry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2026-06-06T14:14:37Z</dcterms:created>
  <dcterms:modified xsi:type="dcterms:W3CDTF">2026-06-06T14:14:37Z</dcterms:modified>
</cp:coreProperties>
</file>