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This is the discussion document Bob asked me to put together on our 6/5 call. Frame: JAL as development + capital partner for Accountable Equity's land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mirroring Bob's framing back to him: lots of owned land, strong hospitality operator, real town relationships, hotels turning away business. The constraint is capital + bandwidth.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portfolio. Emphasize that these are owned assets with distinct paths. Queenstown is the flagship; commercial base (Lockheed etc.) underwrites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sequencing is the pitch: start capital-light (entitle + lot sales), then recycle into keys and destination build. Aligns with Bob saying they may only need soft costs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Queenstown is the wedge. 700 owned acres, established golf, close to D.C. Lead with entitlement + lot sales (capital-light), keys second. The corporate-buyout note is the Palantir week Bob mentioned — kept generic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these are illustrative placeholders. The point is the method: developable acres × lot yield × price, net of land-dev cost. Swap in real survey/absorption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answers Bob's 'sending business off and not making a dime.' Modest 120-key add converts existing overflow into ~$2.6M NOI / ~$32M value.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Bob's 'equity or debt — either.' Position: debt-led, land-as-equity. Emphasize the modest, staged cash ask — de-risks the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slide. Lead with the live Houston deal ($14M equity / $19.5M debt) as proof I actually close. Then the network: TX family offices, Angelo Gordon, Goldman, hospitality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 said he's setting up a development company. Proposal: formalize it as a JV vehicle. AE contributes land = equity; JAL co-invests + runs capital formation. Skin in the game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Directly answers Bob's question on comp. He said his preference is skin in the game; I agreed and proposed a hybrid. Retainer is modest and creditable — emphasize the carry/co-invest as the real alignment. All numbers are opening positions for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Bob's email literally said 'review your resume.' This is it. Capital-markets pedigree (Blackstone), operator/development (Levcor, JAL-JCP), Wharton, ULI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logistics. The July in-person is real (wife's family on Long Island). The callout is the data ask — restate it so Bob knows exactly what to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warm. Reference his email ('review your resume'). Lock the July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914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Disciplined Real Estate Investing, Development &amp; Capital Formation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</a:t>
            </a:r>
            <a:endParaRPr lang="en-US" sz="6700" dirty="0"/>
          </a:p>
        </p:txBody>
      </p:sp>
      <p:sp>
        <p:nvSpPr>
          <p:cNvPr id="6" name="Text 4"/>
          <p:cNvSpPr/>
          <p:nvPr/>
        </p:nvSpPr>
        <p:spPr>
          <a:xfrm>
            <a:off x="658368" y="2852928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00" b="1" spc="1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EQUITY</a:t>
            </a:r>
            <a:endParaRPr lang="en-US" sz="6700" dirty="0"/>
          </a:p>
        </p:txBody>
      </p:sp>
      <p:sp>
        <p:nvSpPr>
          <p:cNvPr id="7" name="Shape 5"/>
          <p:cNvSpPr/>
          <p:nvPr/>
        </p:nvSpPr>
        <p:spPr>
          <a:xfrm>
            <a:off x="713232" y="4041648"/>
            <a:ext cx="3200400" cy="27432"/>
          </a:xfrm>
          <a:prstGeom prst="rect">
            <a:avLst/>
          </a:prstGeom>
          <a:solidFill>
            <a:srgbClr val="8C9BB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418795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 Development &amp; Capital Partnership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4681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proposal for JAL Strategies as development &amp; capital partner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5047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Queenstown Harbor  ·  Kent Island  ·  LBI National  ·  Bohemia Manor  ·  1,000+ acres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0080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 ROBERT A. CONNELL, CFP   |   APEX FINANCIAL ADVISORS · ACCOUNTABLE EQUITY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869680" y="6400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5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JUNE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1,000-acre land bank — owned, and waiting.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Bob — here's how I'd think about turning Accountable Equity's land into cash, and exactly where I can help.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1,000+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 of developable land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MD, NJ &amp; VA — owned, not optioned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700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 at Queenstown Harbor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Flagship golf resort near Annapolis &amp; D.C.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227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~1.5M SF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51760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Stabilized commercial base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Lockheed (Arlington TX), Las Vegas, Philadelphia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 to $100M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65176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program contemplated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266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Debt, equity &amp; development partners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5330952" cy="41148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874520"/>
            <a:ext cx="109728" cy="41148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03911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MOVES NOW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38658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hotels are at capacity — turning business away and "not making a dime" on it.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766560" y="324612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 is owned free and clear — the hardest, most expensive input is already on the balance sheet.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92049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Town relationships are real — one municipality has offered to contribute land to build on.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9486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Josh McCallan turns properties into destinations — a proven operator de-risks the demand side.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26923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missing is capital + bandwidth — precisely the gap JAL is built to fill.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PORTFOLIO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hospitality assets, one commercial base.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 grouped by what it can become. Hospitality parcels drive the development upside; the commercial portfolio anchors cash flow and collateral.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20574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74520"/>
            <a:ext cx="20574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1874520"/>
            <a:ext cx="169164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06240" y="1874520"/>
            <a:ext cx="324612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6" name="Text 14"/>
          <p:cNvSpPr/>
          <p:nvPr/>
        </p:nvSpPr>
        <p:spPr>
          <a:xfrm>
            <a:off x="4206240" y="1874520"/>
            <a:ext cx="324612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52360" y="1874520"/>
            <a:ext cx="4279392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1874520"/>
            <a:ext cx="4279392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thesis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240280"/>
            <a:ext cx="20574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24028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0280"/>
            <a:ext cx="16916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514600" y="2240280"/>
            <a:ext cx="16916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Queenstown, MD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2240280"/>
            <a:ext cx="3246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2240280"/>
            <a:ext cx="324612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700 ac · 3 courses · near Annapolis &amp; D.C.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52360" y="2240280"/>
            <a:ext cx="427939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2240280"/>
            <a:ext cx="4279392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Entitle &amp; sell residential lots around the courses; add hotel keys for overflow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788920"/>
            <a:ext cx="205740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78892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Kent Island Resort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14600" y="2788920"/>
            <a:ext cx="169164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0" name="Text 28"/>
          <p:cNvSpPr/>
          <p:nvPr/>
        </p:nvSpPr>
        <p:spPr>
          <a:xfrm>
            <a:off x="251460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Kent Island, MD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06240" y="2788920"/>
            <a:ext cx="324612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4206240" y="2788920"/>
            <a:ext cx="324612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Chesapeake Bay waterfront resort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52360" y="2788920"/>
            <a:ext cx="4279392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4" name="Text 32"/>
          <p:cNvSpPr/>
          <p:nvPr/>
        </p:nvSpPr>
        <p:spPr>
          <a:xfrm>
            <a:off x="7452360" y="2788920"/>
            <a:ext cx="4279392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 keys + destination amenities; capture turned-away demand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337560"/>
            <a:ext cx="20574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33756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LBI National Golf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14600" y="3337560"/>
            <a:ext cx="16916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2514600" y="3337560"/>
            <a:ext cx="16916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 Beach Island, NJ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06240" y="3337560"/>
            <a:ext cx="3246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3337560"/>
            <a:ext cx="324612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Coastal golf in a high-barrier shore market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52360" y="3337560"/>
            <a:ext cx="427939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7452360" y="3337560"/>
            <a:ext cx="4279392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Entitled lot sales + boutique coastal hospitality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886200"/>
            <a:ext cx="205740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88620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Bohemia Manor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514600" y="3886200"/>
            <a:ext cx="169164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6" name="Text 44"/>
          <p:cNvSpPr/>
          <p:nvPr/>
        </p:nvSpPr>
        <p:spPr>
          <a:xfrm>
            <a:off x="2514600" y="3886200"/>
            <a:ext cx="16916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Cecil County, MD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06240" y="3886200"/>
            <a:ext cx="324612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8" name="Text 46"/>
          <p:cNvSpPr/>
          <p:nvPr/>
        </p:nvSpPr>
        <p:spPr>
          <a:xfrm>
            <a:off x="4206240" y="3886200"/>
            <a:ext cx="324612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Historic estate &amp; event grounds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52360" y="3886200"/>
            <a:ext cx="4279392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50" name="Text 48"/>
          <p:cNvSpPr/>
          <p:nvPr/>
        </p:nvSpPr>
        <p:spPr>
          <a:xfrm>
            <a:off x="7452360" y="3886200"/>
            <a:ext cx="4279392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Hospitality + events; winery-style destination template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4434840"/>
            <a:ext cx="20574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43484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Winery HQ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514600" y="4434840"/>
            <a:ext cx="16916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2514600" y="4434840"/>
            <a:ext cx="16916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New Jersey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206240" y="4434840"/>
            <a:ext cx="32461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4206240" y="4434840"/>
            <a:ext cx="324612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Transformed "dump" → destination venue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452360" y="4434840"/>
            <a:ext cx="4279392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452360" y="4434840"/>
            <a:ext cx="4279392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Proof of concept — the destination playbook other sites replicate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4983480"/>
            <a:ext cx="205740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4983480"/>
            <a:ext cx="205740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base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14600" y="4983480"/>
            <a:ext cx="169164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2" name="Text 60"/>
          <p:cNvSpPr/>
          <p:nvPr/>
        </p:nvSpPr>
        <p:spPr>
          <a:xfrm>
            <a:off x="2514600" y="4983480"/>
            <a:ext cx="169164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TX · NV · PA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206240" y="4983480"/>
            <a:ext cx="3246120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4" name="Text 62"/>
          <p:cNvSpPr/>
          <p:nvPr/>
        </p:nvSpPr>
        <p:spPr>
          <a:xfrm>
            <a:off x="4206240" y="4983480"/>
            <a:ext cx="3246120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~1.5M SF incl. Lockheed Martin (Arlington)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452360" y="4983480"/>
            <a:ext cx="4279392" cy="548640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6" name="Text 64"/>
          <p:cNvSpPr/>
          <p:nvPr/>
        </p:nvSpPr>
        <p:spPr>
          <a:xfrm>
            <a:off x="7452360" y="4983480"/>
            <a:ext cx="4279392" cy="5486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Stabilized cash flow + collateral base for development debt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start where capital-light wins are fastest — entitle, sell to a homebuilder, recycle proceeds into the next parcel.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PLAYBOOK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levers that turn land into cash flow.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Sequenced to be capital-light first — generate proceeds early, then recycle into the heavier hospitality build-out.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2688336" cy="3749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2688336" cy="914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488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5800" y="3063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Entitle &amp; Sell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4564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Lots → homebuilders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822192"/>
            <a:ext cx="2231136" cy="182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950208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Secure approvals, sell finished lots, and let the builder fund the horizontal infrastructure — sewer, roads, utilities.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0128" y="1920240"/>
            <a:ext cx="2688336" cy="3749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0128" y="1920240"/>
            <a:ext cx="2688336" cy="914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0" name="Text 18"/>
          <p:cNvSpPr/>
          <p:nvPr/>
        </p:nvSpPr>
        <p:spPr>
          <a:xfrm>
            <a:off x="3538728" y="21488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538728" y="3063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Keys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38728" y="34564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the overflow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38728" y="3822192"/>
            <a:ext cx="2231136" cy="182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4" name="Text 22"/>
          <p:cNvSpPr/>
          <p:nvPr/>
        </p:nvSpPr>
        <p:spPr>
          <a:xfrm>
            <a:off x="3538728" y="3950208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hotel rooms where demand is already being turned away. Convert lost referrals into owned, recurring revenue.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1920240"/>
            <a:ext cx="2688336" cy="3749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6" name="Shape 24"/>
          <p:cNvSpPr/>
          <p:nvPr/>
        </p:nvSpPr>
        <p:spPr>
          <a:xfrm>
            <a:off x="6163056" y="1920240"/>
            <a:ext cx="2688336" cy="914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7" name="Text 25"/>
          <p:cNvSpPr/>
          <p:nvPr/>
        </p:nvSpPr>
        <p:spPr>
          <a:xfrm>
            <a:off x="6391656" y="21488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391656" y="3063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Destination Build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91656" y="34564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Amenitize to lift value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91656" y="3822192"/>
            <a:ext cx="2231136" cy="182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1" name="Text 29"/>
          <p:cNvSpPr/>
          <p:nvPr/>
        </p:nvSpPr>
        <p:spPr>
          <a:xfrm>
            <a:off x="6391656" y="3950208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Replicate the winery-to-destination template — F&amp;B, events, experiential — to raise both land and room values.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15984" y="1920240"/>
            <a:ext cx="2688336" cy="3749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3" name="Shape 31"/>
          <p:cNvSpPr/>
          <p:nvPr/>
        </p:nvSpPr>
        <p:spPr>
          <a:xfrm>
            <a:off x="9015984" y="1920240"/>
            <a:ext cx="2688336" cy="914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4" name="Text 32"/>
          <p:cNvSpPr/>
          <p:nvPr/>
        </p:nvSpPr>
        <p:spPr>
          <a:xfrm>
            <a:off x="9244584" y="2148840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9244584" y="3063240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Recycle &amp; Scale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44584" y="34564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Proceeds → next parcel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244584" y="3822192"/>
            <a:ext cx="2231136" cy="182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8" name="Text 36"/>
          <p:cNvSpPr/>
          <p:nvPr/>
        </p:nvSpPr>
        <p:spPr>
          <a:xfrm>
            <a:off x="9244584" y="3950208"/>
            <a:ext cx="223113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 lot-sale and refinancing proceeds into the next property; compound the playbook across the portfolio.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 01 needs mostly soft costs — the fastest path to proof, and to first cash.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FLAGSHIP ASSET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Queenstown Harbor — 700 acres near D.C.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anchor of the program: an established 36-hole destination with developable land around the courses and drive-to demand from Annapolis, Baltimore &amp; Washington.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700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Acres owned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36 holes already in the ground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~45 min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Annapolis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≈ 90 min to D.C. &amp; Baltimore metros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227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651760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Golf courses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Established destination, existing traffic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 costs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65176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begin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266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Entitlement-led; minimal capital at risk in Phase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5330952" cy="41148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874520"/>
            <a:ext cx="109728" cy="41148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03911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38658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Entitle residential lots around the existing courses and sell to a regional homebuilder.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766560" y="324612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the builder fund sewer, roads and horizontal infrastructure — we keep the upside, not the burden.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92049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hotel keys to capture the overflow the resort turns away today.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9486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Premium private-retreat demand is real — a recent week-long corporate buyout signals pricing power.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26923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Capital-light entry: Phase 1 is approvals and lot sales, not vertical construction.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MATH  ·  ILLUSTRATIVE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lot entitlement creates value.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 only — to be calibrated with Accountable Equity's survey, entitlement status and absorption data. The method matters here, not the placeholder numbers.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965960"/>
            <a:ext cx="301752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61120" y="196596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Value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31720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Developable land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331720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331720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~25% of 700 ac to lots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331720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331720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700 × 0.25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61120" y="2331720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2331720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175 ac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898648"/>
            <a:ext cx="274320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898648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Lot yield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898648"/>
            <a:ext cx="274320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2898648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~2.0 lots / acre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898648"/>
            <a:ext cx="301752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898648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175 × 2.0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61120" y="2898648"/>
            <a:ext cx="274320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0" y="2898648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350 lots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465576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465576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Finished lot price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3465576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3465576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$120,000 / lot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3465576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3465576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350 × $120,000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61120" y="3465576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0" y="3465576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$42.0M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032504"/>
            <a:ext cx="274320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032504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land-dev / soft costs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4032504"/>
            <a:ext cx="274320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0" y="4032504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~30% of gross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4032504"/>
            <a:ext cx="301752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4032504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0.70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961120" y="4032504"/>
            <a:ext cx="2743200" cy="56692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50" name="Text 48"/>
          <p:cNvSpPr/>
          <p:nvPr/>
        </p:nvSpPr>
        <p:spPr>
          <a:xfrm>
            <a:off x="8961120" y="4032504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$29.4M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599432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599432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LOT PROCEEDS (illustrative)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4599432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0" y="4599432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hotel-key upside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4599432"/>
            <a:ext cx="30175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0" y="4599432"/>
            <a:ext cx="301752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961120" y="4599432"/>
            <a:ext cx="27432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961120" y="4599432"/>
            <a:ext cx="27432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$29M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5349240"/>
            <a:ext cx="11274552" cy="50292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$29M net lot proceeds — before any hotel-key or destination upside — and recyclable into the next parcel.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MATH  ·  ILLUSTRATIVE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Turned-away guests → owned revenue.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resort is sending business to other hotels today. Even a modest key expansion converts referrals into NOI. Illustrative — calibrate with your occupancy and turn-away logs.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96596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965960"/>
            <a:ext cx="301752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61120" y="196596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 Result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31720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keys added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33172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331720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120 rooms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2331720"/>
            <a:ext cx="3017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2331720"/>
            <a:ext cx="301752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961120" y="233172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0" y="2331720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 keys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807208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807208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Stabilized occupancy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807208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2807208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807208"/>
            <a:ext cx="301752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807208"/>
            <a:ext cx="301752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120 × 365 × 0.65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961120" y="2807208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4" name="Text 32"/>
          <p:cNvSpPr/>
          <p:nvPr/>
        </p:nvSpPr>
        <p:spPr>
          <a:xfrm>
            <a:off x="8961120" y="2807208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28,470 nights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28269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282696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328269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3282696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$185 / night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3282696"/>
            <a:ext cx="3017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3282696"/>
            <a:ext cx="301752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$185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961120" y="3282696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961120" y="3282696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$5.27M rooms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3758184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758184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revenue incl. F&amp;B / events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0" y="3758184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0" y="3758184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~1.4× room revenue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3758184"/>
            <a:ext cx="301752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0" y="3758184"/>
            <a:ext cx="301752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1.4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961120" y="3758184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50" name="Text 48"/>
          <p:cNvSpPr/>
          <p:nvPr/>
        </p:nvSpPr>
        <p:spPr>
          <a:xfrm>
            <a:off x="8961120" y="3758184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$7.4M gross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" y="423367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233672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Stabilized NOI margin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423367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0" y="4233672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~35%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4233672"/>
            <a:ext cx="3017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0" y="4233672"/>
            <a:ext cx="301752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× 0.35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961120" y="4233672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8961120" y="4233672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$2.6M NOI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57200" y="4709160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4709160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AT 8.0% CAP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0" y="4709160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2" name="Text 60"/>
          <p:cNvSpPr/>
          <p:nvPr/>
        </p:nvSpPr>
        <p:spPr>
          <a:xfrm>
            <a:off x="3200400" y="4709160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$2.6M ÷ 0.08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943600" y="4709160"/>
            <a:ext cx="301752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4" name="Text 62"/>
          <p:cNvSpPr/>
          <p:nvPr/>
        </p:nvSpPr>
        <p:spPr>
          <a:xfrm>
            <a:off x="5943600" y="4709160"/>
            <a:ext cx="301752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961120" y="4709160"/>
            <a:ext cx="2743200" cy="475488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6" name="Text 64"/>
          <p:cNvSpPr/>
          <p:nvPr/>
        </p:nvSpPr>
        <p:spPr>
          <a:xfrm>
            <a:off x="8961120" y="4709160"/>
            <a:ext cx="2743200" cy="4754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$32M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5166360"/>
            <a:ext cx="11274552" cy="50292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51663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$2.6M incremental NOI ≈ $32M of value at an 8% cap — created from demand you already have.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Debt-led, land-as-equity, phased.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land is the equity. Most of the program is financeable with debt and developer partners — the cash ask is modest and staged, not a single day-one check.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532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 to ~$100M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program capacity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Phased across the portfolio — not all at once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532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76%+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Funded by land &amp; debt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Owned land contributed as equity; senior debt on top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874520"/>
            <a:ext cx="5330952" cy="1847088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874520"/>
            <a:ext cx="109728" cy="1847088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PRINCIPLE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the balance sheet you already have.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270662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land is the equity; debt and homebuilder takedowns do the heavy lifting. Cash equity stays small and staged — soft costs first, scale as the parcels prove out.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3931920"/>
            <a:ext cx="301752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931920"/>
            <a:ext cx="201168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3931920"/>
            <a:ext cx="347472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931920"/>
            <a:ext cx="347472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97680"/>
            <a:ext cx="274320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1 — Entitlements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4297680"/>
            <a:ext cx="30175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0" y="4297680"/>
            <a:ext cx="301752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Soft costs only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4297680"/>
            <a:ext cx="2011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297680"/>
            <a:ext cx="201168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$1–3M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4297680"/>
            <a:ext cx="3474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4297680"/>
            <a:ext cx="347472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+ Bob's dev co (skin in the game)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4718304"/>
            <a:ext cx="274320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718304"/>
            <a:ext cx="274320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2 — Lot development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4718304"/>
            <a:ext cx="301752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3" name="Text 41"/>
          <p:cNvSpPr/>
          <p:nvPr/>
        </p:nvSpPr>
        <p:spPr>
          <a:xfrm>
            <a:off x="3200400" y="4718304"/>
            <a:ext cx="301752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Builder-funded horizontal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4718304"/>
            <a:ext cx="201168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5" name="Text 43"/>
          <p:cNvSpPr/>
          <p:nvPr/>
        </p:nvSpPr>
        <p:spPr>
          <a:xfrm>
            <a:off x="6217920" y="4718304"/>
            <a:ext cx="201168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29600" y="4718304"/>
            <a:ext cx="347472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0" y="4718304"/>
            <a:ext cx="347472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Homebuilder takedown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5138928"/>
            <a:ext cx="27432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5138928"/>
            <a:ext cx="274320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Phase 3 — Hospitality keys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0" y="5138928"/>
            <a:ext cx="30175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0" y="5138928"/>
            <a:ext cx="301752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Construction debt + equity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5138928"/>
            <a:ext cx="20116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217920" y="5138928"/>
            <a:ext cx="201168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$30–60M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29600" y="5138928"/>
            <a:ext cx="347472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0" y="5138928"/>
            <a:ext cx="347472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Hospitality lender + family-office equity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5559552"/>
            <a:ext cx="274320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5559552"/>
            <a:ext cx="274320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— Recycle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0" y="5559552"/>
            <a:ext cx="301752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59" name="Text 57"/>
          <p:cNvSpPr/>
          <p:nvPr/>
        </p:nvSpPr>
        <p:spPr>
          <a:xfrm>
            <a:off x="3200400" y="5559552"/>
            <a:ext cx="301752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Proceeds + refinancing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217920" y="5559552"/>
            <a:ext cx="201168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1" name="Text 59"/>
          <p:cNvSpPr/>
          <p:nvPr/>
        </p:nvSpPr>
        <p:spPr>
          <a:xfrm>
            <a:off x="6217920" y="5559552"/>
            <a:ext cx="201168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Self-funding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229600" y="5559552"/>
            <a:ext cx="3474720" cy="420624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63" name="Text 61"/>
          <p:cNvSpPr/>
          <p:nvPr/>
        </p:nvSpPr>
        <p:spPr>
          <a:xfrm>
            <a:off x="8229600" y="5559552"/>
            <a:ext cx="3474720" cy="4206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 forward into next parcel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capital-light: a $1–3M soft-cost raise funds entitlements and first lot sales — proof before the big check.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bring the capital relationships.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mandates, not a paper Rolodex — debt and equity, on call. Here's what's moving right now and who I place with.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9659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$14M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51760" y="1984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Equity being raised now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317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Houston retail — family-office capital, closing summer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443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$19.5M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2651760" y="296265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Debt already secured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310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Lender committed on the same transaction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31336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2277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Mid-20s%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651760" y="39410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development IRR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2885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Investors expect mid-to-high 20s out-of-state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809744"/>
            <a:ext cx="54864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0118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$6.1B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651760" y="49194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transaction volume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51760" y="52669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debt &amp; equity — Blackstone + Levcor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1874520"/>
            <a:ext cx="5330952" cy="41148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1874520"/>
            <a:ext cx="109728" cy="41148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2039112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NETWORK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766560" y="2386584"/>
            <a:ext cx="4764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I place capital — equity and debt.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766560" y="324612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Family offices (Texas) — my core equity base; they'll travel for the right risk-adjusted return.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92049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Institutional equity — Angelo Gordon and peer private-equity relationships.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459486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National debt — Goldman Sachs (met two weeks ago; national platform, Dallas team) + hospitality credit lenders.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5269230"/>
            <a:ext cx="4764024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bar for out-of-state development is mid-to-high-20s IRR — owned land helps the deal clear it.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STRUCTURE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vehicle: your dev co + JAL.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Formalize the development entity you're already standing up. Accountable Equity contributes land; the vehicle raises debt + equity; JAL co-invests and runs capital formation alongside your team.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1274552" cy="78638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83080"/>
            <a:ext cx="109728" cy="78638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836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DEVELOPMENT PARTNERS, LLC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2249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Working 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1783080"/>
            <a:ext cx="3291840" cy="786384"/>
          </a:xfrm>
          <a:prstGeom prst="rect">
            <a:avLst/>
          </a:prstGeom>
          <a:noFill/>
          <a:ln/>
        </p:spPr>
        <p:txBody>
          <a:bodyPr wrap="square" lIns="25400" tIns="76200" rIns="127000" bIns="254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Development vehicle formed with Accountable Equity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59359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077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LAND = EQUITY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20040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Owned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5800" y="3840480"/>
            <a:ext cx="31363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Acreage contributed at appraised value forms the equity base — the hardest, most expensive input is already on the balance sheet.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24528" y="2743200"/>
            <a:ext cx="359359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29077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STACK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53128" y="3163824"/>
            <a:ext cx="3136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Illustrative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53128" y="34564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 equity (AE)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01968" y="345643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Contributed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53128" y="3785616"/>
            <a:ext cx="3136392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3959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Construction / acq. debt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01968" y="395935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Senior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53128" y="4288536"/>
            <a:ext cx="3136392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29" name="Text 27"/>
          <p:cNvSpPr/>
          <p:nvPr/>
        </p:nvSpPr>
        <p:spPr>
          <a:xfrm>
            <a:off x="4453128" y="446227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 equity (JAL + LP)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01968" y="4462272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Co-invest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53128" y="4791456"/>
            <a:ext cx="3136392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32" name="Shape 30"/>
          <p:cNvSpPr/>
          <p:nvPr/>
        </p:nvSpPr>
        <p:spPr>
          <a:xfrm>
            <a:off x="7991856" y="2743200"/>
            <a:ext cx="3593592" cy="260604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3" name="Shape 31"/>
          <p:cNvSpPr/>
          <p:nvPr/>
        </p:nvSpPr>
        <p:spPr>
          <a:xfrm>
            <a:off x="7991856" y="2743200"/>
            <a:ext cx="91440" cy="26060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4" name="Text 32"/>
          <p:cNvSpPr/>
          <p:nvPr/>
        </p:nvSpPr>
        <p:spPr>
          <a:xfrm>
            <a:off x="8220456" y="29077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0456" y="331012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Josh McCallan / AE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0456" y="3557016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 &amp; hospitality operator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20456" y="3968496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Bob Connell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0456" y="42153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Development lead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220456" y="462686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20456" y="487375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Capital + execution — co-invests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takes skin in the game — co-investing alongside, not just advising.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 ·  FOR DISCUSSION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I'd want to be engaged.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asked how I'd like to be comped. My preference matches yours — a small base to fund the work, then real alignment on what we create together. For discussion only.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1274552" cy="86868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83080"/>
            <a:ext cx="109728" cy="86868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470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1883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Retainer + success fees + carried interest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224942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Aligned to capital placed and value created — not a flat consulting check.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0" y="1783080"/>
            <a:ext cx="2953512" cy="868680"/>
          </a:xfrm>
          <a:prstGeom prst="rect">
            <a:avLst/>
          </a:prstGeom>
          <a:noFill/>
          <a:ln/>
        </p:spPr>
        <p:txBody>
          <a:bodyPr wrap="square" lIns="25400" tIns="76200" rIns="127000" bIns="2540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Skin in</a:t>
            </a:r>
            <a:endParaRPr lang="en-US" sz="13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310896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Component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2880360"/>
            <a:ext cx="2743200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2880360"/>
            <a:ext cx="5422392" cy="36576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880360"/>
            <a:ext cx="5422392" cy="36576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covers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31089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46120"/>
            <a:ext cx="3108960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Advisory retainer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246120"/>
            <a:ext cx="27432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246120"/>
            <a:ext cx="2743200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$15–25K / mo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3246120"/>
            <a:ext cx="542239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246120"/>
            <a:ext cx="5422392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Funds analysis, entitlement strategy &amp; capital sourcing during an initial term (creditable against success fees)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959352"/>
            <a:ext cx="3108960" cy="71323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59352"/>
            <a:ext cx="3108960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placement fee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66160" y="3959352"/>
            <a:ext cx="2743200" cy="71323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3959352"/>
            <a:ext cx="2743200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1% debt · 2–3% equity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3959352"/>
            <a:ext cx="5422392" cy="713232"/>
          </a:xfrm>
          <a:prstGeom prst="rect">
            <a:avLst/>
          </a:prstGeom>
          <a:solidFill>
            <a:srgbClr val="F4F2ED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3959352"/>
            <a:ext cx="5422392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success fee on capital actually placed — debt and equity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672584"/>
            <a:ext cx="310896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72584"/>
            <a:ext cx="3108960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Carried interest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566160" y="4672584"/>
            <a:ext cx="27432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4672584"/>
            <a:ext cx="2743200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Co-GP promote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4672584"/>
            <a:ext cx="542239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4672584"/>
            <a:ext cx="5422392" cy="71323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Meaningful share of value created; JAL co-invests its own capital alongside the deal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structure flexes to the deal — the point is alignment: I win when you win.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JAL AS YOUR PARTNER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Pedigree. Relationships. Operator.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Institutional capital-markets pedigree, an active investor network, and hands-on development &amp; asset-management experience.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4572000" cy="4343400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691640"/>
            <a:ext cx="109728" cy="43434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56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JUSTIN A. LEVINE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157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&amp; CEO, JAL Strategies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$6.1B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606040" y="277063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career transaction volume ($5.5B Blackstone + $600M Levcor)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$600M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606040" y="354787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debt + equity allocated across 26 CRE deals at Levcor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3.9M SF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606040" y="432511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TX + NC retail managed at Levcor (2014–2025)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50749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C9B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20+ years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606040" y="5102352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 operating, capital markets &amp; asset management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1691640"/>
            <a:ext cx="6428232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18562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CAREER ARC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2194560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LEVCOR, INC.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2450592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President 2024–2025; CIO 2021–2024; VP 2014–2021. $600M / 3.9M SF TX + NC retail portfolio; realized 4.13x / 16.1% IRR on six dispositions.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32120" y="2907792"/>
            <a:ext cx="5989320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2962656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BLACKSTONE GROUP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321868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Analyst / Associate 2006–2011, NYC. Capital raising for U.S., Asia &amp; India funds; $2.5B raised; ~$5.5B aggregate transaction volume.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3675888"/>
            <a:ext cx="5989320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31" name="Text 29"/>
          <p:cNvSpPr/>
          <p:nvPr/>
        </p:nvSpPr>
        <p:spPr>
          <a:xfrm>
            <a:off x="5532120" y="3730752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JAL-JCP REAL ESTATE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32120" y="398678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Co-Founder. Partnership with JCP Investment Management ($250M+ AUM, SEC-registered). Below-replacement-cost unanchored strip centers.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32120" y="4443984"/>
            <a:ext cx="5989320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498848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ULI HOUSTON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475488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Chair, District Council Management Committee 2022–2024. ULI Americas Mixed-Use &amp; Retail Councils. Member since 2015.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5212080"/>
            <a:ext cx="5989320" cy="9144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37" name="Text 35"/>
          <p:cNvSpPr/>
          <p:nvPr/>
        </p:nvSpPr>
        <p:spPr>
          <a:xfrm>
            <a:off x="5532120" y="52669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EDUCATION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32120" y="5522976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M.B.A., The Wharton School, University of Pennsylvania. B.S. Economics + Communication Studies, Northwestern University.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0" y="10972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5A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12802"/>
          </a:xfrm>
          <a:prstGeom prst="rect">
            <a:avLst/>
          </a:prstGeom>
          <a:solidFill>
            <a:srgbClr val="C4B8C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Strategies  |  Justin A. Levine, Founder &amp; CEO  |  jlevine@jalstrategies.com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/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68096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6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this call to a signed mandate.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3502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6B5A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Light and fast to start — diligence now, an in-person while I'm in the Northeast in July, then a defined engagement.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3630168" cy="96926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83080"/>
            <a:ext cx="91440" cy="96926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8653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13969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DILIGENCE &amp; DATA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24505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Now – July  ·  Review &amp; analysis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36301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9443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2944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AE sites (web, maps &amp; visits)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35478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35478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send project data (entitlements, occupancy / turn-away, capital stack)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" y="41513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15137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JAL refines the monetization model per parcel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4754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754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Draft engagement &amp; vehicle terms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1783080"/>
            <a:ext cx="3630168" cy="96926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26" name="Shape 24"/>
          <p:cNvSpPr/>
          <p:nvPr/>
        </p:nvSpPr>
        <p:spPr>
          <a:xfrm>
            <a:off x="4279392" y="1783080"/>
            <a:ext cx="91440" cy="96926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18653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07992" y="213969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PERSON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07992" y="24505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July 2026  ·  Philadelphia / Yardley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79392" y="2788920"/>
            <a:ext cx="36301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29443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2944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in person while I'm in the NY / Philly area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35478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36592" y="35478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Walk the priority sites (Queenstown / winery HQ)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41513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36592" y="415137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Align on first parcel, capital plan &amp; comp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0" y="4754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6592" y="4754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Josh &amp; key stakeholders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01584" y="1783080"/>
            <a:ext cx="3630168" cy="969264"/>
          </a:xfrm>
          <a:prstGeom prst="rect">
            <a:avLst/>
          </a:prstGeom>
          <a:solidFill>
            <a:srgbClr val="0B163C"/>
          </a:solidFill>
          <a:ln/>
        </p:spPr>
      </p:sp>
      <p:sp>
        <p:nvSpPr>
          <p:cNvPr id="40" name="Shape 38"/>
          <p:cNvSpPr/>
          <p:nvPr/>
        </p:nvSpPr>
        <p:spPr>
          <a:xfrm>
            <a:off x="8101584" y="1783080"/>
            <a:ext cx="91440" cy="96926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41" name="Text 39"/>
          <p:cNvSpPr/>
          <p:nvPr/>
        </p:nvSpPr>
        <p:spPr>
          <a:xfrm>
            <a:off x="8330184" y="186537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30184" y="2139696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MANDATE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330184" y="245059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H2 2026  ·  Engage &amp; execute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101584" y="2788920"/>
            <a:ext cx="363016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02752" y="294436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58784" y="294436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 up the development vehicle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02752" y="354787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58784" y="35478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Phase 1 entitlements + soft-cost raise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02752" y="4151376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58784" y="415137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 capital sourcing (debt + equity)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02752" y="47548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2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58784" y="4754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B163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lot sales / key-expansion underwriting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5943600"/>
            <a:ext cx="11274552" cy="420624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594360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 need to sharpen the model: entitlement status per parcel · occupancy &amp; turn-away data · existing debt · the $100M use-of-funds · target timeline.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JAL STRATEGIES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58368" y="3090672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713232" y="4224528"/>
            <a:ext cx="3200400" cy="27432"/>
          </a:xfrm>
          <a:prstGeom prst="rect">
            <a:avLst/>
          </a:prstGeom>
          <a:solidFill>
            <a:srgbClr val="8C9BB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37083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Bob — appreciate the call, and the résumé read.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9B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Looking forward to building this with you and the Accountable Equity team — let's find time in July.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52486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C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Justin A. Levine  |  jlevine@jalstrategies.com  |  JAL Strategies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3A24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ACCOUNTABLE EQUITY  |  CONFIDENTIAL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640080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C4B8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JAL Strategies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Accountable Equity — Land Development &amp; Capital Partnership (for Robert A. Connell)</dc:title>
  <dc:subject>PptxGenJS Presentation</dc:subject>
  <dc:creator>JAL Strategies</dc:creator>
  <cp:lastModifiedBy>JAL Strategies</cp:lastModifiedBy>
  <cp:revision>1</cp:revision>
  <dcterms:created xsi:type="dcterms:W3CDTF">2026-06-05T17:13:16Z</dcterms:created>
  <dcterms:modified xsi:type="dcterms:W3CDTF">2026-06-05T17:13:16Z</dcterms:modified>
</cp:coreProperties>
</file>