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on the fresh acquisition (H6 — Bob's fund). The land bank is additive to the hospitality: monetize the developable acreage the golf doesn't need, capital-light.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 these are placeholders, deliberately conservative on developable acreage (~150 of 870) to respect conservation/wetlands. Method: dev acres × lot yield × price, net of land-dev. Builders fund horizontal.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land bank the honest story is capital-light: soft costs in, builders fund infra and buy lots. Land is already owned via H6 — no acquisition capital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($14M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Nails Bob's exact role: H6 GP / development lead. H6 contributes the developable land; JAL co-invests and runs entitlement + capital + lot sales. VIVÂMEE keeps operating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Bob's comp question. He said skin in the game; I agree and propose a hybrid — modest, creditable retainer + carry on lot-sale value. All numbers are opening positions.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logistics. The July in-person is real (wife's family on Long Island) — Queenstown is a doable drive from Philly. The callout is the data ask — restate it so Bob knows exactly what to send.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|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just bought it. Now monetize the land.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just closed Queenstown Harbor. The resort runs itself; the upside is the developable land around the 36 holes — entitle it, sell lots to builders, recycle the proceeds.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holes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 &amp; Lakes courses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resort on the Eastern Shore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Across the two properties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Waterfront + conservation land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begin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the horizontal infrastructure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own it free and clear — Capital H6 just closed the purchase.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Fresh, low basis: $25M for two courses across 870+ acres — the land value is the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fund sewer, roads and utilities — you carry approvals, not construction risk.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over the Bay Bridge to Annapolis; ~1 hour to D.C. &amp; Baltimore.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 and water frontage on the Chesapeake commands a premium — and sells quickly.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developable, non-conservation acreage and selling finished lots to homebuilders. Capital-light, and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Balance after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Lots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Finished lots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for residential; sell finished lots to builders who fund the horizontal work.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by sequence — soft costs first, then builders carry the infrastructure and construction risk, and the proceeds recycle into the next parcel.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to Builders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lots → homebuilders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lots to regional builders and let them fund sewer, roads and utilities.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by parcel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 — and seed the broader Capital H6 program.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lot entitlement creates value.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 only — developable acreage is subject to survey, conservation easements and entitlement. The method matters here, not the placeholder numbers.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196596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196596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96112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Value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2004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of conservation &amp; course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43600" y="2331720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0" y="2331720"/>
            <a:ext cx="30175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verify by survey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96112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~150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yield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2898648"/>
            <a:ext cx="30175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898648"/>
            <a:ext cx="30175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150 × 2.0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96112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896112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lots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Finished lot price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04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$150,000 / lot (water/golf)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943600" y="3465576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0" y="3465576"/>
            <a:ext cx="30175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300 × $150,000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96112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896112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$45.0M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land-dev / soft costs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004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2004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~30% of gross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943600" y="4032504"/>
            <a:ext cx="30175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5943600" y="4032504"/>
            <a:ext cx="30175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× 0.70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96112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96112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$31.5M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LOT PROCEEDS (illustrative)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2004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2004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developable parcels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943600" y="4599432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5943600" y="4599432"/>
            <a:ext cx="30175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896112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896112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$31M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0" name="Text 58"/>
          <p:cNvSpPr/>
          <p:nvPr/>
        </p:nvSpPr>
        <p:spPr>
          <a:xfrm>
            <a:off x="640080" y="534924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$31M illustrative net from lots — net of conservation, additive to the resort, and recyclable into South River.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STRATEGY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 by design.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land bank barely needs capital: soft costs to entitle, then builders fund the horizontal work and buy the lots. Cash in is small; proceeds come fast.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to start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Entitlements, planning &amp; approvals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the equity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Acreage held by Capital H6 — already acquired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carry approvals, not construction.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Builders take the infrastructure burden — sewer, roads, utilities — and pay for finished lots. Your cash at risk stays small and staged.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$1–3M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+ H6 dev co (skin in the game)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Builder takedown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 + lot purchase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~$0 to you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 funds &amp; buys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redeployed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 parcel / South River / H6 program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Minimal capital at risk — and the land bank seeds everything that comes after.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Mid-20s%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Angelo Gordon and peer private-equity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Goldman Sachs (met two weeks ago; national platform, Dallas team) + specialty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 H6 owns the land. Spin the developable parcels into a land-development entity — H6 contributes the acreage as equity; JAL co-invests and runs entitlement, capital and lot sales alongside your team.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Land-development vehicle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equity (H6)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Builder-funded infra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Cash equity (JAL + LP)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Capital H6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(H6 GP)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Capital, entitlement &amp; sales — co-invests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takes skin in the game — co-investing alongside, not just advising.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Retainer + success fees + carried interest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91840" y="224942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lot-sale value created — not a flat consulting check.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Skin in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game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8036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8036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803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803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80360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80360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310896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46120"/>
            <a:ext cx="310896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46120"/>
            <a:ext cx="27432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46120"/>
            <a:ext cx="274320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$15–25K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46120"/>
            <a:ext cx="542239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46120"/>
            <a:ext cx="5422392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entitlement strategy, underwriting &amp; capital sourcing during an initial term (creditable against success fees)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959352"/>
            <a:ext cx="3108960" cy="71323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959352"/>
            <a:ext cx="310896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placement fee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959352"/>
            <a:ext cx="2743200" cy="71323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959352"/>
            <a:ext cx="274320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2–3% equity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959352"/>
            <a:ext cx="5422392" cy="71323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959352"/>
            <a:ext cx="5422392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Success fee if and when we place debt or equity for a parcel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672584"/>
            <a:ext cx="310896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672584"/>
            <a:ext cx="310896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Carried interest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672584"/>
            <a:ext cx="27432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672584"/>
            <a:ext cx="2743200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Co-GP promote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672584"/>
            <a:ext cx="542239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672584"/>
            <a:ext cx="5422392" cy="71323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 of value created on lot sales; JAL co-invests its own capital alongside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structure flexes to the deal — the point is alignment: I win when you win.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to start — diligence now, an in-person while I'm in the Northeast in July, then a defined engagement on the first parcels.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County)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lot yield &amp; absorption for the developable parcels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H6 ownership &amp; contribution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July 2026  ·  Walk the site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while I'm in the NY / Philly area — train down or drive to the Shore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Walk Queenstown (River House &amp; the course edges)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Josh / VIVÂMEE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 on first parcels, capital plan &amp; comp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land vehicle under Capital H6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Phase 1 entitlements + soft-cost budget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regional-homebuilder conversations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 to sharpen the model: survey / plat &amp; conservation easements · entitlement &amp; zoning status · H6 structure · target timeline.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around Queenstown Harbor with you, Josh and the H6 team — let's find time in July.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|  CONFIDENTIAL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2026-06-05T17:37:28Z</dcterms:created>
  <dcterms:modified xsi:type="dcterms:W3CDTF">2026-06-05T17:37:28Z</dcterms:modified>
</cp:coreProperties>
</file>