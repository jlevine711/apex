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Cover. Scoped to the land around Queenstown Harbor — the asset Capital H6 just acquired. Bob is a GP in H6, so this is squarely his lane: entitle the developable acreage, sell lots, recycle.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Reframed to Bob's own words: ~1,000 acres at no cost basis; the goal is liquidity for Josh's syndication investors (owed an 8% pref, no cash yet). Capital-light: we entitle and sell entitled lots; the builder funds the horizontal.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Shows the homework Bob asked for. Accurate specs: River (par 72, 7,096) + Lakes (par 71, 6,569), Lindsay Ervin, River House &amp; Tavern, cottages. Conservation acreage is real — flag it honestly.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Honest framing: 870+ ac, minus 198 ac conservation (plus wetlands/course), leaves the developable envelope — the first diligence item. The land bank is upside on top of an operating resort.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Sequencing IS the pitch: entitle (soft costs) → sell to builders (they fund infra) → golf/water premium → recycle. Matches Bob's 'let the developer handle the infrastructure.'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Capital-light entitled-lot basis: we entitle and sell entitled lots; the builder funds the horizontal. 280 lots × $70K = $19.6M revenue, ~$5.3M soft cost → ~$14.3M profit (~2.7× on cost). The entitled-lot price (~finished $150K less the builder's ~$80K to finish) is the key assumption. Split &amp; returns on the pro forma. Illustrative until survey / entitlement.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Mirrors the reference competitive-supply slide. Eastern-Shore + Bay-Bridge demand, Chesapeake scarcity, builder appetite, and the fresh $25M basis all support lot sales.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South River is the second H6 asset — but it's a built-out private club (165 ac, 8 lakes, 14 protected areas, 600+ families). Frame honestly: membership + events upside first, land only where diligence supports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Renault (NJ) is the lead / first deal and the site-visit location (Bob: 'an expansion down at Reno, which is where I'd meet you'). Township offered ~34 lots; +100–200 hotel rooms planned; architect already mapping. The capital-light entitled-lot playbook applies here too.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Bob: 'this isn't a one-off.' Pipeline — Renault (first), Queenstown, South River, Kent Island (Palantir), a Colorado course (off-website), 1–2 in Virginia, plus family-owned courses regularly offered to Josh. He's negotiating development rights across the properties. Buys are exceptional (South River at half appraisal; 90% to depreciable assets → ~50% bonus depreciation).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Capital-light entitled-lot plan (per Bob): fund only the soft costs to entitle, then sell entitled lots; the builder funds the horizontal. ~$5M of cost vs ~$25M to build it out — far less capital, no construction risk, much higher return on cost.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Capital-light entitled-lot pro forma, consistent with slide 6. $19.6M revenue − $5.3M soft cost ≈ $14.3M profit (~2.7× on cost, 73% margin) on a near-zero land basis; the builder funds the horizontal. Costs repaid first, then a straight 50/50 — $7.2M to the property (Josh ~$3.6M, returning capital to his investors) and $7.2M to the development company (Bob · JAL · partners). No pref, no promote. Model = source of truth. All illustrative.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Backs the pro forma. The key assumption is the entitled-lot price (~$70K = finished ~$150K less the builder's ~$80K to finish); QAC home/lot prices (Land.com, Zillow) support the finished anchor. Capital-light: the builder funds the horizontal. Deal-specific inputs — gross acreage, the developable balance, density — are flagged 'to confirm' pending survey / easement / zoning.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Bob was emphatic: 'there is no waterfall — it's a straight deal.' Revenue in, costs repaid, then 50/50. Property / H entities 50% (Josh ~25% of profit → investor liquidity); development company 50% (Accountable Equity / Capital H6 · Bob · JAL + partners). JAL takes a share of the dev-co 50% plus a $15K/mo retainer. Simple and aligned.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Sensitivity of Phase 1 net profit to entitled-lot price × lot yield. Base $70K / 280 lots → ~$14.3M, split 50/50 ($7.2M each). Even at $55K / 240 lots it clears ~$8M; $85K or 320 lots pushes toward $18–22M. Each cell re-runs the model.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 the exit-liquidity question: the entitled lots have many credible buyers. Nationals (NVR/Ryan, D.R. Horton, Lennar) run land-light and buy finished lots; regionals (Lacrosse, Caruso, Gemcraft) are literally building in Queen Anne's Co. / the Shore. We can run a competitive takedown or bulk sale.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Phase 2 = hospitality upside, VIVÂMEE-led; JAL leads capital formation. A 120-key resort &amp; spa is already designed (FILLAT+ Architecture), validating the program. Two cases in the model: hold for income (~8% YoC, ~12% IRR — the floor) or BUILD-TO-CORE — recap/sell at stabilization (~Yr 4) at a 7.5% cap, capturing the development spread from the contributed land + premium NOI → ~28% IRR / ~2.3x. Build-to-core lets JAL earn the development return while VIVÂMEE keeps and operates the resort. Model is source of truth.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Phase 2 build-to-core IRR sensitized to stabilized NOI × exit cap (the development spread). Base $4.65M NOI / 7.5% cap → ~28%. Premium NOI ($5.15M) or a 7% cap pushes it to the mid-30s; an 8.5% cap or soft NOI drops it to ~12–20%. 65% LTC, recap at stabilization. Model is the source of truth.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Phase 1 entitled-lot project cash flow — ties to the model: $19.6M revenue, $5.3M soft cost, $14.3M profit (~2.7× on cost). We fund only soft costs Yr 0–2; entitled lots sell Yr 2–4; the builder funds the horizontal. Costs repaid, then a straight 50/50.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Phase 2 build-to-core LEVERED EQUITY cash flow — ties cell-for-cell to the model's Phase 2 sheet: equity $16.4M (bcEq, split Yr 0–1), stabilized levered CF ~$2.5M (NOI − debt; Yr 2 ramps at ~40%), exit equity $31.5M (recap $62M − loan), net equity CF [-8.2, -8.2, 1.0, 2.5, 34.0], IRR ~28% / ~2.3×. Project develops to ~$47M cost, recaps ~$62M @ a 7.5% cap.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Bob's inbound was about capital access. Lead with the live Houston deal ($15M / $19.5M) as proof I close, then the network. Even capital-light, this is why I'm useful.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structure (per Bob): the property contributes the land; the development company (Accountable Equity / Capital H6 · Bob · JAL · partners) entitles and sells the lots; costs repaid, then a straight 50/50. JAL runs entitlement + capital formation + lot sales for a share of the dev-co 50% plus a $15K/mo retainer, and intends to invest (amount TBD in diligence). VIVÂMEE operates the resort.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 Bob's comp question (skin in the game over a big retainer) and shows how the pieces interplay — they stack, but don't double-dip: (1) $15K/mo retainer funds the work (a cost); (2) expenses reimbursed; (3) a placement fee ONLY on outside capital I raise (waived on my own co-invest; small on capital-light Queenstown, meaningful on the pipeline's acquisition equity); (4) the carry — 30% of the dev-co 50% ≈ ~$2.1M on the base case (~15% of profit). If I co-invest, that capital earns alongside everyone else's, separate from the carry. The retainer is a floor; the carry is the prize.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Bob's email said 'review your resume.' This is it. Capital-markets pedigree (Blackstone), operator/development (Levcor, JAL-JCP), Wharton, ULI leadership.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Logistics from the call: Zoom soon, in-person at Renault (near Atlantic City) late July / early August around the July 15 foot surgery (non-weight-bearing 4 wks, not the driving foot); I'm in NY through Aug 14; Bob cruises Jun 25–Jul 2 and leaves for Utah Aug 8. Bob to send surveys / site plans (has Renault's; Josh has the rest). Restate the data ask + offer the NDA.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warm. Reference his email ('review your resume'). Lock the July meeting at Queenstown.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hyperlink" Target="https://clubandresortbusiness.com/vivamee-hospitality-acquires-two-maryland-golf-locations-for-25m/" TargetMode="External"/><Relationship Id="rId2" Type="http://schemas.openxmlformats.org/officeDocument/2006/relationships/hyperlink" Target="https://www.eyeonannapolis.net/2026/05/vivamee-hospitality-acquires-golf-club-at-south-river-queenstown-harbor-in-25m-deal/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hyperlink" Target="https://qhgolf.com/golf/" TargetMode="External"/><Relationship Id="rId2" Type="http://schemas.openxmlformats.org/officeDocument/2006/relationships/hyperlink" Target="https://www.golfdigest.com/courses/md/queenstown-harbor-the-river" TargetMode="External"/><Relationship Id="rId3" Type="http://schemas.openxmlformats.org/officeDocument/2006/relationships/hyperlink" Target="https://www.visitmaryland.org/listing/sports/queenstown-harbor-golf-links" TargetMode="Externa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hyperlink" Target="https://clubandresortbusiness.com/vivamee-hospitality-acquires-two-maryland-golf-locations-for-25m/" TargetMode="External"/><Relationship Id="rId2" Type="http://schemas.openxmlformats.org/officeDocument/2006/relationships/hyperlink" Target="https://qhgolf.com/who-we-are/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hyperlink" Target="https://qhgolf.com/who-we-are/" TargetMode="External"/><Relationship Id="rId2" Type="http://schemas.openxmlformats.org/officeDocument/2006/relationships/hyperlink" Target="https://www.qac.org/398/Chesapeake-Bay-Critical-Area" TargetMode="External"/><Relationship Id="rId3" Type="http://schemas.openxmlformats.org/officeDocument/2006/relationships/hyperlink" Target="https://dnr.maryland.gov/criticalarea/Pages/compliance.aspx" TargetMode="Externa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distance-cities.com/distance-queenstown-md-to-washington-dc" TargetMode="External"/><Relationship Id="rId2" Type="http://schemas.openxmlformats.org/officeDocument/2006/relationships/hyperlink" Target="https://www.qac.org/398/Chesapeake-Bay-Critical-Area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golfclubsr.com/faq" TargetMode="External"/><Relationship Id="rId2" Type="http://schemas.openxmlformats.org/officeDocument/2006/relationships/hyperlink" Target="https://foretee.com/courses/maryland/edgewater/usa/the-golf-club-at-south-river/6925" TargetMode="External"/><Relationship Id="rId3" Type="http://schemas.openxmlformats.org/officeDocument/2006/relationships/hyperlink" Target="https://clubandresortbusiness.com/vivamee-hospitality-acquires-two-maryland-golf-locations-for-25m/" TargetMode="Externa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land.com/Queen-Annes-County-MD/" TargetMode="External"/><Relationship Id="rId2" Type="http://schemas.openxmlformats.org/officeDocument/2006/relationships/hyperlink" Target="https://www.zillow.com/queen-annes-county-md/new-homes/" TargetMode="External"/><Relationship Id="rId3" Type="http://schemas.openxmlformats.org/officeDocument/2006/relationships/hyperlink" Target="https://homeguide.com/costs/cost-to-develop-land" TargetMode="External"/><Relationship Id="rId4" Type="http://schemas.openxmlformats.org/officeDocument/2006/relationships/hyperlink" Target="https://clubandresortbusiness.com/vivamee-hospitality-acquires-two-maryland-golf-locations-for-25m/" TargetMode="Externa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laxhomes.com/communities/" TargetMode="External"/><Relationship Id="rId2" Type="http://schemas.openxmlformats.org/officeDocument/2006/relationships/hyperlink" Target="https://www.carusohomes.com/new-homes/md/maryland/floor-plans/" TargetMode="External"/><Relationship Id="rId3" Type="http://schemas.openxmlformats.org/officeDocument/2006/relationships/hyperlink" Target="https://www.gemcrafthomes.com/" TargetMode="External"/><Relationship Id="rId4" Type="http://schemas.openxmlformats.org/officeDocument/2006/relationships/hyperlink" Target="https://www.zillow.com/browse/communities/md/" TargetMode="Externa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pfarc.com/queenstown-harbor-resort-spa/" TargetMode="External"/><Relationship Id="rId2" Type="http://schemas.openxmlformats.org/officeDocument/2006/relationships/hyperlink" Target="https://www.hvs.com/article/10219-hvs-us-hotel-development-cost-survey-2025" TargetMode="External"/><Relationship Id="rId3" Type="http://schemas.openxmlformats.org/officeDocument/2006/relationships/hyperlink" Target="https://www.mmcginvest.com/post/u-s-hotel-cap-rates-in-2025-trends-drivers-and-segment-analysis" TargetMode="External"/><Relationship Id="rId4" Type="http://schemas.openxmlformats.org/officeDocument/2006/relationships/hyperlink" Target="https://blog.eb3construction.com/construction/food-beverage/restaurant-build-out-estimate/" TargetMode="Externa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6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5486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6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91440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C9BB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Disciplined Real Estate Investing, Development &amp; Capital Formation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58368" y="1993392"/>
            <a:ext cx="11155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spc="1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658368" y="2852928"/>
            <a:ext cx="11155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spc="1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HARBOR</a:t>
            </a:r>
            <a:endParaRPr lang="en-US" sz="6400" dirty="0"/>
          </a:p>
        </p:txBody>
      </p:sp>
      <p:sp>
        <p:nvSpPr>
          <p:cNvPr id="7" name="Shape 5"/>
          <p:cNvSpPr/>
          <p:nvPr/>
        </p:nvSpPr>
        <p:spPr>
          <a:xfrm>
            <a:off x="713232" y="4041648"/>
            <a:ext cx="3200400" cy="27432"/>
          </a:xfrm>
          <a:prstGeom prst="rect">
            <a:avLst/>
          </a:prstGeom>
          <a:solidFill>
            <a:srgbClr val="8C9BB5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4187952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Land Development &amp; Lot-Monetization Partnership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85800" y="468172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8C9BB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Entitling and monetizing the developable land around the River &amp; Lakes courses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85800" y="504748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Queenstown, Maryland  ·  Eastern Shore  ·  36 holes on the Chesapeake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85800" y="548640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8C9BB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Preliminary discussion document — not a final proposal or commitment. Figures compiled from public sources and independent research; subject to change and confirmation in further conversations.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" y="6400800"/>
            <a:ext cx="8778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15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PREPARED FOR ROBERT A. CONNELL, CFP   |   ACCOUNTABLE EQUITY · CAPITAL H6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869680" y="6400800"/>
            <a:ext cx="2862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12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JUNE 2026  ·  DISCUSSION DRAFT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 / 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OPPORTUNITY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Monetize the land. Return capital to your investors.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Bob — Capital H6 bought these courses with ~1,000 acres at a near-zero land basis. The resort runs itself; the upside is the land — entitle it and sell entitled lots to builders (they fund the horizontal), returning capital to the investors who are owed their pref.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874520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96596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$25M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2651760" y="198424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Just acquired (May 2026)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651760" y="2331720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Queenstown + South River, via Capital H6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2852928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944368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~1,000 ac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2651760" y="296265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Near-zero land basis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651760" y="331012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Land across the portfolio — that's the upside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3831336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922776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Capital-light</a:t>
            </a:r>
            <a:endParaRPr lang="en-US" sz="1900" dirty="0"/>
          </a:p>
        </p:txBody>
      </p:sp>
      <p:sp>
        <p:nvSpPr>
          <p:cNvPr id="21" name="Text 19"/>
          <p:cNvSpPr/>
          <p:nvPr/>
        </p:nvSpPr>
        <p:spPr>
          <a:xfrm>
            <a:off x="2651760" y="394106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Entitle &amp; sell lots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651760" y="428853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Builder funds the horizontal; we fund soft costs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57200" y="4809744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4901184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Liquidity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2651760" y="4919472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For your investors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2651760" y="526694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Lot sales return capital against the 8% pref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400800" y="1874520"/>
            <a:ext cx="5330952" cy="411480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8" name="Shape 26"/>
          <p:cNvSpPr/>
          <p:nvPr/>
        </p:nvSpPr>
        <p:spPr>
          <a:xfrm>
            <a:off x="6400800" y="1874520"/>
            <a:ext cx="109728" cy="411480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9" name="Text 27"/>
          <p:cNvSpPr/>
          <p:nvPr/>
        </p:nvSpPr>
        <p:spPr>
          <a:xfrm>
            <a:off x="6766560" y="2039112"/>
            <a:ext cx="4782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WHY NOW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766560" y="2386584"/>
            <a:ext cx="476402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Monetize the land to get your investors their capital back.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6766560" y="324612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Near-zero basis: ~1,000 acres came with the golf-course buys — the land value is pure upside.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766560" y="392049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Capital-light: entitle the parcels and sell entitled lots; the builder funds the roads, sewer &amp; utilities.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766560" y="459486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Your investors are owed an 8% pref and have seen no cash yet — lot sales return their capital.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766560" y="526923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And it repeats — a steady pipeline of family-owned courses keeps coming to Josh.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57200" y="6089904"/>
            <a:ext cx="11274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Sources (own research; subject to change &amp; confirmation):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1" invalidUrl="" action="" tgtFrame="" tooltip="Club + Resort Busines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Club + Resort Business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2" invalidUrl="" action="" tgtFrame="" tooltip="Eye On Annapoli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Eye On Annapolis</a:t>
            </a:r>
            <a:endParaRPr lang="en-US" sz="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 / 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ASSET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Harbor, by the numbers.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 36-hole waterfront destination on Maryland's Eastern Shore — acquired from The Brick Companies in May 2026, with established golf, an event venue and cottages already in place.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874520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96596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River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2651760" y="198424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Course · par 72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651760" y="2331720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Lindsay Ervin design · 7,096 yds · opened 1991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2852928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944368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Lakes</a:t>
            </a:r>
            <a:endParaRPr lang="en-US" sz="2700" dirty="0"/>
          </a:p>
        </p:txBody>
      </p:sp>
      <p:sp>
        <p:nvSpPr>
          <p:cNvPr id="17" name="Text 15"/>
          <p:cNvSpPr/>
          <p:nvPr/>
        </p:nvSpPr>
        <p:spPr>
          <a:xfrm>
            <a:off x="2651760" y="296265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Course · par 71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651760" y="331012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Lindsay Ervin design · 6,569 yds · opened 1996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3831336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922776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310</a:t>
            </a:r>
            <a:endParaRPr lang="en-US" sz="2700" dirty="0"/>
          </a:p>
        </p:txBody>
      </p:sp>
      <p:sp>
        <p:nvSpPr>
          <p:cNvPr id="21" name="Text 19"/>
          <p:cNvSpPr/>
          <p:nvPr/>
        </p:nvSpPr>
        <p:spPr>
          <a:xfrm>
            <a:off x="2651760" y="394106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Links Lane, Queenstown MD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651760" y="428853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Chester River at the Chesapeake Bay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57200" y="4809744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4901184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$25M</a:t>
            </a:r>
            <a:endParaRPr lang="en-US" sz="2700" dirty="0"/>
          </a:p>
        </p:txBody>
      </p:sp>
      <p:sp>
        <p:nvSpPr>
          <p:cNvPr id="25" name="Text 23"/>
          <p:cNvSpPr/>
          <p:nvPr/>
        </p:nvSpPr>
        <p:spPr>
          <a:xfrm>
            <a:off x="2651760" y="4919472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Acquired with South River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2651760" y="526694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From The Brick Companies · via Capital H6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400800" y="1874520"/>
            <a:ext cx="5330952" cy="411480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8" name="Shape 26"/>
          <p:cNvSpPr/>
          <p:nvPr/>
        </p:nvSpPr>
        <p:spPr>
          <a:xfrm>
            <a:off x="6400800" y="1874520"/>
            <a:ext cx="109728" cy="411480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9" name="Text 27"/>
          <p:cNvSpPr/>
          <p:nvPr/>
        </p:nvSpPr>
        <p:spPr>
          <a:xfrm>
            <a:off x="6766560" y="2039112"/>
            <a:ext cx="4782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ALREADY IN PLACE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766560" y="2386584"/>
            <a:ext cx="476402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An operating resort — not a raw land play.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6766560" y="324612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River House &amp; Tavern — newly renovated wedding, event and corporate venue.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766560" y="392049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On-site cottages — existing overnight lodging and a hospitality base.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766560" y="459486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36 holes of championship golf since 1991 — traffic, brand and demand already here.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766560" y="526923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198 acres under permanent conservation — stewardship credibility, and an envelope to plan around.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57200" y="6089904"/>
            <a:ext cx="11274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Sources (own research; subject to change &amp; confirmation):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1" invalidUrl="" action="" tgtFrame="" tooltip="qhgolf.com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qhgolf.com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2" invalidUrl="" action="" tgtFrame="" tooltip="GolfDigest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GolfDigest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3" invalidUrl="" action="" tgtFrame="" tooltip="VisitMaryland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VisitMaryland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4 / 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LAND BANK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upside is the land around the golf.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 resort operates; the value-creation is entitling the non-conservation acreage and selling entitled lots to builders — capital-light, the builder funds the horizontal — additive to the hospitality.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874520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96596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870+ ac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2651760" y="198424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Portfolio land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651760" y="2331720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Across Queenstown + South River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2852928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944368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198 ac</a:t>
            </a:r>
            <a:endParaRPr lang="en-US" sz="2700" dirty="0"/>
          </a:p>
        </p:txBody>
      </p:sp>
      <p:sp>
        <p:nvSpPr>
          <p:cNvPr id="17" name="Text 15"/>
          <p:cNvSpPr/>
          <p:nvPr/>
        </p:nvSpPr>
        <p:spPr>
          <a:xfrm>
            <a:off x="2651760" y="296265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Under conservation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651760" y="331012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Permanent easement at Queenstown — plan around it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3831336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922776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~140 ac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2651760" y="394106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Developable land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651760" y="428853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Net of conservation, wetlands &amp; course (to verify)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57200" y="4809744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4901184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~280</a:t>
            </a:r>
            <a:endParaRPr lang="en-US" sz="2700" dirty="0"/>
          </a:p>
        </p:txBody>
      </p:sp>
      <p:sp>
        <p:nvSpPr>
          <p:cNvPr id="25" name="Text 23"/>
          <p:cNvSpPr/>
          <p:nvPr/>
        </p:nvSpPr>
        <p:spPr>
          <a:xfrm>
            <a:off x="2651760" y="4919472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Entitled lots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2651760" y="526694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Sold to regional homebuilders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400800" y="1874520"/>
            <a:ext cx="5330952" cy="411480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8" name="Shape 26"/>
          <p:cNvSpPr/>
          <p:nvPr/>
        </p:nvSpPr>
        <p:spPr>
          <a:xfrm>
            <a:off x="6400800" y="1874520"/>
            <a:ext cx="109728" cy="411480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9" name="Text 27"/>
          <p:cNvSpPr/>
          <p:nvPr/>
        </p:nvSpPr>
        <p:spPr>
          <a:xfrm>
            <a:off x="6766560" y="2039112"/>
            <a:ext cx="4782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THESIS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766560" y="2386584"/>
            <a:ext cx="476402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Monetize the land the golf doesn't need.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6766560" y="324612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Identify developable parcels at the course edges — away from conservation, wetlands and play.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766560" y="392049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Entitle and sell entitled lots — the builder funds the horizontal (roads, sewer, utilities) and builds.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766560" y="459486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Golf-frontage and water-view lots command premium pricing and faster absorption.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766560" y="526923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Recycle proceeds into the broader Capital H6 program — including South River.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57200" y="6089904"/>
            <a:ext cx="11274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Sources (own research; subject to change &amp; confirmation):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1" invalidUrl="" action="" tgtFrame="" tooltip="Club + Resort Busines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Club + Resort Business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2" invalidUrl="" action="" tgtFrame="" tooltip="qhgolf.com/who-we-are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qhgolf.com/who-we-are</a:t>
            </a:r>
            <a:endParaRPr lang="en-US" sz="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5 / 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PLAYBOOK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Four moves that turn land into cash.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Capital-light: entitle the land (soft costs only), sell entitled lots to builders who fund the horizontal, then recycle into the next parcel — and the next property.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920240"/>
            <a:ext cx="2688336" cy="374904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Shape 10"/>
          <p:cNvSpPr/>
          <p:nvPr/>
        </p:nvSpPr>
        <p:spPr>
          <a:xfrm>
            <a:off x="457200" y="1920240"/>
            <a:ext cx="2688336" cy="9144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2148840"/>
            <a:ext cx="22311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01</a:t>
            </a:r>
            <a:endParaRPr lang="en-US" sz="4400" dirty="0"/>
          </a:p>
        </p:txBody>
      </p:sp>
      <p:sp>
        <p:nvSpPr>
          <p:cNvPr id="14" name="Text 12"/>
          <p:cNvSpPr/>
          <p:nvPr/>
        </p:nvSpPr>
        <p:spPr>
          <a:xfrm>
            <a:off x="685800" y="3063240"/>
            <a:ext cx="2231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Entitle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85800" y="3456432"/>
            <a:ext cx="223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Approvals for lots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85800" y="3822192"/>
            <a:ext cx="2231136" cy="18288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3950208"/>
            <a:ext cx="223113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Secure zoning and subdivision approvals for the developable acreage around the fairways — soft costs only.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310128" y="1920240"/>
            <a:ext cx="2688336" cy="374904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9" name="Shape 17"/>
          <p:cNvSpPr/>
          <p:nvPr/>
        </p:nvSpPr>
        <p:spPr>
          <a:xfrm>
            <a:off x="3310128" y="1920240"/>
            <a:ext cx="2688336" cy="9144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0" name="Text 18"/>
          <p:cNvSpPr/>
          <p:nvPr/>
        </p:nvSpPr>
        <p:spPr>
          <a:xfrm>
            <a:off x="3538728" y="2148840"/>
            <a:ext cx="22311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02</a:t>
            </a:r>
            <a:endParaRPr lang="en-US" sz="4400" dirty="0"/>
          </a:p>
        </p:txBody>
      </p:sp>
      <p:sp>
        <p:nvSpPr>
          <p:cNvPr id="21" name="Text 19"/>
          <p:cNvSpPr/>
          <p:nvPr/>
        </p:nvSpPr>
        <p:spPr>
          <a:xfrm>
            <a:off x="3538728" y="3063240"/>
            <a:ext cx="2231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Sell Entitled Lots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538728" y="3456432"/>
            <a:ext cx="223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Entitled lots → builders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538728" y="3822192"/>
            <a:ext cx="2231136" cy="18288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4" name="Text 22"/>
          <p:cNvSpPr/>
          <p:nvPr/>
        </p:nvSpPr>
        <p:spPr>
          <a:xfrm>
            <a:off x="3538728" y="3950208"/>
            <a:ext cx="223113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Sell entitled (approved) lots to builders — they fund the horizontal (roads, sewer, utilities) and build the homes.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6163056" y="1920240"/>
            <a:ext cx="2688336" cy="374904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6" name="Shape 24"/>
          <p:cNvSpPr/>
          <p:nvPr/>
        </p:nvSpPr>
        <p:spPr>
          <a:xfrm>
            <a:off x="6163056" y="1920240"/>
            <a:ext cx="2688336" cy="9144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7" name="Text 25"/>
          <p:cNvSpPr/>
          <p:nvPr/>
        </p:nvSpPr>
        <p:spPr>
          <a:xfrm>
            <a:off x="6391656" y="2148840"/>
            <a:ext cx="22311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03</a:t>
            </a:r>
            <a:endParaRPr lang="en-US" sz="4400" dirty="0"/>
          </a:p>
        </p:txBody>
      </p:sp>
      <p:sp>
        <p:nvSpPr>
          <p:cNvPr id="28" name="Text 26"/>
          <p:cNvSpPr/>
          <p:nvPr/>
        </p:nvSpPr>
        <p:spPr>
          <a:xfrm>
            <a:off x="6391656" y="3063240"/>
            <a:ext cx="2231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Golf &amp; Water Premium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391656" y="3456432"/>
            <a:ext cx="223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Frontage sells higher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391656" y="3822192"/>
            <a:ext cx="2231136" cy="18288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31" name="Text 29"/>
          <p:cNvSpPr/>
          <p:nvPr/>
        </p:nvSpPr>
        <p:spPr>
          <a:xfrm>
            <a:off x="6391656" y="3950208"/>
            <a:ext cx="223113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Lots on a course or with Chesapeake water views command a premium and absorb faster.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9015984" y="1920240"/>
            <a:ext cx="2688336" cy="374904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3" name="Shape 31"/>
          <p:cNvSpPr/>
          <p:nvPr/>
        </p:nvSpPr>
        <p:spPr>
          <a:xfrm>
            <a:off x="9015984" y="1920240"/>
            <a:ext cx="2688336" cy="9144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34" name="Text 32"/>
          <p:cNvSpPr/>
          <p:nvPr/>
        </p:nvSpPr>
        <p:spPr>
          <a:xfrm>
            <a:off x="9244584" y="2148840"/>
            <a:ext cx="22311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04</a:t>
            </a:r>
            <a:endParaRPr lang="en-US" sz="4400" dirty="0"/>
          </a:p>
        </p:txBody>
      </p:sp>
      <p:sp>
        <p:nvSpPr>
          <p:cNvPr id="35" name="Text 33"/>
          <p:cNvSpPr/>
          <p:nvPr/>
        </p:nvSpPr>
        <p:spPr>
          <a:xfrm>
            <a:off x="9244584" y="3063240"/>
            <a:ext cx="2231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Recycle &amp; Repeat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9244584" y="3456432"/>
            <a:ext cx="223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Parcel — then property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9244584" y="3822192"/>
            <a:ext cx="2231136" cy="18288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38" name="Text 36"/>
          <p:cNvSpPr/>
          <p:nvPr/>
        </p:nvSpPr>
        <p:spPr>
          <a:xfrm>
            <a:off x="9244584" y="3950208"/>
            <a:ext cx="223113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Roll proceeds into the next parcel, and run the same playbook across the Capital H6 pipeline.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457200" y="5943600"/>
            <a:ext cx="11274552" cy="42062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40" name="Text 38"/>
          <p:cNvSpPr/>
          <p:nvPr/>
        </p:nvSpPr>
        <p:spPr>
          <a:xfrm>
            <a:off x="640080" y="5943600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Move 01 is mostly soft costs — the fastest path to proof, and to first cash.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6 / 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MATH  ·  ILLUSTRATIVE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From 700 acres to ~$19.6M of entitled-lot revenue.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Capital-light entitled-lot basis: we entitle the land and sell entitled lots; the builder funds the horizontal. ~280 lots at ~$70K = ~$19.6M revenue. Net profit &amp; the 50/50 split are on the pro forma. Illustrative — survey-dependent.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920240"/>
            <a:ext cx="292608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1920240"/>
            <a:ext cx="292608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Step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383280" y="1920240"/>
            <a:ext cx="310896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4" name="Text 12"/>
          <p:cNvSpPr/>
          <p:nvPr/>
        </p:nvSpPr>
        <p:spPr>
          <a:xfrm>
            <a:off x="3383280" y="1920240"/>
            <a:ext cx="310896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Basis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492240" y="1920240"/>
            <a:ext cx="265176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6" name="Text 14"/>
          <p:cNvSpPr/>
          <p:nvPr/>
        </p:nvSpPr>
        <p:spPr>
          <a:xfrm>
            <a:off x="6492240" y="1920240"/>
            <a:ext cx="265176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Calculation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9144000" y="1920240"/>
            <a:ext cx="2587752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8" name="Text 16"/>
          <p:cNvSpPr/>
          <p:nvPr/>
        </p:nvSpPr>
        <p:spPr>
          <a:xfrm>
            <a:off x="9144000" y="1920240"/>
            <a:ext cx="2587752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= Result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" y="2286000"/>
            <a:ext cx="29260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/>
          <p:nvPr/>
        </p:nvSpPr>
        <p:spPr>
          <a:xfrm>
            <a:off x="457200" y="2286000"/>
            <a:ext cx="29260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Gross Queenstown land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383280" y="2286000"/>
            <a:ext cx="310896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3383280" y="2286000"/>
            <a:ext cx="310896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per ownership (to confirm)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492240" y="2286000"/>
            <a:ext cx="265176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Text 22"/>
          <p:cNvSpPr/>
          <p:nvPr/>
        </p:nvSpPr>
        <p:spPr>
          <a:xfrm>
            <a:off x="6492240" y="2286000"/>
            <a:ext cx="265176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9144000" y="2286000"/>
            <a:ext cx="2587752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9144000" y="2286000"/>
            <a:ext cx="2587752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~700 ac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57200" y="2724912"/>
            <a:ext cx="292608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8" name="Text 26"/>
          <p:cNvSpPr/>
          <p:nvPr/>
        </p:nvSpPr>
        <p:spPr>
          <a:xfrm>
            <a:off x="457200" y="2724912"/>
            <a:ext cx="29260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Less permanent conservation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383280" y="2724912"/>
            <a:ext cx="310896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0" name="Text 28"/>
          <p:cNvSpPr/>
          <p:nvPr/>
        </p:nvSpPr>
        <p:spPr>
          <a:xfrm>
            <a:off x="3383280" y="2724912"/>
            <a:ext cx="310896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recorded easement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6492240" y="2724912"/>
            <a:ext cx="265176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2" name="Text 30"/>
          <p:cNvSpPr/>
          <p:nvPr/>
        </p:nvSpPr>
        <p:spPr>
          <a:xfrm>
            <a:off x="6492240" y="2724912"/>
            <a:ext cx="265176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700 − 198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9144000" y="2724912"/>
            <a:ext cx="2587752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4" name="Text 32"/>
          <p:cNvSpPr/>
          <p:nvPr/>
        </p:nvSpPr>
        <p:spPr>
          <a:xfrm>
            <a:off x="9144000" y="2724912"/>
            <a:ext cx="2587752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502 ac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457200" y="3163824"/>
            <a:ext cx="29260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6" name="Text 34"/>
          <p:cNvSpPr/>
          <p:nvPr/>
        </p:nvSpPr>
        <p:spPr>
          <a:xfrm>
            <a:off x="457200" y="3163824"/>
            <a:ext cx="29260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Less golf, range, water &amp; lodging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383280" y="3163824"/>
            <a:ext cx="310896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8" name="Text 36"/>
          <p:cNvSpPr/>
          <p:nvPr/>
        </p:nvSpPr>
        <p:spPr>
          <a:xfrm>
            <a:off x="3383280" y="3163824"/>
            <a:ext cx="310896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two 18s + 9-ac range + cottages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6492240" y="3163824"/>
            <a:ext cx="265176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0" name="Text 38"/>
          <p:cNvSpPr/>
          <p:nvPr/>
        </p:nvSpPr>
        <p:spPr>
          <a:xfrm>
            <a:off x="6492240" y="3163824"/>
            <a:ext cx="265176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502 − ~300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9144000" y="3163824"/>
            <a:ext cx="2587752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2" name="Text 40"/>
          <p:cNvSpPr/>
          <p:nvPr/>
        </p:nvSpPr>
        <p:spPr>
          <a:xfrm>
            <a:off x="9144000" y="3163824"/>
            <a:ext cx="2587752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~200 ac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457200" y="3602736"/>
            <a:ext cx="292608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4" name="Text 42"/>
          <p:cNvSpPr/>
          <p:nvPr/>
        </p:nvSpPr>
        <p:spPr>
          <a:xfrm>
            <a:off x="457200" y="3602736"/>
            <a:ext cx="29260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Less Critical Area &amp; wetlands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3383280" y="3602736"/>
            <a:ext cx="310896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6" name="Text 44"/>
          <p:cNvSpPr/>
          <p:nvPr/>
        </p:nvSpPr>
        <p:spPr>
          <a:xfrm>
            <a:off x="3383280" y="3602736"/>
            <a:ext cx="310896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Chesapeake 1,000-ft zone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6492240" y="3602736"/>
            <a:ext cx="265176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8" name="Text 46"/>
          <p:cNvSpPr/>
          <p:nvPr/>
        </p:nvSpPr>
        <p:spPr>
          <a:xfrm>
            <a:off x="6492240" y="3602736"/>
            <a:ext cx="265176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200 − ~60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9144000" y="3602736"/>
            <a:ext cx="2587752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50" name="Text 48"/>
          <p:cNvSpPr/>
          <p:nvPr/>
        </p:nvSpPr>
        <p:spPr>
          <a:xfrm>
            <a:off x="9144000" y="3602736"/>
            <a:ext cx="2587752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~140 ac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457200" y="4041648"/>
            <a:ext cx="29260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2" name="Text 50"/>
          <p:cNvSpPr/>
          <p:nvPr/>
        </p:nvSpPr>
        <p:spPr>
          <a:xfrm>
            <a:off x="457200" y="4041648"/>
            <a:ext cx="29260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Entitled lots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3383280" y="4041648"/>
            <a:ext cx="310896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4" name="Text 52"/>
          <p:cNvSpPr/>
          <p:nvPr/>
        </p:nvSpPr>
        <p:spPr>
          <a:xfrm>
            <a:off x="3383280" y="4041648"/>
            <a:ext cx="310896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~2.0 lots / acre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6492240" y="4041648"/>
            <a:ext cx="265176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6" name="Text 54"/>
          <p:cNvSpPr/>
          <p:nvPr/>
        </p:nvSpPr>
        <p:spPr>
          <a:xfrm>
            <a:off x="6492240" y="4041648"/>
            <a:ext cx="265176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140 × 2.0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9144000" y="4041648"/>
            <a:ext cx="2587752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8" name="Text 56"/>
          <p:cNvSpPr/>
          <p:nvPr/>
        </p:nvSpPr>
        <p:spPr>
          <a:xfrm>
            <a:off x="9144000" y="4041648"/>
            <a:ext cx="2587752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~280 lots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>
            <a:off x="457200" y="4480560"/>
            <a:ext cx="292608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60" name="Text 58"/>
          <p:cNvSpPr/>
          <p:nvPr/>
        </p:nvSpPr>
        <p:spPr>
          <a:xfrm>
            <a:off x="457200" y="4480560"/>
            <a:ext cx="29260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Entitled lot price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3383280" y="4480560"/>
            <a:ext cx="310896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62" name="Text 60"/>
          <p:cNvSpPr/>
          <p:nvPr/>
        </p:nvSpPr>
        <p:spPr>
          <a:xfrm>
            <a:off x="3383280" y="4480560"/>
            <a:ext cx="310896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to a builder (they finish)</a:t>
            </a:r>
            <a:endParaRPr lang="en-US" sz="950" dirty="0"/>
          </a:p>
        </p:txBody>
      </p:sp>
      <p:sp>
        <p:nvSpPr>
          <p:cNvPr id="63" name="Shape 61"/>
          <p:cNvSpPr/>
          <p:nvPr/>
        </p:nvSpPr>
        <p:spPr>
          <a:xfrm>
            <a:off x="6492240" y="4480560"/>
            <a:ext cx="265176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64" name="Text 62"/>
          <p:cNvSpPr/>
          <p:nvPr/>
        </p:nvSpPr>
        <p:spPr>
          <a:xfrm>
            <a:off x="6492240" y="4480560"/>
            <a:ext cx="265176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≈ $150K − ~$80K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9144000" y="4480560"/>
            <a:ext cx="2587752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66" name="Text 64"/>
          <p:cNvSpPr/>
          <p:nvPr/>
        </p:nvSpPr>
        <p:spPr>
          <a:xfrm>
            <a:off x="9144000" y="4480560"/>
            <a:ext cx="2587752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$70K</a:t>
            </a:r>
            <a:endParaRPr lang="en-US" sz="1100" dirty="0"/>
          </a:p>
        </p:txBody>
      </p:sp>
      <p:sp>
        <p:nvSpPr>
          <p:cNvPr id="67" name="Shape 65"/>
          <p:cNvSpPr/>
          <p:nvPr/>
        </p:nvSpPr>
        <p:spPr>
          <a:xfrm>
            <a:off x="457200" y="4919472"/>
            <a:ext cx="29260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8" name="Text 66"/>
          <p:cNvSpPr/>
          <p:nvPr/>
        </p:nvSpPr>
        <p:spPr>
          <a:xfrm>
            <a:off x="457200" y="4919472"/>
            <a:ext cx="29260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GROSS ENTITLED-LOT REVENUE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3383280" y="4919472"/>
            <a:ext cx="310896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0" name="Text 68"/>
          <p:cNvSpPr/>
          <p:nvPr/>
        </p:nvSpPr>
        <p:spPr>
          <a:xfrm>
            <a:off x="3383280" y="4919472"/>
            <a:ext cx="310896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net profit &amp; 50/50 split on the pro forma</a:t>
            </a:r>
            <a:endParaRPr lang="en-US" sz="950" dirty="0"/>
          </a:p>
        </p:txBody>
      </p:sp>
      <p:sp>
        <p:nvSpPr>
          <p:cNvPr id="71" name="Shape 69"/>
          <p:cNvSpPr/>
          <p:nvPr/>
        </p:nvSpPr>
        <p:spPr>
          <a:xfrm>
            <a:off x="6492240" y="4919472"/>
            <a:ext cx="265176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2" name="Text 70"/>
          <p:cNvSpPr/>
          <p:nvPr/>
        </p:nvSpPr>
        <p:spPr>
          <a:xfrm>
            <a:off x="6492240" y="4919472"/>
            <a:ext cx="265176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280 × $70K</a:t>
            </a:r>
            <a:endParaRPr lang="en-US" sz="900" dirty="0"/>
          </a:p>
        </p:txBody>
      </p:sp>
      <p:sp>
        <p:nvSpPr>
          <p:cNvPr id="73" name="Shape 71"/>
          <p:cNvSpPr/>
          <p:nvPr/>
        </p:nvSpPr>
        <p:spPr>
          <a:xfrm>
            <a:off x="9144000" y="4919472"/>
            <a:ext cx="2587752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4" name="Text 72"/>
          <p:cNvSpPr/>
          <p:nvPr/>
        </p:nvSpPr>
        <p:spPr>
          <a:xfrm>
            <a:off x="9144000" y="4919472"/>
            <a:ext cx="2587752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$19.6M</a:t>
            </a:r>
            <a:endParaRPr lang="en-US" sz="1100" dirty="0"/>
          </a:p>
        </p:txBody>
      </p:sp>
      <p:sp>
        <p:nvSpPr>
          <p:cNvPr id="75" name="Shape 73"/>
          <p:cNvSpPr/>
          <p:nvPr/>
        </p:nvSpPr>
        <p:spPr>
          <a:xfrm>
            <a:off x="457200" y="5486400"/>
            <a:ext cx="11274552" cy="41148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76" name="Text 74"/>
          <p:cNvSpPr/>
          <p:nvPr/>
        </p:nvSpPr>
        <p:spPr>
          <a:xfrm>
            <a:off x="640080" y="5486400"/>
            <a:ext cx="10908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~$19.6M entitled-lot revenue on ~$5.3M of soft cost → ~$14.3M profit — the builder funds the horizontal. Split &amp; returns on the pro forma.</a:t>
            </a:r>
            <a:endParaRPr lang="en-US" sz="1100" dirty="0"/>
          </a:p>
        </p:txBody>
      </p:sp>
      <p:sp>
        <p:nvSpPr>
          <p:cNvPr id="77" name="Text 75"/>
          <p:cNvSpPr/>
          <p:nvPr/>
        </p:nvSpPr>
        <p:spPr>
          <a:xfrm>
            <a:off x="457200" y="6053328"/>
            <a:ext cx="11274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Sources (own research; subject to change &amp; confirmation):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1" invalidUrl="" action="" tgtFrame="" tooltip="qhgolf.com/who-we-are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qhgolf.com/who-we-are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2" invalidUrl="" action="" tgtFrame="" tooltip="Queen Anne's Co. — Critical Area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Queen Anne's Co. — Critical Area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3" invalidUrl="" action="" tgtFrame="" tooltip="MD DNR — Critical Area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MD DNR — Critical Area</a:t>
            </a:r>
            <a:endParaRPr lang="en-US" sz="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7 / 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WHY IT SELLS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These lots sell — here's why.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Course and water frontage, Bay Bridge proximity, and builder appetite for entitled lots all push price and absorption. We're meeting demand that already exists.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965960"/>
            <a:ext cx="274320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1965960"/>
            <a:ext cx="274320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Driver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200400" y="1965960"/>
            <a:ext cx="438912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4" name="Text 12"/>
          <p:cNvSpPr/>
          <p:nvPr/>
        </p:nvSpPr>
        <p:spPr>
          <a:xfrm>
            <a:off x="3200400" y="1965960"/>
            <a:ext cx="438912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Detail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7589520" y="1965960"/>
            <a:ext cx="4142232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6" name="Text 14"/>
          <p:cNvSpPr/>
          <p:nvPr/>
        </p:nvSpPr>
        <p:spPr>
          <a:xfrm>
            <a:off x="7589520" y="1965960"/>
            <a:ext cx="4142232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Why it lifts value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7200" y="2331720"/>
            <a:ext cx="274320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2331720"/>
            <a:ext cx="274320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Golf &amp; water frontage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3200400" y="2331720"/>
            <a:ext cx="438912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/>
          <p:nvPr/>
        </p:nvSpPr>
        <p:spPr>
          <a:xfrm>
            <a:off x="3200400" y="2331720"/>
            <a:ext cx="438912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Lots on the River / Lakes courses &amp; Chester River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7589520" y="2331720"/>
            <a:ext cx="4142232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7589520" y="2331720"/>
            <a:ext cx="4142232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Premium pricing and faster absorption vs. a raw subdivision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57200" y="2898648"/>
            <a:ext cx="2743200" cy="56692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2898648"/>
            <a:ext cx="274320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Bay Bridge location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3200400" y="2898648"/>
            <a:ext cx="4389120" cy="56692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6" name="Text 24"/>
          <p:cNvSpPr/>
          <p:nvPr/>
        </p:nvSpPr>
        <p:spPr>
          <a:xfrm>
            <a:off x="3200400" y="2898648"/>
            <a:ext cx="438912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Minutes to Annapolis; ~1 hr to D.C. &amp; Baltimore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7589520" y="2898648"/>
            <a:ext cx="4142232" cy="56692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8" name="Text 26"/>
          <p:cNvSpPr/>
          <p:nvPr/>
        </p:nvSpPr>
        <p:spPr>
          <a:xfrm>
            <a:off x="7589520" y="2898648"/>
            <a:ext cx="4142232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Commuter, second-home and weekend demand from three metros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57200" y="3465576"/>
            <a:ext cx="274320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3465576"/>
            <a:ext cx="274320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Chesapeake scarcity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3200400" y="3465576"/>
            <a:ext cx="438912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2" name="Text 30"/>
          <p:cNvSpPr/>
          <p:nvPr/>
        </p:nvSpPr>
        <p:spPr>
          <a:xfrm>
            <a:off x="3200400" y="3465576"/>
            <a:ext cx="438912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Limited new waterfront-adjacent lots on the Shore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7589520" y="3465576"/>
            <a:ext cx="4142232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4" name="Text 32"/>
          <p:cNvSpPr/>
          <p:nvPr/>
        </p:nvSpPr>
        <p:spPr>
          <a:xfrm>
            <a:off x="7589520" y="3465576"/>
            <a:ext cx="4142232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High barriers → durable, premium lot values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457200" y="4032504"/>
            <a:ext cx="2743200" cy="56692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6" name="Text 34"/>
          <p:cNvSpPr/>
          <p:nvPr/>
        </p:nvSpPr>
        <p:spPr>
          <a:xfrm>
            <a:off x="457200" y="4032504"/>
            <a:ext cx="274320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Builder appetite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3200400" y="4032504"/>
            <a:ext cx="4389120" cy="56692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8" name="Text 36"/>
          <p:cNvSpPr/>
          <p:nvPr/>
        </p:nvSpPr>
        <p:spPr>
          <a:xfrm>
            <a:off x="3200400" y="4032504"/>
            <a:ext cx="438912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Regional homebuilders want entitled / finished lots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7589520" y="4032504"/>
            <a:ext cx="4142232" cy="56692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0" name="Text 38"/>
          <p:cNvSpPr/>
          <p:nvPr/>
        </p:nvSpPr>
        <p:spPr>
          <a:xfrm>
            <a:off x="7589520" y="4032504"/>
            <a:ext cx="4142232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They pay to avoid entitlement risk — and fund the infrastructure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457200" y="4599432"/>
            <a:ext cx="274320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2" name="Text 40"/>
          <p:cNvSpPr/>
          <p:nvPr/>
        </p:nvSpPr>
        <p:spPr>
          <a:xfrm>
            <a:off x="457200" y="4599432"/>
            <a:ext cx="274320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Fresh owned basis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3200400" y="4599432"/>
            <a:ext cx="438912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4" name="Text 42"/>
          <p:cNvSpPr/>
          <p:nvPr/>
        </p:nvSpPr>
        <p:spPr>
          <a:xfrm>
            <a:off x="3200400" y="4599432"/>
            <a:ext cx="438912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$25M for 870+ ac just closed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7589520" y="4599432"/>
            <a:ext cx="4142232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6" name="Text 44"/>
          <p:cNvSpPr/>
          <p:nvPr/>
        </p:nvSpPr>
        <p:spPr>
          <a:xfrm>
            <a:off x="7589520" y="4599432"/>
            <a:ext cx="4142232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Low land basis → development margin starts higher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457200" y="5943600"/>
            <a:ext cx="11274552" cy="42062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48" name="Text 46"/>
          <p:cNvSpPr/>
          <p:nvPr/>
        </p:nvSpPr>
        <p:spPr>
          <a:xfrm>
            <a:off x="640080" y="5943600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Demand is already here — we're entitling supply to meet it, not creating a market.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457200" y="5321808"/>
            <a:ext cx="11274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Sources (own research; subject to change &amp; confirmation):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1" invalidUrl="" action="" tgtFrame="" tooltip="distance-cities.com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distance-cities.com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2" invalidUrl="" action="" tgtFrame="" tooltip="Queen Anne's Co. — Critical Area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Queen Anne's Co. — Critical Area</a:t>
            </a:r>
            <a:endParaRPr lang="en-US" sz="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8 / 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SISTER ASSET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South River — the Annapolis-side anchor.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Acquired in the same $25M Capital H6 deal: an established 18-hole private club near Annapolis with 600+ member families — a membership and events engine, and the next place to run the playbook.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874520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96596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18 holes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2651760" y="198424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Private club (Brian Ault, 1996)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651760" y="2331720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Edgewater, MD — on the South River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2852928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944368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600+</a:t>
            </a:r>
            <a:endParaRPr lang="en-US" sz="2700" dirty="0"/>
          </a:p>
        </p:txBody>
      </p:sp>
      <p:sp>
        <p:nvSpPr>
          <p:cNvPr id="17" name="Text 15"/>
          <p:cNvSpPr/>
          <p:nvPr/>
        </p:nvSpPr>
        <p:spPr>
          <a:xfrm>
            <a:off x="2651760" y="296265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Member families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651760" y="331012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Recurring dues + a built-in events base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3831336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922776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165 ac</a:t>
            </a:r>
            <a:endParaRPr lang="en-US" sz="2700" dirty="0"/>
          </a:p>
        </p:txBody>
      </p:sp>
      <p:sp>
        <p:nvSpPr>
          <p:cNvPr id="21" name="Text 19"/>
          <p:cNvSpPr/>
          <p:nvPr/>
        </p:nvSpPr>
        <p:spPr>
          <a:xfrm>
            <a:off x="2651760" y="394106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Club grounds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651760" y="428853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8 lakes · 14 environmentally protected areas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57200" y="4809744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4901184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Same deal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2651760" y="4919472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Part of the $25M H6 buy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2651760" y="526694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One platform, two assets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400800" y="1874520"/>
            <a:ext cx="5330952" cy="411480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8" name="Shape 26"/>
          <p:cNvSpPr/>
          <p:nvPr/>
        </p:nvSpPr>
        <p:spPr>
          <a:xfrm>
            <a:off x="6400800" y="1874520"/>
            <a:ext cx="109728" cy="411480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9" name="Text 27"/>
          <p:cNvSpPr/>
          <p:nvPr/>
        </p:nvSpPr>
        <p:spPr>
          <a:xfrm>
            <a:off x="6766560" y="2039112"/>
            <a:ext cx="4782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ANGLE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766560" y="2386584"/>
            <a:ext cx="476402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Membership and events first; land where diligence supports it.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6766560" y="324612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600+ member families — recurring dues, plus an events / dining base to grow.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766560" y="392049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Annapolis-side, west of the Bay — an affluent, supply-constrained catchment.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766560" y="459486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 Bistro, fitness, simulator lounge &amp; range already drive non-golf revenue.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766560" y="526923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Assess limited parcel entitlement without disturbing the member experience.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57200" y="6089904"/>
            <a:ext cx="11274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Sources (own research; subject to change &amp; confirmation):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1" invalidUrl="" action="" tgtFrame="" tooltip="golfclubsr.com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golfclubsr.com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2" invalidUrl="" action="" tgtFrame="" tooltip="foretee.com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foretee.com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3" invalidUrl="" action="" tgtFrame="" tooltip="Club + Resort Busines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Club + Resort Business</a:t>
            </a:r>
            <a:endParaRPr lang="en-US" sz="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9 / 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FIRST DEAL  ·  RENAULT WINERY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Renault — the first deal, and the site visit.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Renault Winery (Egg Harbor City, NJ — ~25 min from Atlantic City) is the lead property and where we'll meet. The township has offered land for ~34 lots overlooking the course, a +100–200-room hotel expansion is planned, and the architect is already mapping lots.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874520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96596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~34 lots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2651760" y="198424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Township-offered land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651760" y="2331720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Overlooking the golf course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2852928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944368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+100–200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2651760" y="296265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Hotel rooms planned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651760" y="331012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Expansion off the back of the resort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3831336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922776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~25 min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2651760" y="394106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From Atlantic City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651760" y="428853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Where I'll meet Bob &amp; Josh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57200" y="4809744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4901184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 motion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2651760" y="4919472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Architect mapping lots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2651760" y="526694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Underway since the last meeting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400800" y="1874520"/>
            <a:ext cx="5330952" cy="411480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8" name="Shape 26"/>
          <p:cNvSpPr/>
          <p:nvPr/>
        </p:nvSpPr>
        <p:spPr>
          <a:xfrm>
            <a:off x="6400800" y="1874520"/>
            <a:ext cx="109728" cy="411480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9" name="Text 27"/>
          <p:cNvSpPr/>
          <p:nvPr/>
        </p:nvSpPr>
        <p:spPr>
          <a:xfrm>
            <a:off x="6766560" y="2039112"/>
            <a:ext cx="4782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WHY RENAULT FIRST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766560" y="2386584"/>
            <a:ext cx="476402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Josh's original property — the proof case for the playbook.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6766560" y="324612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 township has offered additional land for ~34 lots; the architect is already boxing them out.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766560" y="392049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 required hotel expansion (+100–200 rooms) layers hospitality on top of the lot sales.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766560" y="459486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 winery already runs a lake &amp; campground profitably — operating upside beyond golf.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766560" y="526923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Closest asset to walk — ~25 minutes from Atlantic City airport; the natural place to start.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10 / 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PIPELINE  ·  NOT A ONE-OFF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One playbook, a portfolio of properties.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This isn't a single deal. Family-owned golf courses keep coming to Josh — bought at or below appraisal, each with monetizable land. The same capital-light playbook runs across the portfolio; Bob is negotiating the development rights.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920240"/>
            <a:ext cx="310896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1920240"/>
            <a:ext cx="310896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Property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566160" y="1920240"/>
            <a:ext cx="237744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4" name="Text 12"/>
          <p:cNvSpPr/>
          <p:nvPr/>
        </p:nvSpPr>
        <p:spPr>
          <a:xfrm>
            <a:off x="3566160" y="1920240"/>
            <a:ext cx="237744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Status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943600" y="1920240"/>
            <a:ext cx="5788152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0" y="1920240"/>
            <a:ext cx="5788152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land opportunity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7200" y="2286000"/>
            <a:ext cx="310896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2286000"/>
            <a:ext cx="310896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Renault Winery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566160" y="2286000"/>
            <a:ext cx="237744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/>
          <p:nvPr/>
        </p:nvSpPr>
        <p:spPr>
          <a:xfrm>
            <a:off x="3566160" y="2286000"/>
            <a:ext cx="237744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NJ · first deal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943600" y="2286000"/>
            <a:ext cx="5788152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5943600" y="2286000"/>
            <a:ext cx="5788152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~34 township-offered lots + a +100–200-room hotel expansion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57200" y="2788920"/>
            <a:ext cx="3108960" cy="50292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2788920"/>
            <a:ext cx="310896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566160" y="2788920"/>
            <a:ext cx="2377440" cy="50292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6" name="Text 24"/>
          <p:cNvSpPr/>
          <p:nvPr/>
        </p:nvSpPr>
        <p:spPr>
          <a:xfrm>
            <a:off x="3566160" y="2788920"/>
            <a:ext cx="237744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MD · this proposal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943600" y="2788920"/>
            <a:ext cx="5788152" cy="50292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8" name="Text 26"/>
          <p:cNvSpPr/>
          <p:nvPr/>
        </p:nvSpPr>
        <p:spPr>
          <a:xfrm>
            <a:off x="5943600" y="2788920"/>
            <a:ext cx="5788152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~280 entitled lots around the 36 holes (~1,000 ac, ~zero basis)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57200" y="3291840"/>
            <a:ext cx="310896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3291840"/>
            <a:ext cx="310896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Golf Club at South River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566160" y="3291840"/>
            <a:ext cx="237744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2" name="Text 30"/>
          <p:cNvSpPr/>
          <p:nvPr/>
        </p:nvSpPr>
        <p:spPr>
          <a:xfrm>
            <a:off x="3566160" y="3291840"/>
            <a:ext cx="237744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MD · operating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943600" y="3291840"/>
            <a:ext cx="5788152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4" name="Text 32"/>
          <p:cNvSpPr/>
          <p:nvPr/>
        </p:nvSpPr>
        <p:spPr>
          <a:xfrm>
            <a:off x="5943600" y="3291840"/>
            <a:ext cx="5788152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Profitable club — appraised ~2× the purchase price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57200" y="3794760"/>
            <a:ext cx="3108960" cy="50292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6" name="Text 34"/>
          <p:cNvSpPr/>
          <p:nvPr/>
        </p:nvSpPr>
        <p:spPr>
          <a:xfrm>
            <a:off x="457200" y="3794760"/>
            <a:ext cx="310896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Kent Island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566160" y="3794760"/>
            <a:ext cx="2377440" cy="50292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8" name="Text 36"/>
          <p:cNvSpPr/>
          <p:nvPr/>
        </p:nvSpPr>
        <p:spPr>
          <a:xfrm>
            <a:off x="3566160" y="3794760"/>
            <a:ext cx="237744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MD · venue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943600" y="3794760"/>
            <a:ext cx="5788152" cy="50292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0" name="Text 38"/>
          <p:cNvSpPr/>
          <p:nvPr/>
        </p:nvSpPr>
        <p:spPr>
          <a:xfrm>
            <a:off x="5943600" y="3794760"/>
            <a:ext cx="5788152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Clubhouse / event venue — Palantir rented it for a week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457200" y="4297680"/>
            <a:ext cx="310896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2" name="Text 40"/>
          <p:cNvSpPr/>
          <p:nvPr/>
        </p:nvSpPr>
        <p:spPr>
          <a:xfrm>
            <a:off x="457200" y="4297680"/>
            <a:ext cx="310896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Colorado course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3566160" y="4297680"/>
            <a:ext cx="237744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4" name="Text 42"/>
          <p:cNvSpPr/>
          <p:nvPr/>
        </p:nvSpPr>
        <p:spPr>
          <a:xfrm>
            <a:off x="3566160" y="4297680"/>
            <a:ext cx="237744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Off-market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943600" y="4297680"/>
            <a:ext cx="5788152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6" name="Text 44"/>
          <p:cNvSpPr/>
          <p:nvPr/>
        </p:nvSpPr>
        <p:spPr>
          <a:xfrm>
            <a:off x="5943600" y="4297680"/>
            <a:ext cx="5788152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Not yet on the website; equity needed to acquire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57200" y="4800600"/>
            <a:ext cx="3108960" cy="50292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800600"/>
            <a:ext cx="310896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Virginia (1–2 courses)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3566160" y="4800600"/>
            <a:ext cx="2377440" cy="50292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50" name="Text 48"/>
          <p:cNvSpPr/>
          <p:nvPr/>
        </p:nvSpPr>
        <p:spPr>
          <a:xfrm>
            <a:off x="3566160" y="4800600"/>
            <a:ext cx="237744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Offered to Josh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5943600" y="4800600"/>
            <a:ext cx="5788152" cy="50292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52" name="Text 50"/>
          <p:cNvSpPr/>
          <p:nvPr/>
        </p:nvSpPr>
        <p:spPr>
          <a:xfrm>
            <a:off x="5943600" y="4800600"/>
            <a:ext cx="5788152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Family-owned courses seeking a well-regarded operator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57200" y="5806440"/>
            <a:ext cx="11274552" cy="42062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54" name="Text 52"/>
          <p:cNvSpPr/>
          <p:nvPr/>
        </p:nvSpPr>
        <p:spPr>
          <a:xfrm>
            <a:off x="640080" y="5806440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 steady train of undervalued courses → monetizable land. Same capital-light playbook each time — and the buys are extraordinary (South River at half appraisal; tax-structured for ~50% bonus depreciation).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11 / 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DEVELOPMENT PLAN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Entitle the land. Sell entitled lots.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Capital-light: we fund only the soft costs to entitle the land, then sell entitled lots to builders who fund the horizontal. ~$5M of cost, not ~$25M — and the builder carries the construction risk.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874520"/>
            <a:ext cx="553212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96596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~$5M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2651760" y="1984248"/>
            <a:ext cx="3154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Total cost (soft only)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651760" y="2331720"/>
            <a:ext cx="3154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Entitlement, civil, environmental, legal, PM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2852928"/>
            <a:ext cx="553212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944368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$0</a:t>
            </a:r>
            <a:endParaRPr lang="en-US" sz="2700" dirty="0"/>
          </a:p>
        </p:txBody>
      </p:sp>
      <p:sp>
        <p:nvSpPr>
          <p:cNvPr id="17" name="Text 15"/>
          <p:cNvSpPr/>
          <p:nvPr/>
        </p:nvSpPr>
        <p:spPr>
          <a:xfrm>
            <a:off x="2651760" y="2962656"/>
            <a:ext cx="3154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Horizontal we fund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651760" y="3310128"/>
            <a:ext cx="3154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 builder funds roads, sewer &amp; utilities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400800" y="1874520"/>
            <a:ext cx="5330952" cy="1847088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0" name="Shape 18"/>
          <p:cNvSpPr/>
          <p:nvPr/>
        </p:nvSpPr>
        <p:spPr>
          <a:xfrm>
            <a:off x="6400800" y="1874520"/>
            <a:ext cx="109728" cy="1847088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1" name="Text 19"/>
          <p:cNvSpPr/>
          <p:nvPr/>
        </p:nvSpPr>
        <p:spPr>
          <a:xfrm>
            <a:off x="6766560" y="201168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PRINCIPLE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766560" y="228600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Stay light; let the builder build.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766560" y="2706624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We fund only the entitlement and sell entitled lots — the builder funds the horizontal and the homes. Far less capital and no construction risk, on land carried at ~zero basis.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57200" y="3931920"/>
            <a:ext cx="274320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5" name="Text 23"/>
          <p:cNvSpPr/>
          <p:nvPr/>
        </p:nvSpPr>
        <p:spPr>
          <a:xfrm>
            <a:off x="457200" y="3931920"/>
            <a:ext cx="274320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Phase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200400" y="3931920"/>
            <a:ext cx="301752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7" name="Text 25"/>
          <p:cNvSpPr/>
          <p:nvPr/>
        </p:nvSpPr>
        <p:spPr>
          <a:xfrm>
            <a:off x="3200400" y="3931920"/>
            <a:ext cx="301752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Approach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217920" y="3931920"/>
            <a:ext cx="201168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9" name="Text 27"/>
          <p:cNvSpPr/>
          <p:nvPr/>
        </p:nvSpPr>
        <p:spPr>
          <a:xfrm>
            <a:off x="6217920" y="3931920"/>
            <a:ext cx="201168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Capital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8229600" y="3931920"/>
            <a:ext cx="3502152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1" name="Text 29"/>
          <p:cNvSpPr/>
          <p:nvPr/>
        </p:nvSpPr>
        <p:spPr>
          <a:xfrm>
            <a:off x="8229600" y="3931920"/>
            <a:ext cx="3502152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Who funds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57200" y="4297680"/>
            <a:ext cx="274320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3" name="Text 31"/>
          <p:cNvSpPr/>
          <p:nvPr/>
        </p:nvSpPr>
        <p:spPr>
          <a:xfrm>
            <a:off x="457200" y="4297680"/>
            <a:ext cx="2743200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Phase 1 — Entitle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3200400" y="4297680"/>
            <a:ext cx="301752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5" name="Text 33"/>
          <p:cNvSpPr/>
          <p:nvPr/>
        </p:nvSpPr>
        <p:spPr>
          <a:xfrm>
            <a:off x="3200400" y="4297680"/>
            <a:ext cx="3017520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Approvals for lots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6217920" y="4297680"/>
            <a:ext cx="201168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7" name="Text 35"/>
          <p:cNvSpPr/>
          <p:nvPr/>
        </p:nvSpPr>
        <p:spPr>
          <a:xfrm>
            <a:off x="6217920" y="4297680"/>
            <a:ext cx="2011680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~$4M soft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8229600" y="4297680"/>
            <a:ext cx="3502152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9" name="Text 37"/>
          <p:cNvSpPr/>
          <p:nvPr/>
        </p:nvSpPr>
        <p:spPr>
          <a:xfrm>
            <a:off x="8229600" y="4297680"/>
            <a:ext cx="3502152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We fund (soft costs only)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57200" y="4754880"/>
            <a:ext cx="2743200" cy="45720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1" name="Text 39"/>
          <p:cNvSpPr/>
          <p:nvPr/>
        </p:nvSpPr>
        <p:spPr>
          <a:xfrm>
            <a:off x="457200" y="4754880"/>
            <a:ext cx="2743200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Phase 2 — Sell lots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3200400" y="4754880"/>
            <a:ext cx="3017520" cy="45720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3" name="Text 41"/>
          <p:cNvSpPr/>
          <p:nvPr/>
        </p:nvSpPr>
        <p:spPr>
          <a:xfrm>
            <a:off x="3200400" y="4754880"/>
            <a:ext cx="3017520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Entitled lots → builders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6217920" y="4754880"/>
            <a:ext cx="2011680" cy="45720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5" name="Text 43"/>
          <p:cNvSpPr/>
          <p:nvPr/>
        </p:nvSpPr>
        <p:spPr>
          <a:xfrm>
            <a:off x="6217920" y="4754880"/>
            <a:ext cx="2011680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Builder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8229600" y="4754880"/>
            <a:ext cx="3502152" cy="45720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7" name="Text 45"/>
          <p:cNvSpPr/>
          <p:nvPr/>
        </p:nvSpPr>
        <p:spPr>
          <a:xfrm>
            <a:off x="8229600" y="4754880"/>
            <a:ext cx="3502152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Builder funds the horizontal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57200" y="5212080"/>
            <a:ext cx="274320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9" name="Text 47"/>
          <p:cNvSpPr/>
          <p:nvPr/>
        </p:nvSpPr>
        <p:spPr>
          <a:xfrm>
            <a:off x="457200" y="5212080"/>
            <a:ext cx="2743200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Phase 3 — Recycle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3200400" y="5212080"/>
            <a:ext cx="301752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1" name="Text 49"/>
          <p:cNvSpPr/>
          <p:nvPr/>
        </p:nvSpPr>
        <p:spPr>
          <a:xfrm>
            <a:off x="3200400" y="5212080"/>
            <a:ext cx="3017520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Costs repaid, then 50/50</a:t>
            </a:r>
            <a:endParaRPr lang="en-US" sz="950" dirty="0"/>
          </a:p>
        </p:txBody>
      </p:sp>
      <p:sp>
        <p:nvSpPr>
          <p:cNvPr id="52" name="Shape 50"/>
          <p:cNvSpPr/>
          <p:nvPr/>
        </p:nvSpPr>
        <p:spPr>
          <a:xfrm>
            <a:off x="6217920" y="5212080"/>
            <a:ext cx="201168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3" name="Text 51"/>
          <p:cNvSpPr/>
          <p:nvPr/>
        </p:nvSpPr>
        <p:spPr>
          <a:xfrm>
            <a:off x="6217920" y="5212080"/>
            <a:ext cx="2011680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Self-funding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8229600" y="5212080"/>
            <a:ext cx="3502152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5" name="Text 53"/>
          <p:cNvSpPr/>
          <p:nvPr/>
        </p:nvSpPr>
        <p:spPr>
          <a:xfrm>
            <a:off x="8229600" y="5212080"/>
            <a:ext cx="3502152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Proceeds → investors + next parcel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57200" y="5943600"/>
            <a:ext cx="11274552" cy="42062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57" name="Text 55"/>
          <p:cNvSpPr/>
          <p:nvPr/>
        </p:nvSpPr>
        <p:spPr>
          <a:xfrm>
            <a:off x="640080" y="5943600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We stay capital-light — fund the entitlement, sell entitled lots, let the builder build. Costs repaid, then a simple 50/50.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12 / 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 FORMA  ·  ILLUSTRATIVE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budget, and the 50/50.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Capital-light entitled-lot pro forma: we fund ~$5.3M of soft costs to entitle the land and sell ~280 entitled lots at ~$70K (~$19.6M). The builder funds the horizontal. Costs repaid, then a straight 50/50. Illustrative.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828800"/>
            <a:ext cx="361188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1828800"/>
            <a:ext cx="361188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USES OF CAPITAL  ·  SOFT ONLY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069080" y="1828800"/>
            <a:ext cx="141732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4" name="Text 12"/>
          <p:cNvSpPr/>
          <p:nvPr/>
        </p:nvSpPr>
        <p:spPr>
          <a:xfrm>
            <a:off x="4069080" y="1828800"/>
            <a:ext cx="141732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57200" y="2194560"/>
            <a:ext cx="36118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2194560"/>
            <a:ext cx="36118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Soft costs — entitle the land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069080" y="2194560"/>
            <a:ext cx="141732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8" name="Text 16"/>
          <p:cNvSpPr/>
          <p:nvPr/>
        </p:nvSpPr>
        <p:spPr>
          <a:xfrm>
            <a:off x="4069080" y="2194560"/>
            <a:ext cx="141732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$4.0M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57200" y="2633472"/>
            <a:ext cx="361188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0" name="Text 18"/>
          <p:cNvSpPr/>
          <p:nvPr/>
        </p:nvSpPr>
        <p:spPr>
          <a:xfrm>
            <a:off x="457200" y="2633472"/>
            <a:ext cx="36118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Marketing &amp; brokerage (~3%)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069080" y="2633472"/>
            <a:ext cx="141732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2" name="Text 20"/>
          <p:cNvSpPr/>
          <p:nvPr/>
        </p:nvSpPr>
        <p:spPr>
          <a:xfrm>
            <a:off x="4069080" y="2633472"/>
            <a:ext cx="141732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$0.6M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57200" y="3072384"/>
            <a:ext cx="36118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3072384"/>
            <a:ext cx="36118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Contingency (10% of soft)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069080" y="3072384"/>
            <a:ext cx="141732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4069080" y="3072384"/>
            <a:ext cx="141732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$0.4M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57200" y="3511296"/>
            <a:ext cx="361188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8" name="Text 26"/>
          <p:cNvSpPr/>
          <p:nvPr/>
        </p:nvSpPr>
        <p:spPr>
          <a:xfrm>
            <a:off x="457200" y="3511296"/>
            <a:ext cx="36118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Financing / carry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069080" y="3511296"/>
            <a:ext cx="141732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0" name="Text 28"/>
          <p:cNvSpPr/>
          <p:nvPr/>
        </p:nvSpPr>
        <p:spPr>
          <a:xfrm>
            <a:off x="4069080" y="3511296"/>
            <a:ext cx="141732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$0.3M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457200" y="3950208"/>
            <a:ext cx="36118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2" name="Text 30"/>
          <p:cNvSpPr/>
          <p:nvPr/>
        </p:nvSpPr>
        <p:spPr>
          <a:xfrm>
            <a:off x="457200" y="3950208"/>
            <a:ext cx="36118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TOTAL DEVELOPMENT COST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4069080" y="3950208"/>
            <a:ext cx="141732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4" name="Text 32"/>
          <p:cNvSpPr/>
          <p:nvPr/>
        </p:nvSpPr>
        <p:spPr>
          <a:xfrm>
            <a:off x="4069080" y="3950208"/>
            <a:ext cx="141732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$5.3M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457200" y="4526280"/>
            <a:ext cx="5029200" cy="132588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6" name="Shape 34"/>
          <p:cNvSpPr/>
          <p:nvPr/>
        </p:nvSpPr>
        <p:spPr>
          <a:xfrm>
            <a:off x="457200" y="4526280"/>
            <a:ext cx="91440" cy="132588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37" name="Text 35"/>
          <p:cNvSpPr/>
          <p:nvPr/>
        </p:nvSpPr>
        <p:spPr>
          <a:xfrm>
            <a:off x="685800" y="4617720"/>
            <a:ext cx="4663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2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KEY ASSUMPTIONS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685800" y="4864608"/>
            <a:ext cx="4617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$70K entitled lot  ·  280 lots  ·  builder funds the horizontal  ·  land at ~zero basis  ·  costs repaid, then a straight 50/50 (no pref, no promote)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577840" y="1828800"/>
            <a:ext cx="2834640" cy="40233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40" name="Shape 38"/>
          <p:cNvSpPr/>
          <p:nvPr/>
        </p:nvSpPr>
        <p:spPr>
          <a:xfrm>
            <a:off x="5577840" y="1828800"/>
            <a:ext cx="91440" cy="402336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41" name="Text 39"/>
          <p:cNvSpPr/>
          <p:nvPr/>
        </p:nvSpPr>
        <p:spPr>
          <a:xfrm>
            <a:off x="5779008" y="194767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50/50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5779008" y="228600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$14.3M</a:t>
            </a:r>
            <a:endParaRPr lang="en-US" sz="2800" dirty="0"/>
          </a:p>
        </p:txBody>
      </p:sp>
      <p:sp>
        <p:nvSpPr>
          <p:cNvPr id="43" name="Text 41"/>
          <p:cNvSpPr/>
          <p:nvPr/>
        </p:nvSpPr>
        <p:spPr>
          <a:xfrm>
            <a:off x="5779008" y="2798064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net profit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5779008" y="3200400"/>
            <a:ext cx="2432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Costs repaid first, then a straight split:</a:t>
            </a:r>
            <a:endParaRPr lang="en-US" sz="950" dirty="0"/>
          </a:p>
        </p:txBody>
      </p:sp>
      <p:sp>
        <p:nvSpPr>
          <p:cNvPr id="45" name="Text 43"/>
          <p:cNvSpPr/>
          <p:nvPr/>
        </p:nvSpPr>
        <p:spPr>
          <a:xfrm>
            <a:off x="5779008" y="3657600"/>
            <a:ext cx="2432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Property / H — 50%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5779008" y="3895344"/>
            <a:ext cx="24323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$7.2M  ·  Josh ~$3.6M → returns capital to your investors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5779008" y="4663440"/>
            <a:ext cx="2432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Development co — 50%</a:t>
            </a:r>
            <a:endParaRPr lang="en-US" sz="1050" dirty="0"/>
          </a:p>
        </p:txBody>
      </p:sp>
      <p:sp>
        <p:nvSpPr>
          <p:cNvPr id="48" name="Text 46"/>
          <p:cNvSpPr/>
          <p:nvPr/>
        </p:nvSpPr>
        <p:spPr>
          <a:xfrm>
            <a:off x="5779008" y="4901184"/>
            <a:ext cx="24323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$7.2M  ·  Bob · JAL · partners (JAL earns a share)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8503920" y="1828800"/>
            <a:ext cx="3227832" cy="40233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50" name="Shape 48"/>
          <p:cNvSpPr/>
          <p:nvPr/>
        </p:nvSpPr>
        <p:spPr>
          <a:xfrm>
            <a:off x="8503920" y="1828800"/>
            <a:ext cx="109728" cy="402336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51" name="Text 49"/>
          <p:cNvSpPr/>
          <p:nvPr/>
        </p:nvSpPr>
        <p:spPr>
          <a:xfrm>
            <a:off x="8732520" y="194767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RETURNS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8732520" y="2286000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$19.6M</a:t>
            </a:r>
            <a:endParaRPr lang="en-US" sz="1700" dirty="0"/>
          </a:p>
        </p:txBody>
      </p:sp>
      <p:sp>
        <p:nvSpPr>
          <p:cNvPr id="53" name="Text 51"/>
          <p:cNvSpPr/>
          <p:nvPr/>
        </p:nvSpPr>
        <p:spPr>
          <a:xfrm>
            <a:off x="8732520" y="2569464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Entitled-lot revenue</a:t>
            </a:r>
            <a:endParaRPr lang="en-US" sz="850" dirty="0"/>
          </a:p>
        </p:txBody>
      </p:sp>
      <p:sp>
        <p:nvSpPr>
          <p:cNvPr id="54" name="Text 52"/>
          <p:cNvSpPr/>
          <p:nvPr/>
        </p:nvSpPr>
        <p:spPr>
          <a:xfrm>
            <a:off x="8732520" y="2852928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$14.3M</a:t>
            </a:r>
            <a:endParaRPr lang="en-US" sz="1700" dirty="0"/>
          </a:p>
        </p:txBody>
      </p:sp>
      <p:sp>
        <p:nvSpPr>
          <p:cNvPr id="55" name="Text 53"/>
          <p:cNvSpPr/>
          <p:nvPr/>
        </p:nvSpPr>
        <p:spPr>
          <a:xfrm>
            <a:off x="8732520" y="3136392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Net profit (73% margin)</a:t>
            </a:r>
            <a:endParaRPr lang="en-US" sz="850" dirty="0"/>
          </a:p>
        </p:txBody>
      </p:sp>
      <p:sp>
        <p:nvSpPr>
          <p:cNvPr id="56" name="Text 54"/>
          <p:cNvSpPr/>
          <p:nvPr/>
        </p:nvSpPr>
        <p:spPr>
          <a:xfrm>
            <a:off x="8732520" y="3419856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~86%</a:t>
            </a:r>
            <a:endParaRPr lang="en-US" sz="1700" dirty="0"/>
          </a:p>
        </p:txBody>
      </p:sp>
      <p:sp>
        <p:nvSpPr>
          <p:cNvPr id="57" name="Text 55"/>
          <p:cNvSpPr/>
          <p:nvPr/>
        </p:nvSpPr>
        <p:spPr>
          <a:xfrm>
            <a:off x="8732520" y="3703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Project IRR (unlevered)</a:t>
            </a:r>
            <a:endParaRPr lang="en-US" sz="850" dirty="0"/>
          </a:p>
        </p:txBody>
      </p:sp>
      <p:sp>
        <p:nvSpPr>
          <p:cNvPr id="58" name="Text 56"/>
          <p:cNvSpPr/>
          <p:nvPr/>
        </p:nvSpPr>
        <p:spPr>
          <a:xfrm>
            <a:off x="8732520" y="3986784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2.7×</a:t>
            </a:r>
            <a:endParaRPr lang="en-US" sz="1700" dirty="0"/>
          </a:p>
        </p:txBody>
      </p:sp>
      <p:sp>
        <p:nvSpPr>
          <p:cNvPr id="59" name="Text 57"/>
          <p:cNvSpPr/>
          <p:nvPr/>
        </p:nvSpPr>
        <p:spPr>
          <a:xfrm>
            <a:off x="8732520" y="4270248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Return on cost (~$5.3M)</a:t>
            </a:r>
            <a:endParaRPr lang="en-US" sz="850" dirty="0"/>
          </a:p>
        </p:txBody>
      </p:sp>
      <p:sp>
        <p:nvSpPr>
          <p:cNvPr id="60" name="Text 58"/>
          <p:cNvSpPr/>
          <p:nvPr/>
        </p:nvSpPr>
        <p:spPr>
          <a:xfrm>
            <a:off x="8732520" y="4553712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$7.2M</a:t>
            </a:r>
            <a:endParaRPr lang="en-US" sz="1700" dirty="0"/>
          </a:p>
        </p:txBody>
      </p:sp>
      <p:sp>
        <p:nvSpPr>
          <p:cNvPr id="61" name="Text 59"/>
          <p:cNvSpPr/>
          <p:nvPr/>
        </p:nvSpPr>
        <p:spPr>
          <a:xfrm>
            <a:off x="8732520" y="4837176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Development co (50%)</a:t>
            </a:r>
            <a:endParaRPr lang="en-US" sz="850" dirty="0"/>
          </a:p>
        </p:txBody>
      </p:sp>
      <p:sp>
        <p:nvSpPr>
          <p:cNvPr id="62" name="Text 60"/>
          <p:cNvSpPr/>
          <p:nvPr/>
        </p:nvSpPr>
        <p:spPr>
          <a:xfrm>
            <a:off x="8732520" y="5120640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$7.2M</a:t>
            </a:r>
            <a:endParaRPr lang="en-US" sz="1700" dirty="0"/>
          </a:p>
        </p:txBody>
      </p:sp>
      <p:sp>
        <p:nvSpPr>
          <p:cNvPr id="63" name="Text 61"/>
          <p:cNvSpPr/>
          <p:nvPr/>
        </p:nvSpPr>
        <p:spPr>
          <a:xfrm>
            <a:off x="8732520" y="5404104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Property / investors (50%)</a:t>
            </a:r>
            <a:endParaRPr lang="en-US" sz="850" dirty="0"/>
          </a:p>
        </p:txBody>
      </p:sp>
      <p:sp>
        <p:nvSpPr>
          <p:cNvPr id="64" name="Shape 62"/>
          <p:cNvSpPr/>
          <p:nvPr/>
        </p:nvSpPr>
        <p:spPr>
          <a:xfrm>
            <a:off x="457200" y="5989320"/>
            <a:ext cx="11274552" cy="42062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65" name="Text 63"/>
          <p:cNvSpPr/>
          <p:nvPr/>
        </p:nvSpPr>
        <p:spPr>
          <a:xfrm>
            <a:off x="640080" y="5989320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Illustrative: ~$14.3M profit on ~$5.3M of soft cost — ~2.7× on cost and a ~86% unlevered IRR on a near-zero land basis. Builder funds the horizontal; costs repaid, then a straight 50/50.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13 / 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 FORMA  ·  BASIS &amp; SOURCES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What the pro forma assumes — and why.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Every input, its value, and the reasoning. Market figures are from public sources; deal-specific figures (acreage, land basis, density) are to be confirmed in diligence.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920240"/>
            <a:ext cx="265176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1920240"/>
            <a:ext cx="265176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Assumption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108960" y="1920240"/>
            <a:ext cx="155448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4" name="Text 12"/>
          <p:cNvSpPr/>
          <p:nvPr/>
        </p:nvSpPr>
        <p:spPr>
          <a:xfrm>
            <a:off x="3108960" y="1920240"/>
            <a:ext cx="155448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Value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663440" y="1920240"/>
            <a:ext cx="7068312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6" name="Text 14"/>
          <p:cNvSpPr/>
          <p:nvPr/>
        </p:nvSpPr>
        <p:spPr>
          <a:xfrm>
            <a:off x="4663440" y="1920240"/>
            <a:ext cx="7068312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Basis / reasoning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7200" y="2286000"/>
            <a:ext cx="265176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2286000"/>
            <a:ext cx="2651760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Net developable acreage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3108960" y="2286000"/>
            <a:ext cx="155448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/>
          <p:nvPr/>
        </p:nvSpPr>
        <p:spPr>
          <a:xfrm>
            <a:off x="3108960" y="2286000"/>
            <a:ext cx="1554480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~140 ac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663440" y="2286000"/>
            <a:ext cx="7068312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4663440" y="2286000"/>
            <a:ext cx="7068312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700 gross − 198 conservation − ~300 golf − ~60 Critical Area; survey to confirm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57200" y="2761488"/>
            <a:ext cx="2651760" cy="47548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2761488"/>
            <a:ext cx="2651760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Lot density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3108960" y="2761488"/>
            <a:ext cx="1554480" cy="47548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6" name="Text 24"/>
          <p:cNvSpPr/>
          <p:nvPr/>
        </p:nvSpPr>
        <p:spPr>
          <a:xfrm>
            <a:off x="3108960" y="2761488"/>
            <a:ext cx="1554480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~2.0 / ac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663440" y="2761488"/>
            <a:ext cx="7068312" cy="47548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8" name="Text 26"/>
          <p:cNvSpPr/>
          <p:nvPr/>
        </p:nvSpPr>
        <p:spPr>
          <a:xfrm>
            <a:off x="4663440" y="2761488"/>
            <a:ext cx="7068312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Blended for the developable (non-Critical-Area) land; Queen Anne's County zoning to confirm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57200" y="3236976"/>
            <a:ext cx="265176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3236976"/>
            <a:ext cx="2651760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Entitled lot price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3108960" y="3236976"/>
            <a:ext cx="155448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2" name="Text 30"/>
          <p:cNvSpPr/>
          <p:nvPr/>
        </p:nvSpPr>
        <p:spPr>
          <a:xfrm>
            <a:off x="3108960" y="3236976"/>
            <a:ext cx="1554480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$70K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4663440" y="3236976"/>
            <a:ext cx="7068312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4" name="Text 32"/>
          <p:cNvSpPr/>
          <p:nvPr/>
        </p:nvSpPr>
        <p:spPr>
          <a:xfrm>
            <a:off x="4663440" y="3236976"/>
            <a:ext cx="7068312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≈ finished lot $150K less the builder's ~$80K to finish (horizontal + margin); confirm vs builder bids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57200" y="3712464"/>
            <a:ext cx="2651760" cy="47548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6" name="Text 34"/>
          <p:cNvSpPr/>
          <p:nvPr/>
        </p:nvSpPr>
        <p:spPr>
          <a:xfrm>
            <a:off x="457200" y="3712464"/>
            <a:ext cx="2651760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Soft costs (entitle)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3108960" y="3712464"/>
            <a:ext cx="1554480" cy="47548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8" name="Text 36"/>
          <p:cNvSpPr/>
          <p:nvPr/>
        </p:nvSpPr>
        <p:spPr>
          <a:xfrm>
            <a:off x="3108960" y="3712464"/>
            <a:ext cx="1554480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~$4.0M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4663440" y="3712464"/>
            <a:ext cx="7068312" cy="47548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0" name="Text 38"/>
          <p:cNvSpPr/>
          <p:nvPr/>
        </p:nvSpPr>
        <p:spPr>
          <a:xfrm>
            <a:off x="4663440" y="3712464"/>
            <a:ext cx="7068312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Entitlement / approvals, civil &amp; environmental, legal / survey, project management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457200" y="4187952"/>
            <a:ext cx="265176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2" name="Text 40"/>
          <p:cNvSpPr/>
          <p:nvPr/>
        </p:nvSpPr>
        <p:spPr>
          <a:xfrm>
            <a:off x="457200" y="4187952"/>
            <a:ext cx="2651760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Horizontal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3108960" y="4187952"/>
            <a:ext cx="155448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4" name="Text 42"/>
          <p:cNvSpPr/>
          <p:nvPr/>
        </p:nvSpPr>
        <p:spPr>
          <a:xfrm>
            <a:off x="3108960" y="4187952"/>
            <a:ext cx="1554480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Builder-funded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4663440" y="4187952"/>
            <a:ext cx="7068312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6" name="Text 44"/>
          <p:cNvSpPr/>
          <p:nvPr/>
        </p:nvSpPr>
        <p:spPr>
          <a:xfrm>
            <a:off x="4663440" y="4187952"/>
            <a:ext cx="7068312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Roads, sewer &amp; utilities funded by the builder — not us (capital-light)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57200" y="4663440"/>
            <a:ext cx="2651760" cy="47548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663440"/>
            <a:ext cx="2651760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Land basis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3108960" y="4663440"/>
            <a:ext cx="1554480" cy="47548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50" name="Text 48"/>
          <p:cNvSpPr/>
          <p:nvPr/>
        </p:nvSpPr>
        <p:spPr>
          <a:xfrm>
            <a:off x="3108960" y="4663440"/>
            <a:ext cx="1554480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~zero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4663440" y="4663440"/>
            <a:ext cx="7068312" cy="47548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52" name="Text 50"/>
          <p:cNvSpPr/>
          <p:nvPr/>
        </p:nvSpPr>
        <p:spPr>
          <a:xfrm>
            <a:off x="4663440" y="4663440"/>
            <a:ext cx="7068312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Contributed at a near-zero basis — the land came with the $25M H6 acquisition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57200" y="5138928"/>
            <a:ext cx="265176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4" name="Text 52"/>
          <p:cNvSpPr/>
          <p:nvPr/>
        </p:nvSpPr>
        <p:spPr>
          <a:xfrm>
            <a:off x="457200" y="5138928"/>
            <a:ext cx="2651760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Structure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3108960" y="5138928"/>
            <a:ext cx="155448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6" name="Text 54"/>
          <p:cNvSpPr/>
          <p:nvPr/>
        </p:nvSpPr>
        <p:spPr>
          <a:xfrm>
            <a:off x="3108960" y="5138928"/>
            <a:ext cx="1554480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Straight 50/50</a:t>
            </a:r>
            <a:endParaRPr lang="en-US" sz="950" dirty="0"/>
          </a:p>
        </p:txBody>
      </p:sp>
      <p:sp>
        <p:nvSpPr>
          <p:cNvPr id="57" name="Shape 55"/>
          <p:cNvSpPr/>
          <p:nvPr/>
        </p:nvSpPr>
        <p:spPr>
          <a:xfrm>
            <a:off x="4663440" y="5138928"/>
            <a:ext cx="7068312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8" name="Text 56"/>
          <p:cNvSpPr/>
          <p:nvPr/>
        </p:nvSpPr>
        <p:spPr>
          <a:xfrm>
            <a:off x="4663440" y="5138928"/>
            <a:ext cx="7068312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Costs repaid, then 50% property / 50% development co — no pref, no promote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457200" y="6035040"/>
            <a:ext cx="11274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Sources (own research; subject to change &amp; confirmation):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1" invalidUrl="" action="" tgtFrame="" tooltip="Land.com — QAC lot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Land.com — QAC lots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2" invalidUrl="" action="" tgtFrame="" tooltip="Zillow — QAC new home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Zillow — QAC new homes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3" invalidUrl="" action="" tgtFrame="" tooltip="HomeGuide — land dev cost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HomeGuide — land dev cost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4" invalidUrl="" action="" tgtFrame="" tooltip="Club + Resort Busines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Club + Resort Business</a:t>
            </a:r>
            <a:endParaRPr lang="en-US" sz="7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14 / 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DEAL  ·  HOW PROFIT SPLITS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straight deal — 50/50, no waterfall.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Bob's structure, kept simple: revenue comes in, costs are repaid, then profit splits 50/50 — half to the property owner (the H entities; Josh owns 50%), half to the development company. No pref, no promote tiers.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828800"/>
            <a:ext cx="3630168" cy="114300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1938528"/>
            <a:ext cx="31729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$19.6M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685800" y="2487168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Entitled-lot revenue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85800" y="2734056"/>
            <a:ext cx="31729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~280 lots × ~$70K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279392" y="1828800"/>
            <a:ext cx="3630168" cy="114300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07992" y="1938528"/>
            <a:ext cx="31729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($5.3M)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4507992" y="2487168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Less: costs repaid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507992" y="2734056"/>
            <a:ext cx="31729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 soft costs we funded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8101584" y="1828800"/>
            <a:ext cx="3630168" cy="114300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0" name="Text 18"/>
          <p:cNvSpPr/>
          <p:nvPr/>
        </p:nvSpPr>
        <p:spPr>
          <a:xfrm>
            <a:off x="8330184" y="1938528"/>
            <a:ext cx="31729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$14.3M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8330184" y="2487168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Net profit to split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330184" y="2734056"/>
            <a:ext cx="31729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≈ 2.7× on cost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57200" y="3246120"/>
            <a:ext cx="5541264" cy="233172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4" name="Shape 22"/>
          <p:cNvSpPr/>
          <p:nvPr/>
        </p:nvSpPr>
        <p:spPr>
          <a:xfrm>
            <a:off x="457200" y="3246120"/>
            <a:ext cx="109728" cy="233172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5" name="Text 23"/>
          <p:cNvSpPr/>
          <p:nvPr/>
        </p:nvSpPr>
        <p:spPr>
          <a:xfrm>
            <a:off x="731520" y="338328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PROPERTY / H ENTITIES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731520" y="365760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50%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731520" y="411480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$7.2M</a:t>
            </a:r>
            <a:endParaRPr lang="en-US" sz="3400" dirty="0"/>
          </a:p>
        </p:txBody>
      </p:sp>
      <p:sp>
        <p:nvSpPr>
          <p:cNvPr id="28" name="Text 26"/>
          <p:cNvSpPr/>
          <p:nvPr/>
        </p:nvSpPr>
        <p:spPr>
          <a:xfrm>
            <a:off x="731520" y="4773168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Josh owns 50% of each property → ~$3.6M (≈ 25% of profit). This is the liquidity that returns capital to his investors against their 8% pref.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190488" y="3246120"/>
            <a:ext cx="5541264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46520" y="338328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DEVELOPMENT COMPANY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446520" y="365760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50%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6446520" y="4078224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$7.2M</a:t>
            </a:r>
            <a:endParaRPr lang="en-US" sz="3200" dirty="0"/>
          </a:p>
        </p:txBody>
      </p:sp>
      <p:sp>
        <p:nvSpPr>
          <p:cNvPr id="33" name="Text 31"/>
          <p:cNvSpPr/>
          <p:nvPr/>
        </p:nvSpPr>
        <p:spPr>
          <a:xfrm>
            <a:off x="6446520" y="4608576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JAL's share  30%  →  ~$2.1M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446520" y="4901184"/>
            <a:ext cx="5120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Accountable Equity / Capital H6 · Bob · partners take the balance. JAL = sweat equity + $15K/mo — no capital required.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57200" y="5943600"/>
            <a:ext cx="11274552" cy="42062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36" name="Text 34"/>
          <p:cNvSpPr/>
          <p:nvPr/>
        </p:nvSpPr>
        <p:spPr>
          <a:xfrm>
            <a:off x="640080" y="5943600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Costs repaid, then a straight 50/50 — half returns capital to your investors, half to the development company. No pref, no promote, no 50-page waterfall.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/ 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SENSITIVITY  ·  PHASE 1 PROFIT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How robust is the profit?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Net project profit ($M) across the entitled-lot price and the lot yield — the two swing factors. The base — $70K lots, ~280 of them — pencils to ~$14.3M; even conservative pricing holds double-digit millions. Split 50/50.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2103120"/>
            <a:ext cx="2679192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2103120"/>
            <a:ext cx="2679192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NET PROFIT $M  (price / lots)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136392" y="2103120"/>
            <a:ext cx="2862072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4" name="Text 12"/>
          <p:cNvSpPr/>
          <p:nvPr/>
        </p:nvSpPr>
        <p:spPr>
          <a:xfrm>
            <a:off x="3136392" y="2103120"/>
            <a:ext cx="2862072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240 lots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998464" y="2103120"/>
            <a:ext cx="2862072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6" name="Text 14"/>
          <p:cNvSpPr/>
          <p:nvPr/>
        </p:nvSpPr>
        <p:spPr>
          <a:xfrm>
            <a:off x="5998464" y="2103120"/>
            <a:ext cx="2862072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280 lots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8860536" y="2103120"/>
            <a:ext cx="2862072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8" name="Text 16"/>
          <p:cNvSpPr/>
          <p:nvPr/>
        </p:nvSpPr>
        <p:spPr>
          <a:xfrm>
            <a:off x="8860536" y="2103120"/>
            <a:ext cx="2862072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320 lots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" y="2468880"/>
            <a:ext cx="2679192" cy="7772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/>
          <p:nvPr/>
        </p:nvSpPr>
        <p:spPr>
          <a:xfrm>
            <a:off x="457200" y="2468880"/>
            <a:ext cx="2679192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$55K / lot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136392" y="2468880"/>
            <a:ext cx="2862072" cy="7772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3136392" y="2468880"/>
            <a:ext cx="2862072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$8.1M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998464" y="2468880"/>
            <a:ext cx="2862072" cy="7772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Text 22"/>
          <p:cNvSpPr/>
          <p:nvPr/>
        </p:nvSpPr>
        <p:spPr>
          <a:xfrm>
            <a:off x="5998464" y="2468880"/>
            <a:ext cx="2862072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$10.2M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8860536" y="2468880"/>
            <a:ext cx="2862072" cy="7772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8860536" y="2468880"/>
            <a:ext cx="2862072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$12.4M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57200" y="3246120"/>
            <a:ext cx="2679192" cy="7772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8" name="Text 26"/>
          <p:cNvSpPr/>
          <p:nvPr/>
        </p:nvSpPr>
        <p:spPr>
          <a:xfrm>
            <a:off x="457200" y="3246120"/>
            <a:ext cx="2679192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$70K / lot  (base)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136392" y="3246120"/>
            <a:ext cx="2862072" cy="7772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0" name="Text 28"/>
          <p:cNvSpPr/>
          <p:nvPr/>
        </p:nvSpPr>
        <p:spPr>
          <a:xfrm>
            <a:off x="3136392" y="3246120"/>
            <a:ext cx="2862072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$11.6M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5998464" y="3246120"/>
            <a:ext cx="2862072" cy="7772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2" name="Text 30"/>
          <p:cNvSpPr/>
          <p:nvPr/>
        </p:nvSpPr>
        <p:spPr>
          <a:xfrm>
            <a:off x="5998464" y="3246120"/>
            <a:ext cx="2862072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$14.3M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8860536" y="3246120"/>
            <a:ext cx="2862072" cy="7772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4" name="Text 32"/>
          <p:cNvSpPr/>
          <p:nvPr/>
        </p:nvSpPr>
        <p:spPr>
          <a:xfrm>
            <a:off x="8860536" y="3246120"/>
            <a:ext cx="2862072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$17.0M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457200" y="4023360"/>
            <a:ext cx="2679192" cy="7772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6" name="Text 34"/>
          <p:cNvSpPr/>
          <p:nvPr/>
        </p:nvSpPr>
        <p:spPr>
          <a:xfrm>
            <a:off x="457200" y="4023360"/>
            <a:ext cx="2679192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$85K / lot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136392" y="4023360"/>
            <a:ext cx="2862072" cy="7772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8" name="Text 36"/>
          <p:cNvSpPr/>
          <p:nvPr/>
        </p:nvSpPr>
        <p:spPr>
          <a:xfrm>
            <a:off x="3136392" y="4023360"/>
            <a:ext cx="2862072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$15.1M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5998464" y="4023360"/>
            <a:ext cx="2862072" cy="7772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0" name="Text 38"/>
          <p:cNvSpPr/>
          <p:nvPr/>
        </p:nvSpPr>
        <p:spPr>
          <a:xfrm>
            <a:off x="5998464" y="4023360"/>
            <a:ext cx="2862072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$18.4M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8860536" y="4023360"/>
            <a:ext cx="2862072" cy="7772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2" name="Text 40"/>
          <p:cNvSpPr/>
          <p:nvPr/>
        </p:nvSpPr>
        <p:spPr>
          <a:xfrm>
            <a:off x="8860536" y="4023360"/>
            <a:ext cx="2862072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$21.7M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457200" y="5074920"/>
            <a:ext cx="11274552" cy="42062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44" name="Text 42"/>
          <p:cNvSpPr/>
          <p:nvPr/>
        </p:nvSpPr>
        <p:spPr>
          <a:xfrm>
            <a:off x="640080" y="5074920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Base $70K × 280 → ~$14.3M profit, split 50/50. The downside still clears ~$8M; stronger pricing or yield pushes past $20M.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457200" y="5989320"/>
            <a:ext cx="11274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Net project profit ($M); each cell re-runs the model. Half flows to the property (investor liquidity), half to the development company. Illustrative.</a:t>
            </a:r>
            <a:endParaRPr lang="en-US" sz="7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16 / 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LOT LIQUIDITY  ·  BUYER UNIVERSE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deep pool of lot buyers.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Regional and national homebuilders are actively building across Queen Anne's County and the Eastern Shore. Entitled, finished lots trade readily — multiple credible takeout buyers let us run a competitive process and de-risk the exit.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920240"/>
            <a:ext cx="283464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1920240"/>
            <a:ext cx="283464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Builder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291840" y="1920240"/>
            <a:ext cx="210312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4" name="Text 12"/>
          <p:cNvSpPr/>
          <p:nvPr/>
        </p:nvSpPr>
        <p:spPr>
          <a:xfrm>
            <a:off x="3291840" y="1920240"/>
            <a:ext cx="210312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Reach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394960" y="1920240"/>
            <a:ext cx="6336792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6" name="Text 14"/>
          <p:cNvSpPr/>
          <p:nvPr/>
        </p:nvSpPr>
        <p:spPr>
          <a:xfrm>
            <a:off x="5394960" y="1920240"/>
            <a:ext cx="6336792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Footprint / relevance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7200" y="2286000"/>
            <a:ext cx="2834640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2286000"/>
            <a:ext cx="2834640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NVR / Ryan Homes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291840" y="2286000"/>
            <a:ext cx="2103120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/>
          <p:nvPr/>
        </p:nvSpPr>
        <p:spPr>
          <a:xfrm>
            <a:off x="3291840" y="2286000"/>
            <a:ext cx="2103120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National · public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394960" y="2286000"/>
            <a:ext cx="6336792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5394960" y="2286000"/>
            <a:ext cx="6336792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Largest builder in Maryland; routine acquirer of finished / entitled lots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57200" y="2670048"/>
            <a:ext cx="2834640" cy="38404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2670048"/>
            <a:ext cx="2834640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D.R. Horton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291840" y="2670048"/>
            <a:ext cx="2103120" cy="38404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6" name="Text 24"/>
          <p:cNvSpPr/>
          <p:nvPr/>
        </p:nvSpPr>
        <p:spPr>
          <a:xfrm>
            <a:off x="3291840" y="2670048"/>
            <a:ext cx="2103120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National · public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394960" y="2670048"/>
            <a:ext cx="6336792" cy="38404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8" name="Text 26"/>
          <p:cNvSpPr/>
          <p:nvPr/>
        </p:nvSpPr>
        <p:spPr>
          <a:xfrm>
            <a:off x="5394960" y="2670048"/>
            <a:ext cx="6336792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#1 U.S. homebuilder; active Maryland operations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57200" y="3054096"/>
            <a:ext cx="2834640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3054096"/>
            <a:ext cx="2834640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Lennar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291840" y="3054096"/>
            <a:ext cx="2103120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2" name="Text 30"/>
          <p:cNvSpPr/>
          <p:nvPr/>
        </p:nvSpPr>
        <p:spPr>
          <a:xfrm>
            <a:off x="3291840" y="3054096"/>
            <a:ext cx="2103120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National · public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394960" y="3054096"/>
            <a:ext cx="6336792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4" name="Text 32"/>
          <p:cNvSpPr/>
          <p:nvPr/>
        </p:nvSpPr>
        <p:spPr>
          <a:xfrm>
            <a:off x="5394960" y="3054096"/>
            <a:ext cx="6336792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Top-3 U.S. builder; Maryland division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57200" y="3438144"/>
            <a:ext cx="2834640" cy="38404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6" name="Text 34"/>
          <p:cNvSpPr/>
          <p:nvPr/>
        </p:nvSpPr>
        <p:spPr>
          <a:xfrm>
            <a:off x="457200" y="3438144"/>
            <a:ext cx="2834640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Cole Homes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291840" y="3438144"/>
            <a:ext cx="2103120" cy="38404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8" name="Text 36"/>
          <p:cNvSpPr/>
          <p:nvPr/>
        </p:nvSpPr>
        <p:spPr>
          <a:xfrm>
            <a:off x="3291840" y="3438144"/>
            <a:ext cx="2103120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Regional · local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94960" y="3438144"/>
            <a:ext cx="6336792" cy="38404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0" name="Text 38"/>
          <p:cNvSpPr/>
          <p:nvPr/>
        </p:nvSpPr>
        <p:spPr>
          <a:xfrm>
            <a:off x="5394960" y="3438144"/>
            <a:ext cx="6336792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Named by Bob — active local to the Renault / Atlantic City market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457200" y="3822192"/>
            <a:ext cx="2834640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2" name="Text 40"/>
          <p:cNvSpPr/>
          <p:nvPr/>
        </p:nvSpPr>
        <p:spPr>
          <a:xfrm>
            <a:off x="457200" y="3822192"/>
            <a:ext cx="2834640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Lacrosse Homes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3291840" y="3822192"/>
            <a:ext cx="2103120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4" name="Text 42"/>
          <p:cNvSpPr/>
          <p:nvPr/>
        </p:nvSpPr>
        <p:spPr>
          <a:xfrm>
            <a:off x="3291840" y="3822192"/>
            <a:ext cx="2103120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Regional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394960" y="3822192"/>
            <a:ext cx="6336792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6" name="Text 44"/>
          <p:cNvSpPr/>
          <p:nvPr/>
        </p:nvSpPr>
        <p:spPr>
          <a:xfrm>
            <a:off x="5394960" y="3822192"/>
            <a:ext cx="6336792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Centreville, Queen Anne's Co. — Meadow Creek, Kent Island Estates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57200" y="4206240"/>
            <a:ext cx="2834640" cy="38404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206240"/>
            <a:ext cx="2834640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Caruso Homes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3291840" y="4206240"/>
            <a:ext cx="2103120" cy="38404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50" name="Text 48"/>
          <p:cNvSpPr/>
          <p:nvPr/>
        </p:nvSpPr>
        <p:spPr>
          <a:xfrm>
            <a:off x="3291840" y="4206240"/>
            <a:ext cx="2103120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Regional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5394960" y="4206240"/>
            <a:ext cx="6336792" cy="38404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52" name="Text 50"/>
          <p:cNvSpPr/>
          <p:nvPr/>
        </p:nvSpPr>
        <p:spPr>
          <a:xfrm>
            <a:off x="5394960" y="4206240"/>
            <a:ext cx="6336792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Eastern Shore communities + build-on-your-lot across Maryland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57200" y="4590288"/>
            <a:ext cx="2834640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4" name="Text 52"/>
          <p:cNvSpPr/>
          <p:nvPr/>
        </p:nvSpPr>
        <p:spPr>
          <a:xfrm>
            <a:off x="457200" y="4590288"/>
            <a:ext cx="2834640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Gemcraft Homes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3291840" y="4590288"/>
            <a:ext cx="2103120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6" name="Text 54"/>
          <p:cNvSpPr/>
          <p:nvPr/>
        </p:nvSpPr>
        <p:spPr>
          <a:xfrm>
            <a:off x="3291840" y="4590288"/>
            <a:ext cx="2103120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Regional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5394960" y="4590288"/>
            <a:ext cx="6336792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8" name="Text 56"/>
          <p:cNvSpPr/>
          <p:nvPr/>
        </p:nvSpPr>
        <p:spPr>
          <a:xfrm>
            <a:off x="5394960" y="4590288"/>
            <a:ext cx="6336792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Mid-Atlantic production builder (MD · DE · VA · PA)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457200" y="4974336"/>
            <a:ext cx="2834640" cy="38404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60" name="Text 58"/>
          <p:cNvSpPr/>
          <p:nvPr/>
        </p:nvSpPr>
        <p:spPr>
          <a:xfrm>
            <a:off x="457200" y="4974336"/>
            <a:ext cx="2834640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Bay to Beach · Baldwin Homes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3291840" y="4974336"/>
            <a:ext cx="2103120" cy="38404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62" name="Text 60"/>
          <p:cNvSpPr/>
          <p:nvPr/>
        </p:nvSpPr>
        <p:spPr>
          <a:xfrm>
            <a:off x="3291840" y="4974336"/>
            <a:ext cx="2103120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Regional · custom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5394960" y="4974336"/>
            <a:ext cx="6336792" cy="38404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64" name="Text 62"/>
          <p:cNvSpPr/>
          <p:nvPr/>
        </p:nvSpPr>
        <p:spPr>
          <a:xfrm>
            <a:off x="5394960" y="4974336"/>
            <a:ext cx="6336792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Eastern Shore custom / semi-custom builders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457200" y="5394960"/>
            <a:ext cx="11274552" cy="42062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66" name="Text 64"/>
          <p:cNvSpPr/>
          <p:nvPr/>
        </p:nvSpPr>
        <p:spPr>
          <a:xfrm>
            <a:off x="640080" y="5394960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Multiple well-capitalized buyers = a liquid exit — entitled-lot takedowns or a bulk sale, marketed competitively.</a:t>
            </a:r>
            <a:endParaRPr lang="en-US" sz="1100" dirty="0"/>
          </a:p>
        </p:txBody>
      </p:sp>
      <p:sp>
        <p:nvSpPr>
          <p:cNvPr id="67" name="Text 65"/>
          <p:cNvSpPr/>
          <p:nvPr/>
        </p:nvSpPr>
        <p:spPr>
          <a:xfrm>
            <a:off x="457200" y="5989320"/>
            <a:ext cx="11274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Sources (own research; subject to change &amp; confirmation):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1" invalidUrl="" action="" tgtFrame="" tooltip="Lacrosse Homes (Centreville, QAC)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Lacrosse Homes (Centreville, QAC)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2" invalidUrl="" action="" tgtFrame="" tooltip="Caruso Home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Caruso Homes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3" invalidUrl="" action="" tgtFrame="" tooltip="Gemcraft Home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Gemcraft Homes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4" invalidUrl="" action="" tgtFrame="" tooltip="Zillow — MD new communitie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Zillow — MD new communities</a:t>
            </a:r>
            <a:endParaRPr lang="en-US" sz="7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17 / 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PHASE 2  ·  HOTEL REQUIRED  ·  ILLUSTRATIVE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Phase 2 — the hotel (a required component).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 hotel is required (per Bob) — at Renault the plan is +100–200 rooms; at Queenstown a 120-key resort &amp; spa is already designed (FILLAT+). VIVÂMEE operates; JAL leads capital formation. Build-to-core, recapitalizing at stabilization (~Yr 4), clears a mid-to-high-20s return.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828800"/>
            <a:ext cx="361188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1828800"/>
            <a:ext cx="361188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DEVELOPMENT COST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069080" y="1828800"/>
            <a:ext cx="141732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4" name="Text 12"/>
          <p:cNvSpPr/>
          <p:nvPr/>
        </p:nvSpPr>
        <p:spPr>
          <a:xfrm>
            <a:off x="4069080" y="1828800"/>
            <a:ext cx="141732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57200" y="2194560"/>
            <a:ext cx="36118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2194560"/>
            <a:ext cx="36118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Hotel (100 keys × $325K)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069080" y="2194560"/>
            <a:ext cx="141732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8" name="Text 16"/>
          <p:cNvSpPr/>
          <p:nvPr/>
        </p:nvSpPr>
        <p:spPr>
          <a:xfrm>
            <a:off x="4069080" y="2194560"/>
            <a:ext cx="141732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$32.5M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57200" y="2633472"/>
            <a:ext cx="361188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0" name="Text 18"/>
          <p:cNvSpPr/>
          <p:nvPr/>
        </p:nvSpPr>
        <p:spPr>
          <a:xfrm>
            <a:off x="457200" y="2633472"/>
            <a:ext cx="36118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Restaurants (16K SF × $550)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069080" y="2633472"/>
            <a:ext cx="141732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2" name="Text 20"/>
          <p:cNvSpPr/>
          <p:nvPr/>
        </p:nvSpPr>
        <p:spPr>
          <a:xfrm>
            <a:off x="4069080" y="2633472"/>
            <a:ext cx="141732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$8.8M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57200" y="3072384"/>
            <a:ext cx="36118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3072384"/>
            <a:ext cx="36118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Land — hospitality parcel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069080" y="3072384"/>
            <a:ext cx="141732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4069080" y="3072384"/>
            <a:ext cx="141732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$2.0M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57200" y="3511296"/>
            <a:ext cx="361188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8" name="Text 26"/>
          <p:cNvSpPr/>
          <p:nvPr/>
        </p:nvSpPr>
        <p:spPr>
          <a:xfrm>
            <a:off x="457200" y="3511296"/>
            <a:ext cx="36118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Soft / FF&amp;E / pre-opening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069080" y="3511296"/>
            <a:ext cx="141732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0" name="Text 28"/>
          <p:cNvSpPr/>
          <p:nvPr/>
        </p:nvSpPr>
        <p:spPr>
          <a:xfrm>
            <a:off x="4069080" y="3511296"/>
            <a:ext cx="141732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$3.7M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457200" y="3950208"/>
            <a:ext cx="36118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2" name="Text 30"/>
          <p:cNvSpPr/>
          <p:nvPr/>
        </p:nvSpPr>
        <p:spPr>
          <a:xfrm>
            <a:off x="457200" y="3950208"/>
            <a:ext cx="36118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TOTAL DEVELOPMENT COST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4069080" y="3950208"/>
            <a:ext cx="141732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4" name="Text 32"/>
          <p:cNvSpPr/>
          <p:nvPr/>
        </p:nvSpPr>
        <p:spPr>
          <a:xfrm>
            <a:off x="4069080" y="3950208"/>
            <a:ext cx="141732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$47.0M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5577840" y="1828800"/>
            <a:ext cx="178308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6" name="Text 34"/>
          <p:cNvSpPr/>
          <p:nvPr/>
        </p:nvSpPr>
        <p:spPr>
          <a:xfrm>
            <a:off x="5577840" y="1828800"/>
            <a:ext cx="178308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STABILIZED NOI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7360920" y="1828800"/>
            <a:ext cx="59436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8" name="Text 36"/>
          <p:cNvSpPr/>
          <p:nvPr/>
        </p:nvSpPr>
        <p:spPr>
          <a:xfrm>
            <a:off x="7360920" y="1828800"/>
            <a:ext cx="59436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7955280" y="1828800"/>
            <a:ext cx="45720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40" name="Text 38"/>
          <p:cNvSpPr/>
          <p:nvPr/>
        </p:nvSpPr>
        <p:spPr>
          <a:xfrm>
            <a:off x="7955280" y="1828800"/>
            <a:ext cx="45720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YoC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577840" y="2194560"/>
            <a:ext cx="17830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2" name="Text 40"/>
          <p:cNvSpPr/>
          <p:nvPr/>
        </p:nvSpPr>
        <p:spPr>
          <a:xfrm>
            <a:off x="5577840" y="2194560"/>
            <a:ext cx="17830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Hotel NOI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7360920" y="2194560"/>
            <a:ext cx="59436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4" name="Text 42"/>
          <p:cNvSpPr/>
          <p:nvPr/>
        </p:nvSpPr>
        <p:spPr>
          <a:xfrm>
            <a:off x="7360920" y="2194560"/>
            <a:ext cx="59436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$2.8M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955280" y="2194560"/>
            <a:ext cx="45720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6" name="Text 44"/>
          <p:cNvSpPr/>
          <p:nvPr/>
        </p:nvSpPr>
        <p:spPr>
          <a:xfrm>
            <a:off x="7955280" y="2194560"/>
            <a:ext cx="45720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8.6%</a:t>
            </a:r>
            <a:endParaRPr lang="en-US" sz="800" dirty="0"/>
          </a:p>
        </p:txBody>
      </p:sp>
      <p:sp>
        <p:nvSpPr>
          <p:cNvPr id="47" name="Shape 45"/>
          <p:cNvSpPr/>
          <p:nvPr/>
        </p:nvSpPr>
        <p:spPr>
          <a:xfrm>
            <a:off x="5577840" y="2633472"/>
            <a:ext cx="178308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8" name="Text 46"/>
          <p:cNvSpPr/>
          <p:nvPr/>
        </p:nvSpPr>
        <p:spPr>
          <a:xfrm>
            <a:off x="5577840" y="2633472"/>
            <a:ext cx="17830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Restaurant NOI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7360920" y="2633472"/>
            <a:ext cx="59436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50" name="Text 48"/>
          <p:cNvSpPr/>
          <p:nvPr/>
        </p:nvSpPr>
        <p:spPr>
          <a:xfrm>
            <a:off x="7360920" y="2633472"/>
            <a:ext cx="59436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$1.0M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955280" y="2633472"/>
            <a:ext cx="45720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52" name="Text 50"/>
          <p:cNvSpPr/>
          <p:nvPr/>
        </p:nvSpPr>
        <p:spPr>
          <a:xfrm>
            <a:off x="7955280" y="2633472"/>
            <a:ext cx="45720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11.5%</a:t>
            </a:r>
            <a:endParaRPr lang="en-US" sz="800" dirty="0"/>
          </a:p>
        </p:txBody>
      </p:sp>
      <p:sp>
        <p:nvSpPr>
          <p:cNvPr id="53" name="Shape 51"/>
          <p:cNvSpPr/>
          <p:nvPr/>
        </p:nvSpPr>
        <p:spPr>
          <a:xfrm>
            <a:off x="5577840" y="3072384"/>
            <a:ext cx="17830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4" name="Text 52"/>
          <p:cNvSpPr/>
          <p:nvPr/>
        </p:nvSpPr>
        <p:spPr>
          <a:xfrm>
            <a:off x="5577840" y="3072384"/>
            <a:ext cx="17830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STABILIZED NOI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7360920" y="3072384"/>
            <a:ext cx="59436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6" name="Text 54"/>
          <p:cNvSpPr/>
          <p:nvPr/>
        </p:nvSpPr>
        <p:spPr>
          <a:xfrm>
            <a:off x="7360920" y="3072384"/>
            <a:ext cx="59436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$3.8M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7955280" y="3072384"/>
            <a:ext cx="45720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8" name="Text 56"/>
          <p:cNvSpPr/>
          <p:nvPr/>
        </p:nvSpPr>
        <p:spPr>
          <a:xfrm>
            <a:off x="7955280" y="3072384"/>
            <a:ext cx="45720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8.1%</a:t>
            </a:r>
            <a:endParaRPr lang="en-US" sz="800" dirty="0"/>
          </a:p>
        </p:txBody>
      </p:sp>
      <p:sp>
        <p:nvSpPr>
          <p:cNvPr id="59" name="Shape 57"/>
          <p:cNvSpPr/>
          <p:nvPr/>
        </p:nvSpPr>
        <p:spPr>
          <a:xfrm>
            <a:off x="5577840" y="3584448"/>
            <a:ext cx="2834640" cy="168249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60" name="Shape 58"/>
          <p:cNvSpPr/>
          <p:nvPr/>
        </p:nvSpPr>
        <p:spPr>
          <a:xfrm>
            <a:off x="5577840" y="3584448"/>
            <a:ext cx="91440" cy="1682496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61" name="Text 59"/>
          <p:cNvSpPr/>
          <p:nvPr/>
        </p:nvSpPr>
        <p:spPr>
          <a:xfrm>
            <a:off x="5779008" y="3675888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2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KEY METRICS</a:t>
            </a:r>
            <a:endParaRPr lang="en-US" sz="850" dirty="0"/>
          </a:p>
        </p:txBody>
      </p:sp>
      <p:sp>
        <p:nvSpPr>
          <p:cNvPr id="62" name="Text 60"/>
          <p:cNvSpPr/>
          <p:nvPr/>
        </p:nvSpPr>
        <p:spPr>
          <a:xfrm>
            <a:off x="5779008" y="3931920"/>
            <a:ext cx="254203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0"/>
              </a:lnSpc>
              <a:buNone/>
            </a:pPr>
            <a:r>
              <a:rPr lang="en-US" sz="85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Build-to-core: recap / sell ~Yr 4  ·  7.5% exit cap → ~$62M  ·  65% LTC  ·  premium NOI (VIVÂMEE)  ·  ~2.4-pt development spread  ·  land contributed</a:t>
            </a:r>
            <a:endParaRPr lang="en-US" sz="850" dirty="0"/>
          </a:p>
        </p:txBody>
      </p:sp>
      <p:sp>
        <p:nvSpPr>
          <p:cNvPr id="63" name="Shape 61"/>
          <p:cNvSpPr/>
          <p:nvPr/>
        </p:nvSpPr>
        <p:spPr>
          <a:xfrm>
            <a:off x="8503920" y="1828800"/>
            <a:ext cx="3227832" cy="3438144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64" name="Shape 62"/>
          <p:cNvSpPr/>
          <p:nvPr/>
        </p:nvSpPr>
        <p:spPr>
          <a:xfrm>
            <a:off x="8503920" y="1828800"/>
            <a:ext cx="109728" cy="343814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65" name="Text 63"/>
          <p:cNvSpPr/>
          <p:nvPr/>
        </p:nvSpPr>
        <p:spPr>
          <a:xfrm>
            <a:off x="8732520" y="194767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RETURNS</a:t>
            </a:r>
            <a:endParaRPr lang="en-US" sz="1000" dirty="0"/>
          </a:p>
        </p:txBody>
      </p:sp>
      <p:sp>
        <p:nvSpPr>
          <p:cNvPr id="66" name="Text 64"/>
          <p:cNvSpPr/>
          <p:nvPr/>
        </p:nvSpPr>
        <p:spPr>
          <a:xfrm>
            <a:off x="8732520" y="2286000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$47.0M</a:t>
            </a:r>
            <a:endParaRPr lang="en-US" sz="1700" dirty="0"/>
          </a:p>
        </p:txBody>
      </p:sp>
      <p:sp>
        <p:nvSpPr>
          <p:cNvPr id="67" name="Text 65"/>
          <p:cNvSpPr/>
          <p:nvPr/>
        </p:nvSpPr>
        <p:spPr>
          <a:xfrm>
            <a:off x="8732520" y="2569464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Total project cost</a:t>
            </a:r>
            <a:endParaRPr lang="en-US" sz="850" dirty="0"/>
          </a:p>
        </p:txBody>
      </p:sp>
      <p:sp>
        <p:nvSpPr>
          <p:cNvPr id="68" name="Text 66"/>
          <p:cNvSpPr/>
          <p:nvPr/>
        </p:nvSpPr>
        <p:spPr>
          <a:xfrm>
            <a:off x="8732520" y="2862072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$4.7M</a:t>
            </a:r>
            <a:endParaRPr lang="en-US" sz="1700" dirty="0"/>
          </a:p>
        </p:txBody>
      </p:sp>
      <p:sp>
        <p:nvSpPr>
          <p:cNvPr id="69" name="Text 67"/>
          <p:cNvSpPr/>
          <p:nvPr/>
        </p:nvSpPr>
        <p:spPr>
          <a:xfrm>
            <a:off x="8732520" y="3145536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Premium NOI (build-to-core)</a:t>
            </a:r>
            <a:endParaRPr lang="en-US" sz="850" dirty="0"/>
          </a:p>
        </p:txBody>
      </p:sp>
      <p:sp>
        <p:nvSpPr>
          <p:cNvPr id="70" name="Text 68"/>
          <p:cNvSpPr/>
          <p:nvPr/>
        </p:nvSpPr>
        <p:spPr>
          <a:xfrm>
            <a:off x="8732520" y="3438144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9.9%</a:t>
            </a:r>
            <a:endParaRPr lang="en-US" sz="1700" dirty="0"/>
          </a:p>
        </p:txBody>
      </p:sp>
      <p:sp>
        <p:nvSpPr>
          <p:cNvPr id="71" name="Text 69"/>
          <p:cNvSpPr/>
          <p:nvPr/>
        </p:nvSpPr>
        <p:spPr>
          <a:xfrm>
            <a:off x="8732520" y="3721608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Yield on cost (premium)</a:t>
            </a:r>
            <a:endParaRPr lang="en-US" sz="850" dirty="0"/>
          </a:p>
        </p:txBody>
      </p:sp>
      <p:sp>
        <p:nvSpPr>
          <p:cNvPr id="72" name="Text 70"/>
          <p:cNvSpPr/>
          <p:nvPr/>
        </p:nvSpPr>
        <p:spPr>
          <a:xfrm>
            <a:off x="8732520" y="4014216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~2.3×</a:t>
            </a:r>
            <a:endParaRPr lang="en-US" sz="1700" dirty="0"/>
          </a:p>
        </p:txBody>
      </p:sp>
      <p:sp>
        <p:nvSpPr>
          <p:cNvPr id="73" name="Text 71"/>
          <p:cNvSpPr/>
          <p:nvPr/>
        </p:nvSpPr>
        <p:spPr>
          <a:xfrm>
            <a:off x="8732520" y="429768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Equity multiple (~4-yr)</a:t>
            </a:r>
            <a:endParaRPr lang="en-US" sz="850" dirty="0"/>
          </a:p>
        </p:txBody>
      </p:sp>
      <p:sp>
        <p:nvSpPr>
          <p:cNvPr id="74" name="Text 72"/>
          <p:cNvSpPr/>
          <p:nvPr/>
        </p:nvSpPr>
        <p:spPr>
          <a:xfrm>
            <a:off x="8732520" y="4590288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~28%</a:t>
            </a:r>
            <a:endParaRPr lang="en-US" sz="1700" dirty="0"/>
          </a:p>
        </p:txBody>
      </p:sp>
      <p:sp>
        <p:nvSpPr>
          <p:cNvPr id="75" name="Text 73"/>
          <p:cNvSpPr/>
          <p:nvPr/>
        </p:nvSpPr>
        <p:spPr>
          <a:xfrm>
            <a:off x="8732520" y="4873752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Build-to-core IRR</a:t>
            </a:r>
            <a:endParaRPr lang="en-US" sz="850" dirty="0"/>
          </a:p>
        </p:txBody>
      </p:sp>
      <p:sp>
        <p:nvSpPr>
          <p:cNvPr id="76" name="Shape 74"/>
          <p:cNvSpPr/>
          <p:nvPr/>
        </p:nvSpPr>
        <p:spPr>
          <a:xfrm>
            <a:off x="457200" y="5440680"/>
            <a:ext cx="11274552" cy="41148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77" name="Text 75"/>
          <p:cNvSpPr/>
          <p:nvPr/>
        </p:nvSpPr>
        <p:spPr>
          <a:xfrm>
            <a:off x="640080" y="5440680"/>
            <a:ext cx="10908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Built to core (recap at stabilization), the hotel clears ~28% IRR / ~2.3×. Held for income it's ~12% — the spread is the contributed land + VIVÂMEE's premium NOI.</a:t>
            </a:r>
            <a:endParaRPr lang="en-US" sz="1050" dirty="0"/>
          </a:p>
        </p:txBody>
      </p:sp>
      <p:sp>
        <p:nvSpPr>
          <p:cNvPr id="78" name="Text 76"/>
          <p:cNvSpPr/>
          <p:nvPr/>
        </p:nvSpPr>
        <p:spPr>
          <a:xfrm>
            <a:off x="457200" y="5989320"/>
            <a:ext cx="11274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Sources (own research; subject to change &amp; confirmation):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1" invalidUrl="" action="" tgtFrame="" tooltip="FILLAT+ — resort design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FILLAT+ — resort design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2" invalidUrl="" action="" tgtFrame="" tooltip="HVS — hotel dev cost 2025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HVS — hotel dev cost 2025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3" invalidUrl="" action="" tgtFrame="" tooltip="hotel cap rates 2025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hotel cap rates 2025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4" invalidUrl="" action="" tgtFrame="" tooltip="restaurant build cost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restaurant build cost</a:t>
            </a:r>
            <a:endParaRPr lang="en-US" sz="7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18 / 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SENSITIVITY  ·  PHASE 2 BUILD-TO-CORE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How robust is the hotel return?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Build-to-core IRR (65% LTC, recap at stabilization) across stabilized NOI and exit cap — the two biggest swing factors. Base ($4.65M NOI, 7.5% cap) → ~28%; it holds in the mid-20s+ as long as NOI lands and caps stay sub-8%.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2103120"/>
            <a:ext cx="219456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2103120"/>
            <a:ext cx="219456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BUILD-TO-CORE IRR  (NOI / cap)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2651760" y="2103120"/>
            <a:ext cx="226314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4" name="Text 12"/>
          <p:cNvSpPr/>
          <p:nvPr/>
        </p:nvSpPr>
        <p:spPr>
          <a:xfrm>
            <a:off x="2651760" y="2103120"/>
            <a:ext cx="226314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7.0% cap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914900" y="2103120"/>
            <a:ext cx="226314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6" name="Text 14"/>
          <p:cNvSpPr/>
          <p:nvPr/>
        </p:nvSpPr>
        <p:spPr>
          <a:xfrm>
            <a:off x="4914900" y="2103120"/>
            <a:ext cx="226314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7.5% cap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178040" y="2103120"/>
            <a:ext cx="226314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8" name="Text 16"/>
          <p:cNvSpPr/>
          <p:nvPr/>
        </p:nvSpPr>
        <p:spPr>
          <a:xfrm>
            <a:off x="7178040" y="2103120"/>
            <a:ext cx="226314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8.0% cap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9441180" y="2103120"/>
            <a:ext cx="226314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0" name="Text 18"/>
          <p:cNvSpPr/>
          <p:nvPr/>
        </p:nvSpPr>
        <p:spPr>
          <a:xfrm>
            <a:off x="9441180" y="2103120"/>
            <a:ext cx="226314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8.5% cap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57200" y="2468880"/>
            <a:ext cx="2194560" cy="7772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2468880"/>
            <a:ext cx="2194560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$4.2M NOI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2651760" y="2468880"/>
            <a:ext cx="2263140" cy="7772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Text 22"/>
          <p:cNvSpPr/>
          <p:nvPr/>
        </p:nvSpPr>
        <p:spPr>
          <a:xfrm>
            <a:off x="2651760" y="2468880"/>
            <a:ext cx="2263140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24.1%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914900" y="2468880"/>
            <a:ext cx="2263140" cy="7772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4914900" y="2468880"/>
            <a:ext cx="2263140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19.8%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7178040" y="2468880"/>
            <a:ext cx="2263140" cy="7772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8" name="Text 26"/>
          <p:cNvSpPr/>
          <p:nvPr/>
        </p:nvSpPr>
        <p:spPr>
          <a:xfrm>
            <a:off x="7178040" y="2468880"/>
            <a:ext cx="2263140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15.6%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9441180" y="2468880"/>
            <a:ext cx="2263140" cy="7772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0" name="Text 28"/>
          <p:cNvSpPr/>
          <p:nvPr/>
        </p:nvSpPr>
        <p:spPr>
          <a:xfrm>
            <a:off x="9441180" y="2468880"/>
            <a:ext cx="2263140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11.6%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457200" y="3246120"/>
            <a:ext cx="2194560" cy="7772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2" name="Text 30"/>
          <p:cNvSpPr/>
          <p:nvPr/>
        </p:nvSpPr>
        <p:spPr>
          <a:xfrm>
            <a:off x="457200" y="3246120"/>
            <a:ext cx="2194560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$4.65M NOI  (base)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2651760" y="3246120"/>
            <a:ext cx="2263140" cy="7772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4" name="Text 32"/>
          <p:cNvSpPr/>
          <p:nvPr/>
        </p:nvSpPr>
        <p:spPr>
          <a:xfrm>
            <a:off x="2651760" y="3246120"/>
            <a:ext cx="2263140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31.7%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4914900" y="3246120"/>
            <a:ext cx="2263140" cy="7772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6" name="Text 34"/>
          <p:cNvSpPr/>
          <p:nvPr/>
        </p:nvSpPr>
        <p:spPr>
          <a:xfrm>
            <a:off x="4914900" y="3246120"/>
            <a:ext cx="2263140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27.6%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7178040" y="3246120"/>
            <a:ext cx="2263140" cy="7772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8" name="Text 36"/>
          <p:cNvSpPr/>
          <p:nvPr/>
        </p:nvSpPr>
        <p:spPr>
          <a:xfrm>
            <a:off x="7178040" y="3246120"/>
            <a:ext cx="2263140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23.7%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9441180" y="3246120"/>
            <a:ext cx="2263140" cy="7772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0" name="Text 38"/>
          <p:cNvSpPr/>
          <p:nvPr/>
        </p:nvSpPr>
        <p:spPr>
          <a:xfrm>
            <a:off x="9441180" y="3246120"/>
            <a:ext cx="2263140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19.9%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457200" y="4023360"/>
            <a:ext cx="2194560" cy="7772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2" name="Text 40"/>
          <p:cNvSpPr/>
          <p:nvPr/>
        </p:nvSpPr>
        <p:spPr>
          <a:xfrm>
            <a:off x="457200" y="4023360"/>
            <a:ext cx="2194560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$5.15M NOI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2651760" y="4023360"/>
            <a:ext cx="2263140" cy="7772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4" name="Text 42"/>
          <p:cNvSpPr/>
          <p:nvPr/>
        </p:nvSpPr>
        <p:spPr>
          <a:xfrm>
            <a:off x="2651760" y="4023360"/>
            <a:ext cx="2263140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38.8%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4914900" y="4023360"/>
            <a:ext cx="2263140" cy="7772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6" name="Text 44"/>
          <p:cNvSpPr/>
          <p:nvPr/>
        </p:nvSpPr>
        <p:spPr>
          <a:xfrm>
            <a:off x="4914900" y="4023360"/>
            <a:ext cx="2263140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34.8%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7178040" y="4023360"/>
            <a:ext cx="2263140" cy="7772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8" name="Text 46"/>
          <p:cNvSpPr/>
          <p:nvPr/>
        </p:nvSpPr>
        <p:spPr>
          <a:xfrm>
            <a:off x="7178040" y="4023360"/>
            <a:ext cx="2263140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31.1%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9441180" y="4023360"/>
            <a:ext cx="2263140" cy="7772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0" name="Text 48"/>
          <p:cNvSpPr/>
          <p:nvPr/>
        </p:nvSpPr>
        <p:spPr>
          <a:xfrm>
            <a:off x="9441180" y="4023360"/>
            <a:ext cx="2263140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27.5%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457200" y="5074920"/>
            <a:ext cx="11274552" cy="42062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52" name="Text 50"/>
          <p:cNvSpPr/>
          <p:nvPr/>
        </p:nvSpPr>
        <p:spPr>
          <a:xfrm>
            <a:off x="640080" y="5074920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Base ~28%. Strong NOI + a sub-8% cap → low-to-high 30s; soft NOI or an 8.5% cap pulls it toward the high-teens / low-20s.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457200" y="5989320"/>
            <a:ext cx="11274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Build-to-core project IRR (65% LTC, recap ~Yr 4). VIVÂMEE-led; JAL leads capital formation. Each cell re-runs the model. Illustrative.</a:t>
            </a:r>
            <a:endParaRPr lang="en-US" sz="7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19 / 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PHASE 1  ·  CASH FLOW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Phase 1 — entitled-lot cash flow.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Capital-light entitled-lot project cash flow ($M). We fund the soft costs to entitle (Yr 0–2); entitled lots sell as approvals land (Yr 2–4). Net profit ~$14.3M, then split 50/50. Illustrative.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2057400"/>
            <a:ext cx="274320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2057400"/>
            <a:ext cx="274320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$M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200400" y="2057400"/>
            <a:ext cx="137160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4" name="Text 12"/>
          <p:cNvSpPr/>
          <p:nvPr/>
        </p:nvSpPr>
        <p:spPr>
          <a:xfrm>
            <a:off x="3200400" y="2057400"/>
            <a:ext cx="137160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Yr 0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572000" y="2057400"/>
            <a:ext cx="137160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0" y="2057400"/>
            <a:ext cx="137160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Yr 1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943600" y="2057400"/>
            <a:ext cx="137160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8" name="Text 16"/>
          <p:cNvSpPr/>
          <p:nvPr/>
        </p:nvSpPr>
        <p:spPr>
          <a:xfrm>
            <a:off x="5943600" y="2057400"/>
            <a:ext cx="137160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Yr 2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7315200" y="2057400"/>
            <a:ext cx="137160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0" name="Text 18"/>
          <p:cNvSpPr/>
          <p:nvPr/>
        </p:nvSpPr>
        <p:spPr>
          <a:xfrm>
            <a:off x="7315200" y="2057400"/>
            <a:ext cx="137160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Yr 3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8686800" y="2057400"/>
            <a:ext cx="137160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2" name="Text 20"/>
          <p:cNvSpPr/>
          <p:nvPr/>
        </p:nvSpPr>
        <p:spPr>
          <a:xfrm>
            <a:off x="8686800" y="2057400"/>
            <a:ext cx="137160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Yr 4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10058400" y="2057400"/>
            <a:ext cx="164592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4" name="Text 22"/>
          <p:cNvSpPr/>
          <p:nvPr/>
        </p:nvSpPr>
        <p:spPr>
          <a:xfrm>
            <a:off x="10058400" y="2057400"/>
            <a:ext cx="164592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Total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57200" y="2423160"/>
            <a:ext cx="274320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457200" y="2423160"/>
            <a:ext cx="27432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Entitled-lot revenue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3200400" y="2423160"/>
            <a:ext cx="137160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8" name="Text 26"/>
          <p:cNvSpPr/>
          <p:nvPr/>
        </p:nvSpPr>
        <p:spPr>
          <a:xfrm>
            <a:off x="3200400" y="242316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572000" y="2423160"/>
            <a:ext cx="137160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0" y="242316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5943600" y="2423160"/>
            <a:ext cx="137160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2" name="Text 30"/>
          <p:cNvSpPr/>
          <p:nvPr/>
        </p:nvSpPr>
        <p:spPr>
          <a:xfrm>
            <a:off x="5943600" y="242316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4.9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7315200" y="2423160"/>
            <a:ext cx="137160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4" name="Text 32"/>
          <p:cNvSpPr/>
          <p:nvPr/>
        </p:nvSpPr>
        <p:spPr>
          <a:xfrm>
            <a:off x="7315200" y="242316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7.8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8686800" y="2423160"/>
            <a:ext cx="137160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6" name="Text 34"/>
          <p:cNvSpPr/>
          <p:nvPr/>
        </p:nvSpPr>
        <p:spPr>
          <a:xfrm>
            <a:off x="8686800" y="242316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6.9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10058400" y="2423160"/>
            <a:ext cx="164592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8" name="Text 36"/>
          <p:cNvSpPr/>
          <p:nvPr/>
        </p:nvSpPr>
        <p:spPr>
          <a:xfrm>
            <a:off x="10058400" y="2423160"/>
            <a:ext cx="164592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19.6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57200" y="2971800"/>
            <a:ext cx="2743200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0" name="Text 38"/>
          <p:cNvSpPr/>
          <p:nvPr/>
        </p:nvSpPr>
        <p:spPr>
          <a:xfrm>
            <a:off x="457200" y="2971800"/>
            <a:ext cx="27432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Less: soft costs (entitle)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3200400" y="2971800"/>
            <a:ext cx="1371600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2" name="Text 40"/>
          <p:cNvSpPr/>
          <p:nvPr/>
        </p:nvSpPr>
        <p:spPr>
          <a:xfrm>
            <a:off x="3200400" y="297180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(1.6)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4572000" y="2971800"/>
            <a:ext cx="1371600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4" name="Text 42"/>
          <p:cNvSpPr/>
          <p:nvPr/>
        </p:nvSpPr>
        <p:spPr>
          <a:xfrm>
            <a:off x="4572000" y="297180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(2.4)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5943600" y="2971800"/>
            <a:ext cx="1371600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6" name="Text 44"/>
          <p:cNvSpPr/>
          <p:nvPr/>
        </p:nvSpPr>
        <p:spPr>
          <a:xfrm>
            <a:off x="5943600" y="297180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(1.0)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7315200" y="2971800"/>
            <a:ext cx="1371600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8" name="Text 46"/>
          <p:cNvSpPr/>
          <p:nvPr/>
        </p:nvSpPr>
        <p:spPr>
          <a:xfrm>
            <a:off x="7315200" y="297180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(0.3)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8686800" y="2971800"/>
            <a:ext cx="1371600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50" name="Text 48"/>
          <p:cNvSpPr/>
          <p:nvPr/>
        </p:nvSpPr>
        <p:spPr>
          <a:xfrm>
            <a:off x="8686800" y="297180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10058400" y="2971800"/>
            <a:ext cx="1645920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52" name="Text 50"/>
          <p:cNvSpPr/>
          <p:nvPr/>
        </p:nvSpPr>
        <p:spPr>
          <a:xfrm>
            <a:off x="10058400" y="2971800"/>
            <a:ext cx="164592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(5.3)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57200" y="3520440"/>
            <a:ext cx="274320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4" name="Text 52"/>
          <p:cNvSpPr/>
          <p:nvPr/>
        </p:nvSpPr>
        <p:spPr>
          <a:xfrm>
            <a:off x="457200" y="3520440"/>
            <a:ext cx="27432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Net project cash flow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3200400" y="3520440"/>
            <a:ext cx="137160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6" name="Text 54"/>
          <p:cNvSpPr/>
          <p:nvPr/>
        </p:nvSpPr>
        <p:spPr>
          <a:xfrm>
            <a:off x="3200400" y="352044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(1.6)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4572000" y="3520440"/>
            <a:ext cx="137160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8" name="Text 56"/>
          <p:cNvSpPr/>
          <p:nvPr/>
        </p:nvSpPr>
        <p:spPr>
          <a:xfrm>
            <a:off x="4572000" y="352044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(2.4)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5943600" y="3520440"/>
            <a:ext cx="137160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0" name="Text 58"/>
          <p:cNvSpPr/>
          <p:nvPr/>
        </p:nvSpPr>
        <p:spPr>
          <a:xfrm>
            <a:off x="5943600" y="352044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3.9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7315200" y="3520440"/>
            <a:ext cx="137160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2" name="Text 60"/>
          <p:cNvSpPr/>
          <p:nvPr/>
        </p:nvSpPr>
        <p:spPr>
          <a:xfrm>
            <a:off x="7315200" y="352044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7.5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8686800" y="3520440"/>
            <a:ext cx="137160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4" name="Text 62"/>
          <p:cNvSpPr/>
          <p:nvPr/>
        </p:nvSpPr>
        <p:spPr>
          <a:xfrm>
            <a:off x="8686800" y="352044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6.9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10058400" y="3520440"/>
            <a:ext cx="164592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6" name="Text 64"/>
          <p:cNvSpPr/>
          <p:nvPr/>
        </p:nvSpPr>
        <p:spPr>
          <a:xfrm>
            <a:off x="10058400" y="3520440"/>
            <a:ext cx="164592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14.3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457200" y="4069080"/>
            <a:ext cx="2743200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68" name="Text 66"/>
          <p:cNvSpPr/>
          <p:nvPr/>
        </p:nvSpPr>
        <p:spPr>
          <a:xfrm>
            <a:off x="457200" y="4069080"/>
            <a:ext cx="27432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Cumulative cash flow</a:t>
            </a:r>
            <a:endParaRPr lang="en-US" sz="950" dirty="0"/>
          </a:p>
        </p:txBody>
      </p:sp>
      <p:sp>
        <p:nvSpPr>
          <p:cNvPr id="69" name="Shape 67"/>
          <p:cNvSpPr/>
          <p:nvPr/>
        </p:nvSpPr>
        <p:spPr>
          <a:xfrm>
            <a:off x="3200400" y="4069080"/>
            <a:ext cx="1371600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70" name="Text 68"/>
          <p:cNvSpPr/>
          <p:nvPr/>
        </p:nvSpPr>
        <p:spPr>
          <a:xfrm>
            <a:off x="3200400" y="406908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(1.6)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4572000" y="4069080"/>
            <a:ext cx="1371600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72" name="Text 70"/>
          <p:cNvSpPr/>
          <p:nvPr/>
        </p:nvSpPr>
        <p:spPr>
          <a:xfrm>
            <a:off x="4572000" y="406908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(4.0)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5943600" y="4069080"/>
            <a:ext cx="1371600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74" name="Text 72"/>
          <p:cNvSpPr/>
          <p:nvPr/>
        </p:nvSpPr>
        <p:spPr>
          <a:xfrm>
            <a:off x="5943600" y="406908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(0.1)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7315200" y="4069080"/>
            <a:ext cx="1371600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76" name="Text 74"/>
          <p:cNvSpPr/>
          <p:nvPr/>
        </p:nvSpPr>
        <p:spPr>
          <a:xfrm>
            <a:off x="7315200" y="406908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7.4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8686800" y="4069080"/>
            <a:ext cx="1371600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78" name="Text 76"/>
          <p:cNvSpPr/>
          <p:nvPr/>
        </p:nvSpPr>
        <p:spPr>
          <a:xfrm>
            <a:off x="8686800" y="406908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14.3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10058400" y="4069080"/>
            <a:ext cx="1645920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80" name="Text 78"/>
          <p:cNvSpPr/>
          <p:nvPr/>
        </p:nvSpPr>
        <p:spPr>
          <a:xfrm>
            <a:off x="10058400" y="4069080"/>
            <a:ext cx="164592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457200" y="5303520"/>
            <a:ext cx="11274552" cy="42062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82" name="Text 80"/>
          <p:cNvSpPr/>
          <p:nvPr/>
        </p:nvSpPr>
        <p:spPr>
          <a:xfrm>
            <a:off x="640080" y="5303520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Net profit ~$14.3M on ~$5.3M of soft cost — ~2.7× on cost, ~86% unlevered project IRR; the builder funds the horizontal. Costs repaid, then a straight 50/50.</a:t>
            </a:r>
            <a:endParaRPr lang="en-US" sz="1100" dirty="0"/>
          </a:p>
        </p:txBody>
      </p:sp>
      <p:sp>
        <p:nvSpPr>
          <p:cNvPr id="83" name="Text 81"/>
          <p:cNvSpPr/>
          <p:nvPr/>
        </p:nvSpPr>
        <p:spPr>
          <a:xfrm>
            <a:off x="457200" y="5989320"/>
            <a:ext cx="11274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Project cash flow; illustrative phasing. The builder funds the horizontal. Ties to the model's entitled-lot sheet. Figures subject to confirmation.</a:t>
            </a:r>
            <a:endParaRPr lang="en-US" sz="7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 / 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PHASE 2  ·  BUILD-TO-CORE CASH FLOW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Phase 2 — build-to-core equity cash flow.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Hospitality build-to-core, levered equity cash flow ($M). Build to ~$47M cost at 65% LTC; stabilize at the premium NOI; recap / sell at ~Yr 4 (~$62M @ a 7.5% cap). VIVÂMEE operates. Illustrative.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2057400"/>
            <a:ext cx="310896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2057400"/>
            <a:ext cx="310896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$M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566160" y="2057400"/>
            <a:ext cx="1298448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4" name="Text 12"/>
          <p:cNvSpPr/>
          <p:nvPr/>
        </p:nvSpPr>
        <p:spPr>
          <a:xfrm>
            <a:off x="3566160" y="2057400"/>
            <a:ext cx="1298448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Yr 0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864608" y="2057400"/>
            <a:ext cx="1298448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6" name="Text 14"/>
          <p:cNvSpPr/>
          <p:nvPr/>
        </p:nvSpPr>
        <p:spPr>
          <a:xfrm>
            <a:off x="4864608" y="2057400"/>
            <a:ext cx="1298448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Yr 1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163056" y="2057400"/>
            <a:ext cx="1298448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8" name="Text 16"/>
          <p:cNvSpPr/>
          <p:nvPr/>
        </p:nvSpPr>
        <p:spPr>
          <a:xfrm>
            <a:off x="6163056" y="2057400"/>
            <a:ext cx="1298448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Yr 2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7461504" y="2057400"/>
            <a:ext cx="1298448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0" name="Text 18"/>
          <p:cNvSpPr/>
          <p:nvPr/>
        </p:nvSpPr>
        <p:spPr>
          <a:xfrm>
            <a:off x="7461504" y="2057400"/>
            <a:ext cx="1298448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Yr 3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8759952" y="2057400"/>
            <a:ext cx="1298448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2" name="Text 20"/>
          <p:cNvSpPr/>
          <p:nvPr/>
        </p:nvSpPr>
        <p:spPr>
          <a:xfrm>
            <a:off x="8759952" y="2057400"/>
            <a:ext cx="1298448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Yr 4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10058400" y="2057400"/>
            <a:ext cx="1627632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4" name="Text 22"/>
          <p:cNvSpPr/>
          <p:nvPr/>
        </p:nvSpPr>
        <p:spPr>
          <a:xfrm>
            <a:off x="10058400" y="2057400"/>
            <a:ext cx="1627632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Total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57200" y="2423160"/>
            <a:ext cx="310896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457200" y="2423160"/>
            <a:ext cx="310896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Equity invested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3566160" y="2423160"/>
            <a:ext cx="1298448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8" name="Text 26"/>
          <p:cNvSpPr/>
          <p:nvPr/>
        </p:nvSpPr>
        <p:spPr>
          <a:xfrm>
            <a:off x="3566160" y="2423160"/>
            <a:ext cx="1298448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(8.2)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864608" y="2423160"/>
            <a:ext cx="1298448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0" name="Text 28"/>
          <p:cNvSpPr/>
          <p:nvPr/>
        </p:nvSpPr>
        <p:spPr>
          <a:xfrm>
            <a:off x="4864608" y="2423160"/>
            <a:ext cx="1298448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(8.2)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163056" y="2423160"/>
            <a:ext cx="1298448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2" name="Text 30"/>
          <p:cNvSpPr/>
          <p:nvPr/>
        </p:nvSpPr>
        <p:spPr>
          <a:xfrm>
            <a:off x="6163056" y="2423160"/>
            <a:ext cx="1298448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7461504" y="2423160"/>
            <a:ext cx="1298448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4" name="Text 32"/>
          <p:cNvSpPr/>
          <p:nvPr/>
        </p:nvSpPr>
        <p:spPr>
          <a:xfrm>
            <a:off x="7461504" y="2423160"/>
            <a:ext cx="1298448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8759952" y="2423160"/>
            <a:ext cx="1298448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6" name="Text 34"/>
          <p:cNvSpPr/>
          <p:nvPr/>
        </p:nvSpPr>
        <p:spPr>
          <a:xfrm>
            <a:off x="8759952" y="2423160"/>
            <a:ext cx="1298448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10058400" y="2423160"/>
            <a:ext cx="1627632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8" name="Text 36"/>
          <p:cNvSpPr/>
          <p:nvPr/>
        </p:nvSpPr>
        <p:spPr>
          <a:xfrm>
            <a:off x="10058400" y="2423160"/>
            <a:ext cx="1627632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(16.4)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57200" y="2971800"/>
            <a:ext cx="3108960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0" name="Text 38"/>
          <p:cNvSpPr/>
          <p:nvPr/>
        </p:nvSpPr>
        <p:spPr>
          <a:xfrm>
            <a:off x="457200" y="2971800"/>
            <a:ext cx="310896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Operating cash flow (after debt)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3566160" y="2971800"/>
            <a:ext cx="1298448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2" name="Text 40"/>
          <p:cNvSpPr/>
          <p:nvPr/>
        </p:nvSpPr>
        <p:spPr>
          <a:xfrm>
            <a:off x="3566160" y="2971800"/>
            <a:ext cx="1298448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4864608" y="2971800"/>
            <a:ext cx="1298448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4" name="Text 42"/>
          <p:cNvSpPr/>
          <p:nvPr/>
        </p:nvSpPr>
        <p:spPr>
          <a:xfrm>
            <a:off x="4864608" y="2971800"/>
            <a:ext cx="1298448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6163056" y="2971800"/>
            <a:ext cx="1298448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6" name="Text 44"/>
          <p:cNvSpPr/>
          <p:nvPr/>
        </p:nvSpPr>
        <p:spPr>
          <a:xfrm>
            <a:off x="6163056" y="2971800"/>
            <a:ext cx="1298448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1.0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7461504" y="2971800"/>
            <a:ext cx="1298448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8" name="Text 46"/>
          <p:cNvSpPr/>
          <p:nvPr/>
        </p:nvSpPr>
        <p:spPr>
          <a:xfrm>
            <a:off x="7461504" y="2971800"/>
            <a:ext cx="1298448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2.5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8759952" y="2971800"/>
            <a:ext cx="1298448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50" name="Text 48"/>
          <p:cNvSpPr/>
          <p:nvPr/>
        </p:nvSpPr>
        <p:spPr>
          <a:xfrm>
            <a:off x="8759952" y="2971800"/>
            <a:ext cx="1298448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2.5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10058400" y="2971800"/>
            <a:ext cx="1627632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52" name="Text 50"/>
          <p:cNvSpPr/>
          <p:nvPr/>
        </p:nvSpPr>
        <p:spPr>
          <a:xfrm>
            <a:off x="10058400" y="2971800"/>
            <a:ext cx="1627632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6.0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57200" y="3520440"/>
            <a:ext cx="310896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4" name="Text 52"/>
          <p:cNvSpPr/>
          <p:nvPr/>
        </p:nvSpPr>
        <p:spPr>
          <a:xfrm>
            <a:off x="457200" y="3520440"/>
            <a:ext cx="310896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Recap equity (sale − loan)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3566160" y="3520440"/>
            <a:ext cx="1298448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6" name="Text 54"/>
          <p:cNvSpPr/>
          <p:nvPr/>
        </p:nvSpPr>
        <p:spPr>
          <a:xfrm>
            <a:off x="3566160" y="3520440"/>
            <a:ext cx="1298448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4864608" y="3520440"/>
            <a:ext cx="1298448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8" name="Text 56"/>
          <p:cNvSpPr/>
          <p:nvPr/>
        </p:nvSpPr>
        <p:spPr>
          <a:xfrm>
            <a:off x="4864608" y="3520440"/>
            <a:ext cx="1298448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6163056" y="3520440"/>
            <a:ext cx="1298448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0" name="Text 58"/>
          <p:cNvSpPr/>
          <p:nvPr/>
        </p:nvSpPr>
        <p:spPr>
          <a:xfrm>
            <a:off x="6163056" y="3520440"/>
            <a:ext cx="1298448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7461504" y="3520440"/>
            <a:ext cx="1298448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2" name="Text 60"/>
          <p:cNvSpPr/>
          <p:nvPr/>
        </p:nvSpPr>
        <p:spPr>
          <a:xfrm>
            <a:off x="7461504" y="3520440"/>
            <a:ext cx="1298448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8759952" y="3520440"/>
            <a:ext cx="1298448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4" name="Text 62"/>
          <p:cNvSpPr/>
          <p:nvPr/>
        </p:nvSpPr>
        <p:spPr>
          <a:xfrm>
            <a:off x="8759952" y="3520440"/>
            <a:ext cx="1298448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31.5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10058400" y="3520440"/>
            <a:ext cx="1627632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6" name="Text 64"/>
          <p:cNvSpPr/>
          <p:nvPr/>
        </p:nvSpPr>
        <p:spPr>
          <a:xfrm>
            <a:off x="10058400" y="3520440"/>
            <a:ext cx="1627632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31.5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457200" y="4069080"/>
            <a:ext cx="3108960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68" name="Text 66"/>
          <p:cNvSpPr/>
          <p:nvPr/>
        </p:nvSpPr>
        <p:spPr>
          <a:xfrm>
            <a:off x="457200" y="4069080"/>
            <a:ext cx="310896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Net equity cash flow</a:t>
            </a:r>
            <a:endParaRPr lang="en-US" sz="950" dirty="0"/>
          </a:p>
        </p:txBody>
      </p:sp>
      <p:sp>
        <p:nvSpPr>
          <p:cNvPr id="69" name="Shape 67"/>
          <p:cNvSpPr/>
          <p:nvPr/>
        </p:nvSpPr>
        <p:spPr>
          <a:xfrm>
            <a:off x="3566160" y="4069080"/>
            <a:ext cx="1298448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70" name="Text 68"/>
          <p:cNvSpPr/>
          <p:nvPr/>
        </p:nvSpPr>
        <p:spPr>
          <a:xfrm>
            <a:off x="3566160" y="4069080"/>
            <a:ext cx="1298448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(8.2)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4864608" y="4069080"/>
            <a:ext cx="1298448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72" name="Text 70"/>
          <p:cNvSpPr/>
          <p:nvPr/>
        </p:nvSpPr>
        <p:spPr>
          <a:xfrm>
            <a:off x="4864608" y="4069080"/>
            <a:ext cx="1298448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(8.2)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6163056" y="4069080"/>
            <a:ext cx="1298448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74" name="Text 72"/>
          <p:cNvSpPr/>
          <p:nvPr/>
        </p:nvSpPr>
        <p:spPr>
          <a:xfrm>
            <a:off x="6163056" y="4069080"/>
            <a:ext cx="1298448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1.0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7461504" y="4069080"/>
            <a:ext cx="1298448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76" name="Text 74"/>
          <p:cNvSpPr/>
          <p:nvPr/>
        </p:nvSpPr>
        <p:spPr>
          <a:xfrm>
            <a:off x="7461504" y="4069080"/>
            <a:ext cx="1298448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2.5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8759952" y="4069080"/>
            <a:ext cx="1298448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78" name="Text 76"/>
          <p:cNvSpPr/>
          <p:nvPr/>
        </p:nvSpPr>
        <p:spPr>
          <a:xfrm>
            <a:off x="8759952" y="4069080"/>
            <a:ext cx="1298448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34.0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10058400" y="4069080"/>
            <a:ext cx="1627632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80" name="Text 78"/>
          <p:cNvSpPr/>
          <p:nvPr/>
        </p:nvSpPr>
        <p:spPr>
          <a:xfrm>
            <a:off x="10058400" y="4069080"/>
            <a:ext cx="1627632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21.1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457200" y="4617720"/>
            <a:ext cx="310896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2" name="Text 80"/>
          <p:cNvSpPr/>
          <p:nvPr/>
        </p:nvSpPr>
        <p:spPr>
          <a:xfrm>
            <a:off x="457200" y="4617720"/>
            <a:ext cx="310896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Cumulative cash flow</a:t>
            </a:r>
            <a:endParaRPr lang="en-US" sz="950" dirty="0"/>
          </a:p>
        </p:txBody>
      </p:sp>
      <p:sp>
        <p:nvSpPr>
          <p:cNvPr id="83" name="Shape 81"/>
          <p:cNvSpPr/>
          <p:nvPr/>
        </p:nvSpPr>
        <p:spPr>
          <a:xfrm>
            <a:off x="3566160" y="4617720"/>
            <a:ext cx="1298448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4" name="Text 82"/>
          <p:cNvSpPr/>
          <p:nvPr/>
        </p:nvSpPr>
        <p:spPr>
          <a:xfrm>
            <a:off x="3566160" y="4617720"/>
            <a:ext cx="1298448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(8.2)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4864608" y="4617720"/>
            <a:ext cx="1298448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6" name="Text 84"/>
          <p:cNvSpPr/>
          <p:nvPr/>
        </p:nvSpPr>
        <p:spPr>
          <a:xfrm>
            <a:off x="4864608" y="4617720"/>
            <a:ext cx="1298448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(16.4)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6163056" y="4617720"/>
            <a:ext cx="1298448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8" name="Text 86"/>
          <p:cNvSpPr/>
          <p:nvPr/>
        </p:nvSpPr>
        <p:spPr>
          <a:xfrm>
            <a:off x="6163056" y="4617720"/>
            <a:ext cx="1298448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(15.4)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7461504" y="4617720"/>
            <a:ext cx="1298448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0" name="Text 88"/>
          <p:cNvSpPr/>
          <p:nvPr/>
        </p:nvSpPr>
        <p:spPr>
          <a:xfrm>
            <a:off x="7461504" y="4617720"/>
            <a:ext cx="1298448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(12.9)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8759952" y="4617720"/>
            <a:ext cx="1298448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2" name="Text 90"/>
          <p:cNvSpPr/>
          <p:nvPr/>
        </p:nvSpPr>
        <p:spPr>
          <a:xfrm>
            <a:off x="8759952" y="4617720"/>
            <a:ext cx="1298448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21.1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10058400" y="4617720"/>
            <a:ext cx="1627632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4" name="Text 92"/>
          <p:cNvSpPr/>
          <p:nvPr/>
        </p:nvSpPr>
        <p:spPr>
          <a:xfrm>
            <a:off x="10058400" y="4617720"/>
            <a:ext cx="1627632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457200" y="5303520"/>
            <a:ext cx="11274552" cy="42062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96" name="Text 94"/>
          <p:cNvSpPr/>
          <p:nvPr/>
        </p:nvSpPr>
        <p:spPr>
          <a:xfrm>
            <a:off x="640080" y="5303520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~$16.4M equity → ~$21M net; build-to-core (65% LTC) levered IRR ~28% / ~2.3× at the Yr-4 recap (~$62M on ~$47M cost). Ties to the model's build-to-core sheet.</a:t>
            </a:r>
            <a:endParaRPr lang="en-US" sz="1100" dirty="0"/>
          </a:p>
        </p:txBody>
      </p:sp>
      <p:sp>
        <p:nvSpPr>
          <p:cNvPr id="97" name="Text 95"/>
          <p:cNvSpPr/>
          <p:nvPr/>
        </p:nvSpPr>
        <p:spPr>
          <a:xfrm>
            <a:off x="457200" y="5989320"/>
            <a:ext cx="11274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Levered equity cash flow — the line that drives the ~28% IRR; recap / sale at stabilization. A 120-key resort &amp; spa is already designed (FILLAT+). Illustrative.</a:t>
            </a:r>
            <a:endParaRPr lang="en-US" sz="7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21 / 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CAPITAL ACCESS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 bring the capital relationships.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When a parcel does call for equity or debt — or to move faster — here's the access. Active mandates, not a paper Rolodex.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874520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96596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$15M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2651760" y="198424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Equity being raised now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651760" y="2331720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Houston retail — family-office capital, closing summer 2026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2852928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944368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$19.5M</a:t>
            </a:r>
            <a:endParaRPr lang="en-US" sz="2700" dirty="0"/>
          </a:p>
        </p:txBody>
      </p:sp>
      <p:sp>
        <p:nvSpPr>
          <p:cNvPr id="17" name="Text 15"/>
          <p:cNvSpPr/>
          <p:nvPr/>
        </p:nvSpPr>
        <p:spPr>
          <a:xfrm>
            <a:off x="2651760" y="296265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Debt already secured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651760" y="331012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Lender committed on the same transaction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3831336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922776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Mid–high 20s</a:t>
            </a:r>
            <a:endParaRPr lang="en-US" sz="1900" dirty="0"/>
          </a:p>
        </p:txBody>
      </p:sp>
      <p:sp>
        <p:nvSpPr>
          <p:cNvPr id="21" name="Text 19"/>
          <p:cNvSpPr/>
          <p:nvPr/>
        </p:nvSpPr>
        <p:spPr>
          <a:xfrm>
            <a:off x="2651760" y="394106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Target development IRR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651760" y="428853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Investors expect mid-to-high 20s out-of-state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57200" y="4809744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4901184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$6.1B</a:t>
            </a:r>
            <a:endParaRPr lang="en-US" sz="2700" dirty="0"/>
          </a:p>
        </p:txBody>
      </p:sp>
      <p:sp>
        <p:nvSpPr>
          <p:cNvPr id="25" name="Text 23"/>
          <p:cNvSpPr/>
          <p:nvPr/>
        </p:nvSpPr>
        <p:spPr>
          <a:xfrm>
            <a:off x="2651760" y="4919472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Career transaction volume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2651760" y="526694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Across debt &amp; equity — Blackstone + Levcor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400800" y="1874520"/>
            <a:ext cx="5330952" cy="411480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8" name="Shape 26"/>
          <p:cNvSpPr/>
          <p:nvPr/>
        </p:nvSpPr>
        <p:spPr>
          <a:xfrm>
            <a:off x="6400800" y="1874520"/>
            <a:ext cx="109728" cy="411480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9" name="Text 27"/>
          <p:cNvSpPr/>
          <p:nvPr/>
        </p:nvSpPr>
        <p:spPr>
          <a:xfrm>
            <a:off x="6766560" y="2039112"/>
            <a:ext cx="4782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NETWORK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766560" y="2386584"/>
            <a:ext cx="476402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Where I place capital — equity and debt.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6766560" y="324612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Family offices (Texas) — my core equity base; they'll travel for the right risk-adjusted return.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766560" y="392049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Institutional equity — private-equity fund relationships.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766560" y="459486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National debt — relationships across national bank platforms and specialty construction lenders.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766560" y="526923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 bar for out-of-state development is mid-to-high-20s IRR — the fresh land basis helps clear it.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22 / 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STRUCTURE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vehicle inside the H6 platform.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Accountable Equity's Capital H6 owns the land. Spin the developable parcels into a development company — the property contributes the land, the dev co (Bob · JAL · partners) entitles and sells the lots, and profit splits 50/50.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783080"/>
            <a:ext cx="11274552" cy="786384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Shape 10"/>
          <p:cNvSpPr/>
          <p:nvPr/>
        </p:nvSpPr>
        <p:spPr>
          <a:xfrm>
            <a:off x="457200" y="1783080"/>
            <a:ext cx="109728" cy="78638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1883664"/>
            <a:ext cx="7955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LAND PARTNERS, LLC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777240" y="2249424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Working name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595360" y="1783080"/>
            <a:ext cx="3108960" cy="786384"/>
          </a:xfrm>
          <a:prstGeom prst="rect">
            <a:avLst/>
          </a:prstGeom>
          <a:noFill/>
          <a:ln/>
        </p:spPr>
        <p:txBody>
          <a:bodyPr wrap="square" lIns="25400" tIns="76200" rIns="127000" bIns="2540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Development company under Capital H6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7200" y="2743200"/>
            <a:ext cx="3593592" cy="260604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5800" y="2907792"/>
            <a:ext cx="3136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LAND = EQUITY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85800" y="3200400"/>
            <a:ext cx="31363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Owned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685800" y="3840480"/>
            <a:ext cx="313639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Developable acreage contributed by Capital H6 at appraised value — just acquired, at a low basis.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224528" y="2743200"/>
            <a:ext cx="3593592" cy="260604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453128" y="2907792"/>
            <a:ext cx="3136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CAPITAL STACK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453128" y="3163824"/>
            <a:ext cx="31363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Illustrative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453128" y="3456432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Land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601968" y="3456432"/>
            <a:ext cx="987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Contributed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453128" y="3785616"/>
            <a:ext cx="3136392" cy="9144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26" name="Text 24"/>
          <p:cNvSpPr/>
          <p:nvPr/>
        </p:nvSpPr>
        <p:spPr>
          <a:xfrm>
            <a:off x="4453128" y="3959352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Horizontal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601968" y="3959352"/>
            <a:ext cx="987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Builder-funded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453128" y="4288536"/>
            <a:ext cx="3136392" cy="9144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29" name="Text 27"/>
          <p:cNvSpPr/>
          <p:nvPr/>
        </p:nvSpPr>
        <p:spPr>
          <a:xfrm>
            <a:off x="4453128" y="4462272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Soft costs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601968" y="4462272"/>
            <a:ext cx="987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Dev co funds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4453128" y="4791456"/>
            <a:ext cx="3136392" cy="9144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32" name="Shape 30"/>
          <p:cNvSpPr/>
          <p:nvPr/>
        </p:nvSpPr>
        <p:spPr>
          <a:xfrm>
            <a:off x="7991856" y="2743200"/>
            <a:ext cx="3593592" cy="260604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3" name="Shape 31"/>
          <p:cNvSpPr/>
          <p:nvPr/>
        </p:nvSpPr>
        <p:spPr>
          <a:xfrm>
            <a:off x="7991856" y="2743200"/>
            <a:ext cx="91440" cy="260604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34" name="Text 32"/>
          <p:cNvSpPr/>
          <p:nvPr/>
        </p:nvSpPr>
        <p:spPr>
          <a:xfrm>
            <a:off x="8220456" y="2907792"/>
            <a:ext cx="3136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ROLES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8220456" y="3310128"/>
            <a:ext cx="3136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Josh McCallen / VIVÂMEE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8220456" y="3557016"/>
            <a:ext cx="3136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Resort owner-operator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8220456" y="3968496"/>
            <a:ext cx="3136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Bob Connell / Accountable Equity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8220456" y="4215384"/>
            <a:ext cx="3136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Development lead · Capital H6 GP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8220456" y="4626864"/>
            <a:ext cx="3136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8220456" y="4873752"/>
            <a:ext cx="3136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Dev-co member — entitlement, capital formation &amp; sales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457200" y="5943600"/>
            <a:ext cx="11274552" cy="42062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42" name="Text 40"/>
          <p:cNvSpPr/>
          <p:nvPr/>
        </p:nvSpPr>
        <p:spPr>
          <a:xfrm>
            <a:off x="640080" y="5943600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is a member of the development company — earning a share of its 50% (plus a $15K/mo retainer); intends to invest, sized in diligence.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23 / 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ENGAGEMENT  ·  FOR DISCUSSION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How I'd want to be engaged.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You asked how I'd like to be comped. My preference matches yours — a small base to fund the work, then real alignment on the value we create. For discussion only.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783080"/>
            <a:ext cx="11274552" cy="86868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Shape 10"/>
          <p:cNvSpPr/>
          <p:nvPr/>
        </p:nvSpPr>
        <p:spPr>
          <a:xfrm>
            <a:off x="457200" y="1783080"/>
            <a:ext cx="109728" cy="86868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1847088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Hybrid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3291840" y="1883664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$15K/mo + expenses, then 30% of the dev-co 50% (the carry)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291840" y="2231136"/>
            <a:ext cx="5349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Aligned to value created — and I intend to contribute capital to the dev co myself (amount sized in diligence).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778240" y="1783080"/>
            <a:ext cx="2953512" cy="868680"/>
          </a:xfrm>
          <a:prstGeom prst="rect">
            <a:avLst/>
          </a:prstGeom>
          <a:noFill/>
          <a:ln/>
        </p:spPr>
        <p:txBody>
          <a:bodyPr wrap="square" lIns="25400" tIns="76200" rIns="127000" bIns="25400" rtlCol="0" anchor="ctr"/>
          <a:lstStyle/>
          <a:p>
            <a:pPr algn="r"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Aligned</a:t>
            </a:r>
            <a:endParaRPr lang="en-US" sz="1300" dirty="0"/>
          </a:p>
          <a:p>
            <a:pPr algn="r"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upside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57200" y="2852928"/>
            <a:ext cx="310896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2852928"/>
            <a:ext cx="310896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Component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566160" y="2852928"/>
            <a:ext cx="274320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0" name="Text 18"/>
          <p:cNvSpPr/>
          <p:nvPr/>
        </p:nvSpPr>
        <p:spPr>
          <a:xfrm>
            <a:off x="3566160" y="2852928"/>
            <a:ext cx="274320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Terms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6309360" y="2852928"/>
            <a:ext cx="5422392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2" name="Text 20"/>
          <p:cNvSpPr/>
          <p:nvPr/>
        </p:nvSpPr>
        <p:spPr>
          <a:xfrm>
            <a:off x="6309360" y="2852928"/>
            <a:ext cx="5422392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What it covers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57200" y="3218688"/>
            <a:ext cx="3108960" cy="5303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3218688"/>
            <a:ext cx="3108960" cy="53035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· Advisory retainer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3566160" y="3218688"/>
            <a:ext cx="2743200" cy="5303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3566160" y="3218688"/>
            <a:ext cx="2743200" cy="53035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$15K / mo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309360" y="3218688"/>
            <a:ext cx="5422392" cy="5303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8" name="Text 26"/>
          <p:cNvSpPr/>
          <p:nvPr/>
        </p:nvSpPr>
        <p:spPr>
          <a:xfrm>
            <a:off x="6309360" y="3218688"/>
            <a:ext cx="5422392" cy="53035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Funds the work during entitlement — a floor; a cost to the deal, not netted from the carry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57200" y="3749040"/>
            <a:ext cx="3108960" cy="53035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3749040"/>
            <a:ext cx="3108960" cy="53035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 · Expenses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3566160" y="3749040"/>
            <a:ext cx="2743200" cy="53035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2" name="Text 30"/>
          <p:cNvSpPr/>
          <p:nvPr/>
        </p:nvSpPr>
        <p:spPr>
          <a:xfrm>
            <a:off x="3566160" y="3749040"/>
            <a:ext cx="2743200" cy="53035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Reimbursed at cost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6309360" y="3749040"/>
            <a:ext cx="5422392" cy="53035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4" name="Text 32"/>
          <p:cNvSpPr/>
          <p:nvPr/>
        </p:nvSpPr>
        <p:spPr>
          <a:xfrm>
            <a:off x="6309360" y="3749040"/>
            <a:ext cx="5422392" cy="53035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Travel, survey, market &amp; entitlement studies — billed separately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457200" y="4279392"/>
            <a:ext cx="3108960" cy="5303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6" name="Text 34"/>
          <p:cNvSpPr/>
          <p:nvPr/>
        </p:nvSpPr>
        <p:spPr>
          <a:xfrm>
            <a:off x="457200" y="4279392"/>
            <a:ext cx="3108960" cy="53035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 · Capital placement fee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3566160" y="4279392"/>
            <a:ext cx="2743200" cy="5303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8" name="Text 36"/>
          <p:cNvSpPr/>
          <p:nvPr/>
        </p:nvSpPr>
        <p:spPr>
          <a:xfrm>
            <a:off x="3566160" y="4279392"/>
            <a:ext cx="2743200" cy="53035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1% debt · 2% equity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6309360" y="4279392"/>
            <a:ext cx="5422392" cy="5303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0" name="Text 38"/>
          <p:cNvSpPr/>
          <p:nvPr/>
        </p:nvSpPr>
        <p:spPr>
          <a:xfrm>
            <a:off x="6309360" y="4279392"/>
            <a:ext cx="5422392" cy="53035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On outside capital I place — small on capital-light Queenstown, real on the pipeline's acquisition equity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457200" y="4809744"/>
            <a:ext cx="3108960" cy="53035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2" name="Text 40"/>
          <p:cNvSpPr/>
          <p:nvPr/>
        </p:nvSpPr>
        <p:spPr>
          <a:xfrm>
            <a:off x="457200" y="4809744"/>
            <a:ext cx="3108960" cy="53035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 · Profit share (carry)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3566160" y="4809744"/>
            <a:ext cx="2743200" cy="53035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4" name="Text 42"/>
          <p:cNvSpPr/>
          <p:nvPr/>
        </p:nvSpPr>
        <p:spPr>
          <a:xfrm>
            <a:off x="3566160" y="4809744"/>
            <a:ext cx="2743200" cy="53035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30% of dev-co 50%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6309360" y="4809744"/>
            <a:ext cx="5422392" cy="53035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6" name="Text 44"/>
          <p:cNvSpPr/>
          <p:nvPr/>
        </p:nvSpPr>
        <p:spPr>
          <a:xfrm>
            <a:off x="6309360" y="4809744"/>
            <a:ext cx="5422392" cy="53035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≈ ~$2.1M on the Queenstown base case (~15% of profit); Bob &amp; partners take the balance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457200" y="5340096"/>
            <a:ext cx="3108960" cy="5303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5340096"/>
            <a:ext cx="3108960" cy="53035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= Illustrative all-in (base case)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3566160" y="5340096"/>
            <a:ext cx="2743200" cy="5303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0" name="Text 48"/>
          <p:cNvSpPr/>
          <p:nvPr/>
        </p:nvSpPr>
        <p:spPr>
          <a:xfrm>
            <a:off x="3566160" y="5340096"/>
            <a:ext cx="2743200" cy="53035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~$2.7M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6309360" y="5340096"/>
            <a:ext cx="5422392" cy="5303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2" name="Text 50"/>
          <p:cNvSpPr/>
          <p:nvPr/>
        </p:nvSpPr>
        <p:spPr>
          <a:xfrm>
            <a:off x="6309360" y="5340096"/>
            <a:ext cx="5422392" cy="53035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~$2.1M carry + ~$0.5M retainer (~3 yrs) — ~19% of profit, mostly the contingent carry</a:t>
            </a:r>
            <a:endParaRPr lang="en-US" sz="950" dirty="0"/>
          </a:p>
        </p:txBody>
      </p:sp>
      <p:sp>
        <p:nvSpPr>
          <p:cNvPr id="53" name="Shape 51"/>
          <p:cNvSpPr/>
          <p:nvPr/>
        </p:nvSpPr>
        <p:spPr>
          <a:xfrm>
            <a:off x="457200" y="5870448"/>
            <a:ext cx="11274552" cy="42062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54" name="Text 52"/>
          <p:cNvSpPr/>
          <p:nvPr/>
        </p:nvSpPr>
        <p:spPr>
          <a:xfrm>
            <a:off x="640080" y="5870448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Aligned, not double-dipping: the retainer is a floor, placement fees only on outside capital I raise, and the carry (30% of the dev-co 50%) is the prize — most of the ~$2.7M is contingent on the upside.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24 / 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WHY JAL AS YOUR PARTNER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Pedigree. Relationships. Operator.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Institutional capital-markets pedigree, an active investor network, and hands-on development &amp; asset-management experience.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691640"/>
            <a:ext cx="4572000" cy="434340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Shape 10"/>
          <p:cNvSpPr/>
          <p:nvPr/>
        </p:nvSpPr>
        <p:spPr>
          <a:xfrm>
            <a:off x="457200" y="1691640"/>
            <a:ext cx="109728" cy="434340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185623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JUSTIN A. LEVINE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31520" y="2157984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Founder &amp; CEO, JAL Strategies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731520" y="274320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$6.1B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2606040" y="2770632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career transaction volume ($5.5B Blackstone + $600M Levcor)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31520" y="352044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$600M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2606040" y="3547872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debt + equity allocated across 26 CRE deals at Levcor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731520" y="429768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3.9M SF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2606040" y="4325112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TX + NC retail managed at Levcor (2014–2025)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731520" y="50749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20+ years</a:t>
            </a:r>
            <a:endParaRPr lang="en-US" sz="2100" dirty="0"/>
          </a:p>
        </p:txBody>
      </p:sp>
      <p:sp>
        <p:nvSpPr>
          <p:cNvPr id="22" name="Text 20"/>
          <p:cNvSpPr/>
          <p:nvPr/>
        </p:nvSpPr>
        <p:spPr>
          <a:xfrm>
            <a:off x="2606040" y="5102352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CRE operating, capital markets &amp; asset management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303520" y="1691640"/>
            <a:ext cx="6428232" cy="434340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532120" y="1856232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CAREER ARC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532120" y="2194560"/>
            <a:ext cx="5989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LEVCOR, INC.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532120" y="2450592"/>
            <a:ext cx="5989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President 2024–2025; CIO 2021–2024; VP 2014–2021. $600M / 3.9M SF TX + NC retail portfolio; realized 4.13x / 16.1% IRR on six dispositions.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532120" y="2907792"/>
            <a:ext cx="5989320" cy="9144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28" name="Text 26"/>
          <p:cNvSpPr/>
          <p:nvPr/>
        </p:nvSpPr>
        <p:spPr>
          <a:xfrm>
            <a:off x="5532120" y="2962656"/>
            <a:ext cx="5989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BLACKSTONE GROUP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532120" y="3218688"/>
            <a:ext cx="5989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Analyst / Associate 2006–2011, NYC. Capital raising for U.S., Asia &amp; India funds; $2.5B raised; ~$5.5B aggregate transaction volume.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532120" y="3675888"/>
            <a:ext cx="5989320" cy="9144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31" name="Text 29"/>
          <p:cNvSpPr/>
          <p:nvPr/>
        </p:nvSpPr>
        <p:spPr>
          <a:xfrm>
            <a:off x="5532120" y="3730752"/>
            <a:ext cx="5989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JAL-JCP REAL ESTATE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532120" y="3986784"/>
            <a:ext cx="5989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Co-Founder. Partnership with JCP Investment Management ($250M+ AUM, SEC-registered). Below-replacement-cost unanchored strip centers.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532120" y="4443984"/>
            <a:ext cx="5989320" cy="9144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34" name="Text 32"/>
          <p:cNvSpPr/>
          <p:nvPr/>
        </p:nvSpPr>
        <p:spPr>
          <a:xfrm>
            <a:off x="5532120" y="4498848"/>
            <a:ext cx="5989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ULI HOUSTON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532120" y="4754880"/>
            <a:ext cx="5989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Chair, District Council Management Committee 2022–2024. ULI Americas Mixed-Use &amp; Retail Councils. Member since 2015.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532120" y="5212080"/>
            <a:ext cx="5989320" cy="9144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37" name="Text 35"/>
          <p:cNvSpPr/>
          <p:nvPr/>
        </p:nvSpPr>
        <p:spPr>
          <a:xfrm>
            <a:off x="5532120" y="5266944"/>
            <a:ext cx="5989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EDUCATION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5532120" y="5522976"/>
            <a:ext cx="5989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M.B.A., The Wharton School, University of Pennsylvania. B.S. Economics + Communication Studies, Northwestern University.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25 / 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PATH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From this call to a signed mandate.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Light and fast — diligence now, a Zoom shortly, then an in-person at Renault (near Atlantic City) in late July or early August, working around my July 15 surgery; then a defined mandate.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783080"/>
            <a:ext cx="3630168" cy="969264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Shape 10"/>
          <p:cNvSpPr/>
          <p:nvPr/>
        </p:nvSpPr>
        <p:spPr>
          <a:xfrm>
            <a:off x="457200" y="1783080"/>
            <a:ext cx="91440" cy="96926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1865376"/>
            <a:ext cx="3172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STAGE 1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85800" y="2139696"/>
            <a:ext cx="3172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DILIGENCE &amp; DATA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685800" y="2450592"/>
            <a:ext cx="3172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8C9BB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Now – July  ·  Review &amp; analysis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57200" y="2788920"/>
            <a:ext cx="3630168" cy="265176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8368" y="2944368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914400" y="2944368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Confirm developable vs. conservation acreage (survey + easements)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58368" y="3547872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914400" y="3547872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Pull entitlement &amp; zoning status (Queen Anne's Co. + Renault township)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58368" y="4151376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914400" y="4151376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Model entitled-lot yield, pricing &amp; absorption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58368" y="4754880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914400" y="4754880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Confirm the property / dev-co contribution &amp; 50/50 mechanics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279392" y="1783080"/>
            <a:ext cx="3630168" cy="969264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6" name="Shape 24"/>
          <p:cNvSpPr/>
          <p:nvPr/>
        </p:nvSpPr>
        <p:spPr>
          <a:xfrm>
            <a:off x="4279392" y="1783080"/>
            <a:ext cx="91440" cy="96926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7" name="Text 25"/>
          <p:cNvSpPr/>
          <p:nvPr/>
        </p:nvSpPr>
        <p:spPr>
          <a:xfrm>
            <a:off x="4507992" y="1865376"/>
            <a:ext cx="3172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STAGE 2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507992" y="2139696"/>
            <a:ext cx="3172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 PERSON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4507992" y="2450592"/>
            <a:ext cx="3172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8C9BB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Late Jul / early Aug  ·  Walk Renault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4279392" y="2788920"/>
            <a:ext cx="3630168" cy="265176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480560" y="2944368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736592" y="2944368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Zoom shortly to align on structure &amp; the first parcels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480560" y="3547872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736592" y="3547872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Meet Bob &amp; Josh; walk Renault (near Atlantic City)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480560" y="4151376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4736592" y="4151376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Around my July 15 surgery — I'm in NY through Aug 14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4480560" y="4754880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4736592" y="4754880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See the other assets in the pipeline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8101584" y="1783080"/>
            <a:ext cx="3630168" cy="969264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40" name="Shape 38"/>
          <p:cNvSpPr/>
          <p:nvPr/>
        </p:nvSpPr>
        <p:spPr>
          <a:xfrm>
            <a:off x="8101584" y="1783080"/>
            <a:ext cx="91440" cy="96926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41" name="Text 39"/>
          <p:cNvSpPr/>
          <p:nvPr/>
        </p:nvSpPr>
        <p:spPr>
          <a:xfrm>
            <a:off x="8330184" y="1865376"/>
            <a:ext cx="3172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STAGE 3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8330184" y="2139696"/>
            <a:ext cx="3172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MANDATE</a:t>
            </a:r>
            <a:endParaRPr lang="en-US" sz="1350" dirty="0"/>
          </a:p>
        </p:txBody>
      </p:sp>
      <p:sp>
        <p:nvSpPr>
          <p:cNvPr id="43" name="Text 41"/>
          <p:cNvSpPr/>
          <p:nvPr/>
        </p:nvSpPr>
        <p:spPr>
          <a:xfrm>
            <a:off x="8330184" y="2450592"/>
            <a:ext cx="3172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8C9BB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H2 2026  ·  Engage &amp; execute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8101584" y="2788920"/>
            <a:ext cx="3630168" cy="265176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302752" y="2944368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8558784" y="2944368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Stand up the development company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8302752" y="3547872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8558784" y="3547872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Launch entitlements + soft-cost budget (capital-light)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8302752" y="4151376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8558784" y="4151376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Open builder conversations (incl. Cole)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8302752" y="4754880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8558784" y="4754880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First entitled-lot sales underwritten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57200" y="5943600"/>
            <a:ext cx="11274552" cy="42062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54" name="Text 52"/>
          <p:cNvSpPr/>
          <p:nvPr/>
        </p:nvSpPr>
        <p:spPr>
          <a:xfrm>
            <a:off x="640080" y="5943600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What I need: surveys / site plans (you have Renault's; Josh has the rest) · entitlement &amp; zoning status · the 50/50 terms · target timeline. Happy to sign an NDA.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B16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5486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6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58368" y="2240280"/>
            <a:ext cx="10972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THANK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658368" y="3090672"/>
            <a:ext cx="10972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b="1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YOU</a:t>
            </a:r>
            <a:endParaRPr lang="en-US" sz="7200" dirty="0"/>
          </a:p>
        </p:txBody>
      </p:sp>
      <p:sp>
        <p:nvSpPr>
          <p:cNvPr id="6" name="Shape 4"/>
          <p:cNvSpPr/>
          <p:nvPr/>
        </p:nvSpPr>
        <p:spPr>
          <a:xfrm>
            <a:off x="713232" y="4224528"/>
            <a:ext cx="3200400" cy="27432"/>
          </a:xfrm>
          <a:prstGeom prst="rect">
            <a:avLst/>
          </a:prstGeom>
          <a:solidFill>
            <a:srgbClr val="8C9BB5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4370832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Bob — appreciate the call, and the résumé read.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685800" y="48463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8C9BB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Looking forward to monetizing the land with you, Josh and the H6 team — let's find time at Renault in late July or early August.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85800" y="5248656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Justin A. Levine  |  jlevine@jalstrategies.com  |  JAL Strategies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64008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869680" y="6400800"/>
            <a:ext cx="2862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2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26 / 26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JAL Strategies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Queenstown Harbor — Land Development Partnership (for Robert A. Connell)</dc:title>
  <dc:subject>PptxGenJS Presentation</dc:subject>
  <dc:creator>JAL Strategies</dc:creator>
  <cp:lastModifiedBy>JAL Strategies</cp:lastModifiedBy>
  <cp:revision>1</cp:revision>
  <dcterms:created xsi:type="dcterms:W3CDTF">2026-06-09T20:25:59Z</dcterms:created>
  <dcterms:modified xsi:type="dcterms:W3CDTF">2026-06-09T20:25:59Z</dcterms:modified>
</cp:coreProperties>
</file>